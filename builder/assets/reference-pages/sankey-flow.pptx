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619230660840ac" /><Relationship Type="http://schemas.openxmlformats.org/officeDocument/2006/relationships/extended-properties" Target="/docProps/app.xml" Id="R3c0f54ab5b10432a" /><Relationship Type="http://schemas.openxmlformats.org/officeDocument/2006/relationships/officeDocument" Target="/ppt/presentation.xml" Id="Ree70abe01a7549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1b086813a74b64"/>
  </p:sldMasterIdLst>
  <p:notesMasterIdLst>
    <p:notesMasterId xmlns:r="http://schemas.openxmlformats.org/officeDocument/2006/relationships" r:id="Rc7e695b74f5d4b9f"/>
  </p:notesMasterIdLst>
  <p:sldIdLst>
    <p:sldId xmlns:r="http://schemas.openxmlformats.org/officeDocument/2006/relationships" id="256" r:id="R27f29d2600e648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ef331f25b14c7c" /><Relationship Type="http://schemas.openxmlformats.org/officeDocument/2006/relationships/slideMaster" Target="/ppt/slideMasters/slideMaster1.xml" Id="Rcd1b086813a74b64" /><Relationship Type="http://schemas.openxmlformats.org/officeDocument/2006/relationships/notesMaster" Target="/ppt/notesMasters/notesMaster1.xml" Id="Rc7e695b74f5d4b9f" /><Relationship Type="http://schemas.openxmlformats.org/officeDocument/2006/relationships/presProps" Target="/ppt/presProps.xml" Id="R7c0faa1515d44588" /><Relationship Type="http://schemas.openxmlformats.org/officeDocument/2006/relationships/tableStyles" Target="/ppt/tableStyles.xml" Id="R36895679c2914d16" /><Relationship Type="http://schemas.openxmlformats.org/officeDocument/2006/relationships/slide" Target="/ppt/slides/slide1.xml" Id="R27f29d2600e648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4906c46b1c45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962ff598174c3b" /><Relationship Type="http://schemas.openxmlformats.org/officeDocument/2006/relationships/notesMaster" Target="/ppt/notesMasters/notesMaster1.xml" Id="R83cd40fb136849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b3e14add7343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ceee5b513445db" /><Relationship Type="http://schemas.openxmlformats.org/officeDocument/2006/relationships/slideLayout" Target="/ppt/slideLayouts/slideLayout1.xml" Id="Rb4fc4b0d8ee441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fc4b0d8ee441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c410c232b41d6" /><Relationship Type="http://schemas.openxmlformats.org/officeDocument/2006/relationships/notesSlide" Target="/ppt/notesSlides/notesSlide1.xml" Id="R43592e92b25047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page-title">
            <a:extLst xmlns:a="http://schemas.openxmlformats.org/drawingml/2006/main">
              <a:ext uri="{FF2B5EF4-FFF2-40B4-BE49-F238E27FC236}">
                <a16:creationId xmlns:a16="http://schemas.microsoft.com/office/drawing/2014/main" id="{8A56D510-BA34-4F4C-8F4E-268CA9BA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1,200 名候选人最终仅 60 人留任，漏损集中在筛选与入职后流失</a:t>
            </a:r>
          </a:p>
        </p:txBody>
      </p:sp>
      <p:sp>
        <p:nvSpPr>
          <p:cNvPr id="2" name="sankey-frame">
            <a:extLst xmlns:a="http://schemas.openxmlformats.org/drawingml/2006/main">
              <a:ext uri="{FF2B5EF4-FFF2-40B4-BE49-F238E27FC236}">
                <a16:creationId xmlns:a16="http://schemas.microsoft.com/office/drawing/2014/main" id="{26AC0577-6428-4B54-AA35-14E353D2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80962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node-social">
            <a:extLst xmlns:a="http://schemas.openxmlformats.org/drawingml/2006/main">
              <a:ext uri="{FF2B5EF4-FFF2-40B4-BE49-F238E27FC236}">
                <a16:creationId xmlns:a16="http://schemas.microsoft.com/office/drawing/2014/main" id="{9C25D862-4D63-4EF6-817C-24D88609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10477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社会招聘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700</a:t>
            </a:r>
          </a:p>
        </p:txBody>
      </p:sp>
      <p:sp>
        <p:nvSpPr>
          <p:cNvPr id="4" name="node-campus">
            <a:extLst xmlns:a="http://schemas.openxmlformats.org/drawingml/2006/main">
              <a:ext uri="{FF2B5EF4-FFF2-40B4-BE49-F238E27FC236}">
                <a16:creationId xmlns:a16="http://schemas.microsoft.com/office/drawing/2014/main" id="{6FF8F007-3524-42DE-8024-D11A749C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10477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校园招聘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500</a:t>
            </a:r>
          </a:p>
        </p:txBody>
      </p:sp>
      <p:sp>
        <p:nvSpPr>
          <p:cNvPr id="5" name="layer-1">
            <a:extLst xmlns:a="http://schemas.openxmlformats.org/drawingml/2006/main">
              <a:ext uri="{FF2B5EF4-FFF2-40B4-BE49-F238E27FC236}">
                <a16:creationId xmlns:a16="http://schemas.microsoft.com/office/drawing/2014/main" id="{2B3D7BB7-4FD3-4505-A500-63B2A439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来源渠道｜1,200 人</a:t>
            </a:r>
          </a:p>
        </p:txBody>
      </p:sp>
      <p:sp>
        <p:nvSpPr>
          <p:cNvPr id="6" name="node-pass">
            <a:extLst xmlns:a="http://schemas.openxmlformats.org/drawingml/2006/main">
              <a:ext uri="{FF2B5EF4-FFF2-40B4-BE49-F238E27FC236}">
                <a16:creationId xmlns:a16="http://schemas.microsoft.com/office/drawing/2014/main" id="{89B8DCB0-52DB-4996-B4EA-E9106B76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14500"/>
            <a:ext cx="10477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筛选通过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800</a:t>
            </a:r>
          </a:p>
        </p:txBody>
      </p:sp>
      <p:sp>
        <p:nvSpPr>
          <p:cNvPr id="7" name="node-reject">
            <a:extLst xmlns:a="http://schemas.openxmlformats.org/drawingml/2006/main">
              <a:ext uri="{FF2B5EF4-FFF2-40B4-BE49-F238E27FC236}">
                <a16:creationId xmlns:a16="http://schemas.microsoft.com/office/drawing/2014/main" id="{7B45675F-8040-4AFE-B399-D16E2A7C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7650"/>
            <a:ext cx="1047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筛选损耗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400</a:t>
            </a:r>
          </a:p>
        </p:txBody>
      </p:sp>
      <p:sp>
        <p:nvSpPr>
          <p:cNvPr id="8" name="layer-2">
            <a:extLst xmlns:a="http://schemas.openxmlformats.org/drawingml/2006/main">
              <a:ext uri="{FF2B5EF4-FFF2-40B4-BE49-F238E27FC236}">
                <a16:creationId xmlns:a16="http://schemas.microsoft.com/office/drawing/2014/main" id="{588433BF-A601-4019-88CC-18E70809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3525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筛选结果｜通过率 67%</a:t>
            </a:r>
          </a:p>
        </p:txBody>
      </p:sp>
      <p:sp>
        <p:nvSpPr>
          <p:cNvPr id="9" name="node-hired">
            <a:extLst xmlns:a="http://schemas.openxmlformats.org/drawingml/2006/main">
              <a:ext uri="{FF2B5EF4-FFF2-40B4-BE49-F238E27FC236}">
                <a16:creationId xmlns:a16="http://schemas.microsoft.com/office/drawing/2014/main" id="{CD51F29A-B4CB-4467-847B-6783FC0D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14500"/>
            <a:ext cx="1047750" cy="5981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完成入职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240</a:t>
            </a:r>
          </a:p>
        </p:txBody>
      </p:sp>
      <p:sp>
        <p:nvSpPr>
          <p:cNvPr id="10" name="node-preloss">
            <a:extLst xmlns:a="http://schemas.openxmlformats.org/drawingml/2006/main">
              <a:ext uri="{FF2B5EF4-FFF2-40B4-BE49-F238E27FC236}">
                <a16:creationId xmlns:a16="http://schemas.microsoft.com/office/drawing/2014/main" id="{215F9C87-5A46-4BB1-A472-F71A121F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22220"/>
            <a:ext cx="1047750" cy="13957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入职前损耗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560</a:t>
            </a:r>
          </a:p>
        </p:txBody>
      </p:sp>
      <p:sp>
        <p:nvSpPr>
          <p:cNvPr id="11" name="node-closed">
            <a:extLst xmlns:a="http://schemas.openxmlformats.org/drawingml/2006/main">
              <a:ext uri="{FF2B5EF4-FFF2-40B4-BE49-F238E27FC236}">
                <a16:creationId xmlns:a16="http://schemas.microsoft.com/office/drawing/2014/main" id="{93CD0D3D-64D6-4FDE-AAA6-8DDE6FF2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7500"/>
            <a:ext cx="1047750" cy="99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筛选关闭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400</a:t>
            </a:r>
          </a:p>
        </p:txBody>
      </p:sp>
      <p:sp>
        <p:nvSpPr>
          <p:cNvPr id="12" name="layer-3">
            <a:extLst xmlns:a="http://schemas.openxmlformats.org/drawingml/2006/main">
              <a:ext uri="{FF2B5EF4-FFF2-40B4-BE49-F238E27FC236}">
                <a16:creationId xmlns:a16="http://schemas.microsoft.com/office/drawing/2014/main" id="{5BFCDE5F-A42B-496A-AD94-8B2AEC23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3525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入职去向｜入职率 20%</a:t>
            </a:r>
          </a:p>
        </p:txBody>
      </p:sp>
      <p:sp>
        <p:nvSpPr>
          <p:cNvPr id="13" name="node-retained">
            <a:extLst xmlns:a="http://schemas.openxmlformats.org/drawingml/2006/main">
              <a:ext uri="{FF2B5EF4-FFF2-40B4-BE49-F238E27FC236}">
                <a16:creationId xmlns:a16="http://schemas.microsoft.com/office/drawing/2014/main" id="{3C72C80E-7B1D-4B4C-BC95-8F79A39A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留任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14" name="node-turnover">
            <a:extLst xmlns:a="http://schemas.openxmlformats.org/drawingml/2006/main">
              <a:ext uri="{FF2B5EF4-FFF2-40B4-BE49-F238E27FC236}">
                <a16:creationId xmlns:a16="http://schemas.microsoft.com/office/drawing/2014/main" id="{B269CF1C-595C-40A5-B8A5-81ADBF7A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1047750" cy="4171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入职后流失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180</a:t>
            </a:r>
          </a:p>
        </p:txBody>
      </p:sp>
      <p:sp>
        <p:nvSpPr>
          <p:cNvPr id="15" name="node-not_hired">
            <a:extLst xmlns:a="http://schemas.openxmlformats.org/drawingml/2006/main">
              <a:ext uri="{FF2B5EF4-FFF2-40B4-BE49-F238E27FC236}">
                <a16:creationId xmlns:a16="http://schemas.microsoft.com/office/drawing/2014/main" id="{EE9D5868-CA87-47DF-82EE-A27A0FB4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74645"/>
            <a:ext cx="1047750" cy="1297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未入职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560</a:t>
            </a:r>
          </a:p>
        </p:txBody>
      </p:sp>
      <p:sp>
        <p:nvSpPr>
          <p:cNvPr id="16" name="node-screened_out">
            <a:extLst xmlns:a="http://schemas.openxmlformats.org/drawingml/2006/main">
              <a:ext uri="{FF2B5EF4-FFF2-40B4-BE49-F238E27FC236}">
                <a16:creationId xmlns:a16="http://schemas.microsoft.com/office/drawing/2014/main" id="{100E104D-52BB-45CA-8CD2-595A4C59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82135"/>
            <a:ext cx="1047750" cy="92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已淘汰</a:t>
            </a:r>
          </a:p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400</a:t>
            </a:r>
          </a:p>
        </p:txBody>
      </p:sp>
      <p:sp>
        <p:nvSpPr>
          <p:cNvPr id="17" name="layer-4">
            <a:extLst xmlns:a="http://schemas.openxmlformats.org/drawingml/2006/main">
              <a:ext uri="{FF2B5EF4-FFF2-40B4-BE49-F238E27FC236}">
                <a16:creationId xmlns:a16="http://schemas.microsoft.com/office/drawing/2014/main" id="{9437FEF4-3315-4670-963A-AF294F7E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525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 个月状态｜留任率 25%</a:t>
            </a:r>
          </a:p>
        </p:txBody>
      </p:sp>
      <p:sp>
        <p:nvSpPr>
          <p:cNvPr id="29" name="sankey-crossing-underpass-1">
            <a:extLst xmlns:a="http://schemas.openxmlformats.org/drawingml/2006/main">
              <a:ext uri="{FF2B5EF4-FFF2-40B4-BE49-F238E27FC236}">
                <a16:creationId xmlns:a16="http://schemas.microsoft.com/office/drawing/2014/main" id="{9B2F4C4C-DD1D-4EB4-8C7C-6D6B2B97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552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1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AF5F3E29-8799-4CF4-81E3-DD18D6E3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00150"/>
            <a:ext cx="2781300" cy="44386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2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327AB745-5A19-40FF-88BE-5E5DE0BE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3335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33" name="关键洞察-1">
            <a:extLst xmlns:a="http://schemas.openxmlformats.org/drawingml/2006/main">
              <a:ext uri="{FF2B5EF4-FFF2-40B4-BE49-F238E27FC236}">
                <a16:creationId xmlns:a16="http://schemas.microsoft.com/office/drawing/2014/main" id="{31BA6EC3-8960-48E6-A97F-E1C4A5CD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7716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已入职人群 12 个月流失 180 人</a:t>
            </a:r>
          </a:p>
        </p:txBody>
      </p:sp>
      <p:sp>
        <p:nvSpPr>
          <p:cNvPr id="34" name="关键洞察-2">
            <a:extLst xmlns:a="http://schemas.openxmlformats.org/drawingml/2006/main">
              <a:ext uri="{FF2B5EF4-FFF2-40B4-BE49-F238E27FC236}">
                <a16:creationId xmlns:a16="http://schemas.microsoft.com/office/drawing/2014/main" id="{7D7E5576-0D46-4327-8A72-3EAF9FAC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筛选通过后仍有 560 人未入职</a:t>
            </a:r>
          </a:p>
        </p:txBody>
      </p:sp>
      <p:sp>
        <p:nvSpPr>
          <p:cNvPr id="35" name="关键洞察-3">
            <a:extLst xmlns:a="http://schemas.openxmlformats.org/drawingml/2006/main">
              <a:ext uri="{FF2B5EF4-FFF2-40B4-BE49-F238E27FC236}">
                <a16:creationId xmlns:a16="http://schemas.microsoft.com/office/drawing/2014/main" id="{F201E9EC-0C81-4437-BA7A-25A239BC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24765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两个漏点合计占总损耗 62%</a:t>
            </a:r>
          </a:p>
        </p:txBody>
      </p:sp>
      <p:sp>
        <p:nvSpPr>
          <p:cNvPr id="39" name="bottom">
            <a:extLst xmlns:a="http://schemas.openxmlformats.org/drawingml/2006/main">
              <a:ext uri="{FF2B5EF4-FFF2-40B4-BE49-F238E27FC236}">
                <a16:creationId xmlns:a16="http://schemas.microsoft.com/office/drawing/2014/main" id="{39AB5F6F-893F-4180-9F47-E319589D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11163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先改善入职转化与 12 个月留任，预计每年新增留任 95 人</a:t>
            </a:r>
          </a:p>
        </p:txBody>
      </p:sp>
      <p:cxnSp>
        <p:nvCxnSpPr>
          <p:cNvPr id="64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019550" y="2781300"/>
            <a:ext cx="1085850" cy="438785"/>
          </a:xfrm>
          <a:prstGeom xmlns:a="http://schemas.openxmlformats.org/drawingml/2006/main" prst="straightConnector1">
            <a:avLst/>
          </a:prstGeom>
          <a:ln xmlns:a="http://schemas.openxmlformats.org/drawingml/2006/main" w="76200">
            <a:solidFill>
              <a:srgbClr val="E8872D"/>
            </a:solidFill>
            <a:prstDash val="dash"/>
          </a:ln>
        </p:spPr>
      </p:cxnSp>
      <p:cxnSp>
        <p:nvCxnSpPr>
          <p:cNvPr id="65" name=""/>
          <p:cNvCxnSpPr>
            <a:stCxn xmlns:a="http://schemas.openxmlformats.org/drawingml/2006/main" id="10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153150" y="3220085"/>
            <a:ext cx="1085850" cy="303530"/>
          </a:xfrm>
          <a:prstGeom xmlns:a="http://schemas.openxmlformats.org/drawingml/2006/main" prst="straightConnector1">
            <a:avLst/>
          </a:prstGeom>
          <a:ln xmlns:a="http://schemas.openxmlformats.org/drawingml/2006/main" w="76200">
            <a:solidFill>
              <a:srgbClr val="E8872D"/>
            </a:solidFill>
            <a:prstDash val="dash"/>
          </a:ln>
        </p:spPr>
      </p:cxnSp>
      <p:cxnSp>
        <p:nvCxnSpPr>
          <p:cNvPr id="66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1885950" y="2647950"/>
            <a:ext cx="1085850" cy="133350"/>
          </a:xfrm>
          <a:prstGeom xmlns:a="http://schemas.openxmlformats.org/drawingml/2006/main" prst="straightConnector1">
            <a:avLst/>
          </a:prstGeom>
          <a:ln xmlns:a="http://schemas.openxmlformats.org/drawingml/2006/main" w="63954">
            <a:solidFill>
              <a:srgbClr val="2F6FB2"/>
            </a:solidFill>
            <a:prstDash val="solid"/>
          </a:ln>
        </p:spPr>
      </p:cxnSp>
      <p:cxnSp>
        <p:nvCxnSpPr>
          <p:cNvPr id="67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019550" y="4591050"/>
            <a:ext cx="1085850" cy="34925"/>
          </a:xfrm>
          <a:prstGeom xmlns:a="http://schemas.openxmlformats.org/drawingml/2006/main" prst="straightConnector1">
            <a:avLst/>
          </a:prstGeom>
          <a:ln xmlns:a="http://schemas.openxmlformats.org/drawingml/2006/main" w="54429">
            <a:solidFill>
              <a:srgbClr val="E8872D"/>
            </a:solidFill>
            <a:prstDash val="dash"/>
          </a:ln>
        </p:spPr>
      </p:cxnSp>
      <p:cxnSp>
        <p:nvCxnSpPr>
          <p:cNvPr id="68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153150" y="4625975"/>
            <a:ext cx="1085850" cy="219710"/>
          </a:xfrm>
          <a:prstGeom xmlns:a="http://schemas.openxmlformats.org/drawingml/2006/main" prst="straightConnector1">
            <a:avLst/>
          </a:prstGeom>
          <a:ln xmlns:a="http://schemas.openxmlformats.org/drawingml/2006/main" w="54429">
            <a:solidFill>
              <a:srgbClr val="E8872D"/>
            </a:solidFill>
            <a:prstDash val="dash"/>
          </a:ln>
        </p:spPr>
      </p:cxnSp>
      <p:cxnSp>
        <p:nvCxnSpPr>
          <p:cNvPr id="69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1885950" y="2781300"/>
            <a:ext cx="1085850" cy="1676400"/>
          </a:xfrm>
          <a:prstGeom xmlns:a="http://schemas.openxmlformats.org/drawingml/2006/main" prst="straightConnector1">
            <a:avLst/>
          </a:prstGeom>
          <a:ln xmlns:a="http://schemas.openxmlformats.org/drawingml/2006/main" w="44904">
            <a:solidFill>
              <a:srgbClr val="2F6FB2"/>
            </a:solidFill>
            <a:prstDash val="solid"/>
          </a:ln>
        </p:spPr>
      </p:cxnSp>
      <p:cxnSp>
        <p:nvCxnSpPr>
          <p:cNvPr id="70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4019550" y="2013585"/>
            <a:ext cx="1085850" cy="767715"/>
          </a:xfrm>
          <a:prstGeom xmlns:a="http://schemas.openxmlformats.org/drawingml/2006/main" prst="straightConnector1">
            <a:avLst/>
          </a:prstGeom>
          <a:ln xmlns:a="http://schemas.openxmlformats.org/drawingml/2006/main" w="32657">
            <a:solidFill>
              <a:srgbClr val="2F6FB2"/>
            </a:solidFill>
            <a:prstDash val="solid"/>
          </a:ln>
        </p:spPr>
      </p:cxnSp>
      <p:cxnSp>
        <p:nvCxnSpPr>
          <p:cNvPr id="71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885950" y="2647950"/>
            <a:ext cx="1085850" cy="1943100"/>
          </a:xfrm>
          <a:prstGeom xmlns:a="http://schemas.openxmlformats.org/drawingml/2006/main" prst="straightConnector1">
            <a:avLst/>
          </a:prstGeom>
          <a:ln xmlns:a="http://schemas.openxmlformats.org/drawingml/2006/main" w="31296">
            <a:solidFill>
              <a:srgbClr val="E8872D"/>
            </a:solidFill>
            <a:prstDash val="dash"/>
          </a:ln>
        </p:spPr>
      </p:cxnSp>
      <p:cxnSp>
        <p:nvCxnSpPr>
          <p:cNvPr id="72" name=""/>
          <p:cNvCxnSpPr>
            <a:stCxn xmlns:a="http://schemas.openxmlformats.org/drawingml/2006/main" id="9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153150" y="2013585"/>
            <a:ext cx="1085850" cy="442912"/>
          </a:xfrm>
          <a:prstGeom xmlns:a="http://schemas.openxmlformats.org/drawingml/2006/main" prst="straightConnector1">
            <a:avLst/>
          </a:prstGeom>
          <a:ln xmlns:a="http://schemas.openxmlformats.org/drawingml/2006/main" w="24493">
            <a:solidFill>
              <a:srgbClr val="E8872D"/>
            </a:solidFill>
            <a:prstDash val="dash"/>
          </a:ln>
        </p:spPr>
      </p:cxnSp>
      <p:cxnSp>
        <p:nvCxnSpPr>
          <p:cNvPr id="73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885950" y="4457700"/>
            <a:ext cx="1085850" cy="133350"/>
          </a:xfrm>
          <a:prstGeom xmlns:a="http://schemas.openxmlformats.org/drawingml/2006/main" prst="straightConnector1">
            <a:avLst/>
          </a:prstGeom>
          <a:ln xmlns:a="http://schemas.openxmlformats.org/drawingml/2006/main" w="23132">
            <a:solidFill>
              <a:srgbClr val="E8872D"/>
            </a:solidFill>
            <a:prstDash val="dash"/>
          </a:ln>
        </p:spPr>
      </p:cxnSp>
      <p:cxnSp>
        <p:nvCxnSpPr>
          <p:cNvPr id="74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 flipV="1">
            <a:off x="6153150" y="1876425"/>
            <a:ext cx="1085850" cy="13716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F6FB2"/>
            </a:solidFill>
            <a:prstDash val="solid"/>
          </a:ln>
        </p:spPr>
      </p:cxnSp>
      <p:cxnSp>
        <p:nvCxnSpPr>
          <p:cNvPr id="75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1885950" y="2781300"/>
            <a:ext cx="1085850" cy="1676400"/>
          </a:xfrm>
          <a:prstGeom xmlns:a="http://schemas.openxmlformats.org/drawingml/2006/main" prst="straightConnector1">
            <a:avLst/>
          </a:prstGeom>
          <a:ln xmlns:a="http://schemas.openxmlformats.org/drawingml/2006/main" w="44904">
            <a:solidFill>
              <a:srgbClr val="2F6FB2"/>
            </a:solidFill>
            <a:prstDash val="solid"/>
          </a:ln>
        </p:spPr>
      </p:cxnSp>
      <p:cxnSp>
        <p:nvCxnSpPr>
          <p:cNvPr id="76" name=""/>
          <p:cNvCxnSpPr>
            <a:stCxn xmlns:a="http://schemas.openxmlformats.org/drawingml/2006/main" id="14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 flipV="1">
            <a:off x="8286750" y="2228850"/>
            <a:ext cx="762000" cy="227647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  <p:cxnSp>
        <p:nvCxnSpPr>
          <p:cNvPr id="77" name=""/>
          <p:cNvCxnSpPr>
            <a:stCxn xmlns:a="http://schemas.openxmlformats.org/drawingml/2006/main" id="15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 flipV="1">
            <a:off x="8286750" y="3390900"/>
            <a:ext cx="762000" cy="13271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  <p:cxnSp>
        <p:nvCxnSpPr>
          <p:cNvPr id="78" name=""/>
          <p:cNvCxnSpPr>
            <a:stCxn xmlns:a="http://schemas.openxmlformats.org/drawingml/2006/main" id="16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 flipV="1">
            <a:off x="8286750" y="4552950"/>
            <a:ext cx="762000" cy="29273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7620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1660406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2026-07-31T21:21:33.9260000Z</dcterms:created>
  <dcterms:modified xsi:type="dcterms:W3CDTF">2026-07-31T21:21:33.9260000Z</dcterms:modified>
</coreProperties>
</file>