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a7d91306c24ba5" /><Relationship Type="http://schemas.openxmlformats.org/officeDocument/2006/relationships/extended-properties" Target="/docProps/app.xml" Id="R47ba841089154cd9" /><Relationship Type="http://schemas.openxmlformats.org/officeDocument/2006/relationships/officeDocument" Target="/ppt/presentation.xml" Id="R38bf73eb81cc4f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d0fde551984408"/>
  </p:sldMasterIdLst>
  <p:notesMasterIdLst>
    <p:notesMasterId xmlns:r="http://schemas.openxmlformats.org/officeDocument/2006/relationships" r:id="R489413f83a014811"/>
  </p:notesMasterIdLst>
  <p:sldIdLst>
    <p:sldId xmlns:r="http://schemas.openxmlformats.org/officeDocument/2006/relationships" id="256" r:id="Rdb47e794b5ed47b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99db4e9bec4fad" /><Relationship Type="http://schemas.openxmlformats.org/officeDocument/2006/relationships/slideMaster" Target="/ppt/slideMasters/slideMaster1.xml" Id="R91d0fde551984408" /><Relationship Type="http://schemas.openxmlformats.org/officeDocument/2006/relationships/notesMaster" Target="/ppt/notesMasters/notesMaster1.xml" Id="R489413f83a014811" /><Relationship Type="http://schemas.openxmlformats.org/officeDocument/2006/relationships/presProps" Target="/ppt/presProps.xml" Id="R53e5e18b67f949e2" /><Relationship Type="http://schemas.openxmlformats.org/officeDocument/2006/relationships/tableStyles" Target="/ppt/tableStyles.xml" Id="R4add2c04ab2a46fe" /><Relationship Type="http://schemas.openxmlformats.org/officeDocument/2006/relationships/slide" Target="/ppt/slides/slide1.xml" Id="Rdb47e794b5ed47b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9c6e1f9bc9483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c59883a8da2434f" /><Relationship Type="http://schemas.openxmlformats.org/officeDocument/2006/relationships/notesMaster" Target="/ppt/notesMasters/notesMaster1.xml" Id="R6417acf5138f46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4b0a1870544e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1bf428392c41c5" /><Relationship Type="http://schemas.openxmlformats.org/officeDocument/2006/relationships/slideLayout" Target="/ppt/slideLayouts/slideLayout1.xml" Id="R2b26e173adc44d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26e173adc44d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c24453aa7840ee" /><Relationship Type="http://schemas.openxmlformats.org/officeDocument/2006/relationships/notesSlide" Target="/ppt/notesSlides/notesSlide1.xml" Id="R523ce07735104be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page-title">
            <a:extLst xmlns:a="http://schemas.openxmlformats.org/drawingml/2006/main">
              <a:ext uri="{FF2B5EF4-FFF2-40B4-BE49-F238E27FC236}">
                <a16:creationId xmlns:a16="http://schemas.microsoft.com/office/drawing/2014/main" id="{771E7B9C-2812-405A-B51B-7A1E8FCF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11163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15375F"/>
                </a:solidFill>
              </a:defRPr>
            </a:pPr>
            <a:r>
              <a:rPr sz="2600" b="1">
                <a:solidFill>
                  <a:srgbClr val="15375F"/>
                </a:solidFill>
              </a:rPr>
              <a:t>1,200 Candidates ended up with only 60 People are retained, and leakage is concentrated in screening and post-employment attrition.</a:t>
            </a:r>
          </a:p>
        </p:txBody>
      </p:sp>
      <p:sp>
        <p:nvSpPr>
          <p:cNvPr id="2" name="sankey-frame">
            <a:extLst xmlns:a="http://schemas.openxmlformats.org/drawingml/2006/main">
              <a:ext uri="{FF2B5EF4-FFF2-40B4-BE49-F238E27FC236}">
                <a16:creationId xmlns:a16="http://schemas.microsoft.com/office/drawing/2014/main" id="{10BB62A2-D855-41F7-87BD-211E543D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57300"/>
            <a:ext cx="80962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3" name="sankey-ribbon-6-pass-preloss">
            <a:extLst xmlns:a="http://schemas.openxmlformats.org/drawingml/2006/main">
              <a:ext uri="{FF2B5EF4-FFF2-40B4-BE49-F238E27FC236}">
                <a16:creationId xmlns:a16="http://schemas.microsoft.com/office/drawing/2014/main" id="{F5E68A0C-D588-4B95-9ADD-E6C4C601E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94610"/>
            <a:ext cx="1733550" cy="1497965"/>
          </a:xfrm>
          <a:custGeom xmlns:a="http://schemas.openxmlformats.org/drawingml/2006/main">
            <a:pathLst>
              <a:path w="1733550" h="1497965">
                <a:moveTo>
                  <a:pt x="0" y="0"/>
                </a:moveTo>
                <a:cubicBezTo>
                  <a:pt x="797433" y="0"/>
                  <a:pt x="936117" y="66675"/>
                  <a:pt x="1733550" y="66675"/>
                </a:cubicBezTo>
                <a:lnTo>
                  <a:pt x="1733550" y="1497965"/>
                </a:lnTo>
                <a:cubicBezTo>
                  <a:pt x="936117" y="1497965"/>
                  <a:pt x="797433" y="1431290"/>
                  <a:pt x="0" y="143129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sankey-ribbon-10-preloss-not_hired">
            <a:extLst xmlns:a="http://schemas.openxmlformats.org/drawingml/2006/main">
              <a:ext uri="{FF2B5EF4-FFF2-40B4-BE49-F238E27FC236}">
                <a16:creationId xmlns:a16="http://schemas.microsoft.com/office/drawing/2014/main" id="{F7E788C0-F806-4275-AEC5-FDDEA458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661285"/>
            <a:ext cx="1733550" cy="1497965"/>
          </a:xfrm>
          <a:custGeom xmlns:a="http://schemas.openxmlformats.org/drawingml/2006/main">
            <a:pathLst>
              <a:path w="1733550" h="1497965">
                <a:moveTo>
                  <a:pt x="0" y="0"/>
                </a:moveTo>
                <a:cubicBezTo>
                  <a:pt x="797433" y="0"/>
                  <a:pt x="936117" y="66675"/>
                  <a:pt x="1733550" y="66675"/>
                </a:cubicBezTo>
                <a:lnTo>
                  <a:pt x="1733550" y="1497965"/>
                </a:lnTo>
                <a:cubicBezTo>
                  <a:pt x="936117" y="1497965"/>
                  <a:pt x="797433" y="1431290"/>
                  <a:pt x="0" y="143129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" name="sankey-ribbon-1-social-pass">
            <a:extLst xmlns:a="http://schemas.openxmlformats.org/drawingml/2006/main">
              <a:ext uri="{FF2B5EF4-FFF2-40B4-BE49-F238E27FC236}">
                <a16:creationId xmlns:a16="http://schemas.microsoft.com/office/drawing/2014/main" id="{B27BD370-598C-4177-9B60-06A116627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81200"/>
            <a:ext cx="1733550" cy="1201261"/>
          </a:xfrm>
          <a:custGeom xmlns:a="http://schemas.openxmlformats.org/drawingml/2006/main">
            <a:pathLst>
              <a:path w="1733550" h="1201261">
                <a:moveTo>
                  <a:pt x="0" y="0"/>
                </a:moveTo>
                <a:cubicBezTo>
                  <a:pt x="797433" y="0"/>
                  <a:pt x="936117" y="0"/>
                  <a:pt x="1733550" y="0"/>
                </a:cubicBezTo>
                <a:lnTo>
                  <a:pt x="1733550" y="1201261"/>
                </a:lnTo>
                <a:cubicBezTo>
                  <a:pt x="936117" y="1201261"/>
                  <a:pt x="797433" y="1201261"/>
                  <a:pt x="0" y="1201261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1F66AD">
                  <a:alpha val="78000"/>
                </a:srgbClr>
              </a:gs>
              <a:gs pos="100000">
                <a:srgbClr val="1F66AD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6" name="sankey-ribbon-7-reject-closed">
            <a:extLst xmlns:a="http://schemas.openxmlformats.org/drawingml/2006/main">
              <a:ext uri="{FF2B5EF4-FFF2-40B4-BE49-F238E27FC236}">
                <a16:creationId xmlns:a16="http://schemas.microsoft.com/office/drawing/2014/main" id="{338473BF-355B-4AA2-92E1-5936F517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9250"/>
            <a:ext cx="1733550" cy="1089025"/>
          </a:xfrm>
          <a:custGeom xmlns:a="http://schemas.openxmlformats.org/drawingml/2006/main">
            <a:pathLst>
              <a:path w="1733550" h="1089025">
                <a:moveTo>
                  <a:pt x="0" y="0"/>
                </a:moveTo>
                <a:cubicBezTo>
                  <a:pt x="797433" y="0"/>
                  <a:pt x="936117" y="66675"/>
                  <a:pt x="1733550" y="66675"/>
                </a:cubicBezTo>
                <a:lnTo>
                  <a:pt x="1733550" y="1089025"/>
                </a:lnTo>
                <a:cubicBezTo>
                  <a:pt x="936117" y="1089025"/>
                  <a:pt x="797433" y="1022350"/>
                  <a:pt x="0" y="10223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sankey-ribbon-11-closed-screened_out">
            <a:extLst xmlns:a="http://schemas.openxmlformats.org/drawingml/2006/main">
              <a:ext uri="{FF2B5EF4-FFF2-40B4-BE49-F238E27FC236}">
                <a16:creationId xmlns:a16="http://schemas.microsoft.com/office/drawing/2014/main" id="{F6760CB3-EF56-4E22-BAC8-D855BE7ED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25925"/>
            <a:ext cx="1733550" cy="1089025"/>
          </a:xfrm>
          <a:custGeom xmlns:a="http://schemas.openxmlformats.org/drawingml/2006/main">
            <a:pathLst>
              <a:path w="1733550" h="1089025">
                <a:moveTo>
                  <a:pt x="0" y="0"/>
                </a:moveTo>
                <a:cubicBezTo>
                  <a:pt x="797433" y="0"/>
                  <a:pt x="936117" y="66675"/>
                  <a:pt x="1733550" y="66675"/>
                </a:cubicBezTo>
                <a:lnTo>
                  <a:pt x="1733550" y="1089025"/>
                </a:lnTo>
                <a:cubicBezTo>
                  <a:pt x="936117" y="1089025"/>
                  <a:pt x="797433" y="1022350"/>
                  <a:pt x="0" y="102235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sankey-ribbon-3-campus-pass">
            <a:extLst xmlns:a="http://schemas.openxmlformats.org/drawingml/2006/main">
              <a:ext uri="{FF2B5EF4-FFF2-40B4-BE49-F238E27FC236}">
                <a16:creationId xmlns:a16="http://schemas.microsoft.com/office/drawing/2014/main" id="{9EA2863A-934F-4F51-A69F-9555CF9F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82461"/>
            <a:ext cx="1733550" cy="1564640"/>
          </a:xfrm>
          <a:custGeom xmlns:a="http://schemas.openxmlformats.org/drawingml/2006/main">
            <a:pathLst>
              <a:path w="1733550" h="1564640">
                <a:moveTo>
                  <a:pt x="0" y="721201"/>
                </a:moveTo>
                <a:cubicBezTo>
                  <a:pt x="797433" y="721201"/>
                  <a:pt x="936117" y="0"/>
                  <a:pt x="1733550" y="0"/>
                </a:cubicBezTo>
                <a:lnTo>
                  <a:pt x="1733550" y="843439"/>
                </a:lnTo>
                <a:cubicBezTo>
                  <a:pt x="936117" y="843439"/>
                  <a:pt x="797433" y="1564640"/>
                  <a:pt x="0" y="156464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1F66AD">
                  <a:alpha val="78000"/>
                </a:srgbClr>
              </a:gs>
              <a:gs pos="100000">
                <a:srgbClr val="1F66AD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" name="sankey-ribbon-5-pass-hired">
            <a:extLst xmlns:a="http://schemas.openxmlformats.org/drawingml/2006/main">
              <a:ext uri="{FF2B5EF4-FFF2-40B4-BE49-F238E27FC236}">
                <a16:creationId xmlns:a16="http://schemas.microsoft.com/office/drawing/2014/main" id="{42E35197-714B-4E78-B531-5C1B6A2B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14525"/>
            <a:ext cx="1733550" cy="680085"/>
          </a:xfrm>
          <a:custGeom xmlns:a="http://schemas.openxmlformats.org/drawingml/2006/main">
            <a:pathLst>
              <a:path w="1733550" h="680085">
                <a:moveTo>
                  <a:pt x="0" y="66675"/>
                </a:moveTo>
                <a:cubicBezTo>
                  <a:pt x="797433" y="66675"/>
                  <a:pt x="936117" y="0"/>
                  <a:pt x="1733550" y="0"/>
                </a:cubicBezTo>
                <a:lnTo>
                  <a:pt x="1733550" y="613410"/>
                </a:lnTo>
                <a:cubicBezTo>
                  <a:pt x="936117" y="613410"/>
                  <a:pt x="797433" y="680085"/>
                  <a:pt x="0" y="680085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1F66AD">
                  <a:alpha val="78000"/>
                </a:srgbClr>
              </a:gs>
              <a:gs pos="100000">
                <a:srgbClr val="1F66AD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0" name="sankey-ribbon-2-social-reject">
            <a:extLst xmlns:a="http://schemas.openxmlformats.org/drawingml/2006/main">
              <a:ext uri="{FF2B5EF4-FFF2-40B4-BE49-F238E27FC236}">
                <a16:creationId xmlns:a16="http://schemas.microsoft.com/office/drawing/2014/main" id="{7AD14179-C7CF-4EA9-8848-F7B51E4D3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82461"/>
            <a:ext cx="1733550" cy="1564640"/>
          </a:xfrm>
          <a:custGeom xmlns:a="http://schemas.openxmlformats.org/drawingml/2006/main">
            <a:pathLst>
              <a:path w="1733550" h="1564640">
                <a:moveTo>
                  <a:pt x="0" y="0"/>
                </a:moveTo>
                <a:cubicBezTo>
                  <a:pt x="797433" y="0"/>
                  <a:pt x="936117" y="976789"/>
                  <a:pt x="1733550" y="976789"/>
                </a:cubicBezTo>
                <a:lnTo>
                  <a:pt x="1733550" y="1564640"/>
                </a:lnTo>
                <a:cubicBezTo>
                  <a:pt x="936117" y="1564640"/>
                  <a:pt x="797433" y="587851"/>
                  <a:pt x="0" y="587851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1" name="sankey-ribbon-9-hired-turnover">
            <a:extLst xmlns:a="http://schemas.openxmlformats.org/drawingml/2006/main">
              <a:ext uri="{FF2B5EF4-FFF2-40B4-BE49-F238E27FC236}">
                <a16:creationId xmlns:a16="http://schemas.microsoft.com/office/drawing/2014/main" id="{C01AEE00-78A8-47E3-A794-9A938DEE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67878"/>
            <a:ext cx="1733550" cy="526732"/>
          </a:xfrm>
          <a:custGeom xmlns:a="http://schemas.openxmlformats.org/drawingml/2006/main">
            <a:pathLst>
              <a:path w="1733550" h="526732">
                <a:moveTo>
                  <a:pt x="0" y="0"/>
                </a:moveTo>
                <a:cubicBezTo>
                  <a:pt x="797433" y="0"/>
                  <a:pt x="936117" y="66675"/>
                  <a:pt x="1733550" y="66675"/>
                </a:cubicBezTo>
                <a:lnTo>
                  <a:pt x="1733550" y="526732"/>
                </a:lnTo>
                <a:cubicBezTo>
                  <a:pt x="936117" y="526732"/>
                  <a:pt x="797433" y="460057"/>
                  <a:pt x="0" y="460057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2" name="sankey-ribbon-4-campus-reject">
            <a:extLst xmlns:a="http://schemas.openxmlformats.org/drawingml/2006/main">
              <a:ext uri="{FF2B5EF4-FFF2-40B4-BE49-F238E27FC236}">
                <a16:creationId xmlns:a16="http://schemas.microsoft.com/office/drawing/2014/main" id="{66BB785B-20CC-4CA7-BBF8-8B566BB6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747101"/>
            <a:ext cx="1733550" cy="434499"/>
          </a:xfrm>
          <a:custGeom xmlns:a="http://schemas.openxmlformats.org/drawingml/2006/main">
            <a:pathLst>
              <a:path w="1733550" h="434499">
                <a:moveTo>
                  <a:pt x="0" y="0"/>
                </a:moveTo>
                <a:cubicBezTo>
                  <a:pt x="797433" y="0"/>
                  <a:pt x="936117" y="0"/>
                  <a:pt x="1733550" y="0"/>
                </a:cubicBezTo>
                <a:lnTo>
                  <a:pt x="1733550" y="434499"/>
                </a:lnTo>
                <a:cubicBezTo>
                  <a:pt x="936117" y="434499"/>
                  <a:pt x="797433" y="434499"/>
                  <a:pt x="0" y="434499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96F16">
                  <a:alpha val="78000"/>
                </a:srgbClr>
              </a:gs>
              <a:gs pos="100000">
                <a:srgbClr val="D96F16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3" name="sankey-ribbon-8-hired-retained">
            <a:extLst xmlns:a="http://schemas.openxmlformats.org/drawingml/2006/main">
              <a:ext uri="{FF2B5EF4-FFF2-40B4-BE49-F238E27FC236}">
                <a16:creationId xmlns:a16="http://schemas.microsoft.com/office/drawing/2014/main" id="{0D5295CE-1B87-4701-82FA-1D94BA55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47850"/>
            <a:ext cx="1733550" cy="220027"/>
          </a:xfrm>
          <a:custGeom xmlns:a="http://schemas.openxmlformats.org/drawingml/2006/main">
            <a:pathLst>
              <a:path w="1733550" h="220027">
                <a:moveTo>
                  <a:pt x="0" y="66675"/>
                </a:moveTo>
                <a:cubicBezTo>
                  <a:pt x="797433" y="66675"/>
                  <a:pt x="936117" y="0"/>
                  <a:pt x="1733550" y="0"/>
                </a:cubicBezTo>
                <a:lnTo>
                  <a:pt x="1733550" y="153352"/>
                </a:lnTo>
                <a:cubicBezTo>
                  <a:pt x="936117" y="153352"/>
                  <a:pt x="797433" y="220027"/>
                  <a:pt x="0" y="220027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1F66AD">
                  <a:alpha val="78000"/>
                </a:srgbClr>
              </a:gs>
              <a:gs pos="100000">
                <a:srgbClr val="1F66AD">
                  <a:alpha val="62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14" name="layer-1">
            <a:extLst xmlns:a="http://schemas.openxmlformats.org/drawingml/2006/main">
              <a:ext uri="{FF2B5EF4-FFF2-40B4-BE49-F238E27FC236}">
                <a16:creationId xmlns:a16="http://schemas.microsoft.com/office/drawing/2014/main" id="{561E97BF-E95A-457F-9456-D93051BF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source channel;1,200 people</a:t>
            </a:r>
          </a:p>
        </p:txBody>
      </p:sp>
      <p:sp>
        <p:nvSpPr>
          <p:cNvPr id="15" name="node-social">
            <a:extLst xmlns:a="http://schemas.openxmlformats.org/drawingml/2006/main">
              <a:ext uri="{FF2B5EF4-FFF2-40B4-BE49-F238E27FC236}">
                <a16:creationId xmlns:a16="http://schemas.microsoft.com/office/drawing/2014/main" id="{3F1815AF-EBA1-4B31-A3B1-FB26C84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1981200"/>
            <a:ext cx="190500" cy="178911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label-social">
            <a:extLst xmlns:a="http://schemas.openxmlformats.org/drawingml/2006/main">
              <a:ext uri="{FF2B5EF4-FFF2-40B4-BE49-F238E27FC236}">
                <a16:creationId xmlns:a16="http://schemas.microsoft.com/office/drawing/2014/main" id="{9AF02BA2-5DDC-4809-859A-FF06F7FA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66206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social recruitment</a:t>
            </a:r>
          </a:p>
        </p:txBody>
      </p:sp>
      <p:sp>
        <p:nvSpPr>
          <p:cNvPr id="17" name="node-value-social">
            <a:extLst xmlns:a="http://schemas.openxmlformats.org/drawingml/2006/main">
              <a:ext uri="{FF2B5EF4-FFF2-40B4-BE49-F238E27FC236}">
                <a16:creationId xmlns:a16="http://schemas.microsoft.com/office/drawing/2014/main" id="{45F1E2FA-082D-4B35-A96B-5D30F56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3381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700</a:t>
            </a:r>
          </a:p>
        </p:txBody>
      </p:sp>
      <p:sp>
        <p:nvSpPr>
          <p:cNvPr id="18" name="node-campus">
            <a:extLst xmlns:a="http://schemas.openxmlformats.org/drawingml/2006/main">
              <a:ext uri="{FF2B5EF4-FFF2-40B4-BE49-F238E27FC236}">
                <a16:creationId xmlns:a16="http://schemas.microsoft.com/office/drawing/2014/main" id="{75E7A1B4-375E-4376-9285-34DCF1035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903663"/>
            <a:ext cx="190500" cy="12779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node-label-campus">
            <a:extLst xmlns:a="http://schemas.openxmlformats.org/drawingml/2006/main">
              <a:ext uri="{FF2B5EF4-FFF2-40B4-BE49-F238E27FC236}">
                <a16:creationId xmlns:a16="http://schemas.microsoft.com/office/drawing/2014/main" id="{1E2C8B97-9B38-4F72-88C6-58E6F56A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33081"/>
            <a:ext cx="85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campus recruitment</a:t>
            </a:r>
          </a:p>
        </p:txBody>
      </p:sp>
      <p:sp>
        <p:nvSpPr>
          <p:cNvPr id="20" name="node-value-campus">
            <a:extLst xmlns:a="http://schemas.openxmlformats.org/drawingml/2006/main">
              <a:ext uri="{FF2B5EF4-FFF2-40B4-BE49-F238E27FC236}">
                <a16:creationId xmlns:a16="http://schemas.microsoft.com/office/drawing/2014/main" id="{B8D77D90-F594-4B09-8E06-B9F6DE60C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0256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500</a:t>
            </a:r>
          </a:p>
        </p:txBody>
      </p:sp>
      <p:sp>
        <p:nvSpPr>
          <p:cNvPr id="21" name="layer-2">
            <a:extLst xmlns:a="http://schemas.openxmlformats.org/drawingml/2006/main">
              <a:ext uri="{FF2B5EF4-FFF2-40B4-BE49-F238E27FC236}">
                <a16:creationId xmlns:a16="http://schemas.microsoft.com/office/drawing/2014/main" id="{E51F0286-9F6D-48E7-8426-EE5C7AD0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3335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Screening results; pass rate 67%</a:t>
            </a:r>
          </a:p>
        </p:txBody>
      </p:sp>
      <p:sp>
        <p:nvSpPr>
          <p:cNvPr id="22" name="node-pass">
            <a:extLst xmlns:a="http://schemas.openxmlformats.org/drawingml/2006/main">
              <a:ext uri="{FF2B5EF4-FFF2-40B4-BE49-F238E27FC236}">
                <a16:creationId xmlns:a16="http://schemas.microsoft.com/office/drawing/2014/main" id="{35B9BE32-3F7D-428B-8C94-E1CD7DFC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81200"/>
            <a:ext cx="190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node-label-pass">
            <a:extLst xmlns:a="http://schemas.openxmlformats.org/drawingml/2006/main">
              <a:ext uri="{FF2B5EF4-FFF2-40B4-BE49-F238E27FC236}">
                <a16:creationId xmlns:a16="http://schemas.microsoft.com/office/drawing/2014/main" id="{B1092917-34AF-49DB-997D-F4BA2FC43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9400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Screened</a:t>
            </a:r>
          </a:p>
        </p:txBody>
      </p:sp>
      <p:sp>
        <p:nvSpPr>
          <p:cNvPr id="24" name="node-value-pass">
            <a:extLst xmlns:a="http://schemas.openxmlformats.org/drawingml/2006/main">
              <a:ext uri="{FF2B5EF4-FFF2-40B4-BE49-F238E27FC236}">
                <a16:creationId xmlns:a16="http://schemas.microsoft.com/office/drawing/2014/main" id="{9C9630AC-D426-4FE8-BFBE-0A42EBD8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5117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800</a:t>
            </a:r>
          </a:p>
        </p:txBody>
      </p:sp>
      <p:sp>
        <p:nvSpPr>
          <p:cNvPr id="25" name="node-reject">
            <a:extLst xmlns:a="http://schemas.openxmlformats.org/drawingml/2006/main">
              <a:ext uri="{FF2B5EF4-FFF2-40B4-BE49-F238E27FC236}">
                <a16:creationId xmlns:a16="http://schemas.microsoft.com/office/drawing/2014/main" id="{07CD32E4-A33C-4D76-B958-0435547C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159250"/>
            <a:ext cx="190500" cy="102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node-label-reject">
            <a:extLst xmlns:a="http://schemas.openxmlformats.org/drawingml/2006/main">
              <a:ext uri="{FF2B5EF4-FFF2-40B4-BE49-F238E27FC236}">
                <a16:creationId xmlns:a16="http://schemas.microsoft.com/office/drawing/2014/main" id="{440C89F2-75B2-4A12-AF3B-DC011EAA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6087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screening loss</a:t>
            </a:r>
          </a:p>
        </p:txBody>
      </p:sp>
      <p:sp>
        <p:nvSpPr>
          <p:cNvPr id="27" name="node-value-reject">
            <a:extLst xmlns:a="http://schemas.openxmlformats.org/drawingml/2006/main">
              <a:ext uri="{FF2B5EF4-FFF2-40B4-BE49-F238E27FC236}">
                <a16:creationId xmlns:a16="http://schemas.microsoft.com/office/drawing/2014/main" id="{0F848510-818C-4390-BD08-4FCF58112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71805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400</a:t>
            </a:r>
          </a:p>
        </p:txBody>
      </p:sp>
      <p:sp>
        <p:nvSpPr>
          <p:cNvPr id="28" name="layer-3">
            <a:extLst xmlns:a="http://schemas.openxmlformats.org/drawingml/2006/main">
              <a:ext uri="{FF2B5EF4-FFF2-40B4-BE49-F238E27FC236}">
                <a16:creationId xmlns:a16="http://schemas.microsoft.com/office/drawing/2014/main" id="{D6367E38-A044-4828-AC8A-0AABA32BA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333500"/>
            <a:ext cx="1924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Employment destination; employment rate 20%</a:t>
            </a:r>
          </a:p>
        </p:txBody>
      </p:sp>
      <p:sp>
        <p:nvSpPr>
          <p:cNvPr id="29" name="node-hired">
            <a:extLst xmlns:a="http://schemas.openxmlformats.org/drawingml/2006/main">
              <a:ext uri="{FF2B5EF4-FFF2-40B4-BE49-F238E27FC236}">
                <a16:creationId xmlns:a16="http://schemas.microsoft.com/office/drawing/2014/main" id="{E7D42356-6376-4AB2-9AA7-6DD6F1EF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14525"/>
            <a:ext cx="190500" cy="6134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node-label-hired">
            <a:extLst xmlns:a="http://schemas.openxmlformats.org/drawingml/2006/main">
              <a:ext uri="{FF2B5EF4-FFF2-40B4-BE49-F238E27FC236}">
                <a16:creationId xmlns:a16="http://schemas.microsoft.com/office/drawing/2014/main" id="{F805C75E-2E9D-4CF1-B791-E211D5F7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168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Complete onboarding</a:t>
            </a:r>
          </a:p>
        </p:txBody>
      </p:sp>
      <p:sp>
        <p:nvSpPr>
          <p:cNvPr id="31" name="node-value-hired">
            <a:extLst xmlns:a="http://schemas.openxmlformats.org/drawingml/2006/main">
              <a:ext uri="{FF2B5EF4-FFF2-40B4-BE49-F238E27FC236}">
                <a16:creationId xmlns:a16="http://schemas.microsoft.com/office/drawing/2014/main" id="{41657D09-6D83-433B-8B80-E57CC3B1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6885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240</a:t>
            </a:r>
          </a:p>
        </p:txBody>
      </p:sp>
      <p:sp>
        <p:nvSpPr>
          <p:cNvPr id="32" name="node-preloss">
            <a:extLst xmlns:a="http://schemas.openxmlformats.org/drawingml/2006/main">
              <a:ext uri="{FF2B5EF4-FFF2-40B4-BE49-F238E27FC236}">
                <a16:creationId xmlns:a16="http://schemas.microsoft.com/office/drawing/2014/main" id="{8299A300-270D-4F60-B41B-65A5A717C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1285"/>
            <a:ext cx="190500" cy="143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node-label-preloss">
            <a:extLst xmlns:a="http://schemas.openxmlformats.org/drawingml/2006/main">
              <a:ext uri="{FF2B5EF4-FFF2-40B4-BE49-F238E27FC236}">
                <a16:creationId xmlns:a16="http://schemas.microsoft.com/office/drawing/2014/main" id="{D58EA2DD-9927-4877-AF3B-241BF02F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6738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Pre-employment attrition</a:t>
            </a:r>
          </a:p>
        </p:txBody>
      </p:sp>
      <p:sp>
        <p:nvSpPr>
          <p:cNvPr id="34" name="node-value-preloss">
            <a:extLst xmlns:a="http://schemas.openxmlformats.org/drawingml/2006/main">
              <a:ext uri="{FF2B5EF4-FFF2-40B4-BE49-F238E27FC236}">
                <a16:creationId xmlns:a16="http://schemas.microsoft.com/office/drawing/2014/main" id="{1931C371-B10E-4860-92DB-9A1357C2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2455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560</a:t>
            </a:r>
          </a:p>
        </p:txBody>
      </p:sp>
      <p:sp>
        <p:nvSpPr>
          <p:cNvPr id="35" name="node-closed">
            <a:extLst xmlns:a="http://schemas.openxmlformats.org/drawingml/2006/main">
              <a:ext uri="{FF2B5EF4-FFF2-40B4-BE49-F238E27FC236}">
                <a16:creationId xmlns:a16="http://schemas.microsoft.com/office/drawing/2014/main" id="{BF0F2434-FA23-4357-861B-C71DED76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225925"/>
            <a:ext cx="190500" cy="102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node-label-closed">
            <a:extLst xmlns:a="http://schemas.openxmlformats.org/drawingml/2006/main">
              <a:ext uri="{FF2B5EF4-FFF2-40B4-BE49-F238E27FC236}">
                <a16:creationId xmlns:a16="http://schemas.microsoft.com/office/drawing/2014/main" id="{55FB9FBF-768C-4D89-A86F-55D5195A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27550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Filter off</a:t>
            </a:r>
          </a:p>
        </p:txBody>
      </p:sp>
      <p:sp>
        <p:nvSpPr>
          <p:cNvPr id="37" name="node-value-closed">
            <a:extLst xmlns:a="http://schemas.openxmlformats.org/drawingml/2006/main">
              <a:ext uri="{FF2B5EF4-FFF2-40B4-BE49-F238E27FC236}">
                <a16:creationId xmlns:a16="http://schemas.microsoft.com/office/drawing/2014/main" id="{AAC1BE0E-217A-4FB2-8981-8242E262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4725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400</a:t>
            </a:r>
          </a:p>
        </p:txBody>
      </p:sp>
      <p:sp>
        <p:nvSpPr>
          <p:cNvPr id="38" name="layer-4">
            <a:extLst xmlns:a="http://schemas.openxmlformats.org/drawingml/2006/main">
              <a:ext uri="{FF2B5EF4-FFF2-40B4-BE49-F238E27FC236}">
                <a16:creationId xmlns:a16="http://schemas.microsoft.com/office/drawing/2014/main" id="{98DF1724-9052-448F-B1AF-54C066F5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33500"/>
            <a:ext cx="18383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375F"/>
                </a:solidFill>
              </a:defRPr>
            </a:pPr>
            <a:r>
              <a:rPr sz="1200" b="1">
                <a:solidFill>
                  <a:srgbClr val="15375F"/>
                </a:solidFill>
              </a:rPr>
              <a:t>12 month status; retention rate 25%</a:t>
            </a:r>
          </a:p>
        </p:txBody>
      </p:sp>
      <p:sp>
        <p:nvSpPr>
          <p:cNvPr id="39" name="node-retained">
            <a:extLst xmlns:a="http://schemas.openxmlformats.org/drawingml/2006/main">
              <a:ext uri="{FF2B5EF4-FFF2-40B4-BE49-F238E27FC236}">
                <a16:creationId xmlns:a16="http://schemas.microsoft.com/office/drawing/2014/main" id="{68FFF944-CA9E-417E-9F4C-A7B215690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847850"/>
            <a:ext cx="190500" cy="153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6A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node-label-retained">
            <a:extLst xmlns:a="http://schemas.openxmlformats.org/drawingml/2006/main">
              <a:ext uri="{FF2B5EF4-FFF2-40B4-BE49-F238E27FC236}">
                <a16:creationId xmlns:a16="http://schemas.microsoft.com/office/drawing/2014/main" id="{384D644C-2B72-42F1-B826-0589DEB2C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714976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stay in office</a:t>
            </a:r>
          </a:p>
        </p:txBody>
      </p:sp>
      <p:sp>
        <p:nvSpPr>
          <p:cNvPr id="41" name="node-value-retained">
            <a:extLst xmlns:a="http://schemas.openxmlformats.org/drawingml/2006/main">
              <a:ext uri="{FF2B5EF4-FFF2-40B4-BE49-F238E27FC236}">
                <a16:creationId xmlns:a16="http://schemas.microsoft.com/office/drawing/2014/main" id="{9BCF6BAF-D754-4C80-8FAF-E450B13B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972151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60</a:t>
            </a:r>
          </a:p>
        </p:txBody>
      </p:sp>
      <p:sp>
        <p:nvSpPr>
          <p:cNvPr id="42" name="node-turnover">
            <a:extLst xmlns:a="http://schemas.openxmlformats.org/drawingml/2006/main">
              <a:ext uri="{FF2B5EF4-FFF2-40B4-BE49-F238E27FC236}">
                <a16:creationId xmlns:a16="http://schemas.microsoft.com/office/drawing/2014/main" id="{9A93CF2E-6825-48FC-B24A-1AA21D380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134553"/>
            <a:ext cx="190500" cy="4600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node-label-turnover">
            <a:extLst xmlns:a="http://schemas.openxmlformats.org/drawingml/2006/main">
              <a:ext uri="{FF2B5EF4-FFF2-40B4-BE49-F238E27FC236}">
                <a16:creationId xmlns:a16="http://schemas.microsoft.com/office/drawing/2014/main" id="{C503A03C-8852-49E8-B89C-6A0E1DB3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155031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Attrition after joining</a:t>
            </a:r>
          </a:p>
        </p:txBody>
      </p:sp>
      <p:sp>
        <p:nvSpPr>
          <p:cNvPr id="44" name="node-value-turnover">
            <a:extLst xmlns:a="http://schemas.openxmlformats.org/drawingml/2006/main">
              <a:ext uri="{FF2B5EF4-FFF2-40B4-BE49-F238E27FC236}">
                <a16:creationId xmlns:a16="http://schemas.microsoft.com/office/drawing/2014/main" id="{A96B1F72-2302-434F-91C1-A9F9499E3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412206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180</a:t>
            </a:r>
          </a:p>
        </p:txBody>
      </p:sp>
      <p:sp>
        <p:nvSpPr>
          <p:cNvPr id="45" name="node-not_hired">
            <a:extLst xmlns:a="http://schemas.openxmlformats.org/drawingml/2006/main">
              <a:ext uri="{FF2B5EF4-FFF2-40B4-BE49-F238E27FC236}">
                <a16:creationId xmlns:a16="http://schemas.microsoft.com/office/drawing/2014/main" id="{5730C4FB-189C-4528-A045-31FD985B1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27960"/>
            <a:ext cx="190500" cy="14312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node-label-not_hired">
            <a:extLst xmlns:a="http://schemas.openxmlformats.org/drawingml/2006/main">
              <a:ext uri="{FF2B5EF4-FFF2-40B4-BE49-F238E27FC236}">
                <a16:creationId xmlns:a16="http://schemas.microsoft.com/office/drawing/2014/main" id="{A95D0CBF-E044-40E5-B3D6-97FAB1FF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23405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Not hired yet</a:t>
            </a:r>
          </a:p>
        </p:txBody>
      </p:sp>
      <p:sp>
        <p:nvSpPr>
          <p:cNvPr id="47" name="node-value-not_hired">
            <a:extLst xmlns:a="http://schemas.openxmlformats.org/drawingml/2006/main">
              <a:ext uri="{FF2B5EF4-FFF2-40B4-BE49-F238E27FC236}">
                <a16:creationId xmlns:a16="http://schemas.microsoft.com/office/drawing/2014/main" id="{69F5404B-EF58-4901-9DAD-DA7C4C042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9123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560</a:t>
            </a:r>
          </a:p>
        </p:txBody>
      </p:sp>
      <p:sp>
        <p:nvSpPr>
          <p:cNvPr id="48" name="node-screened_out">
            <a:extLst xmlns:a="http://schemas.openxmlformats.org/drawingml/2006/main">
              <a:ext uri="{FF2B5EF4-FFF2-40B4-BE49-F238E27FC236}">
                <a16:creationId xmlns:a16="http://schemas.microsoft.com/office/drawing/2014/main" id="{D072ED6F-2887-428E-A286-5C25DEFF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292600"/>
            <a:ext cx="190500" cy="102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6F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node-label-screened_out">
            <a:extLst xmlns:a="http://schemas.openxmlformats.org/drawingml/2006/main">
              <a:ext uri="{FF2B5EF4-FFF2-40B4-BE49-F238E27FC236}">
                <a16:creationId xmlns:a16="http://schemas.microsoft.com/office/drawing/2014/main" id="{B0F1FE54-30E4-4654-822C-BB9D7540C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594225"/>
            <a:ext cx="1028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33"/>
                </a:solidFill>
              </a:defRPr>
            </a:pPr>
            <a:r>
              <a:rPr sz="1200" b="1">
                <a:solidFill>
                  <a:srgbClr val="172033"/>
                </a:solidFill>
              </a:rPr>
              <a:t>Obsolete</a:t>
            </a:r>
          </a:p>
        </p:txBody>
      </p:sp>
      <p:sp>
        <p:nvSpPr>
          <p:cNvPr id="50" name="node-value-screened_out">
            <a:extLst xmlns:a="http://schemas.openxmlformats.org/drawingml/2006/main">
              <a:ext uri="{FF2B5EF4-FFF2-40B4-BE49-F238E27FC236}">
                <a16:creationId xmlns:a16="http://schemas.microsoft.com/office/drawing/2014/main" id="{B9484760-F41F-4603-8B27-C651C5B9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851400"/>
            <a:ext cx="1028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7386"/>
                </a:solidFill>
              </a:defRPr>
            </a:pPr>
            <a:r>
              <a:rPr sz="1200" b="0">
                <a:solidFill>
                  <a:srgbClr val="697386"/>
                </a:solidFill>
              </a:rPr>
              <a:t>400</a:t>
            </a:r>
          </a:p>
        </p:txBody>
      </p:sp>
      <p:sp>
        <p:nvSpPr>
          <p:cNvPr id="51" name="key insights-rail">
            <a:extLst xmlns:a="http://schemas.openxmlformats.org/drawingml/2006/main">
              <a:ext uri="{FF2B5EF4-FFF2-40B4-BE49-F238E27FC236}">
                <a16:creationId xmlns:a16="http://schemas.microsoft.com/office/drawing/2014/main" id="{84CE7B83-0968-4900-92C2-AC56368B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200150"/>
            <a:ext cx="2781300" cy="443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0478">
            <a:solidFill>
              <a:srgbClr val="D7DEE8"/>
            </a:solidFill>
            <a:prstDash val="solid"/>
          </a:ln>
        </p:spPr>
      </p:sp>
      <p:sp>
        <p:nvSpPr>
          <p:cNvPr id="52" name="key insights-title">
            <a:extLst xmlns:a="http://schemas.openxmlformats.org/drawingml/2006/main">
              <a:ext uri="{FF2B5EF4-FFF2-40B4-BE49-F238E27FC236}">
                <a16:creationId xmlns:a16="http://schemas.microsoft.com/office/drawing/2014/main" id="{B08C3B65-B9C4-4EDD-8FAE-67BB96EC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33500"/>
            <a:ext cx="2438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key insights</a:t>
            </a:r>
          </a:p>
        </p:txBody>
      </p:sp>
      <p:sp>
        <p:nvSpPr>
          <p:cNvPr id="53" name="key insights-1">
            <a:extLst xmlns:a="http://schemas.openxmlformats.org/drawingml/2006/main">
              <a:ext uri="{FF2B5EF4-FFF2-40B4-BE49-F238E27FC236}">
                <a16:creationId xmlns:a16="http://schemas.microsoft.com/office/drawing/2014/main" id="{D45A3FE8-DEED-45A3-A4AE-E8ECFC42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7716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1">
                <a:solidFill>
                  <a:srgbClr val="172033"/>
                </a:solidFill>
              </a:defRPr>
            </a:pPr>
            <a:r>
              <a:rPr sz="1600" b="1">
                <a:solidFill>
                  <a:srgbClr val="172033"/>
                </a:solidFill>
              </a:rPr>
              <a:t>Already employed people 12Monthly churn 180people</a:t>
            </a:r>
          </a:p>
        </p:txBody>
      </p:sp>
      <p:sp>
        <p:nvSpPr>
          <p:cNvPr id="54" name="key insights-2">
            <a:extLst xmlns:a="http://schemas.openxmlformats.org/drawingml/2006/main">
              <a:ext uri="{FF2B5EF4-FFF2-40B4-BE49-F238E27FC236}">
                <a16:creationId xmlns:a16="http://schemas.microsoft.com/office/drawing/2014/main" id="{6E606558-1072-44E6-9F16-BFBFF02E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337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After passing the screening, there are still 560People have not joined the job</a:t>
            </a:r>
          </a:p>
        </p:txBody>
      </p:sp>
      <p:sp>
        <p:nvSpPr>
          <p:cNvPr id="55" name="key insights-3">
            <a:extLst xmlns:a="http://schemas.openxmlformats.org/drawingml/2006/main">
              <a:ext uri="{FF2B5EF4-FFF2-40B4-BE49-F238E27FC236}">
                <a16:creationId xmlns:a16="http://schemas.microsoft.com/office/drawing/2014/main" id="{97240FEC-D8ED-4338-9B86-E8F557B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09575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 b="0">
                <a:solidFill>
                  <a:srgbClr val="172033"/>
                </a:solidFill>
              </a:defRPr>
            </a:pPr>
            <a:r>
              <a:rPr sz="1600" b="0">
                <a:solidFill>
                  <a:srgbClr val="172033"/>
                </a:solidFill>
              </a:rPr>
              <a:t>The two leakage points add up to the total loss. 62%</a:t>
            </a:r>
          </a:p>
        </p:txBody>
      </p:sp>
      <p:sp>
        <p:nvSpPr>
          <p:cNvPr id="59" name="bottom">
            <a:extLst xmlns:a="http://schemas.openxmlformats.org/drawingml/2006/main">
              <a:ext uri="{FF2B5EF4-FFF2-40B4-BE49-F238E27FC236}">
                <a16:creationId xmlns:a16="http://schemas.microsoft.com/office/drawing/2014/main" id="{0290D07C-E6DF-493E-A785-4026B4C8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11163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2"/>
          </a:solidFill>
          <a:ln xmlns:a="http://schemas.openxmlformats.org/drawingml/2006/main" w="12383">
            <a:solidFill>
              <a:srgbClr val="E8872D"/>
            </a:solidFill>
            <a:prstDash val="solid"/>
          </a:ln>
        </p:spPr>
        <p:txBody>
          <a:bodyPr xmlns:a="http://schemas.openxmlformats.org/drawingml/2006/main" wrap="square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375F"/>
                </a:solidFill>
              </a:defRPr>
            </a:pPr>
            <a:r>
              <a:rPr sz="1800" b="1">
                <a:solidFill>
                  <a:srgbClr val="15375F"/>
                </a:solidFill>
              </a:rPr>
              <a:t>First improve onboarding conversion and 12Months of retention, expected to increase retention each year 95people</a:t>
            </a:r>
          </a:p>
        </p:txBody>
      </p:sp>
      <p:cxnSp>
        <p:nvCxnSpPr>
          <p:cNvPr id="116" name=""/>
          <p:cNvCxnSpPr>
            <a:stCxn xmlns:a="http://schemas.openxmlformats.org/drawingml/2006/main" id="42" idx="3"/>
            <a:endCxn xmlns:a="http://schemas.openxmlformats.org/drawingml/2006/main" id="53" idx="1"/>
          </p:cNvCxnSpPr>
          <p:nvPr/>
        </p:nvCxnSpPr>
        <p:spPr>
          <a:xfrm xmlns:a="http://schemas.openxmlformats.org/drawingml/2006/main" flipV="1">
            <a:off x="7543800" y="2228850"/>
            <a:ext cx="1504950" cy="135732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  <p:cxnSp>
        <p:nvCxnSpPr>
          <p:cNvPr id="117" name=""/>
          <p:cNvCxnSpPr>
            <a:stCxn xmlns:a="http://schemas.openxmlformats.org/drawingml/2006/main" id="45" idx="3"/>
            <a:endCxn xmlns:a="http://schemas.openxmlformats.org/drawingml/2006/main" id="54" idx="1"/>
          </p:cNvCxnSpPr>
          <p:nvPr/>
        </p:nvCxnSpPr>
        <p:spPr>
          <a:xfrm xmlns:a="http://schemas.openxmlformats.org/drawingml/2006/main" flipV="1">
            <a:off x="7543800" y="3390900"/>
            <a:ext cx="1504950" cy="5270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  <p:cxnSp>
        <p:nvCxnSpPr>
          <p:cNvPr id="118" name=""/>
          <p:cNvCxnSpPr>
            <a:stCxn xmlns:a="http://schemas.openxmlformats.org/drawingml/2006/main" id="48" idx="3"/>
            <a:endCxn xmlns:a="http://schemas.openxmlformats.org/drawingml/2006/main" id="55" idx="1"/>
          </p:cNvCxnSpPr>
          <p:nvPr/>
        </p:nvCxnSpPr>
        <p:spPr>
          <a:xfrm xmlns:a="http://schemas.openxmlformats.org/drawingml/2006/main" flipV="1">
            <a:off x="7543800" y="4552950"/>
            <a:ext cx="1504950" cy="2508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7620">
            <a:solidFill>
              <a:srgbClr val="AEB8C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366154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2026-08-08T05:28:31.3800000Z</dcterms:created>
  <dcterms:modified xsi:type="dcterms:W3CDTF">2026-08-08T05:28:31.3800000Z</dcterms:modified>
</coreProperties>
</file>