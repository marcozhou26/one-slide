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4696ee275949c8" /><Relationship Type="http://schemas.openxmlformats.org/officeDocument/2006/relationships/extended-properties" Target="/docProps/app.xml" Id="Rceea4c2b1fc14b5e" /><Relationship Type="http://schemas.openxmlformats.org/officeDocument/2006/relationships/officeDocument" Target="/ppt/presentation.xml" Id="R248a924b8ee74e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6740d2145543d2"/>
  </p:sldMasterIdLst>
  <p:notesMasterIdLst>
    <p:notesMasterId xmlns:r="http://schemas.openxmlformats.org/officeDocument/2006/relationships" r:id="R2dd516970cc14220"/>
  </p:notesMasterIdLst>
  <p:sldIdLst>
    <p:sldId xmlns:r="http://schemas.openxmlformats.org/officeDocument/2006/relationships" id="256" r:id="R9d4b6c6619384c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f539a88a5c4136" /><Relationship Type="http://schemas.openxmlformats.org/officeDocument/2006/relationships/slideMaster" Target="/ppt/slideMasters/slideMaster1.xml" Id="R266740d2145543d2" /><Relationship Type="http://schemas.openxmlformats.org/officeDocument/2006/relationships/notesMaster" Target="/ppt/notesMasters/notesMaster1.xml" Id="R2dd516970cc14220" /><Relationship Type="http://schemas.openxmlformats.org/officeDocument/2006/relationships/presProps" Target="/ppt/presProps.xml" Id="R28b1c4132a0f4290" /><Relationship Type="http://schemas.openxmlformats.org/officeDocument/2006/relationships/tableStyles" Target="/ppt/tableStyles.xml" Id="R44ec37a83fa84ee9" /><Relationship Type="http://schemas.openxmlformats.org/officeDocument/2006/relationships/slide" Target="/ppt/slides/slide1.xml" Id="R9d4b6c6619384c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e9c13ef94347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8941a75f5249f2" /><Relationship Type="http://schemas.openxmlformats.org/officeDocument/2006/relationships/notesMaster" Target="/ppt/notesMasters/notesMaster1.xml" Id="R3b2abc3a61a748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2fc7bc9e4a49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fb3025f29c4e6b" /><Relationship Type="http://schemas.openxmlformats.org/officeDocument/2006/relationships/slideLayout" Target="/ppt/slideLayouts/slideLayout1.xml" Id="Rd36dd2d94d1c4b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6dd2d94d1c4b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ae5d2e973d4eb6" /><Relationship Type="http://schemas.openxmlformats.org/officeDocument/2006/relationships/notesSlide" Target="/ppt/notesSlides/notesSlide1.xml" Id="R8ecfbaa32e754a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page-title">
            <a:extLst xmlns:a="http://schemas.openxmlformats.org/drawingml/2006/main">
              <a:ext uri="{FF2B5EF4-FFF2-40B4-BE49-F238E27FC236}">
                <a16:creationId xmlns:a16="http://schemas.microsoft.com/office/drawing/2014/main" id="{767D0319-91CA-413A-A802-4BD14133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75F"/>
                </a:solidFill>
              </a:defRPr>
            </a:pPr>
            <a:r>
              <a:rPr sz="2550" b="1">
                <a:solidFill>
                  <a:srgbClr val="15375F"/>
                </a:solidFill>
              </a:rPr>
              <a:t>十项指标中三项差距达 16 个百分点以上，且均为客户敏感指标</a:t>
            </a:r>
          </a:p>
        </p:txBody>
      </p:sp>
      <p:sp>
        <p:nvSpPr>
          <p:cNvPr id="2" name="dumbbell-frame">
            <a:extLst xmlns:a="http://schemas.openxmlformats.org/drawingml/2006/main">
              <a:ext uri="{FF2B5EF4-FFF2-40B4-BE49-F238E27FC236}">
                <a16:creationId xmlns:a16="http://schemas.microsoft.com/office/drawing/2014/main" id="{2A3715D5-B48B-4811-8D4A-7F80ED93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76350"/>
            <a:ext cx="8305800" cy="449580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  <a:prstDash val="solid"/>
          </a:ln>
        </p:spPr>
      </p:sp>
      <p:sp>
        <p:nvSpPr>
          <p:cNvPr id="3" name="dumbbell-gap-head">
            <a:extLst xmlns:a="http://schemas.openxmlformats.org/drawingml/2006/main">
              <a:ext uri="{FF2B5EF4-FFF2-40B4-BE49-F238E27FC236}">
                <a16:creationId xmlns:a16="http://schemas.microsoft.com/office/drawing/2014/main" id="{507FC4C2-7063-4968-9796-D4938D92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33350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差距｜改善难度</a:t>
            </a:r>
          </a:p>
        </p:txBody>
      </p:sp>
      <p:sp>
        <p:nvSpPr>
          <p:cNvPr id="4" name="dumbbell-priority-1">
            <a:extLst xmlns:a="http://schemas.openxmlformats.org/drawingml/2006/main">
              <a:ext uri="{FF2B5EF4-FFF2-40B4-BE49-F238E27FC236}">
                <a16:creationId xmlns:a16="http://schemas.microsoft.com/office/drawing/2014/main" id="{A0F04B5B-1873-4FFF-8E6A-1C96DA1F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38300"/>
            <a:ext cx="8153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etric-1">
            <a:extLst xmlns:a="http://schemas.openxmlformats.org/drawingml/2006/main">
              <a:ext uri="{FF2B5EF4-FFF2-40B4-BE49-F238E27FC236}">
                <a16:creationId xmlns:a16="http://schemas.microsoft.com/office/drawing/2014/main" id="{2467A817-1A9F-40EE-9107-C5642E5B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效率类｜招聘周期 (↓)</a:t>
            </a:r>
          </a:p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根因：审批链过长</a:t>
            </a:r>
          </a:p>
        </p:txBody>
      </p:sp>
      <p:sp>
        <p:nvSpPr>
          <p:cNvPr id="6" name="dumbbell-line-1">
            <a:extLst xmlns:a="http://schemas.openxmlformats.org/drawingml/2006/main">
              <a:ext uri="{FF2B5EF4-FFF2-40B4-BE49-F238E27FC236}">
                <a16:creationId xmlns:a16="http://schemas.microsoft.com/office/drawing/2014/main" id="{E7520345-18E1-43FB-9F16-884CE05B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9727" y="1895475"/>
            <a:ext cx="7153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8872D"/>
            </a:solidFill>
            <a:prstDash val="solid"/>
          </a:ln>
        </p:spPr>
      </p:sp>
      <p:sp>
        <p:nvSpPr>
          <p:cNvPr id="7" name="current-dot-1">
            <a:extLst xmlns:a="http://schemas.openxmlformats.org/drawingml/2006/main">
              <a:ext uri="{FF2B5EF4-FFF2-40B4-BE49-F238E27FC236}">
                <a16:creationId xmlns:a16="http://schemas.microsoft.com/office/drawing/2014/main" id="{51F3AF6F-38A2-4C97-BF55-C22AD797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369" y="1828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37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current-1">
            <a:extLst xmlns:a="http://schemas.openxmlformats.org/drawingml/2006/main">
              <a:ext uri="{FF2B5EF4-FFF2-40B4-BE49-F238E27FC236}">
                <a16:creationId xmlns:a16="http://schemas.microsoft.com/office/drawing/2014/main" id="{29B49A15-D6A9-4D70-9F33-17467BDB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5494" y="16859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42</a:t>
            </a:r>
          </a:p>
        </p:txBody>
      </p:sp>
      <p:sp>
        <p:nvSpPr>
          <p:cNvPr id="9" name="target-dot-1">
            <a:extLst xmlns:a="http://schemas.openxmlformats.org/drawingml/2006/main">
              <a:ext uri="{FF2B5EF4-FFF2-40B4-BE49-F238E27FC236}">
                <a16:creationId xmlns:a16="http://schemas.microsoft.com/office/drawing/2014/main" id="{2C57120F-0203-4AA7-B310-9D512911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3052" y="1828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9525">
            <a:solidFill>
              <a:srgbClr val="2F6FB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target-1">
            <a:extLst xmlns:a="http://schemas.openxmlformats.org/drawingml/2006/main">
              <a:ext uri="{FF2B5EF4-FFF2-40B4-BE49-F238E27FC236}">
                <a16:creationId xmlns:a16="http://schemas.microsoft.com/office/drawing/2014/main" id="{4F9A520C-9543-44F1-8C55-41D929A1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0177" y="16859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2F6FB2"/>
                </a:solidFill>
              </a:defRPr>
            </a:pPr>
            <a:r>
              <a:rPr sz="1600" b="1">
                <a:solidFill>
                  <a:srgbClr val="2F6FB2"/>
                </a:solidFill>
              </a:rPr>
              <a:t>25</a:t>
            </a:r>
          </a:p>
        </p:txBody>
      </p:sp>
      <p:sp>
        <p:nvSpPr>
          <p:cNvPr id="11" name="gap-1">
            <a:extLst xmlns:a="http://schemas.openxmlformats.org/drawingml/2006/main">
              <a:ext uri="{FF2B5EF4-FFF2-40B4-BE49-F238E27FC236}">
                <a16:creationId xmlns:a16="http://schemas.microsoft.com/office/drawing/2014/main" id="{738853FA-CA4C-4A2A-8A35-DA1604FD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1925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17｜改善难度 ★★☆</a:t>
            </a:r>
          </a:p>
        </p:txBody>
      </p:sp>
      <p:sp>
        <p:nvSpPr>
          <p:cNvPr id="12" name="dumbbell-priority-2">
            <a:extLst xmlns:a="http://schemas.openxmlformats.org/drawingml/2006/main">
              <a:ext uri="{FF2B5EF4-FFF2-40B4-BE49-F238E27FC236}">
                <a16:creationId xmlns:a16="http://schemas.microsoft.com/office/drawing/2014/main" id="{C848F8EA-DBBE-47A2-B22A-C0A1FA32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8153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tric-2">
            <a:extLst xmlns:a="http://schemas.openxmlformats.org/drawingml/2006/main">
              <a:ext uri="{FF2B5EF4-FFF2-40B4-BE49-F238E27FC236}">
                <a16:creationId xmlns:a16="http://schemas.microsoft.com/office/drawing/2014/main" id="{593938D4-731A-4E0A-BECF-06B80424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质量类｜关键岗位到岗率</a:t>
            </a:r>
          </a:p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根因：人才池不足</a:t>
            </a:r>
          </a:p>
        </p:txBody>
      </p:sp>
      <p:sp>
        <p:nvSpPr>
          <p:cNvPr id="14" name="dumbbell-line-2">
            <a:extLst xmlns:a="http://schemas.openxmlformats.org/drawingml/2006/main">
              <a:ext uri="{FF2B5EF4-FFF2-40B4-BE49-F238E27FC236}">
                <a16:creationId xmlns:a16="http://schemas.microsoft.com/office/drawing/2014/main" id="{7BDAE548-5225-4B77-84A1-B5CD306C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4516" y="2447925"/>
            <a:ext cx="7153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8872D"/>
            </a:solidFill>
            <a:prstDash val="solid"/>
          </a:ln>
        </p:spPr>
      </p:sp>
      <p:sp>
        <p:nvSpPr>
          <p:cNvPr id="15" name="current-dot-2">
            <a:extLst xmlns:a="http://schemas.openxmlformats.org/drawingml/2006/main">
              <a:ext uri="{FF2B5EF4-FFF2-40B4-BE49-F238E27FC236}">
                <a16:creationId xmlns:a16="http://schemas.microsoft.com/office/drawing/2014/main" id="{F7305502-4698-4CFC-9C3E-65C85378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7841" y="2381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37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current-2">
            <a:extLst xmlns:a="http://schemas.openxmlformats.org/drawingml/2006/main">
              <a:ext uri="{FF2B5EF4-FFF2-40B4-BE49-F238E27FC236}">
                <a16:creationId xmlns:a16="http://schemas.microsoft.com/office/drawing/2014/main" id="{7A784D73-E31E-48B4-A8B9-B42086EF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4966" y="223837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61</a:t>
            </a:r>
          </a:p>
        </p:txBody>
      </p:sp>
      <p:sp>
        <p:nvSpPr>
          <p:cNvPr id="17" name="target-dot-2">
            <a:extLst xmlns:a="http://schemas.openxmlformats.org/drawingml/2006/main">
              <a:ext uri="{FF2B5EF4-FFF2-40B4-BE49-F238E27FC236}">
                <a16:creationId xmlns:a16="http://schemas.microsoft.com/office/drawing/2014/main" id="{4A7E43C2-8E57-47BB-A2EC-09558CEC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3158" y="2381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9525">
            <a:solidFill>
              <a:srgbClr val="2F6FB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target-2">
            <a:extLst xmlns:a="http://schemas.openxmlformats.org/drawingml/2006/main">
              <a:ext uri="{FF2B5EF4-FFF2-40B4-BE49-F238E27FC236}">
                <a16:creationId xmlns:a16="http://schemas.microsoft.com/office/drawing/2014/main" id="{306EA261-9A30-4A38-A205-A343741B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283" y="223837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2F6FB2"/>
                </a:solidFill>
              </a:defRPr>
            </a:pPr>
            <a:r>
              <a:rPr sz="1600" b="1">
                <a:solidFill>
                  <a:srgbClr val="2F6FB2"/>
                </a:solidFill>
              </a:rPr>
              <a:t>78</a:t>
            </a:r>
          </a:p>
        </p:txBody>
      </p:sp>
      <p:sp>
        <p:nvSpPr>
          <p:cNvPr id="19" name="gap-2">
            <a:extLst xmlns:a="http://schemas.openxmlformats.org/drawingml/2006/main">
              <a:ext uri="{FF2B5EF4-FFF2-40B4-BE49-F238E27FC236}">
                <a16:creationId xmlns:a16="http://schemas.microsoft.com/office/drawing/2014/main" id="{F3AB0E4B-AC7A-4B6C-92D3-7DCD4421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7170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17｜改善难度 ★★★</a:t>
            </a:r>
          </a:p>
        </p:txBody>
      </p:sp>
      <p:sp>
        <p:nvSpPr>
          <p:cNvPr id="20" name="dumbbell-priority-3">
            <a:extLst xmlns:a="http://schemas.openxmlformats.org/drawingml/2006/main">
              <a:ext uri="{FF2B5EF4-FFF2-40B4-BE49-F238E27FC236}">
                <a16:creationId xmlns:a16="http://schemas.microsoft.com/office/drawing/2014/main" id="{E335A559-25CF-4D3E-9C11-A5F2687B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8153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metric-3">
            <a:extLst xmlns:a="http://schemas.openxmlformats.org/drawingml/2006/main">
              <a:ext uri="{FF2B5EF4-FFF2-40B4-BE49-F238E27FC236}">
                <a16:creationId xmlns:a16="http://schemas.microsoft.com/office/drawing/2014/main" id="{55E46193-135F-4FDD-97EF-8F4594C6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体验类｜员工净推荐值</a:t>
            </a:r>
          </a:p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根因：反馈闭环慢</a:t>
            </a:r>
          </a:p>
        </p:txBody>
      </p:sp>
      <p:sp>
        <p:nvSpPr>
          <p:cNvPr id="22" name="dumbbell-line-3">
            <a:extLst xmlns:a="http://schemas.openxmlformats.org/drawingml/2006/main">
              <a:ext uri="{FF2B5EF4-FFF2-40B4-BE49-F238E27FC236}">
                <a16:creationId xmlns:a16="http://schemas.microsoft.com/office/drawing/2014/main" id="{FD024546-4C6E-456E-A6B1-458A6205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509" y="3000375"/>
            <a:ext cx="673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8872D"/>
            </a:solidFill>
            <a:prstDash val="solid"/>
          </a:ln>
        </p:spPr>
      </p:sp>
      <p:sp>
        <p:nvSpPr>
          <p:cNvPr id="23" name="current-dot-3">
            <a:extLst xmlns:a="http://schemas.openxmlformats.org/drawingml/2006/main">
              <a:ext uri="{FF2B5EF4-FFF2-40B4-BE49-F238E27FC236}">
                <a16:creationId xmlns:a16="http://schemas.microsoft.com/office/drawing/2014/main" id="{B748AD82-4BE1-4089-88D8-2F12AED5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0834" y="2933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37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current-3">
            <a:extLst xmlns:a="http://schemas.openxmlformats.org/drawingml/2006/main">
              <a:ext uri="{FF2B5EF4-FFF2-40B4-BE49-F238E27FC236}">
                <a16:creationId xmlns:a16="http://schemas.microsoft.com/office/drawing/2014/main" id="{D34AF39E-6770-47D5-A6D7-3B42B4FC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959" y="27908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48</a:t>
            </a:r>
          </a:p>
        </p:txBody>
      </p:sp>
      <p:sp>
        <p:nvSpPr>
          <p:cNvPr id="25" name="target-dot-3">
            <a:extLst xmlns:a="http://schemas.openxmlformats.org/drawingml/2006/main">
              <a:ext uri="{FF2B5EF4-FFF2-40B4-BE49-F238E27FC236}">
                <a16:creationId xmlns:a16="http://schemas.microsoft.com/office/drawing/2014/main" id="{9B749129-D1C5-4C17-8494-8F74CF64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4073" y="2933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9525">
            <a:solidFill>
              <a:srgbClr val="2F6FB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target-3">
            <a:extLst xmlns:a="http://schemas.openxmlformats.org/drawingml/2006/main">
              <a:ext uri="{FF2B5EF4-FFF2-40B4-BE49-F238E27FC236}">
                <a16:creationId xmlns:a16="http://schemas.microsoft.com/office/drawing/2014/main" id="{A96C5003-2119-44F6-AE2D-748DDAA3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1198" y="27908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2F6FB2"/>
                </a:solidFill>
              </a:defRPr>
            </a:pPr>
            <a:r>
              <a:rPr sz="1600" b="1">
                <a:solidFill>
                  <a:srgbClr val="2F6FB2"/>
                </a:solidFill>
              </a:rPr>
              <a:t>64</a:t>
            </a:r>
          </a:p>
        </p:txBody>
      </p:sp>
      <p:sp>
        <p:nvSpPr>
          <p:cNvPr id="27" name="gap-3">
            <a:extLst xmlns:a="http://schemas.openxmlformats.org/drawingml/2006/main">
              <a:ext uri="{FF2B5EF4-FFF2-40B4-BE49-F238E27FC236}">
                <a16:creationId xmlns:a16="http://schemas.microsoft.com/office/drawing/2014/main" id="{EEB4E044-4611-4E7C-A21A-D2EBA375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2415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16｜改善难度 ★★☆</a:t>
            </a:r>
          </a:p>
        </p:txBody>
      </p:sp>
      <p:sp>
        <p:nvSpPr>
          <p:cNvPr id="28" name="metric-4">
            <a:extLst xmlns:a="http://schemas.openxmlformats.org/drawingml/2006/main">
              <a:ext uri="{FF2B5EF4-FFF2-40B4-BE49-F238E27FC236}">
                <a16:creationId xmlns:a16="http://schemas.microsoft.com/office/drawing/2014/main" id="{34E8D0BC-A5B7-49A7-B13C-350EECAE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效率类｜服务响应率</a:t>
            </a:r>
          </a:p>
        </p:txBody>
      </p:sp>
      <p:sp>
        <p:nvSpPr>
          <p:cNvPr id="29" name="dumbbell-line-4">
            <a:extLst xmlns:a="http://schemas.openxmlformats.org/drawingml/2006/main">
              <a:ext uri="{FF2B5EF4-FFF2-40B4-BE49-F238E27FC236}">
                <a16:creationId xmlns:a16="http://schemas.microsoft.com/office/drawing/2014/main" id="{76CD8C71-A41C-446E-9A3D-171D7ADA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3213" y="3448050"/>
            <a:ext cx="58908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EB8C6"/>
            </a:solidFill>
            <a:prstDash val="solid"/>
          </a:ln>
        </p:spPr>
      </p:sp>
      <p:sp>
        <p:nvSpPr>
          <p:cNvPr id="30" name="current-dot-4">
            <a:extLst xmlns:a="http://schemas.openxmlformats.org/drawingml/2006/main">
              <a:ext uri="{FF2B5EF4-FFF2-40B4-BE49-F238E27FC236}">
                <a16:creationId xmlns:a16="http://schemas.microsoft.com/office/drawing/2014/main" id="{F7F91390-B63C-4305-8B96-ABDA6239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6538" y="3381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37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current-4">
            <a:extLst xmlns:a="http://schemas.openxmlformats.org/drawingml/2006/main">
              <a:ext uri="{FF2B5EF4-FFF2-40B4-BE49-F238E27FC236}">
                <a16:creationId xmlns:a16="http://schemas.microsoft.com/office/drawing/2014/main" id="{A18BD542-6454-49E0-9DA1-61EA725C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3663" y="32385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70</a:t>
            </a:r>
          </a:p>
        </p:txBody>
      </p:sp>
      <p:sp>
        <p:nvSpPr>
          <p:cNvPr id="32" name="target-dot-4">
            <a:extLst xmlns:a="http://schemas.openxmlformats.org/drawingml/2006/main">
              <a:ext uri="{FF2B5EF4-FFF2-40B4-BE49-F238E27FC236}">
                <a16:creationId xmlns:a16="http://schemas.microsoft.com/office/drawing/2014/main" id="{21A66055-F664-4A48-86F2-681ACB88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5623" y="3381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9525">
            <a:solidFill>
              <a:srgbClr val="2F6FB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" name="target-4">
            <a:extLst xmlns:a="http://schemas.openxmlformats.org/drawingml/2006/main">
              <a:ext uri="{FF2B5EF4-FFF2-40B4-BE49-F238E27FC236}">
                <a16:creationId xmlns:a16="http://schemas.microsoft.com/office/drawing/2014/main" id="{3E123E2E-C3B1-431F-A193-243DC06D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748" y="32385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2F6FB2"/>
                </a:solidFill>
              </a:defRPr>
            </a:pPr>
            <a:r>
              <a:rPr sz="1600" b="1">
                <a:solidFill>
                  <a:srgbClr val="2F6FB2"/>
                </a:solidFill>
              </a:rPr>
              <a:t>84</a:t>
            </a:r>
          </a:p>
        </p:txBody>
      </p:sp>
      <p:sp>
        <p:nvSpPr>
          <p:cNvPr id="34" name="gap-4">
            <a:extLst xmlns:a="http://schemas.openxmlformats.org/drawingml/2006/main">
              <a:ext uri="{FF2B5EF4-FFF2-40B4-BE49-F238E27FC236}">
                <a16:creationId xmlns:a16="http://schemas.microsoft.com/office/drawing/2014/main" id="{E40CB4BF-C0FA-4091-BBC3-ACC3DC08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7660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697386"/>
                </a:solidFill>
              </a:defRPr>
            </a:pPr>
            <a:r>
              <a:rPr sz="1600" b="0">
                <a:solidFill>
                  <a:srgbClr val="697386"/>
                </a:solidFill>
              </a:rPr>
              <a:t>14｜改善难度 ★☆☆</a:t>
            </a:r>
          </a:p>
        </p:txBody>
      </p:sp>
      <p:sp>
        <p:nvSpPr>
          <p:cNvPr id="35" name="metric-5">
            <a:extLst xmlns:a="http://schemas.openxmlformats.org/drawingml/2006/main">
              <a:ext uri="{FF2B5EF4-FFF2-40B4-BE49-F238E27FC236}">
                <a16:creationId xmlns:a16="http://schemas.microsoft.com/office/drawing/2014/main" id="{F851563F-88DB-4B97-BF6F-23EC59D3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质量类｜绩优人才留存</a:t>
            </a:r>
          </a:p>
        </p:txBody>
      </p:sp>
      <p:sp>
        <p:nvSpPr>
          <p:cNvPr id="36" name="dumbbell-line-5">
            <a:extLst xmlns:a="http://schemas.openxmlformats.org/drawingml/2006/main">
              <a:ext uri="{FF2B5EF4-FFF2-40B4-BE49-F238E27FC236}">
                <a16:creationId xmlns:a16="http://schemas.microsoft.com/office/drawing/2014/main" id="{02CAD67B-F19D-44DE-B339-23878FDB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7368" y="3790950"/>
            <a:ext cx="5470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EB8C6"/>
            </a:solidFill>
            <a:prstDash val="solid"/>
          </a:ln>
        </p:spPr>
      </p:sp>
      <p:sp>
        <p:nvSpPr>
          <p:cNvPr id="37" name="current-dot-5">
            <a:extLst xmlns:a="http://schemas.openxmlformats.org/drawingml/2006/main">
              <a:ext uri="{FF2B5EF4-FFF2-40B4-BE49-F238E27FC236}">
                <a16:creationId xmlns:a16="http://schemas.microsoft.com/office/drawing/2014/main" id="{FACC7462-8599-4F43-A7FC-DF0100E9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0693" y="3724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37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8" name="current-5">
            <a:extLst xmlns:a="http://schemas.openxmlformats.org/drawingml/2006/main">
              <a:ext uri="{FF2B5EF4-FFF2-40B4-BE49-F238E27FC236}">
                <a16:creationId xmlns:a16="http://schemas.microsoft.com/office/drawing/2014/main" id="{7FA5F645-3192-4735-BAC0-54BCE52E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7818" y="35814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72</a:t>
            </a:r>
          </a:p>
        </p:txBody>
      </p:sp>
      <p:sp>
        <p:nvSpPr>
          <p:cNvPr id="39" name="target-dot-5">
            <a:extLst xmlns:a="http://schemas.openxmlformats.org/drawingml/2006/main">
              <a:ext uri="{FF2B5EF4-FFF2-40B4-BE49-F238E27FC236}">
                <a16:creationId xmlns:a16="http://schemas.microsoft.com/office/drawing/2014/main" id="{B8D27F3F-67F7-4327-A0E5-01274701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7700" y="3724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9525">
            <a:solidFill>
              <a:srgbClr val="2F6FB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0" name="target-5">
            <a:extLst xmlns:a="http://schemas.openxmlformats.org/drawingml/2006/main">
              <a:ext uri="{FF2B5EF4-FFF2-40B4-BE49-F238E27FC236}">
                <a16:creationId xmlns:a16="http://schemas.microsoft.com/office/drawing/2014/main" id="{D8A605C5-800B-4FF5-881C-47651122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825" y="35814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2F6FB2"/>
                </a:solidFill>
              </a:defRPr>
            </a:pPr>
            <a:r>
              <a:rPr sz="1600" b="1">
                <a:solidFill>
                  <a:srgbClr val="2F6FB2"/>
                </a:solidFill>
              </a:rPr>
              <a:t>85</a:t>
            </a:r>
          </a:p>
        </p:txBody>
      </p:sp>
      <p:sp>
        <p:nvSpPr>
          <p:cNvPr id="41" name="gap-5">
            <a:extLst xmlns:a="http://schemas.openxmlformats.org/drawingml/2006/main">
              <a:ext uri="{FF2B5EF4-FFF2-40B4-BE49-F238E27FC236}">
                <a16:creationId xmlns:a16="http://schemas.microsoft.com/office/drawing/2014/main" id="{78ED170A-A4EF-46EA-9C04-A1E05ED1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1950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697386"/>
                </a:solidFill>
              </a:defRPr>
            </a:pPr>
            <a:r>
              <a:rPr sz="1600" b="0">
                <a:solidFill>
                  <a:srgbClr val="697386"/>
                </a:solidFill>
              </a:rPr>
              <a:t>13｜改善难度 ★★★</a:t>
            </a:r>
          </a:p>
        </p:txBody>
      </p:sp>
      <p:sp>
        <p:nvSpPr>
          <p:cNvPr id="42" name="metric-6">
            <a:extLst xmlns:a="http://schemas.openxmlformats.org/drawingml/2006/main">
              <a:ext uri="{FF2B5EF4-FFF2-40B4-BE49-F238E27FC236}">
                <a16:creationId xmlns:a16="http://schemas.microsoft.com/office/drawing/2014/main" id="{A80907DA-177A-419B-A7A8-AAE870F2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体验类｜经理满意度</a:t>
            </a:r>
          </a:p>
        </p:txBody>
      </p:sp>
      <p:sp>
        <p:nvSpPr>
          <p:cNvPr id="43" name="dumbbell-line-6">
            <a:extLst xmlns:a="http://schemas.openxmlformats.org/drawingml/2006/main">
              <a:ext uri="{FF2B5EF4-FFF2-40B4-BE49-F238E27FC236}">
                <a16:creationId xmlns:a16="http://schemas.microsoft.com/office/drawing/2014/main" id="{CBE9379E-AD6B-409B-B0E4-CD656DB9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9058" y="4133850"/>
            <a:ext cx="5049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EB8C6"/>
            </a:solidFill>
            <a:prstDash val="solid"/>
          </a:ln>
        </p:spPr>
      </p:sp>
      <p:sp>
        <p:nvSpPr>
          <p:cNvPr id="44" name="current-dot-6">
            <a:extLst xmlns:a="http://schemas.openxmlformats.org/drawingml/2006/main">
              <a:ext uri="{FF2B5EF4-FFF2-40B4-BE49-F238E27FC236}">
                <a16:creationId xmlns:a16="http://schemas.microsoft.com/office/drawing/2014/main" id="{237ED34A-9C58-477A-A48A-A8B8B834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2383" y="4067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37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5" name="current-6">
            <a:extLst xmlns:a="http://schemas.openxmlformats.org/drawingml/2006/main">
              <a:ext uri="{FF2B5EF4-FFF2-40B4-BE49-F238E27FC236}">
                <a16:creationId xmlns:a16="http://schemas.microsoft.com/office/drawing/2014/main" id="{6D258353-1475-4DF4-B0F8-7072E8F1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9508" y="39243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68</a:t>
            </a:r>
          </a:p>
        </p:txBody>
      </p:sp>
      <p:sp>
        <p:nvSpPr>
          <p:cNvPr id="46" name="target-dot-6">
            <a:extLst xmlns:a="http://schemas.openxmlformats.org/drawingml/2006/main">
              <a:ext uri="{FF2B5EF4-FFF2-40B4-BE49-F238E27FC236}">
                <a16:creationId xmlns:a16="http://schemas.microsoft.com/office/drawing/2014/main" id="{2D879FF3-140F-4C65-95FC-D9746BFC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313" y="4067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9525">
            <a:solidFill>
              <a:srgbClr val="2F6FB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7" name="target-6">
            <a:extLst xmlns:a="http://schemas.openxmlformats.org/drawingml/2006/main">
              <a:ext uri="{FF2B5EF4-FFF2-40B4-BE49-F238E27FC236}">
                <a16:creationId xmlns:a16="http://schemas.microsoft.com/office/drawing/2014/main" id="{97BD1D64-7D2E-48DB-B619-717C7797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4438" y="39243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2F6FB2"/>
                </a:solidFill>
              </a:defRPr>
            </a:pPr>
            <a:r>
              <a:rPr sz="1600" b="1">
                <a:solidFill>
                  <a:srgbClr val="2F6FB2"/>
                </a:solidFill>
              </a:rPr>
              <a:t>80</a:t>
            </a:r>
          </a:p>
        </p:txBody>
      </p:sp>
      <p:sp>
        <p:nvSpPr>
          <p:cNvPr id="48" name="gap-6">
            <a:extLst xmlns:a="http://schemas.openxmlformats.org/drawingml/2006/main">
              <a:ext uri="{FF2B5EF4-FFF2-40B4-BE49-F238E27FC236}">
                <a16:creationId xmlns:a16="http://schemas.microsoft.com/office/drawing/2014/main" id="{1B88F548-F315-49F8-A857-81172682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6240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697386"/>
                </a:solidFill>
              </a:defRPr>
            </a:pPr>
            <a:r>
              <a:rPr sz="1600" b="0">
                <a:solidFill>
                  <a:srgbClr val="697386"/>
                </a:solidFill>
              </a:rPr>
              <a:t>12｜改善难度 ★★☆</a:t>
            </a:r>
          </a:p>
        </p:txBody>
      </p:sp>
      <p:sp>
        <p:nvSpPr>
          <p:cNvPr id="49" name="metric-7">
            <a:extLst xmlns:a="http://schemas.openxmlformats.org/drawingml/2006/main">
              <a:ext uri="{FF2B5EF4-FFF2-40B4-BE49-F238E27FC236}">
                <a16:creationId xmlns:a16="http://schemas.microsoft.com/office/drawing/2014/main" id="{DA76B787-3E55-46DE-BD6F-6871F702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05300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效率类｜自动化覆盖率</a:t>
            </a:r>
          </a:p>
        </p:txBody>
      </p:sp>
      <p:sp>
        <p:nvSpPr>
          <p:cNvPr id="50" name="dumbbell-line-7">
            <a:extLst xmlns:a="http://schemas.openxmlformats.org/drawingml/2006/main">
              <a:ext uri="{FF2B5EF4-FFF2-40B4-BE49-F238E27FC236}">
                <a16:creationId xmlns:a16="http://schemas.microsoft.com/office/drawing/2014/main" id="{CA0D507E-02F2-4DD5-971E-BF706418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051" y="4476750"/>
            <a:ext cx="4628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EB8C6"/>
            </a:solidFill>
            <a:prstDash val="solid"/>
          </a:ln>
        </p:spPr>
      </p:sp>
      <p:sp>
        <p:nvSpPr>
          <p:cNvPr id="51" name="current-dot-7">
            <a:extLst xmlns:a="http://schemas.openxmlformats.org/drawingml/2006/main">
              <a:ext uri="{FF2B5EF4-FFF2-40B4-BE49-F238E27FC236}">
                <a16:creationId xmlns:a16="http://schemas.microsoft.com/office/drawing/2014/main" id="{6A679CAC-17E9-41CD-8982-B4A994E1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5376" y="4410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37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2" name="current-7">
            <a:extLst xmlns:a="http://schemas.openxmlformats.org/drawingml/2006/main">
              <a:ext uri="{FF2B5EF4-FFF2-40B4-BE49-F238E27FC236}">
                <a16:creationId xmlns:a16="http://schemas.microsoft.com/office/drawing/2014/main" id="{4D2100D9-6FE3-47F3-9066-DE6279CB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2501" y="42672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55</a:t>
            </a:r>
          </a:p>
        </p:txBody>
      </p:sp>
      <p:sp>
        <p:nvSpPr>
          <p:cNvPr id="53" name="target-dot-7">
            <a:extLst xmlns:a="http://schemas.openxmlformats.org/drawingml/2006/main">
              <a:ext uri="{FF2B5EF4-FFF2-40B4-BE49-F238E27FC236}">
                <a16:creationId xmlns:a16="http://schemas.microsoft.com/office/drawing/2014/main" id="{39B225C8-43E6-422A-92FF-56C80B86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8228" y="4410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9525">
            <a:solidFill>
              <a:srgbClr val="2F6FB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4" name="target-7">
            <a:extLst xmlns:a="http://schemas.openxmlformats.org/drawingml/2006/main">
              <a:ext uri="{FF2B5EF4-FFF2-40B4-BE49-F238E27FC236}">
                <a16:creationId xmlns:a16="http://schemas.microsoft.com/office/drawing/2014/main" id="{AAFD5B73-384F-42FB-BCE1-77300E3D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5353" y="42672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2F6FB2"/>
                </a:solidFill>
              </a:defRPr>
            </a:pPr>
            <a:r>
              <a:rPr sz="1600" b="1">
                <a:solidFill>
                  <a:srgbClr val="2F6FB2"/>
                </a:solidFill>
              </a:rPr>
              <a:t>66</a:t>
            </a:r>
          </a:p>
        </p:txBody>
      </p:sp>
      <p:sp>
        <p:nvSpPr>
          <p:cNvPr id="55" name="gap-7">
            <a:extLst xmlns:a="http://schemas.openxmlformats.org/drawingml/2006/main">
              <a:ext uri="{FF2B5EF4-FFF2-40B4-BE49-F238E27FC236}">
                <a16:creationId xmlns:a16="http://schemas.microsoft.com/office/drawing/2014/main" id="{66815737-2E95-4076-8BF5-1234F5C8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30530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697386"/>
                </a:solidFill>
              </a:defRPr>
            </a:pPr>
            <a:r>
              <a:rPr sz="1600" b="0">
                <a:solidFill>
                  <a:srgbClr val="697386"/>
                </a:solidFill>
              </a:rPr>
              <a:t>11｜改善难度 ★★☆</a:t>
            </a:r>
          </a:p>
        </p:txBody>
      </p:sp>
      <p:sp>
        <p:nvSpPr>
          <p:cNvPr id="56" name="metric-8">
            <a:extLst xmlns:a="http://schemas.openxmlformats.org/drawingml/2006/main">
              <a:ext uri="{FF2B5EF4-FFF2-40B4-BE49-F238E27FC236}">
                <a16:creationId xmlns:a16="http://schemas.microsoft.com/office/drawing/2014/main" id="{DFA620AC-C002-4998-9EE4-7D83A620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48200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质量类｜数据准确率</a:t>
            </a:r>
          </a:p>
        </p:txBody>
      </p:sp>
      <p:sp>
        <p:nvSpPr>
          <p:cNvPr id="57" name="dumbbell-line-8">
            <a:extLst xmlns:a="http://schemas.openxmlformats.org/drawingml/2006/main">
              <a:ext uri="{FF2B5EF4-FFF2-40B4-BE49-F238E27FC236}">
                <a16:creationId xmlns:a16="http://schemas.microsoft.com/office/drawing/2014/main" id="{16125878-1DD3-470C-8740-73330AFD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6453" y="4819650"/>
            <a:ext cx="37869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EB8C6"/>
            </a:solidFill>
            <a:prstDash val="solid"/>
          </a:ln>
        </p:spPr>
      </p:sp>
      <p:sp>
        <p:nvSpPr>
          <p:cNvPr id="58" name="current-dot-8">
            <a:extLst xmlns:a="http://schemas.openxmlformats.org/drawingml/2006/main">
              <a:ext uri="{FF2B5EF4-FFF2-40B4-BE49-F238E27FC236}">
                <a16:creationId xmlns:a16="http://schemas.microsoft.com/office/drawing/2014/main" id="{1382E864-7900-4DEC-A1C9-98C46D7E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778" y="4752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37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9" name="current-8">
            <a:extLst xmlns:a="http://schemas.openxmlformats.org/drawingml/2006/main">
              <a:ext uri="{FF2B5EF4-FFF2-40B4-BE49-F238E27FC236}">
                <a16:creationId xmlns:a16="http://schemas.microsoft.com/office/drawing/2014/main" id="{3AEC878E-F9A3-494B-9A3B-C3245A2FB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6903" y="46101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86</a:t>
            </a:r>
          </a:p>
        </p:txBody>
      </p:sp>
      <p:sp>
        <p:nvSpPr>
          <p:cNvPr id="60" name="target-dot-8">
            <a:extLst xmlns:a="http://schemas.openxmlformats.org/drawingml/2006/main">
              <a:ext uri="{FF2B5EF4-FFF2-40B4-BE49-F238E27FC236}">
                <a16:creationId xmlns:a16="http://schemas.microsoft.com/office/drawing/2014/main" id="{384F7FAD-48F1-4F2F-89B5-A202A30A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752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9525">
            <a:solidFill>
              <a:srgbClr val="2F6FB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1" name="target-8">
            <a:extLst xmlns:a="http://schemas.openxmlformats.org/drawingml/2006/main">
              <a:ext uri="{FF2B5EF4-FFF2-40B4-BE49-F238E27FC236}">
                <a16:creationId xmlns:a16="http://schemas.microsoft.com/office/drawing/2014/main" id="{CA399156-6A45-4D18-BF70-1BABB519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01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2F6FB2"/>
                </a:solidFill>
              </a:defRPr>
            </a:pPr>
            <a:r>
              <a:rPr sz="1600" b="1">
                <a:solidFill>
                  <a:srgbClr val="2F6FB2"/>
                </a:solidFill>
              </a:rPr>
              <a:t>95</a:t>
            </a:r>
          </a:p>
        </p:txBody>
      </p:sp>
      <p:sp>
        <p:nvSpPr>
          <p:cNvPr id="62" name="gap-8">
            <a:extLst xmlns:a="http://schemas.openxmlformats.org/drawingml/2006/main">
              <a:ext uri="{FF2B5EF4-FFF2-40B4-BE49-F238E27FC236}">
                <a16:creationId xmlns:a16="http://schemas.microsoft.com/office/drawing/2014/main" id="{D787BEC4-0E70-4DB6-8553-095E85E1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64820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697386"/>
                </a:solidFill>
              </a:defRPr>
            </a:pPr>
            <a:r>
              <a:rPr sz="1600" b="0">
                <a:solidFill>
                  <a:srgbClr val="697386"/>
                </a:solidFill>
              </a:rPr>
              <a:t>9｜改善难度 ★☆☆</a:t>
            </a:r>
          </a:p>
        </p:txBody>
      </p:sp>
      <p:sp>
        <p:nvSpPr>
          <p:cNvPr id="63" name="metric-9">
            <a:extLst xmlns:a="http://schemas.openxmlformats.org/drawingml/2006/main">
              <a:ext uri="{FF2B5EF4-FFF2-40B4-BE49-F238E27FC236}">
                <a16:creationId xmlns:a16="http://schemas.microsoft.com/office/drawing/2014/main" id="{35E22280-F194-4C66-876A-8D15A306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91100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体验类｜培训完成率</a:t>
            </a:r>
          </a:p>
        </p:txBody>
      </p:sp>
      <p:sp>
        <p:nvSpPr>
          <p:cNvPr id="64" name="dumbbell-line-9">
            <a:extLst xmlns:a="http://schemas.openxmlformats.org/drawingml/2006/main">
              <a:ext uri="{FF2B5EF4-FFF2-40B4-BE49-F238E27FC236}">
                <a16:creationId xmlns:a16="http://schemas.microsoft.com/office/drawing/2014/main" id="{80687B48-8F2E-43FF-935B-AED5844F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8143" y="5162550"/>
            <a:ext cx="3366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EB8C6"/>
            </a:solidFill>
            <a:prstDash val="solid"/>
          </a:ln>
        </p:spPr>
      </p:sp>
      <p:sp>
        <p:nvSpPr>
          <p:cNvPr id="65" name="current-dot-9">
            <a:extLst xmlns:a="http://schemas.openxmlformats.org/drawingml/2006/main">
              <a:ext uri="{FF2B5EF4-FFF2-40B4-BE49-F238E27FC236}">
                <a16:creationId xmlns:a16="http://schemas.microsoft.com/office/drawing/2014/main" id="{617FE8C9-A467-4309-8353-FEC43787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1468" y="5095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37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6" name="current-9">
            <a:extLst xmlns:a="http://schemas.openxmlformats.org/drawingml/2006/main">
              <a:ext uri="{FF2B5EF4-FFF2-40B4-BE49-F238E27FC236}">
                <a16:creationId xmlns:a16="http://schemas.microsoft.com/office/drawing/2014/main" id="{2F2AB14F-8D3A-4303-9821-FAB780FE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8593" y="4953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82</a:t>
            </a:r>
          </a:p>
        </p:txBody>
      </p:sp>
      <p:sp>
        <p:nvSpPr>
          <p:cNvPr id="67" name="target-dot-9">
            <a:extLst xmlns:a="http://schemas.openxmlformats.org/drawingml/2006/main">
              <a:ext uri="{FF2B5EF4-FFF2-40B4-BE49-F238E27FC236}">
                <a16:creationId xmlns:a16="http://schemas.microsoft.com/office/drawing/2014/main" id="{9AD42D07-E08A-4AAD-B5DD-F1A3334B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088" y="5095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9525">
            <a:solidFill>
              <a:srgbClr val="2F6FB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8" name="target-9">
            <a:extLst xmlns:a="http://schemas.openxmlformats.org/drawingml/2006/main">
              <a:ext uri="{FF2B5EF4-FFF2-40B4-BE49-F238E27FC236}">
                <a16:creationId xmlns:a16="http://schemas.microsoft.com/office/drawing/2014/main" id="{861A9225-AC4D-4E15-AA94-40A0BCDA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213" y="4953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2F6FB2"/>
                </a:solidFill>
              </a:defRPr>
            </a:pPr>
            <a:r>
              <a:rPr sz="1600" b="1">
                <a:solidFill>
                  <a:srgbClr val="2F6FB2"/>
                </a:solidFill>
              </a:rPr>
              <a:t>90</a:t>
            </a:r>
          </a:p>
        </p:txBody>
      </p:sp>
      <p:sp>
        <p:nvSpPr>
          <p:cNvPr id="69" name="gap-9">
            <a:extLst xmlns:a="http://schemas.openxmlformats.org/drawingml/2006/main">
              <a:ext uri="{FF2B5EF4-FFF2-40B4-BE49-F238E27FC236}">
                <a16:creationId xmlns:a16="http://schemas.microsoft.com/office/drawing/2014/main" id="{59E8160C-4D31-4609-B2B3-C98AF086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99110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697386"/>
                </a:solidFill>
              </a:defRPr>
            </a:pPr>
            <a:r>
              <a:rPr sz="1600" b="0">
                <a:solidFill>
                  <a:srgbClr val="697386"/>
                </a:solidFill>
              </a:rPr>
              <a:t>8｜改善难度 ★☆☆</a:t>
            </a:r>
          </a:p>
        </p:txBody>
      </p:sp>
      <p:sp>
        <p:nvSpPr>
          <p:cNvPr id="70" name="metric-10">
            <a:extLst xmlns:a="http://schemas.openxmlformats.org/drawingml/2006/main">
              <a:ext uri="{FF2B5EF4-FFF2-40B4-BE49-F238E27FC236}">
                <a16:creationId xmlns:a16="http://schemas.microsoft.com/office/drawing/2014/main" id="{EDA0ABAF-D279-469E-BA64-B4696166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效率类｜预算偏差 (↓)</a:t>
            </a:r>
          </a:p>
        </p:txBody>
      </p:sp>
      <p:sp>
        <p:nvSpPr>
          <p:cNvPr id="71" name="dumbbell-line-10">
            <a:extLst xmlns:a="http://schemas.openxmlformats.org/drawingml/2006/main">
              <a:ext uri="{FF2B5EF4-FFF2-40B4-BE49-F238E27FC236}">
                <a16:creationId xmlns:a16="http://schemas.microsoft.com/office/drawing/2014/main" id="{2D9C50DC-EF3B-4346-B5E6-7E711F53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505450"/>
            <a:ext cx="2103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EB8C6"/>
            </a:solidFill>
            <a:prstDash val="solid"/>
          </a:ln>
        </p:spPr>
      </p:sp>
      <p:sp>
        <p:nvSpPr>
          <p:cNvPr id="72" name="current-dot-10">
            <a:extLst xmlns:a="http://schemas.openxmlformats.org/drawingml/2006/main">
              <a:ext uri="{FF2B5EF4-FFF2-40B4-BE49-F238E27FC236}">
                <a16:creationId xmlns:a16="http://schemas.microsoft.com/office/drawing/2014/main" id="{B323A1BF-BF1F-4CDE-AFCF-3DB82A62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9812" y="5438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37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current-10">
            <a:extLst xmlns:a="http://schemas.openxmlformats.org/drawingml/2006/main">
              <a:ext uri="{FF2B5EF4-FFF2-40B4-BE49-F238E27FC236}">
                <a16:creationId xmlns:a16="http://schemas.microsoft.com/office/drawing/2014/main" id="{949725C0-2499-44E7-9190-8FF06015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937" y="52959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9</a:t>
            </a:r>
          </a:p>
        </p:txBody>
      </p:sp>
      <p:sp>
        <p:nvSpPr>
          <p:cNvPr id="74" name="target-dot-10">
            <a:extLst xmlns:a="http://schemas.openxmlformats.org/drawingml/2006/main">
              <a:ext uri="{FF2B5EF4-FFF2-40B4-BE49-F238E27FC236}">
                <a16:creationId xmlns:a16="http://schemas.microsoft.com/office/drawing/2014/main" id="{0DD10751-81CD-45DB-9E4F-04268F03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5438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9525">
            <a:solidFill>
              <a:srgbClr val="2F6FB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5" name="target-10">
            <a:extLst xmlns:a="http://schemas.openxmlformats.org/drawingml/2006/main">
              <a:ext uri="{FF2B5EF4-FFF2-40B4-BE49-F238E27FC236}">
                <a16:creationId xmlns:a16="http://schemas.microsoft.com/office/drawing/2014/main" id="{599CF1C2-A54F-4403-8C86-57776EDB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2959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2F6FB2"/>
                </a:solidFill>
              </a:defRPr>
            </a:pPr>
            <a:r>
              <a:rPr sz="1600" b="1">
                <a:solidFill>
                  <a:srgbClr val="2F6FB2"/>
                </a:solidFill>
              </a:rPr>
              <a:t>4</a:t>
            </a:r>
          </a:p>
        </p:txBody>
      </p:sp>
      <p:sp>
        <p:nvSpPr>
          <p:cNvPr id="76" name="gap-10">
            <a:extLst xmlns:a="http://schemas.openxmlformats.org/drawingml/2006/main">
              <a:ext uri="{FF2B5EF4-FFF2-40B4-BE49-F238E27FC236}">
                <a16:creationId xmlns:a16="http://schemas.microsoft.com/office/drawing/2014/main" id="{86352DE7-6587-45FF-A22A-01A09423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33400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697386"/>
                </a:solidFill>
              </a:defRPr>
            </a:pPr>
            <a:r>
              <a:rPr sz="1600" b="0">
                <a:solidFill>
                  <a:srgbClr val="697386"/>
                </a:solidFill>
              </a:rPr>
              <a:t>5｜改善难度 ★★☆</a:t>
            </a:r>
          </a:p>
        </p:txBody>
      </p:sp>
      <p:sp>
        <p:nvSpPr>
          <p:cNvPr id="77" name="关键洞察-rail">
            <a:extLst xmlns:a="http://schemas.openxmlformats.org/drawingml/2006/main">
              <a:ext uri="{FF2B5EF4-FFF2-40B4-BE49-F238E27FC236}">
                <a16:creationId xmlns:a16="http://schemas.microsoft.com/office/drawing/2014/main" id="{D066BDD6-4616-42A3-9F21-D613FDD6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257300"/>
            <a:ext cx="2590800" cy="451485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0478">
            <a:solidFill>
              <a:srgbClr val="D7DEE8"/>
            </a:solidFill>
            <a:prstDash val="solid"/>
          </a:ln>
        </p:spPr>
      </p:sp>
      <p:sp>
        <p:nvSpPr>
          <p:cNvPr id="78" name="关键洞察-title">
            <a:extLst xmlns:a="http://schemas.openxmlformats.org/drawingml/2006/main">
              <a:ext uri="{FF2B5EF4-FFF2-40B4-BE49-F238E27FC236}">
                <a16:creationId xmlns:a16="http://schemas.microsoft.com/office/drawing/2014/main" id="{1A889AA4-096B-4F92-912C-F5013265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39065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关键洞察</a:t>
            </a:r>
          </a:p>
        </p:txBody>
      </p:sp>
      <p:sp>
        <p:nvSpPr>
          <p:cNvPr id="79" name="关键洞察-item-1">
            <a:extLst xmlns:a="http://schemas.openxmlformats.org/drawingml/2006/main">
              <a:ext uri="{FF2B5EF4-FFF2-40B4-BE49-F238E27FC236}">
                <a16:creationId xmlns:a16="http://schemas.microsoft.com/office/drawing/2014/main" id="{359223D2-A086-40F4-847F-A499F2FC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28800"/>
            <a:ext cx="2286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招聘周期差距最大</a:t>
            </a:r>
          </a:p>
        </p:txBody>
      </p:sp>
      <p:sp>
        <p:nvSpPr>
          <p:cNvPr id="80" name="关键洞察-item-2">
            <a:extLst xmlns:a="http://schemas.openxmlformats.org/drawingml/2006/main">
              <a:ext uri="{FF2B5EF4-FFF2-40B4-BE49-F238E27FC236}">
                <a16:creationId xmlns:a16="http://schemas.microsoft.com/office/drawing/2014/main" id="{A5EA4778-A590-41BE-9E83-E6FBE73A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90850"/>
            <a:ext cx="2286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前三项均直接影响客户体验</a:t>
            </a:r>
          </a:p>
        </p:txBody>
      </p:sp>
      <p:sp>
        <p:nvSpPr>
          <p:cNvPr id="81" name="关键洞察-item-3">
            <a:extLst xmlns:a="http://schemas.openxmlformats.org/drawingml/2006/main">
              <a:ext uri="{FF2B5EF4-FFF2-40B4-BE49-F238E27FC236}">
                <a16:creationId xmlns:a16="http://schemas.microsoft.com/office/drawing/2014/main" id="{B3451B44-7E57-44AF-80B5-BC30B583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152900"/>
            <a:ext cx="2286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补齐前三项可显著提升整体指数</a:t>
            </a:r>
          </a:p>
        </p:txBody>
      </p:sp>
      <p:sp>
        <p:nvSpPr>
          <p:cNvPr id="82" name="bottom-conclusion">
            <a:extLst xmlns:a="http://schemas.openxmlformats.org/drawingml/2006/main">
              <a:ext uri="{FF2B5EF4-FFF2-40B4-BE49-F238E27FC236}">
                <a16:creationId xmlns:a16="http://schemas.microsoft.com/office/drawing/2014/main" id="{1A85F438-9AA8-4650-9DFE-37A19CB2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00750"/>
            <a:ext cx="11163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0E2"/>
          </a:solidFill>
          <a:ln xmlns:a="http://schemas.openxmlformats.org/drawingml/2006/main" w="12383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若补齐前三项，整体指数可从 68 提升至 82</a:t>
            </a:r>
          </a:p>
        </p:txBody>
      </p:sp>
    </p:spTree>
    <p:extLst>
      <p:ext uri="{BB962C8B-B14F-4D97-AF65-F5344CB8AC3E}">
        <p14:creationId xmlns:p14="http://schemas.microsoft.com/office/powerpoint/2010/main" val="21456522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2026-07-31T20:37:55.5400000Z</dcterms:created>
  <dcterms:modified xsi:type="dcterms:W3CDTF">2026-07-31T20:37:55.5400000Z</dcterms:modified>
</coreProperties>
</file>