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af9667f2704ed6" /><Relationship Type="http://schemas.openxmlformats.org/officeDocument/2006/relationships/extended-properties" Target="/docProps/app.xml" Id="Ra0c27569645d443a" /><Relationship Type="http://schemas.openxmlformats.org/officeDocument/2006/relationships/officeDocument" Target="/ppt/presentation.xml" Id="Rd1d27110b60d4d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c01aac0fa64944"/>
  </p:sldMasterIdLst>
  <p:notesMasterIdLst>
    <p:notesMasterId xmlns:r="http://schemas.openxmlformats.org/officeDocument/2006/relationships" r:id="R2628178c178c40e3"/>
  </p:notesMasterIdLst>
  <p:sldIdLst>
    <p:sldId xmlns:r="http://schemas.openxmlformats.org/officeDocument/2006/relationships" id="256" r:id="R1ad2f08fe1754e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31d1cdd57645e0" /><Relationship Type="http://schemas.openxmlformats.org/officeDocument/2006/relationships/slideMaster" Target="/ppt/slideMasters/slideMaster1.xml" Id="Rb4c01aac0fa64944" /><Relationship Type="http://schemas.openxmlformats.org/officeDocument/2006/relationships/notesMaster" Target="/ppt/notesMasters/notesMaster1.xml" Id="R2628178c178c40e3" /><Relationship Type="http://schemas.openxmlformats.org/officeDocument/2006/relationships/presProps" Target="/ppt/presProps.xml" Id="R5ecd7188ee924e04" /><Relationship Type="http://schemas.openxmlformats.org/officeDocument/2006/relationships/tableStyles" Target="/ppt/tableStyles.xml" Id="Rcd81265acffc4898" /><Relationship Type="http://schemas.openxmlformats.org/officeDocument/2006/relationships/slide" Target="/ppt/slides/slide1.xml" Id="R1ad2f08fe1754e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562c3e26254e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b2346281fc4b9f" /><Relationship Type="http://schemas.openxmlformats.org/officeDocument/2006/relationships/notesMaster" Target="/ppt/notesMasters/notesMaster1.xml" Id="Rdd74a91f1407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6be1f8064745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2b0e616f9443a4" /><Relationship Type="http://schemas.openxmlformats.org/officeDocument/2006/relationships/slideLayout" Target="/ppt/slideLayouts/slideLayout1.xml" Id="R723997820edc4c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997820edc4c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033be0a1b437a" /><Relationship Type="http://schemas.openxmlformats.org/officeDocument/2006/relationships/chart" Target="/ppt/slides/charts/chart1.xml" Id="Rfd105a4248ca4616" /><Relationship Type="http://schemas.openxmlformats.org/officeDocument/2006/relationships/notesSlide" Target="/ppt/notesSlides/notesSlide1.xml" Id="R89c29b5749804ae0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收入结构</c:v>
          </c:tx>
          <c:dPt>
            <c:idx val="0"/>
            <c:spPr>
              <a:solidFill xmlns:a="http://schemas.openxmlformats.org/drawingml/2006/main">
                <a:srgbClr val="E8872D"/>
              </a:solidFill>
              <a:ln xmlns:a="http://schemas.openxmlformats.org/drawingml/2006/main" w="11430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2F6FB2"/>
              </a:solidFill>
              <a:ln xmlns:a="http://schemas.openxmlformats.org/drawingml/2006/main" w="11430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15375F"/>
              </a:solidFill>
              <a:ln xmlns:a="http://schemas.openxmlformats.org/drawingml/2006/main" w="11430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3"/>
              <c:pt idx="0">
                <c:v>企业客户</c:v>
              </c:pt>
              <c:pt idx="1">
                <c:v>个人客户</c:v>
              </c:pt>
              <c:pt idx="2">
                <c:v>其他</c:v>
              </c:pt>
            </c:strLit>
          </c:cat>
          <c:val>
            <c:numLit>
              <c:formatCode>General</c:formatCode>
              <c:ptCount val="3"/>
              <c:pt idx="0">
                <c:v>72</c:v>
              </c:pt>
              <c:pt idx="1">
                <c:v>18</c:v>
              </c:pt>
              <c:pt idx="2">
                <c:v>10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ge-title">
            <a:extLst xmlns:a="http://schemas.openxmlformats.org/drawingml/2006/main">
              <a:ext uri="{FF2B5EF4-FFF2-40B4-BE49-F238E27FC236}">
                <a16:creationId xmlns:a16="http://schemas.microsoft.com/office/drawing/2014/main" id="{E91EF033-1ADB-40E7-B013-FF0956B5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375F"/>
                </a:solidFill>
              </a:defRPr>
            </a:pPr>
            <a:r>
              <a:rPr sz="3000" b="1">
                <a:solidFill>
                  <a:srgbClr val="15375F"/>
                </a:solidFill>
              </a:rPr>
              <a:t>收入主要来自企业客户，个人客户占比有限</a:t>
            </a:r>
          </a:p>
        </p:txBody>
      </p:sp>
      <p:sp>
        <p:nvSpPr>
          <p:cNvPr id="2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2EA070F-D9CE-4428-8CA9-3551530E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合成示例数据，非真实客户数据</a:t>
            </a:r>
          </a:p>
        </p:txBody>
      </p:sp>
      <p:sp>
        <p:nvSpPr>
          <p:cNvPr id="3" name="part-to-whole-exhibit">
            <a:extLst xmlns:a="http://schemas.openxmlformats.org/drawingml/2006/main">
              <a:ext uri="{FF2B5EF4-FFF2-40B4-BE49-F238E27FC236}">
                <a16:creationId xmlns:a16="http://schemas.microsoft.com/office/drawing/2014/main" id="{7772B87C-0442-4C59-96C6-59980B0B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633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85800" y="1543050"/>
          <a:ext xmlns:a="http://schemas.openxmlformats.org/drawingml/2006/main" cx="5905500" cy="3867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105a4248ca4616"/>
          </a:graphicData>
        </a:graphic>
      </p:graphicFrame>
      <p:sp>
        <p:nvSpPr>
          <p:cNvPr id="5" name="part-center-value">
            <a:extLst xmlns:a="http://schemas.openxmlformats.org/drawingml/2006/main">
              <a:ext uri="{FF2B5EF4-FFF2-40B4-BE49-F238E27FC236}">
                <a16:creationId xmlns:a16="http://schemas.microsoft.com/office/drawing/2014/main" id="{AAA7A0EA-D09D-4990-95C7-3726385F9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2857881"/>
            <a:ext cx="2480310" cy="6728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E8872D"/>
                </a:solidFill>
              </a:defRPr>
            </a:pPr>
            <a:r>
              <a:rPr sz="3000" b="1">
                <a:solidFill>
                  <a:srgbClr val="E8872D"/>
                </a:solidFill>
              </a:rPr>
              <a:t>72%</a:t>
            </a:r>
          </a:p>
        </p:txBody>
      </p:sp>
      <p:sp>
        <p:nvSpPr>
          <p:cNvPr id="6" name="part-center-label">
            <a:extLst xmlns:a="http://schemas.openxmlformats.org/drawingml/2006/main">
              <a:ext uri="{FF2B5EF4-FFF2-40B4-BE49-F238E27FC236}">
                <a16:creationId xmlns:a16="http://schemas.microsoft.com/office/drawing/2014/main" id="{97F04137-F9C7-486D-AE27-F421CC2C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395" y="3530765"/>
            <a:ext cx="2480310" cy="4872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企业客户</a:t>
            </a:r>
          </a:p>
        </p:txBody>
      </p:sp>
      <p:sp>
        <p:nvSpPr>
          <p:cNvPr id="7" name="part-breakdown-title">
            <a:extLst xmlns:a="http://schemas.openxmlformats.org/drawingml/2006/main">
              <a:ext uri="{FF2B5EF4-FFF2-40B4-BE49-F238E27FC236}">
                <a16:creationId xmlns:a16="http://schemas.microsoft.com/office/drawing/2014/main" id="{6128503A-8194-4E5D-A79C-8D3528B7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4305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收入结构</a:t>
            </a:r>
          </a:p>
        </p:txBody>
      </p:sp>
      <p:sp>
        <p:nvSpPr>
          <p:cNvPr id="8" name="part-total">
            <a:extLst xmlns:a="http://schemas.openxmlformats.org/drawingml/2006/main">
              <a:ext uri="{FF2B5EF4-FFF2-40B4-BE49-F238E27FC236}">
                <a16:creationId xmlns:a16="http://schemas.microsoft.com/office/drawing/2014/main" id="{09CD6555-CC02-41C1-A3DA-B9891CDE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66900"/>
            <a:ext cx="4743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总量 100%</a:t>
            </a:r>
          </a:p>
        </p:txBody>
      </p:sp>
      <p:sp>
        <p:nvSpPr>
          <p:cNvPr id="9" name="part-period">
            <a:extLst xmlns:a="http://schemas.openxmlformats.org/drawingml/2006/main">
              <a:ext uri="{FF2B5EF4-FFF2-40B4-BE49-F238E27FC236}">
                <a16:creationId xmlns:a16="http://schemas.microsoft.com/office/drawing/2014/main" id="{23936B37-B8D8-4C32-B4D8-B472051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474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97386"/>
                </a:solidFill>
              </a:defRPr>
            </a:pPr>
            <a:r>
              <a:rPr sz="1400" b="0">
                <a:solidFill>
                  <a:srgbClr val="697386"/>
                </a:solidFill>
              </a:rPr>
              <a:t>2026年预算</a:t>
            </a:r>
          </a:p>
        </p:txBody>
      </p:sp>
      <p:sp>
        <p:nvSpPr>
          <p:cNvPr id="10" name="part-swatch-1">
            <a:extLst xmlns:a="http://schemas.openxmlformats.org/drawingml/2006/main">
              <a:ext uri="{FF2B5EF4-FFF2-40B4-BE49-F238E27FC236}">
                <a16:creationId xmlns:a16="http://schemas.microsoft.com/office/drawing/2014/main" id="{D25BDF07-A2E4-4821-8DB5-FFFFB936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0">
            <a:solidFill>
              <a:srgbClr val="E8872D"/>
            </a:solidFill>
            <a:prstDash val="solid"/>
          </a:ln>
        </p:spPr>
      </p:sp>
      <p:sp>
        <p:nvSpPr>
          <p:cNvPr id="11" name="part-label-1">
            <a:extLst xmlns:a="http://schemas.openxmlformats.org/drawingml/2006/main">
              <a:ext uri="{FF2B5EF4-FFF2-40B4-BE49-F238E27FC236}">
                <a16:creationId xmlns:a16="http://schemas.microsoft.com/office/drawing/2014/main" id="{6ED8A267-EBE5-46A8-998C-D9CF5185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33650"/>
            <a:ext cx="22768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企业客户</a:t>
            </a:r>
          </a:p>
        </p:txBody>
      </p:sp>
      <p:sp>
        <p:nvSpPr>
          <p:cNvPr id="12" name="part-value-1">
            <a:extLst xmlns:a="http://schemas.openxmlformats.org/drawingml/2006/main">
              <a:ext uri="{FF2B5EF4-FFF2-40B4-BE49-F238E27FC236}">
                <a16:creationId xmlns:a16="http://schemas.microsoft.com/office/drawing/2014/main" id="{C7D7091C-257B-407A-94BF-A0DC3748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06" y="2533650"/>
            <a:ext cx="246659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72%</a:t>
            </a:r>
          </a:p>
        </p:txBody>
      </p:sp>
      <p:sp>
        <p:nvSpPr>
          <p:cNvPr id="13" name="part-swatch-2">
            <a:extLst xmlns:a="http://schemas.openxmlformats.org/drawingml/2006/main">
              <a:ext uri="{FF2B5EF4-FFF2-40B4-BE49-F238E27FC236}">
                <a16:creationId xmlns:a16="http://schemas.microsoft.com/office/drawing/2014/main" id="{B827CF7E-9748-4F7A-97ED-6456B4D9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B2"/>
          </a:solidFill>
          <a:ln xmlns:a="http://schemas.openxmlformats.org/drawingml/2006/main" w="0">
            <a:solidFill>
              <a:srgbClr val="2F6FB2"/>
            </a:solidFill>
            <a:prstDash val="solid"/>
          </a:ln>
        </p:spPr>
      </p:sp>
      <p:sp>
        <p:nvSpPr>
          <p:cNvPr id="14" name="part-label-2">
            <a:extLst xmlns:a="http://schemas.openxmlformats.org/drawingml/2006/main">
              <a:ext uri="{FF2B5EF4-FFF2-40B4-BE49-F238E27FC236}">
                <a16:creationId xmlns:a16="http://schemas.microsoft.com/office/drawing/2014/main" id="{79AB21A3-984F-49CA-A36C-4CB975A9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24200"/>
            <a:ext cx="22768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个人客户</a:t>
            </a:r>
          </a:p>
        </p:txBody>
      </p:sp>
      <p:sp>
        <p:nvSpPr>
          <p:cNvPr id="15" name="part-value-2">
            <a:extLst xmlns:a="http://schemas.openxmlformats.org/drawingml/2006/main">
              <a:ext uri="{FF2B5EF4-FFF2-40B4-BE49-F238E27FC236}">
                <a16:creationId xmlns:a16="http://schemas.microsoft.com/office/drawing/2014/main" id="{B51D88F1-9490-4CF5-BC28-5212E77B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06" y="3124200"/>
            <a:ext cx="246659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18%</a:t>
            </a:r>
          </a:p>
        </p:txBody>
      </p:sp>
      <p:sp>
        <p:nvSpPr>
          <p:cNvPr id="16" name="part-swatch-3">
            <a:extLst xmlns:a="http://schemas.openxmlformats.org/drawingml/2006/main">
              <a:ext uri="{FF2B5EF4-FFF2-40B4-BE49-F238E27FC236}">
                <a16:creationId xmlns:a16="http://schemas.microsoft.com/office/drawing/2014/main" id="{E118D97A-30F3-4AFB-818C-CE9DA492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9095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75F"/>
          </a:solidFill>
          <a:ln xmlns:a="http://schemas.openxmlformats.org/drawingml/2006/main" w="0">
            <a:solidFill>
              <a:srgbClr val="15375F"/>
            </a:solidFill>
            <a:prstDash val="solid"/>
          </a:ln>
        </p:spPr>
      </p:sp>
      <p:sp>
        <p:nvSpPr>
          <p:cNvPr id="17" name="part-label-3">
            <a:extLst xmlns:a="http://schemas.openxmlformats.org/drawingml/2006/main">
              <a:ext uri="{FF2B5EF4-FFF2-40B4-BE49-F238E27FC236}">
                <a16:creationId xmlns:a16="http://schemas.microsoft.com/office/drawing/2014/main" id="{4D52D370-C563-49CD-BDE6-79D1A9D7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14750"/>
            <a:ext cx="22768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其他</a:t>
            </a:r>
          </a:p>
        </p:txBody>
      </p:sp>
      <p:sp>
        <p:nvSpPr>
          <p:cNvPr id="18" name="part-value-3">
            <a:extLst xmlns:a="http://schemas.openxmlformats.org/drawingml/2006/main">
              <a:ext uri="{FF2B5EF4-FFF2-40B4-BE49-F238E27FC236}">
                <a16:creationId xmlns:a16="http://schemas.microsoft.com/office/drawing/2014/main" id="{E76D2160-50F9-4B77-8A99-EED251A9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606" y="3714750"/>
            <a:ext cx="2466594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15375F"/>
                </a:solidFill>
              </a:defRPr>
            </a:pPr>
            <a:r>
              <a:rPr sz="1600" b="0">
                <a:solidFill>
                  <a:srgbClr val="15375F"/>
                </a:solidFill>
              </a:rPr>
              <a:t>10%</a:t>
            </a:r>
          </a:p>
        </p:txBody>
      </p:sp>
      <p:sp>
        <p:nvSpPr>
          <p:cNvPr id="19" name="part-inline-insight">
            <a:extLst xmlns:a="http://schemas.openxmlformats.org/drawingml/2006/main">
              <a:ext uri="{FF2B5EF4-FFF2-40B4-BE49-F238E27FC236}">
                <a16:creationId xmlns:a16="http://schemas.microsoft.com/office/drawing/2014/main" id="{FF635290-8534-4F6E-9FFC-524E28EB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43400"/>
            <a:ext cx="4743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E8872D"/>
                </a:solidFill>
              </a:defRPr>
            </a:pPr>
            <a:r>
              <a:rPr sz="1400" b="1">
                <a:solidFill>
                  <a:srgbClr val="E8872D"/>
                </a:solidFill>
              </a:rPr>
              <a:t>关键判断：企业客户是绝对主导构成</a:t>
            </a:r>
          </a:p>
        </p:txBody>
      </p:sp>
      <p:sp>
        <p:nvSpPr>
          <p:cNvPr id="20" name="bottom-conclusion">
            <a:extLst xmlns:a="http://schemas.openxmlformats.org/drawingml/2006/main">
              <a:ext uri="{FF2B5EF4-FFF2-40B4-BE49-F238E27FC236}">
                <a16:creationId xmlns:a16="http://schemas.microsoft.com/office/drawing/2014/main" id="{A0AE1A25-E508-4589-B4E8-5DAD2F91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43600"/>
            <a:ext cx="11163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优先围绕企业客户优化产品与销售资源</a:t>
            </a:r>
          </a:p>
        </p:txBody>
      </p:sp>
    </p:spTree>
    <p:extLst>
      <p:ext uri="{BB962C8B-B14F-4D97-AF65-F5344CB8AC3E}">
        <p14:creationId xmlns:p14="http://schemas.microsoft.com/office/powerpoint/2010/main" val="957594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2026-08-10T18:24:00.8850000Z</dcterms:created>
  <dcterms:modified xsi:type="dcterms:W3CDTF">2026-08-10T18:24:00.8850000Z</dcterms:modified>
</coreProperties>
</file>