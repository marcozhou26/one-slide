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30b69a9036c40ce" /><Relationship Type="http://schemas.openxmlformats.org/officeDocument/2006/relationships/extended-properties" Target="/docProps/app.xml" Id="R88b09c4584a44839" /><Relationship Type="http://schemas.openxmlformats.org/officeDocument/2006/relationships/officeDocument" Target="/ppt/presentation.xml" Id="Rd014f309ec1646b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53d20f6871540e3"/>
  </p:sldMasterIdLst>
  <p:notesMasterIdLst>
    <p:notesMasterId xmlns:r="http://schemas.openxmlformats.org/officeDocument/2006/relationships" r:id="Rf6bc021868d64188"/>
  </p:notesMasterIdLst>
  <p:sldIdLst>
    <p:sldId xmlns:r="http://schemas.openxmlformats.org/officeDocument/2006/relationships" id="256" r:id="R2e98391ff2644e3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e5206d237754c5c" /><Relationship Type="http://schemas.openxmlformats.org/officeDocument/2006/relationships/slideMaster" Target="/ppt/slideMasters/slideMaster1.xml" Id="R453d20f6871540e3" /><Relationship Type="http://schemas.openxmlformats.org/officeDocument/2006/relationships/notesMaster" Target="/ppt/notesMasters/notesMaster1.xml" Id="Rf6bc021868d64188" /><Relationship Type="http://schemas.openxmlformats.org/officeDocument/2006/relationships/presProps" Target="/ppt/presProps.xml" Id="Re2a6bc99cd5847b6" /><Relationship Type="http://schemas.openxmlformats.org/officeDocument/2006/relationships/tableStyles" Target="/ppt/tableStyles.xml" Id="Rbe62169d56214fbd" /><Relationship Type="http://schemas.openxmlformats.org/officeDocument/2006/relationships/slide" Target="/ppt/slides/slide1.xml" Id="R2e98391ff2644e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5ecd7e27f8b432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ace4536c9ce4d48" /><Relationship Type="http://schemas.openxmlformats.org/officeDocument/2006/relationships/notesMaster" Target="/ppt/notesMasters/notesMaster1.xml" Id="Rbdcdee9e032b433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a08ec22600454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4decc063c934174" /><Relationship Type="http://schemas.openxmlformats.org/officeDocument/2006/relationships/slideLayout" Target="/ppt/slideLayouts/slideLayout1.xml" Id="R7a6d2b69935d4d7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a6d2b69935d4d7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09c3abc7394439" /><Relationship Type="http://schemas.openxmlformats.org/officeDocument/2006/relationships/notesSlide" Target="/ppt/notesSlides/notesSlide1.xml" Id="Raa5dddf664144d1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" name="page-title">
            <a:extLst xmlns:a="http://schemas.openxmlformats.org/drawingml/2006/main">
              <a:ext uri="{FF2B5EF4-FFF2-40B4-BE49-F238E27FC236}">
                <a16:creationId xmlns:a16="http://schemas.microsoft.com/office/drawing/2014/main" id="{2F42C480-4BFC-4CF8-ABC9-AC4FC4B7B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1116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375F"/>
                </a:solidFill>
              </a:defRPr>
            </a:pPr>
            <a:r>
              <a:rPr sz="3000" b="1">
                <a:solidFill>
                  <a:srgbClr val="15375F"/>
                </a:solidFill>
              </a:rPr>
              <a:t>East China has the shortest typical lead times and the least fluctuations; Southwest has the highest medians and upper tails</a:t>
            </a:r>
          </a:p>
        </p:txBody>
      </p:sp>
      <p:sp>
        <p:nvSpPr>
          <p:cNvPr id="2" name="page-subtitle">
            <a:extLst xmlns:a="http://schemas.openxmlformats.org/drawingml/2006/main">
              <a:ext uri="{FF2B5EF4-FFF2-40B4-BE49-F238E27FC236}">
                <a16:creationId xmlns:a16="http://schemas.microsoft.com/office/drawing/2014/main" id="{78CB9F23-1584-445D-96B8-6FEE298C5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163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Synthetic sample data, not real customer data</a:t>
            </a:r>
          </a:p>
        </p:txBody>
      </p:sp>
      <p:sp>
        <p:nvSpPr>
          <p:cNvPr id="3" name="box-plot-frame">
            <a:extLst xmlns:a="http://schemas.openxmlformats.org/drawingml/2006/main">
              <a:ext uri="{FF2B5EF4-FFF2-40B4-BE49-F238E27FC236}">
                <a16:creationId xmlns:a16="http://schemas.microsoft.com/office/drawing/2014/main" id="{A72CE770-353D-4C2B-A689-539DD1A72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95400"/>
            <a:ext cx="8248650" cy="434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4" name="box-grid-1">
            <a:extLst xmlns:a="http://schemas.openxmlformats.org/drawingml/2006/main">
              <a:ext uri="{FF2B5EF4-FFF2-40B4-BE49-F238E27FC236}">
                <a16:creationId xmlns:a16="http://schemas.microsoft.com/office/drawing/2014/main" id="{32BB28E0-3CA9-4581-AD82-17DB99121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809750"/>
            <a:ext cx="7258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5" name="box-tick-1">
            <a:extLst xmlns:a="http://schemas.openxmlformats.org/drawingml/2006/main">
              <a:ext uri="{FF2B5EF4-FFF2-40B4-BE49-F238E27FC236}">
                <a16:creationId xmlns:a16="http://schemas.microsoft.com/office/drawing/2014/main" id="{00485BBE-A097-4F29-8223-9DC983BBE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04975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24.8</a:t>
            </a:r>
          </a:p>
        </p:txBody>
      </p:sp>
      <p:sp>
        <p:nvSpPr>
          <p:cNvPr id="6" name="box-grid-2">
            <a:extLst xmlns:a="http://schemas.openxmlformats.org/drawingml/2006/main">
              <a:ext uri="{FF2B5EF4-FFF2-40B4-BE49-F238E27FC236}">
                <a16:creationId xmlns:a16="http://schemas.microsoft.com/office/drawing/2014/main" id="{AAD36D3A-CCFD-44DB-A00B-7EE0C1BA0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581275"/>
            <a:ext cx="7258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7" name="box-tick-2">
            <a:extLst xmlns:a="http://schemas.openxmlformats.org/drawingml/2006/main">
              <a:ext uri="{FF2B5EF4-FFF2-40B4-BE49-F238E27FC236}">
                <a16:creationId xmlns:a16="http://schemas.microsoft.com/office/drawing/2014/main" id="{354C344E-5400-4004-8A27-990AF15CB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19.5</a:t>
            </a:r>
          </a:p>
        </p:txBody>
      </p:sp>
      <p:sp>
        <p:nvSpPr>
          <p:cNvPr id="8" name="box-grid-3">
            <a:extLst xmlns:a="http://schemas.openxmlformats.org/drawingml/2006/main">
              <a:ext uri="{FF2B5EF4-FFF2-40B4-BE49-F238E27FC236}">
                <a16:creationId xmlns:a16="http://schemas.microsoft.com/office/drawing/2014/main" id="{AB96E22A-8DCE-4F8C-8254-326F2E24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52800"/>
            <a:ext cx="7258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9" name="box-tick-3">
            <a:extLst xmlns:a="http://schemas.openxmlformats.org/drawingml/2006/main">
              <a:ext uri="{FF2B5EF4-FFF2-40B4-BE49-F238E27FC236}">
                <a16:creationId xmlns:a16="http://schemas.microsoft.com/office/drawing/2014/main" id="{EF040A8C-29B3-44AF-87ED-DDD16DBAF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14.1</a:t>
            </a:r>
          </a:p>
        </p:txBody>
      </p:sp>
      <p:sp>
        <p:nvSpPr>
          <p:cNvPr id="10" name="box-grid-4">
            <a:extLst xmlns:a="http://schemas.openxmlformats.org/drawingml/2006/main">
              <a:ext uri="{FF2B5EF4-FFF2-40B4-BE49-F238E27FC236}">
                <a16:creationId xmlns:a16="http://schemas.microsoft.com/office/drawing/2014/main" id="{88F06A84-C96C-48E2-9A98-5650CEF75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24325"/>
            <a:ext cx="7258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11" name="box-tick-4">
            <a:extLst xmlns:a="http://schemas.openxmlformats.org/drawingml/2006/main">
              <a:ext uri="{FF2B5EF4-FFF2-40B4-BE49-F238E27FC236}">
                <a16:creationId xmlns:a16="http://schemas.microsoft.com/office/drawing/2014/main" id="{6D4111F8-1DB9-451D-A002-4C6211A50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8.7</a:t>
            </a:r>
          </a:p>
        </p:txBody>
      </p:sp>
      <p:sp>
        <p:nvSpPr>
          <p:cNvPr id="12" name="box-grid-5">
            <a:extLst xmlns:a="http://schemas.openxmlformats.org/drawingml/2006/main">
              <a:ext uri="{FF2B5EF4-FFF2-40B4-BE49-F238E27FC236}">
                <a16:creationId xmlns:a16="http://schemas.microsoft.com/office/drawing/2014/main" id="{05599A56-5592-4718-BA2F-C18C27438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95850"/>
            <a:ext cx="7258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13" name="box-tick-5">
            <a:extLst xmlns:a="http://schemas.openxmlformats.org/drawingml/2006/main">
              <a:ext uri="{FF2B5EF4-FFF2-40B4-BE49-F238E27FC236}">
                <a16:creationId xmlns:a16="http://schemas.microsoft.com/office/drawing/2014/main" id="{B4B59CC9-314F-4852-A2AF-313E2218F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91075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3.3</a:t>
            </a:r>
          </a:p>
        </p:txBody>
      </p:sp>
      <p:sp>
        <p:nvSpPr>
          <p:cNvPr id="14" name="box-unit">
            <a:extLst xmlns:a="http://schemas.openxmlformats.org/drawingml/2006/main">
              <a:ext uri="{FF2B5EF4-FFF2-40B4-BE49-F238E27FC236}">
                <a16:creationId xmlns:a16="http://schemas.microsoft.com/office/drawing/2014/main" id="{46FFDF73-4128-49AF-AC28-95E01BCD9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1">
                <a:solidFill>
                  <a:srgbClr val="15375F"/>
                </a:solidFill>
              </a:defRPr>
            </a:pPr>
            <a:r>
              <a:rPr sz="1400" b="1">
                <a:solidFill>
                  <a:srgbClr val="15375F"/>
                </a:solidFill>
              </a:rPr>
              <a:t>Unit: natural day</a:t>
            </a:r>
          </a:p>
        </p:txBody>
      </p:sp>
      <p:sp>
        <p:nvSpPr>
          <p:cNvPr id="15" name="box-denominator">
            <a:extLst xmlns:a="http://schemas.openxmlformats.org/drawingml/2006/main">
              <a:ext uri="{FF2B5EF4-FFF2-40B4-BE49-F238E27FC236}">
                <a16:creationId xmlns:a16="http://schemas.microsoft.com/office/drawing/2014/main" id="{568FED90-005E-444A-84EC-CEEDF1E19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428750"/>
            <a:ext cx="5753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Denominator: Completed orders in five areas with valid start and end times</a:t>
            </a:r>
          </a:p>
        </p:txBody>
      </p:sp>
      <p:sp>
        <p:nvSpPr>
          <p:cNvPr id="16" name="box-whisker-1">
            <a:extLst xmlns:a="http://schemas.openxmlformats.org/drawingml/2006/main">
              <a:ext uri="{FF2B5EF4-FFF2-40B4-BE49-F238E27FC236}">
                <a16:creationId xmlns:a16="http://schemas.microsoft.com/office/drawing/2014/main" id="{2D9FC7AF-3531-460A-BFE5-6EBC7156C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3105" y="3810053"/>
            <a:ext cx="0" cy="87657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15375F"/>
            </a:solidFill>
            <a:prstDash val="solid"/>
          </a:ln>
        </p:spPr>
      </p:sp>
      <p:sp>
        <p:nvSpPr>
          <p:cNvPr id="17" name="box-cap-high-1">
            <a:extLst xmlns:a="http://schemas.openxmlformats.org/drawingml/2006/main">
              <a:ext uri="{FF2B5EF4-FFF2-40B4-BE49-F238E27FC236}">
                <a16:creationId xmlns:a16="http://schemas.microsoft.com/office/drawing/2014/main" id="{2B58A6AC-036F-4BD1-9F74-013F52DB8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4510" y="3810053"/>
            <a:ext cx="37719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15375F"/>
            </a:solidFill>
            <a:prstDash val="solid"/>
          </a:ln>
        </p:spPr>
      </p:sp>
      <p:sp>
        <p:nvSpPr>
          <p:cNvPr id="18" name="box-cap-low-1">
            <a:extLst xmlns:a="http://schemas.openxmlformats.org/drawingml/2006/main">
              <a:ext uri="{FF2B5EF4-FFF2-40B4-BE49-F238E27FC236}">
                <a16:creationId xmlns:a16="http://schemas.microsoft.com/office/drawing/2014/main" id="{395F9B65-DEF9-4E69-85AF-B741D24F1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4510" y="4686623"/>
            <a:ext cx="37719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15375F"/>
            </a:solidFill>
            <a:prstDash val="solid"/>
          </a:ln>
        </p:spPr>
      </p:sp>
      <p:sp>
        <p:nvSpPr>
          <p:cNvPr id="19" name="box-iqr-1">
            <a:extLst xmlns:a="http://schemas.openxmlformats.org/drawingml/2006/main">
              <a:ext uri="{FF2B5EF4-FFF2-40B4-BE49-F238E27FC236}">
                <a16:creationId xmlns:a16="http://schemas.microsoft.com/office/drawing/2014/main" id="{BAF26CF0-8439-4E3E-AA42-224F3C471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8780" y="4198043"/>
            <a:ext cx="628650" cy="3017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20" name="box-median-1">
            <a:extLst xmlns:a="http://schemas.openxmlformats.org/drawingml/2006/main">
              <a:ext uri="{FF2B5EF4-FFF2-40B4-BE49-F238E27FC236}">
                <a16:creationId xmlns:a16="http://schemas.microsoft.com/office/drawing/2014/main" id="{FB10C51B-CB0D-4746-B0DF-FCFDFE55B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8780" y="4370483"/>
            <a:ext cx="628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8872D"/>
            </a:solidFill>
            <a:prstDash val="solid"/>
          </a:ln>
        </p:spPr>
      </p:sp>
      <p:sp>
        <p:nvSpPr>
          <p:cNvPr id="21" name="box-median-label-1">
            <a:extLst xmlns:a="http://schemas.openxmlformats.org/drawingml/2006/main">
              <a:ext uri="{FF2B5EF4-FFF2-40B4-BE49-F238E27FC236}">
                <a16:creationId xmlns:a16="http://schemas.microsoft.com/office/drawing/2014/main" id="{598F9B29-D2FA-47AA-A919-0147894C7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5530" y="4265708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8872D"/>
                </a:solidFill>
              </a:defRPr>
            </a:pPr>
            <a:r>
              <a:rPr sz="1200" b="1">
                <a:solidFill>
                  <a:srgbClr val="E8872D"/>
                </a:solidFill>
              </a:rPr>
              <a:t>7</a:t>
            </a:r>
          </a:p>
        </p:txBody>
      </p:sp>
      <p:sp>
        <p:nvSpPr>
          <p:cNvPr id="22" name="box-outlier-dot-1-1">
            <a:extLst xmlns:a="http://schemas.openxmlformats.org/drawingml/2006/main">
              <a:ext uri="{FF2B5EF4-FFF2-40B4-BE49-F238E27FC236}">
                <a16:creationId xmlns:a16="http://schemas.microsoft.com/office/drawing/2014/main" id="{72C1A74E-2A2F-43D6-8C9B-F1A78239A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5480" y="334569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E8872D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box-outlier-label-1-1">
            <a:extLst xmlns:a="http://schemas.openxmlformats.org/drawingml/2006/main">
              <a:ext uri="{FF2B5EF4-FFF2-40B4-BE49-F238E27FC236}">
                <a16:creationId xmlns:a16="http://schemas.microsoft.com/office/drawing/2014/main" id="{04C1E8CE-D980-43A6-AC01-74A79A7E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9305" y="3298073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8872D"/>
                </a:solidFill>
              </a:defRPr>
            </a:pPr>
            <a:r>
              <a:rPr sz="1200" b="1">
                <a:solidFill>
                  <a:srgbClr val="E8872D"/>
                </a:solidFill>
              </a:rPr>
              <a:t>Outliers 13.8</a:t>
            </a:r>
          </a:p>
        </p:txBody>
      </p:sp>
      <p:sp>
        <p:nvSpPr>
          <p:cNvPr id="24" name="box-group-1">
            <a:extLst xmlns:a="http://schemas.openxmlformats.org/drawingml/2006/main">
              <a:ext uri="{FF2B5EF4-FFF2-40B4-BE49-F238E27FC236}">
                <a16:creationId xmlns:a16="http://schemas.microsoft.com/office/drawing/2014/main" id="{2A9CAFC2-748C-46F4-90C6-6C0782DEA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5364" y="4972050"/>
            <a:ext cx="1335481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15375F"/>
                </a:solidFill>
              </a:defRPr>
            </a:pPr>
            <a:r>
              <a:rPr sz="1400" b="1">
                <a:solidFill>
                  <a:srgbClr val="15375F"/>
                </a:solidFill>
              </a:rPr>
              <a:t>East China</a:t>
            </a:r>
          </a:p>
        </p:txBody>
      </p:sp>
      <p:sp>
        <p:nvSpPr>
          <p:cNvPr id="25" name="box-sample-1">
            <a:extLst xmlns:a="http://schemas.openxmlformats.org/drawingml/2006/main">
              <a:ext uri="{FF2B5EF4-FFF2-40B4-BE49-F238E27FC236}">
                <a16:creationId xmlns:a16="http://schemas.microsoft.com/office/drawing/2014/main" id="{6113B24B-7C16-42DD-A3EB-302B85335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6332" y="5200650"/>
            <a:ext cx="1393546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valid n=64　Missing=2</a:t>
            </a:r>
          </a:p>
        </p:txBody>
      </p:sp>
      <p:sp>
        <p:nvSpPr>
          <p:cNvPr id="26" name="box-whisker-2">
            <a:extLst xmlns:a="http://schemas.openxmlformats.org/drawingml/2006/main">
              <a:ext uri="{FF2B5EF4-FFF2-40B4-BE49-F238E27FC236}">
                <a16:creationId xmlns:a16="http://schemas.microsoft.com/office/drawing/2014/main" id="{438872D5-7FFD-475D-9AAF-BE158C845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4715" y="3450803"/>
            <a:ext cx="0" cy="117834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15375F"/>
            </a:solidFill>
            <a:prstDash val="solid"/>
          </a:ln>
        </p:spPr>
      </p:sp>
      <p:sp>
        <p:nvSpPr>
          <p:cNvPr id="27" name="box-cap-high-2">
            <a:extLst xmlns:a="http://schemas.openxmlformats.org/drawingml/2006/main">
              <a:ext uri="{FF2B5EF4-FFF2-40B4-BE49-F238E27FC236}">
                <a16:creationId xmlns:a16="http://schemas.microsoft.com/office/drawing/2014/main" id="{7C29C69B-623E-452F-9313-30E29841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3450803"/>
            <a:ext cx="37719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15375F"/>
            </a:solidFill>
            <a:prstDash val="solid"/>
          </a:ln>
        </p:spPr>
      </p:sp>
      <p:sp>
        <p:nvSpPr>
          <p:cNvPr id="28" name="box-cap-low-2">
            <a:extLst xmlns:a="http://schemas.openxmlformats.org/drawingml/2006/main">
              <a:ext uri="{FF2B5EF4-FFF2-40B4-BE49-F238E27FC236}">
                <a16:creationId xmlns:a16="http://schemas.microsoft.com/office/drawing/2014/main" id="{6141E5CF-4B16-46D4-861F-72F0A5E4E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29143"/>
            <a:ext cx="37719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15375F"/>
            </a:solidFill>
            <a:prstDash val="solid"/>
          </a:ln>
        </p:spPr>
      </p:sp>
      <p:sp>
        <p:nvSpPr>
          <p:cNvPr id="29" name="box-iqr-2">
            <a:extLst xmlns:a="http://schemas.openxmlformats.org/drawingml/2006/main">
              <a:ext uri="{FF2B5EF4-FFF2-40B4-BE49-F238E27FC236}">
                <a16:creationId xmlns:a16="http://schemas.microsoft.com/office/drawing/2014/main" id="{13B97C22-314D-403B-88B6-18FEF76DB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0390" y="3982493"/>
            <a:ext cx="628650" cy="4167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30" name="box-median-2">
            <a:extLst xmlns:a="http://schemas.openxmlformats.org/drawingml/2006/main">
              <a:ext uri="{FF2B5EF4-FFF2-40B4-BE49-F238E27FC236}">
                <a16:creationId xmlns:a16="http://schemas.microsoft.com/office/drawing/2014/main" id="{85B5E8B8-EBF9-4BF5-990F-654AA4F2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0390" y="4212413"/>
            <a:ext cx="628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8872D"/>
            </a:solidFill>
            <a:prstDash val="solid"/>
          </a:ln>
        </p:spPr>
      </p:sp>
      <p:sp>
        <p:nvSpPr>
          <p:cNvPr id="31" name="box-median-label-2">
            <a:extLst xmlns:a="http://schemas.openxmlformats.org/drawingml/2006/main">
              <a:ext uri="{FF2B5EF4-FFF2-40B4-BE49-F238E27FC236}">
                <a16:creationId xmlns:a16="http://schemas.microsoft.com/office/drawing/2014/main" id="{9628E7D0-78AA-439A-A3FF-3DC5204C0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7140" y="4107638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8872D"/>
                </a:solidFill>
              </a:defRPr>
            </a:pPr>
            <a:r>
              <a:rPr sz="1200" b="1">
                <a:solidFill>
                  <a:srgbClr val="E8872D"/>
                </a:solidFill>
              </a:rPr>
              <a:t>8.1</a:t>
            </a:r>
          </a:p>
        </p:txBody>
      </p:sp>
      <p:sp>
        <p:nvSpPr>
          <p:cNvPr id="32" name="box-outlier-dot-2-1">
            <a:extLst xmlns:a="http://schemas.openxmlformats.org/drawingml/2006/main">
              <a:ext uri="{FF2B5EF4-FFF2-40B4-BE49-F238E27FC236}">
                <a16:creationId xmlns:a16="http://schemas.microsoft.com/office/drawing/2014/main" id="{15BF8A5A-035C-4B2A-BE78-91877A589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7090" y="30870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E8872D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3" name="box-outlier-label-2-1">
            <a:extLst xmlns:a="http://schemas.openxmlformats.org/drawingml/2006/main">
              <a:ext uri="{FF2B5EF4-FFF2-40B4-BE49-F238E27FC236}">
                <a16:creationId xmlns:a16="http://schemas.microsoft.com/office/drawing/2014/main" id="{9E25F33B-807A-48AE-9399-30AA40F60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0915" y="3039413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8872D"/>
                </a:solidFill>
              </a:defRPr>
            </a:pPr>
            <a:r>
              <a:rPr sz="1200" b="1">
                <a:solidFill>
                  <a:srgbClr val="E8872D"/>
                </a:solidFill>
              </a:rPr>
              <a:t>Outliers 15.6</a:t>
            </a:r>
          </a:p>
        </p:txBody>
      </p:sp>
      <p:sp>
        <p:nvSpPr>
          <p:cNvPr id="34" name="box-group-2">
            <a:extLst xmlns:a="http://schemas.openxmlformats.org/drawingml/2006/main">
              <a:ext uri="{FF2B5EF4-FFF2-40B4-BE49-F238E27FC236}">
                <a16:creationId xmlns:a16="http://schemas.microsoft.com/office/drawing/2014/main" id="{994DF3D0-D911-4B67-8A39-694E5CC6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6974" y="4972050"/>
            <a:ext cx="1335481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15375F"/>
                </a:solidFill>
              </a:defRPr>
            </a:pPr>
            <a:r>
              <a:rPr sz="1400" b="1">
                <a:solidFill>
                  <a:srgbClr val="15375F"/>
                </a:solidFill>
              </a:rPr>
              <a:t>South China</a:t>
            </a:r>
          </a:p>
        </p:txBody>
      </p:sp>
      <p:sp>
        <p:nvSpPr>
          <p:cNvPr id="35" name="box-sample-2">
            <a:extLst xmlns:a="http://schemas.openxmlformats.org/drawingml/2006/main">
              <a:ext uri="{FF2B5EF4-FFF2-40B4-BE49-F238E27FC236}">
                <a16:creationId xmlns:a16="http://schemas.microsoft.com/office/drawing/2014/main" id="{412E4B3D-40CE-4293-BC13-21201CD5F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7942" y="5200650"/>
            <a:ext cx="1393546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valid n=58　Missing=1</a:t>
            </a:r>
          </a:p>
        </p:txBody>
      </p:sp>
      <p:sp>
        <p:nvSpPr>
          <p:cNvPr id="36" name="box-whisker-3">
            <a:extLst xmlns:a="http://schemas.openxmlformats.org/drawingml/2006/main">
              <a:ext uri="{FF2B5EF4-FFF2-40B4-BE49-F238E27FC236}">
                <a16:creationId xmlns:a16="http://schemas.microsoft.com/office/drawing/2014/main" id="{34818FB8-B215-4AF1-B591-BF9108B98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3335843"/>
            <a:ext cx="0" cy="125019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15375F"/>
            </a:solidFill>
            <a:prstDash val="solid"/>
          </a:ln>
        </p:spPr>
      </p:sp>
      <p:sp>
        <p:nvSpPr>
          <p:cNvPr id="37" name="box-cap-high-3">
            <a:extLst xmlns:a="http://schemas.openxmlformats.org/drawingml/2006/main">
              <a:ext uri="{FF2B5EF4-FFF2-40B4-BE49-F238E27FC236}">
                <a16:creationId xmlns:a16="http://schemas.microsoft.com/office/drawing/2014/main" id="{B5185CA1-FB5A-4E80-81C6-C1E14711A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7730" y="3335843"/>
            <a:ext cx="37719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15375F"/>
            </a:solidFill>
            <a:prstDash val="solid"/>
          </a:ln>
        </p:spPr>
      </p:sp>
      <p:sp>
        <p:nvSpPr>
          <p:cNvPr id="38" name="box-cap-low-3">
            <a:extLst xmlns:a="http://schemas.openxmlformats.org/drawingml/2006/main">
              <a:ext uri="{FF2B5EF4-FFF2-40B4-BE49-F238E27FC236}">
                <a16:creationId xmlns:a16="http://schemas.microsoft.com/office/drawing/2014/main" id="{0B4DA2AD-12B7-451A-B72D-ECEBE5AE9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7730" y="4586033"/>
            <a:ext cx="37719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15375F"/>
            </a:solidFill>
            <a:prstDash val="solid"/>
          </a:ln>
        </p:spPr>
      </p:sp>
      <p:sp>
        <p:nvSpPr>
          <p:cNvPr id="39" name="box-iqr-3">
            <a:extLst xmlns:a="http://schemas.openxmlformats.org/drawingml/2006/main">
              <a:ext uri="{FF2B5EF4-FFF2-40B4-BE49-F238E27FC236}">
                <a16:creationId xmlns:a16="http://schemas.microsoft.com/office/drawing/2014/main" id="{4E5CD288-ABFF-463D-9408-63B8ED47A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67533"/>
            <a:ext cx="628650" cy="474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40" name="box-median-3">
            <a:extLst xmlns:a="http://schemas.openxmlformats.org/drawingml/2006/main">
              <a:ext uri="{FF2B5EF4-FFF2-40B4-BE49-F238E27FC236}">
                <a16:creationId xmlns:a16="http://schemas.microsoft.com/office/drawing/2014/main" id="{A242D1B0-D4ED-4162-A85B-25F0F9604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11823"/>
            <a:ext cx="628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8872D"/>
            </a:solidFill>
            <a:prstDash val="solid"/>
          </a:ln>
        </p:spPr>
      </p:sp>
      <p:sp>
        <p:nvSpPr>
          <p:cNvPr id="41" name="box-median-label-3">
            <a:extLst xmlns:a="http://schemas.openxmlformats.org/drawingml/2006/main">
              <a:ext uri="{FF2B5EF4-FFF2-40B4-BE49-F238E27FC236}">
                <a16:creationId xmlns:a16="http://schemas.microsoft.com/office/drawing/2014/main" id="{6957340A-BACE-4EFE-AD88-DB0106FCB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007048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8872D"/>
                </a:solidFill>
              </a:defRPr>
            </a:pPr>
            <a:r>
              <a:rPr sz="1200" b="1">
                <a:solidFill>
                  <a:srgbClr val="E8872D"/>
                </a:solidFill>
              </a:rPr>
              <a:t>8.8</a:t>
            </a:r>
          </a:p>
        </p:txBody>
      </p:sp>
      <p:sp>
        <p:nvSpPr>
          <p:cNvPr id="42" name="box-outlier-dot-3-1">
            <a:extLst xmlns:a="http://schemas.openxmlformats.org/drawingml/2006/main">
              <a:ext uri="{FF2B5EF4-FFF2-40B4-BE49-F238E27FC236}">
                <a16:creationId xmlns:a16="http://schemas.microsoft.com/office/drawing/2014/main" id="{437C70BF-E433-4B50-B1E2-1F4980AD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0022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E8872D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3" name="box-outlier-label-3-1">
            <a:extLst xmlns:a="http://schemas.openxmlformats.org/drawingml/2006/main">
              <a:ext uri="{FF2B5EF4-FFF2-40B4-BE49-F238E27FC236}">
                <a16:creationId xmlns:a16="http://schemas.microsoft.com/office/drawing/2014/main" id="{5B0AF7A0-4D1A-4CBD-A05B-5722D24F9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2852604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8872D"/>
                </a:solidFill>
              </a:defRPr>
            </a:pPr>
            <a:r>
              <a:rPr sz="1200" b="1">
                <a:solidFill>
                  <a:srgbClr val="E8872D"/>
                </a:solidFill>
              </a:rPr>
              <a:t>Outliers 16.9</a:t>
            </a:r>
          </a:p>
        </p:txBody>
      </p:sp>
      <p:sp>
        <p:nvSpPr>
          <p:cNvPr id="44" name="box-group-3">
            <a:extLst xmlns:a="http://schemas.openxmlformats.org/drawingml/2006/main">
              <a:ext uri="{FF2B5EF4-FFF2-40B4-BE49-F238E27FC236}">
                <a16:creationId xmlns:a16="http://schemas.microsoft.com/office/drawing/2014/main" id="{B6E9F7E8-CD84-4288-9434-DFD809788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8584" y="4972050"/>
            <a:ext cx="1335481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15375F"/>
                </a:solidFill>
              </a:defRPr>
            </a:pPr>
            <a:r>
              <a:rPr sz="1400" b="1">
                <a:solidFill>
                  <a:srgbClr val="15375F"/>
                </a:solidFill>
              </a:rPr>
              <a:t>North China</a:t>
            </a:r>
          </a:p>
        </p:txBody>
      </p:sp>
      <p:sp>
        <p:nvSpPr>
          <p:cNvPr id="45" name="box-sample-3">
            <a:extLst xmlns:a="http://schemas.openxmlformats.org/drawingml/2006/main">
              <a:ext uri="{FF2B5EF4-FFF2-40B4-BE49-F238E27FC236}">
                <a16:creationId xmlns:a16="http://schemas.microsoft.com/office/drawing/2014/main" id="{020CD54B-B989-4D32-97AF-54EA8BBAA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9552" y="5200650"/>
            <a:ext cx="1393546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valid n=61　Missing=3</a:t>
            </a:r>
          </a:p>
        </p:txBody>
      </p:sp>
      <p:sp>
        <p:nvSpPr>
          <p:cNvPr id="46" name="box-whisker-4">
            <a:extLst xmlns:a="http://schemas.openxmlformats.org/drawingml/2006/main">
              <a:ext uri="{FF2B5EF4-FFF2-40B4-BE49-F238E27FC236}">
                <a16:creationId xmlns:a16="http://schemas.microsoft.com/office/drawing/2014/main" id="{E34A4050-8F40-4AF4-9E0C-E8F457697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7935" y="2775414"/>
            <a:ext cx="0" cy="168128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15375F"/>
            </a:solidFill>
            <a:prstDash val="solid"/>
          </a:ln>
        </p:spPr>
      </p:sp>
      <p:sp>
        <p:nvSpPr>
          <p:cNvPr id="47" name="box-cap-high-4">
            <a:extLst xmlns:a="http://schemas.openxmlformats.org/drawingml/2006/main">
              <a:ext uri="{FF2B5EF4-FFF2-40B4-BE49-F238E27FC236}">
                <a16:creationId xmlns:a16="http://schemas.microsoft.com/office/drawing/2014/main" id="{03C1B7A1-A43A-4BD5-89F7-75AAC1DB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9340" y="2775414"/>
            <a:ext cx="37719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15375F"/>
            </a:solidFill>
            <a:prstDash val="solid"/>
          </a:ln>
        </p:spPr>
      </p:sp>
      <p:sp>
        <p:nvSpPr>
          <p:cNvPr id="48" name="box-cap-low-4">
            <a:extLst xmlns:a="http://schemas.openxmlformats.org/drawingml/2006/main">
              <a:ext uri="{FF2B5EF4-FFF2-40B4-BE49-F238E27FC236}">
                <a16:creationId xmlns:a16="http://schemas.microsoft.com/office/drawing/2014/main" id="{F9F95087-8D0D-4BB7-B1A0-FA3414263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9340" y="4456703"/>
            <a:ext cx="37719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15375F"/>
            </a:solidFill>
            <a:prstDash val="solid"/>
          </a:ln>
        </p:spPr>
      </p:sp>
      <p:sp>
        <p:nvSpPr>
          <p:cNvPr id="49" name="box-iqr-4">
            <a:extLst xmlns:a="http://schemas.openxmlformats.org/drawingml/2006/main">
              <a:ext uri="{FF2B5EF4-FFF2-40B4-BE49-F238E27FC236}">
                <a16:creationId xmlns:a16="http://schemas.microsoft.com/office/drawing/2014/main" id="{4F9A255F-D20D-425D-A1C5-9C47FC83D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3610" y="3551393"/>
            <a:ext cx="628650" cy="5891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50" name="box-median-4">
            <a:extLst xmlns:a="http://schemas.openxmlformats.org/drawingml/2006/main">
              <a:ext uri="{FF2B5EF4-FFF2-40B4-BE49-F238E27FC236}">
                <a16:creationId xmlns:a16="http://schemas.microsoft.com/office/drawing/2014/main" id="{33F6B1E9-2191-45C6-BCD5-4AE34C345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3610" y="3910643"/>
            <a:ext cx="628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8872D"/>
            </a:solidFill>
            <a:prstDash val="solid"/>
          </a:ln>
        </p:spPr>
      </p:sp>
      <p:sp>
        <p:nvSpPr>
          <p:cNvPr id="51" name="box-median-label-4">
            <a:extLst xmlns:a="http://schemas.openxmlformats.org/drawingml/2006/main">
              <a:ext uri="{FF2B5EF4-FFF2-40B4-BE49-F238E27FC236}">
                <a16:creationId xmlns:a16="http://schemas.microsoft.com/office/drawing/2014/main" id="{2259CF44-87EF-49FA-B977-DAC6366BA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0360" y="3805868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8872D"/>
                </a:solidFill>
              </a:defRPr>
            </a:pPr>
            <a:r>
              <a:rPr sz="1200" b="1">
                <a:solidFill>
                  <a:srgbClr val="E8872D"/>
                </a:solidFill>
              </a:rPr>
              <a:t>10.2</a:t>
            </a:r>
          </a:p>
        </p:txBody>
      </p:sp>
      <p:sp>
        <p:nvSpPr>
          <p:cNvPr id="52" name="box-outlier-dot-4-1">
            <a:extLst xmlns:a="http://schemas.openxmlformats.org/drawingml/2006/main">
              <a:ext uri="{FF2B5EF4-FFF2-40B4-BE49-F238E27FC236}">
                <a16:creationId xmlns:a16="http://schemas.microsoft.com/office/drawing/2014/main" id="{F166FD41-9B59-435E-8991-29DCF88C6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0310" y="225357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E8872D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3" name="box-outlier-label-4-1">
            <a:extLst xmlns:a="http://schemas.openxmlformats.org/drawingml/2006/main">
              <a:ext uri="{FF2B5EF4-FFF2-40B4-BE49-F238E27FC236}">
                <a16:creationId xmlns:a16="http://schemas.microsoft.com/office/drawing/2014/main" id="{EE9E7DDA-25D8-42A5-92ED-42246C43A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4135" y="2205954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8872D"/>
                </a:solidFill>
              </a:defRPr>
            </a:pPr>
            <a:r>
              <a:rPr sz="1200" b="1">
                <a:solidFill>
                  <a:srgbClr val="E8872D"/>
                </a:solidFill>
              </a:rPr>
              <a:t>Outliers 21.4</a:t>
            </a:r>
          </a:p>
        </p:txBody>
      </p:sp>
      <p:sp>
        <p:nvSpPr>
          <p:cNvPr id="54" name="box-outlier-dot-4-2">
            <a:extLst xmlns:a="http://schemas.openxmlformats.org/drawingml/2006/main">
              <a:ext uri="{FF2B5EF4-FFF2-40B4-BE49-F238E27FC236}">
                <a16:creationId xmlns:a16="http://schemas.microsoft.com/office/drawing/2014/main" id="{55546466-461E-4C03-BEE5-B7865FEE7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0310" y="202365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E8872D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5" name="box-outlier-label-4-2">
            <a:extLst xmlns:a="http://schemas.openxmlformats.org/drawingml/2006/main">
              <a:ext uri="{FF2B5EF4-FFF2-40B4-BE49-F238E27FC236}">
                <a16:creationId xmlns:a16="http://schemas.microsoft.com/office/drawing/2014/main" id="{B6D81A14-C134-4305-B15B-9437E5742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4135" y="1976034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8872D"/>
                </a:solidFill>
              </a:defRPr>
            </a:pPr>
            <a:r>
              <a:rPr sz="1200" b="1">
                <a:solidFill>
                  <a:srgbClr val="E8872D"/>
                </a:solidFill>
              </a:rPr>
              <a:t>Outliers 23</a:t>
            </a:r>
          </a:p>
        </p:txBody>
      </p:sp>
      <p:sp>
        <p:nvSpPr>
          <p:cNvPr id="56" name="box-group-4">
            <a:extLst xmlns:a="http://schemas.openxmlformats.org/drawingml/2006/main">
              <a:ext uri="{FF2B5EF4-FFF2-40B4-BE49-F238E27FC236}">
                <a16:creationId xmlns:a16="http://schemas.microsoft.com/office/drawing/2014/main" id="{51C76C1D-DE98-47A7-985A-F280B49E8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0194" y="4972050"/>
            <a:ext cx="1335481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15375F"/>
                </a:solidFill>
              </a:defRPr>
            </a:pPr>
            <a:r>
              <a:rPr sz="1400" b="1">
                <a:solidFill>
                  <a:srgbClr val="15375F"/>
                </a:solidFill>
              </a:rPr>
              <a:t>Southwest</a:t>
            </a:r>
          </a:p>
        </p:txBody>
      </p:sp>
      <p:sp>
        <p:nvSpPr>
          <p:cNvPr id="57" name="box-sample-4">
            <a:extLst xmlns:a="http://schemas.openxmlformats.org/drawingml/2006/main">
              <a:ext uri="{FF2B5EF4-FFF2-40B4-BE49-F238E27FC236}">
                <a16:creationId xmlns:a16="http://schemas.microsoft.com/office/drawing/2014/main" id="{791585A6-7F3C-4B00-A115-D8FC2910F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1162" y="5200650"/>
            <a:ext cx="1393546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valid n=55　Missing=4</a:t>
            </a:r>
          </a:p>
        </p:txBody>
      </p:sp>
      <p:sp>
        <p:nvSpPr>
          <p:cNvPr id="58" name="box-whisker-5">
            <a:extLst xmlns:a="http://schemas.openxmlformats.org/drawingml/2006/main">
              <a:ext uri="{FF2B5EF4-FFF2-40B4-BE49-F238E27FC236}">
                <a16:creationId xmlns:a16="http://schemas.microsoft.com/office/drawing/2014/main" id="{AF168C7A-34D0-4274-93A1-7C3749D8A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9545" y="3364583"/>
            <a:ext cx="0" cy="129329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15375F"/>
            </a:solidFill>
            <a:prstDash val="solid"/>
          </a:ln>
        </p:spPr>
      </p:sp>
      <p:sp>
        <p:nvSpPr>
          <p:cNvPr id="59" name="box-cap-high-5">
            <a:extLst xmlns:a="http://schemas.openxmlformats.org/drawingml/2006/main">
              <a:ext uri="{FF2B5EF4-FFF2-40B4-BE49-F238E27FC236}">
                <a16:creationId xmlns:a16="http://schemas.microsoft.com/office/drawing/2014/main" id="{A12427CB-4A1C-4A5B-9D0E-2916774DF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364583"/>
            <a:ext cx="37719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15375F"/>
            </a:solidFill>
            <a:prstDash val="solid"/>
          </a:ln>
        </p:spPr>
      </p:sp>
      <p:sp>
        <p:nvSpPr>
          <p:cNvPr id="60" name="box-cap-low-5">
            <a:extLst xmlns:a="http://schemas.openxmlformats.org/drawingml/2006/main">
              <a:ext uri="{FF2B5EF4-FFF2-40B4-BE49-F238E27FC236}">
                <a16:creationId xmlns:a16="http://schemas.microsoft.com/office/drawing/2014/main" id="{D7D1AC8D-E212-4E66-8221-A8A42C96E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657883"/>
            <a:ext cx="37719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15375F"/>
            </a:solidFill>
            <a:prstDash val="solid"/>
          </a:ln>
        </p:spPr>
      </p:sp>
      <p:sp>
        <p:nvSpPr>
          <p:cNvPr id="61" name="box-iqr-5">
            <a:extLst xmlns:a="http://schemas.openxmlformats.org/drawingml/2006/main">
              <a:ext uri="{FF2B5EF4-FFF2-40B4-BE49-F238E27FC236}">
                <a16:creationId xmlns:a16="http://schemas.microsoft.com/office/drawing/2014/main" id="{3241397D-5CE5-4A5D-9E3C-A95A2508E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5220" y="3939383"/>
            <a:ext cx="628650" cy="43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62" name="box-median-5">
            <a:extLst xmlns:a="http://schemas.openxmlformats.org/drawingml/2006/main">
              <a:ext uri="{FF2B5EF4-FFF2-40B4-BE49-F238E27FC236}">
                <a16:creationId xmlns:a16="http://schemas.microsoft.com/office/drawing/2014/main" id="{D4E0854F-0CFC-4E0E-8100-8DB81C8AB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5220" y="4169303"/>
            <a:ext cx="628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8872D"/>
            </a:solidFill>
            <a:prstDash val="solid"/>
          </a:ln>
        </p:spPr>
      </p:sp>
      <p:sp>
        <p:nvSpPr>
          <p:cNvPr id="63" name="box-median-label-5">
            <a:extLst xmlns:a="http://schemas.openxmlformats.org/drawingml/2006/main">
              <a:ext uri="{FF2B5EF4-FFF2-40B4-BE49-F238E27FC236}">
                <a16:creationId xmlns:a16="http://schemas.microsoft.com/office/drawing/2014/main" id="{CCE8E9FF-5065-4E6D-BB47-3DEA371D1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1970" y="4064528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8872D"/>
                </a:solidFill>
              </a:defRPr>
            </a:pPr>
            <a:r>
              <a:rPr sz="1200" b="1">
                <a:solidFill>
                  <a:srgbClr val="E8872D"/>
                </a:solidFill>
              </a:rPr>
              <a:t>8.4</a:t>
            </a:r>
          </a:p>
        </p:txBody>
      </p:sp>
      <p:sp>
        <p:nvSpPr>
          <p:cNvPr id="64" name="box-group-5">
            <a:extLst xmlns:a="http://schemas.openxmlformats.org/drawingml/2006/main">
              <a:ext uri="{FF2B5EF4-FFF2-40B4-BE49-F238E27FC236}">
                <a16:creationId xmlns:a16="http://schemas.microsoft.com/office/drawing/2014/main" id="{149D6AA1-C022-40A1-8468-9A8F1A746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1804" y="4972050"/>
            <a:ext cx="1335481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15375F"/>
                </a:solidFill>
              </a:defRPr>
            </a:pPr>
            <a:r>
              <a:rPr sz="1400" b="1">
                <a:solidFill>
                  <a:srgbClr val="15375F"/>
                </a:solidFill>
              </a:rPr>
              <a:t>Central China</a:t>
            </a:r>
          </a:p>
        </p:txBody>
      </p:sp>
      <p:sp>
        <p:nvSpPr>
          <p:cNvPr id="65" name="box-sample-5">
            <a:extLst xmlns:a="http://schemas.openxmlformats.org/drawingml/2006/main">
              <a:ext uri="{FF2B5EF4-FFF2-40B4-BE49-F238E27FC236}">
                <a16:creationId xmlns:a16="http://schemas.microsoft.com/office/drawing/2014/main" id="{12C7D49B-AB4B-44FE-84B3-0F18C8CE0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2772" y="5200650"/>
            <a:ext cx="1393546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valid n=60　Missing=2</a:t>
            </a:r>
          </a:p>
        </p:txBody>
      </p:sp>
      <p:sp>
        <p:nvSpPr>
          <p:cNvPr id="66" name="box-method-rail">
            <a:extLst xmlns:a="http://schemas.openxmlformats.org/drawingml/2006/main">
              <a:ext uri="{FF2B5EF4-FFF2-40B4-BE49-F238E27FC236}">
                <a16:creationId xmlns:a16="http://schemas.microsoft.com/office/drawing/2014/main" id="{171A102D-F6A9-4816-A0C5-CB6381DFF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219200"/>
            <a:ext cx="2609850" cy="441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67" name="box-method-title">
            <a:extLst xmlns:a="http://schemas.openxmlformats.org/drawingml/2006/main">
              <a:ext uri="{FF2B5EF4-FFF2-40B4-BE49-F238E27FC236}">
                <a16:creationId xmlns:a16="http://schemas.microsoft.com/office/drawing/2014/main" id="{CA18C3C0-558E-432E-BEE8-C27DB161A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333500"/>
            <a:ext cx="2305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375F"/>
                </a:solidFill>
              </a:defRPr>
            </a:pPr>
            <a:r>
              <a:rPr sz="1800" b="1">
                <a:solidFill>
                  <a:srgbClr val="15375F"/>
                </a:solidFill>
              </a:rPr>
              <a:t>Statistical caliber</a:t>
            </a:r>
          </a:p>
        </p:txBody>
      </p:sp>
      <p:sp>
        <p:nvSpPr>
          <p:cNvPr id="68" name="box-method-label-1">
            <a:extLst xmlns:a="http://schemas.openxmlformats.org/drawingml/2006/main">
              <a:ext uri="{FF2B5EF4-FFF2-40B4-BE49-F238E27FC236}">
                <a16:creationId xmlns:a16="http://schemas.microsoft.com/office/drawing/2014/main" id="{E1E8679F-1C2F-476B-8EF3-F7C75B4CE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695450"/>
            <a:ext cx="110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1">
                <a:solidFill>
                  <a:srgbClr val="E8872D"/>
                </a:solidFill>
              </a:defRPr>
            </a:pPr>
            <a:r>
              <a:rPr sz="1400" b="1">
                <a:solidFill>
                  <a:srgbClr val="E8872D"/>
                </a:solidFill>
              </a:rPr>
              <a:t>sample</a:t>
            </a:r>
          </a:p>
        </p:txBody>
      </p:sp>
      <p:sp>
        <p:nvSpPr>
          <p:cNvPr id="69" name="box-method-value-1">
            <a:extLst xmlns:a="http://schemas.openxmlformats.org/drawingml/2006/main">
              <a:ext uri="{FF2B5EF4-FFF2-40B4-BE49-F238E27FC236}">
                <a16:creationId xmlns:a16="http://schemas.microsoft.com/office/drawing/2014/main" id="{0430711B-34B2-4F48-9F99-3C989E0D3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943100"/>
            <a:ext cx="23050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2026second quarter</a:t>
            </a:r>
          </a:p>
          <a:p xmlns:a="http://schemas.openxmlformats.org/drawingml/2006/main">
            <a:pPr algn="l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Each observation is the receipt date of an order minus the order date.</a:t>
            </a:r>
          </a:p>
          <a:p xmlns:a="http://schemas.openxmlformats.org/drawingml/2006/main">
            <a:pPr algn="l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Orders with missing start and end times are not included in the quantile calculation, and the missing numbers are listed separately.</a:t>
            </a:r>
          </a:p>
        </p:txBody>
      </p:sp>
      <p:sp>
        <p:nvSpPr>
          <p:cNvPr id="70" name="box-method-label-2">
            <a:extLst xmlns:a="http://schemas.openxmlformats.org/drawingml/2006/main">
              <a:ext uri="{FF2B5EF4-FFF2-40B4-BE49-F238E27FC236}">
                <a16:creationId xmlns:a16="http://schemas.microsoft.com/office/drawing/2014/main" id="{7D096D3E-B0DF-4C5F-B447-6FC30E9F5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819400"/>
            <a:ext cx="110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1">
                <a:solidFill>
                  <a:srgbClr val="E8872D"/>
                </a:solidFill>
              </a:defRPr>
            </a:pPr>
            <a:r>
              <a:rPr sz="1400" b="1">
                <a:solidFill>
                  <a:srgbClr val="E8872D"/>
                </a:solidFill>
              </a:rPr>
              <a:t>quartile</a:t>
            </a:r>
          </a:p>
        </p:txBody>
      </p:sp>
      <p:sp>
        <p:nvSpPr>
          <p:cNvPr id="71" name="box-method-value-2">
            <a:extLst xmlns:a="http://schemas.openxmlformats.org/drawingml/2006/main">
              <a:ext uri="{FF2B5EF4-FFF2-40B4-BE49-F238E27FC236}">
                <a16:creationId xmlns:a16="http://schemas.microsoft.com/office/drawing/2014/main" id="{453880C3-582B-4B12-A8F4-CDECC7187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067050"/>
            <a:ext cx="2305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PERCENTILE.INC(linear interpolation, equivalent to Type 7)</a:t>
            </a:r>
          </a:p>
        </p:txBody>
      </p:sp>
      <p:sp>
        <p:nvSpPr>
          <p:cNvPr id="72" name="box-method-label-3">
            <a:extLst xmlns:a="http://schemas.openxmlformats.org/drawingml/2006/main">
              <a:ext uri="{FF2B5EF4-FFF2-40B4-BE49-F238E27FC236}">
                <a16:creationId xmlns:a16="http://schemas.microsoft.com/office/drawing/2014/main" id="{F26618B7-F5D5-42FB-ACF3-D891F640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543300"/>
            <a:ext cx="110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1">
                <a:solidFill>
                  <a:srgbClr val="E8872D"/>
                </a:solidFill>
              </a:defRPr>
            </a:pPr>
            <a:r>
              <a:rPr sz="1400" b="1">
                <a:solidFill>
                  <a:srgbClr val="E8872D"/>
                </a:solidFill>
              </a:rPr>
              <a:t>Whiskers and exceptions</a:t>
            </a:r>
          </a:p>
        </p:txBody>
      </p:sp>
      <p:sp>
        <p:nvSpPr>
          <p:cNvPr id="73" name="box-method-value-3">
            <a:extLst xmlns:a="http://schemas.openxmlformats.org/drawingml/2006/main">
              <a:ext uri="{FF2B5EF4-FFF2-40B4-BE49-F238E27FC236}">
                <a16:creationId xmlns:a16="http://schemas.microsoft.com/office/drawing/2014/main" id="{1827FEA4-8AD0-4829-BE2C-7CC3872F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790950"/>
            <a:ext cx="2305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The endpoint is 1.5×IQR The farthest observation inside the fence; records outside the fence are marked point by point as outliers</a:t>
            </a:r>
          </a:p>
        </p:txBody>
      </p:sp>
      <p:sp>
        <p:nvSpPr>
          <p:cNvPr id="74" name="box-insight-title">
            <a:extLst xmlns:a="http://schemas.openxmlformats.org/drawingml/2006/main">
              <a:ext uri="{FF2B5EF4-FFF2-40B4-BE49-F238E27FC236}">
                <a16:creationId xmlns:a16="http://schemas.microsoft.com/office/drawing/2014/main" id="{D09686A2-CFC3-41E0-9B66-5596185F2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438650"/>
            <a:ext cx="2305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375F"/>
                </a:solidFill>
              </a:defRPr>
            </a:pPr>
            <a:r>
              <a:rPr sz="1800" b="1">
                <a:solidFill>
                  <a:srgbClr val="15375F"/>
                </a:solidFill>
              </a:rPr>
              <a:t>Key findings</a:t>
            </a:r>
          </a:p>
        </p:txBody>
      </p:sp>
      <p:sp>
        <p:nvSpPr>
          <p:cNvPr id="75" name="box-insight-1">
            <a:extLst xmlns:a="http://schemas.openxmlformats.org/drawingml/2006/main">
              <a:ext uri="{FF2B5EF4-FFF2-40B4-BE49-F238E27FC236}">
                <a16:creationId xmlns:a16="http://schemas.microsoft.com/office/drawing/2014/main" id="{5FEA0FD4-31B4-4088-8974-EC3F5EDB0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743450"/>
            <a:ext cx="2305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8872D"/>
                </a:solidFill>
              </a:defRPr>
            </a:pPr>
            <a:r>
              <a:rPr sz="1200" b="1">
                <a:solidFill>
                  <a:srgbClr val="E8872D"/>
                </a:solidFill>
              </a:rPr>
              <a:t>The median in East China is7.0Heaven, and the middle50%only across2.1days, the most concentrated among the five regions</a:t>
            </a:r>
          </a:p>
        </p:txBody>
      </p:sp>
      <p:sp>
        <p:nvSpPr>
          <p:cNvPr id="76" name="box-insight-2">
            <a:extLst xmlns:a="http://schemas.openxmlformats.org/drawingml/2006/main">
              <a:ext uri="{FF2B5EF4-FFF2-40B4-BE49-F238E27FC236}">
                <a16:creationId xmlns:a16="http://schemas.microsoft.com/office/drawing/2014/main" id="{3B0308F5-D0D7-4FCE-BA5C-A5D5D6F07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5143500"/>
            <a:ext cx="2305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The Southwest median is10.2days and appear21.4Tianhe23.0Two unusually long period records per day</a:t>
            </a:r>
          </a:p>
        </p:txBody>
      </p:sp>
      <p:sp>
        <p:nvSpPr>
          <p:cNvPr id="77" name="bottom-conclusion">
            <a:extLst xmlns:a="http://schemas.openxmlformats.org/drawingml/2006/main">
              <a:ext uri="{FF2B5EF4-FFF2-40B4-BE49-F238E27FC236}">
                <a16:creationId xmlns:a16="http://schemas.microsoft.com/office/drawing/2014/main" id="{33FAE7C2-1723-4417-9338-5CDC97D00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43600"/>
            <a:ext cx="11163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12383">
            <a:solidFill>
              <a:srgbClr val="E8872D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5375F"/>
                </a:solidFill>
              </a:defRPr>
            </a:pPr>
            <a:r>
              <a:rPr sz="1800" b="1">
                <a:solidFill>
                  <a:srgbClr val="15375F"/>
                </a:solidFill>
              </a:rPr>
              <a:t>Conclusion: Give priority to reviewing long-term orders in the southwest, while retaining regional caliber and missing records for subsequent recalculation.</a:t>
            </a:r>
          </a:p>
        </p:txBody>
      </p:sp>
    </p:spTree>
    <p:extLst>
      <p:ext uri="{BB962C8B-B14F-4D97-AF65-F5344CB8AC3E}">
        <p14:creationId xmlns:p14="http://schemas.microsoft.com/office/powerpoint/2010/main" val="20614572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2026-08-08T16:23:51.6080000Z</dcterms:created>
  <dcterms:modified xsi:type="dcterms:W3CDTF">2026-08-08T16:23:51.6080000Z</dcterms:modified>
</coreProperties>
</file>