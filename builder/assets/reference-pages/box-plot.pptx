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0b69a9036c40ce" /><Relationship Type="http://schemas.openxmlformats.org/officeDocument/2006/relationships/extended-properties" Target="/docProps/app.xml" Id="R88b09c4584a44839" /><Relationship Type="http://schemas.openxmlformats.org/officeDocument/2006/relationships/officeDocument" Target="/ppt/presentation.xml" Id="Rd014f309ec16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3d20f6871540e3"/>
  </p:sldMasterIdLst>
  <p:notesMasterIdLst>
    <p:notesMasterId xmlns:r="http://schemas.openxmlformats.org/officeDocument/2006/relationships" r:id="Rf6bc021868d64188"/>
  </p:notesMasterIdLst>
  <p:sldIdLst>
    <p:sldId xmlns:r="http://schemas.openxmlformats.org/officeDocument/2006/relationships" id="256" r:id="R2e98391ff2644e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5206d237754c5c" /><Relationship Type="http://schemas.openxmlformats.org/officeDocument/2006/relationships/slideMaster" Target="/ppt/slideMasters/slideMaster1.xml" Id="R453d20f6871540e3" /><Relationship Type="http://schemas.openxmlformats.org/officeDocument/2006/relationships/notesMaster" Target="/ppt/notesMasters/notesMaster1.xml" Id="Rf6bc021868d64188" /><Relationship Type="http://schemas.openxmlformats.org/officeDocument/2006/relationships/presProps" Target="/ppt/presProps.xml" Id="Re2a6bc99cd5847b6" /><Relationship Type="http://schemas.openxmlformats.org/officeDocument/2006/relationships/tableStyles" Target="/ppt/tableStyles.xml" Id="Rbe62169d56214fbd" /><Relationship Type="http://schemas.openxmlformats.org/officeDocument/2006/relationships/slide" Target="/ppt/slides/slide1.xml" Id="R2e98391ff264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ecd7e27f8b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e4536c9ce4d48" /><Relationship Type="http://schemas.openxmlformats.org/officeDocument/2006/relationships/notesMaster" Target="/ppt/notesMasters/notesMaster1.xml" Id="Rbdcdee9e032b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08ec22600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decc063c934174" /><Relationship Type="http://schemas.openxmlformats.org/officeDocument/2006/relationships/slideLayout" Target="/ppt/slideLayouts/slideLayout1.xml" Id="R7a6d2b69935d4d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6d2b69935d4d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9c3abc7394439" /><Relationship Type="http://schemas.openxmlformats.org/officeDocument/2006/relationships/notesSlide" Target="/ppt/notesSlides/notesSlide1.xml" Id="Raa5dddf664144d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page-title">
            <a:extLst xmlns:a="http://schemas.openxmlformats.org/drawingml/2006/main">
              <a:ext uri="{FF2B5EF4-FFF2-40B4-BE49-F238E27FC236}">
                <a16:creationId xmlns:a16="http://schemas.microsoft.com/office/drawing/2014/main" id="{2F42C480-4BFC-4CF8-ABC9-AC4FC4B7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华东的典型交付周期最短且波动最小；西南的中位数和上尾均最高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8CB9F23-1584-445D-96B8-6FEE298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合成示例数据，非真实客户数据</a:t>
            </a:r>
          </a:p>
        </p:txBody>
      </p:sp>
      <p:sp>
        <p:nvSpPr>
          <p:cNvPr id="3" name="box-plot-frame">
            <a:extLst xmlns:a="http://schemas.openxmlformats.org/drawingml/2006/main">
              <a:ext uri="{FF2B5EF4-FFF2-40B4-BE49-F238E27FC236}">
                <a16:creationId xmlns:a16="http://schemas.microsoft.com/office/drawing/2014/main" id="{A72CE770-353D-4C2B-A689-539DD1A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82486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" name="box-grid-1">
            <a:extLst xmlns:a="http://schemas.openxmlformats.org/drawingml/2006/main">
              <a:ext uri="{FF2B5EF4-FFF2-40B4-BE49-F238E27FC236}">
                <a16:creationId xmlns:a16="http://schemas.microsoft.com/office/drawing/2014/main" id="{32BB28E0-3CA9-4581-AD82-17DB9912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725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5" name="box-tick-1">
            <a:extLst xmlns:a="http://schemas.openxmlformats.org/drawingml/2006/main">
              <a:ext uri="{FF2B5EF4-FFF2-40B4-BE49-F238E27FC236}">
                <a16:creationId xmlns:a16="http://schemas.microsoft.com/office/drawing/2014/main" id="{00485BBE-A097-4F29-8223-9DC983BB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24.8</a:t>
            </a:r>
          </a:p>
        </p:txBody>
      </p:sp>
      <p:sp>
        <p:nvSpPr>
          <p:cNvPr id="6" name="box-grid-2">
            <a:extLst xmlns:a="http://schemas.openxmlformats.org/drawingml/2006/main">
              <a:ext uri="{FF2B5EF4-FFF2-40B4-BE49-F238E27FC236}">
                <a16:creationId xmlns:a16="http://schemas.microsoft.com/office/drawing/2014/main" id="{AAD36D3A-CCFD-44DB-A00B-7EE0C1B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81275"/>
            <a:ext cx="725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7" name="box-tick-2">
            <a:extLst xmlns:a="http://schemas.openxmlformats.org/drawingml/2006/main">
              <a:ext uri="{FF2B5EF4-FFF2-40B4-BE49-F238E27FC236}">
                <a16:creationId xmlns:a16="http://schemas.microsoft.com/office/drawing/2014/main" id="{354C344E-5400-4004-8A27-990AF15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19.5</a:t>
            </a:r>
          </a:p>
        </p:txBody>
      </p:sp>
      <p:sp>
        <p:nvSpPr>
          <p:cNvPr id="8" name="box-grid-3">
            <a:extLst xmlns:a="http://schemas.openxmlformats.org/drawingml/2006/main">
              <a:ext uri="{FF2B5EF4-FFF2-40B4-BE49-F238E27FC236}">
                <a16:creationId xmlns:a16="http://schemas.microsoft.com/office/drawing/2014/main" id="{AB96E22A-8DCE-4F8C-8254-326F2E24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725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9" name="box-tick-3">
            <a:extLst xmlns:a="http://schemas.openxmlformats.org/drawingml/2006/main">
              <a:ext uri="{FF2B5EF4-FFF2-40B4-BE49-F238E27FC236}">
                <a16:creationId xmlns:a16="http://schemas.microsoft.com/office/drawing/2014/main" id="{EF040A8C-29B3-44AF-87ED-DDD16DBA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14.1</a:t>
            </a:r>
          </a:p>
        </p:txBody>
      </p:sp>
      <p:sp>
        <p:nvSpPr>
          <p:cNvPr id="10" name="box-grid-4">
            <a:extLst xmlns:a="http://schemas.openxmlformats.org/drawingml/2006/main">
              <a:ext uri="{FF2B5EF4-FFF2-40B4-BE49-F238E27FC236}">
                <a16:creationId xmlns:a16="http://schemas.microsoft.com/office/drawing/2014/main" id="{88F06A84-C96C-48E2-9A98-5650CEF7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24325"/>
            <a:ext cx="725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1" name="box-tick-4">
            <a:extLst xmlns:a="http://schemas.openxmlformats.org/drawingml/2006/main">
              <a:ext uri="{FF2B5EF4-FFF2-40B4-BE49-F238E27FC236}">
                <a16:creationId xmlns:a16="http://schemas.microsoft.com/office/drawing/2014/main" id="{6D4111F8-1DB9-451D-A002-4C6211A5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8.7</a:t>
            </a:r>
          </a:p>
        </p:txBody>
      </p:sp>
      <p:sp>
        <p:nvSpPr>
          <p:cNvPr id="12" name="box-grid-5">
            <a:extLst xmlns:a="http://schemas.openxmlformats.org/drawingml/2006/main">
              <a:ext uri="{FF2B5EF4-FFF2-40B4-BE49-F238E27FC236}">
                <a16:creationId xmlns:a16="http://schemas.microsoft.com/office/drawing/2014/main" id="{05599A56-5592-4718-BA2F-C18C2743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725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3" name="box-tick-5">
            <a:extLst xmlns:a="http://schemas.openxmlformats.org/drawingml/2006/main">
              <a:ext uri="{FF2B5EF4-FFF2-40B4-BE49-F238E27FC236}">
                <a16:creationId xmlns:a16="http://schemas.microsoft.com/office/drawing/2014/main" id="{B4B59CC9-314F-4852-A2AF-313E2218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3.3</a:t>
            </a:r>
          </a:p>
        </p:txBody>
      </p:sp>
      <p:sp>
        <p:nvSpPr>
          <p:cNvPr id="14" name="box-unit">
            <a:extLst xmlns:a="http://schemas.openxmlformats.org/drawingml/2006/main">
              <a:ext uri="{FF2B5EF4-FFF2-40B4-BE49-F238E27FC236}">
                <a16:creationId xmlns:a16="http://schemas.microsoft.com/office/drawing/2014/main" id="{46FFDF73-4128-49AF-AC28-95E01BC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单位：自然日</a:t>
            </a:r>
          </a:p>
        </p:txBody>
      </p:sp>
      <p:sp>
        <p:nvSpPr>
          <p:cNvPr id="15" name="box-denominator">
            <a:extLst xmlns:a="http://schemas.openxmlformats.org/drawingml/2006/main">
              <a:ext uri="{FF2B5EF4-FFF2-40B4-BE49-F238E27FC236}">
                <a16:creationId xmlns:a16="http://schemas.microsoft.com/office/drawing/2014/main" id="{568FED90-005E-444A-84EC-CEEDF1E1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42875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分母：五个区域已完成且有有效起止时间的订单</a:t>
            </a:r>
          </a:p>
        </p:txBody>
      </p:sp>
      <p:sp>
        <p:nvSpPr>
          <p:cNvPr id="16" name="box-whisker-1">
            <a:extLst xmlns:a="http://schemas.openxmlformats.org/drawingml/2006/main">
              <a:ext uri="{FF2B5EF4-FFF2-40B4-BE49-F238E27FC236}">
                <a16:creationId xmlns:a16="http://schemas.microsoft.com/office/drawing/2014/main" id="{2D9FC7AF-3531-460A-BFE5-6EBC715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" y="3810053"/>
            <a:ext cx="0" cy="876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17" name="box-cap-high-1">
            <a:extLst xmlns:a="http://schemas.openxmlformats.org/drawingml/2006/main">
              <a:ext uri="{FF2B5EF4-FFF2-40B4-BE49-F238E27FC236}">
                <a16:creationId xmlns:a16="http://schemas.microsoft.com/office/drawing/2014/main" id="{2B58A6AC-036F-4BD1-9F74-013F52D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510" y="381005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18" name="box-cap-low-1">
            <a:extLst xmlns:a="http://schemas.openxmlformats.org/drawingml/2006/main">
              <a:ext uri="{FF2B5EF4-FFF2-40B4-BE49-F238E27FC236}">
                <a16:creationId xmlns:a16="http://schemas.microsoft.com/office/drawing/2014/main" id="{395F9B65-DEF9-4E69-85AF-B741D24F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510" y="468662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19" name="box-iqr-1">
            <a:extLst xmlns:a="http://schemas.openxmlformats.org/drawingml/2006/main">
              <a:ext uri="{FF2B5EF4-FFF2-40B4-BE49-F238E27FC236}">
                <a16:creationId xmlns:a16="http://schemas.microsoft.com/office/drawing/2014/main" id="{BAF26CF0-8439-4E3E-AA42-224F3C47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4198043"/>
            <a:ext cx="628650" cy="301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20" name="box-median-1">
            <a:extLst xmlns:a="http://schemas.openxmlformats.org/drawingml/2006/main">
              <a:ext uri="{FF2B5EF4-FFF2-40B4-BE49-F238E27FC236}">
                <a16:creationId xmlns:a16="http://schemas.microsoft.com/office/drawing/2014/main" id="{FB10C51B-CB0D-4746-B0DF-FCFDFE55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4370483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21" name="box-median-label-1">
            <a:extLst xmlns:a="http://schemas.openxmlformats.org/drawingml/2006/main">
              <a:ext uri="{FF2B5EF4-FFF2-40B4-BE49-F238E27FC236}">
                <a16:creationId xmlns:a16="http://schemas.microsoft.com/office/drawing/2014/main" id="{598F9B29-D2FA-47AA-A919-0147894C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4265708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7</a:t>
            </a:r>
          </a:p>
        </p:txBody>
      </p:sp>
      <p:sp>
        <p:nvSpPr>
          <p:cNvPr id="22" name="box-outlier-dot-1-1">
            <a:extLst xmlns:a="http://schemas.openxmlformats.org/drawingml/2006/main">
              <a:ext uri="{FF2B5EF4-FFF2-40B4-BE49-F238E27FC236}">
                <a16:creationId xmlns:a16="http://schemas.microsoft.com/office/drawing/2014/main" id="{72C1A74E-2A2F-43D6-8C9B-F1A78239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80" y="334569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box-outlier-label-1-1">
            <a:extLst xmlns:a="http://schemas.openxmlformats.org/drawingml/2006/main">
              <a:ext uri="{FF2B5EF4-FFF2-40B4-BE49-F238E27FC236}">
                <a16:creationId xmlns:a16="http://schemas.microsoft.com/office/drawing/2014/main" id="{04C1E8CE-D980-43A6-AC01-74A79A7E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05" y="3298073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异常值 13.8</a:t>
            </a:r>
          </a:p>
        </p:txBody>
      </p:sp>
      <p:sp>
        <p:nvSpPr>
          <p:cNvPr id="24" name="box-group-1">
            <a:extLst xmlns:a="http://schemas.openxmlformats.org/drawingml/2006/main">
              <a:ext uri="{FF2B5EF4-FFF2-40B4-BE49-F238E27FC236}">
                <a16:creationId xmlns:a16="http://schemas.microsoft.com/office/drawing/2014/main" id="{2A9CAFC2-748C-46F4-90C6-6C0782DE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64" y="4972050"/>
            <a:ext cx="133548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华东</a:t>
            </a:r>
          </a:p>
        </p:txBody>
      </p:sp>
      <p:sp>
        <p:nvSpPr>
          <p:cNvPr id="25" name="box-sample-1">
            <a:extLst xmlns:a="http://schemas.openxmlformats.org/drawingml/2006/main">
              <a:ext uri="{FF2B5EF4-FFF2-40B4-BE49-F238E27FC236}">
                <a16:creationId xmlns:a16="http://schemas.microsoft.com/office/drawing/2014/main" id="{6113B24B-7C16-42DD-A3EB-302B853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332" y="5200650"/>
            <a:ext cx="13935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有效 n=64　缺失=2</a:t>
            </a:r>
          </a:p>
        </p:txBody>
      </p:sp>
      <p:sp>
        <p:nvSpPr>
          <p:cNvPr id="26" name="box-whisker-2">
            <a:extLst xmlns:a="http://schemas.openxmlformats.org/drawingml/2006/main">
              <a:ext uri="{FF2B5EF4-FFF2-40B4-BE49-F238E27FC236}">
                <a16:creationId xmlns:a16="http://schemas.microsoft.com/office/drawing/2014/main" id="{438872D5-7FFD-475D-9AAF-BE158C84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715" y="3450803"/>
            <a:ext cx="0" cy="1178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27" name="box-cap-high-2">
            <a:extLst xmlns:a="http://schemas.openxmlformats.org/drawingml/2006/main">
              <a:ext uri="{FF2B5EF4-FFF2-40B4-BE49-F238E27FC236}">
                <a16:creationId xmlns:a16="http://schemas.microsoft.com/office/drawing/2014/main" id="{7C29C69B-623E-452F-9313-30E29841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45080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28" name="box-cap-low-2">
            <a:extLst xmlns:a="http://schemas.openxmlformats.org/drawingml/2006/main">
              <a:ext uri="{FF2B5EF4-FFF2-40B4-BE49-F238E27FC236}">
                <a16:creationId xmlns:a16="http://schemas.microsoft.com/office/drawing/2014/main" id="{6141E5CF-4B16-46D4-861F-72F0A5E4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2914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29" name="box-iqr-2">
            <a:extLst xmlns:a="http://schemas.openxmlformats.org/drawingml/2006/main">
              <a:ext uri="{FF2B5EF4-FFF2-40B4-BE49-F238E27FC236}">
                <a16:creationId xmlns:a16="http://schemas.microsoft.com/office/drawing/2014/main" id="{13B97C22-314D-403B-88B6-18FEF76D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3982493"/>
            <a:ext cx="628650" cy="41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30" name="box-median-2">
            <a:extLst xmlns:a="http://schemas.openxmlformats.org/drawingml/2006/main">
              <a:ext uri="{FF2B5EF4-FFF2-40B4-BE49-F238E27FC236}">
                <a16:creationId xmlns:a16="http://schemas.microsoft.com/office/drawing/2014/main" id="{85B5E8B8-EBF9-4BF5-990F-654AA4F2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4212413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31" name="box-median-label-2">
            <a:extLst xmlns:a="http://schemas.openxmlformats.org/drawingml/2006/main">
              <a:ext uri="{FF2B5EF4-FFF2-40B4-BE49-F238E27FC236}">
                <a16:creationId xmlns:a16="http://schemas.microsoft.com/office/drawing/2014/main" id="{9628E7D0-78AA-439A-A3FF-3DC5204C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140" y="4107638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8.1</a:t>
            </a:r>
          </a:p>
        </p:txBody>
      </p:sp>
      <p:sp>
        <p:nvSpPr>
          <p:cNvPr id="32" name="box-outlier-dot-2-1">
            <a:extLst xmlns:a="http://schemas.openxmlformats.org/drawingml/2006/main">
              <a:ext uri="{FF2B5EF4-FFF2-40B4-BE49-F238E27FC236}">
                <a16:creationId xmlns:a16="http://schemas.microsoft.com/office/drawing/2014/main" id="{15BF8A5A-035C-4B2A-BE78-91877A58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090" y="30870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box-outlier-label-2-1">
            <a:extLst xmlns:a="http://schemas.openxmlformats.org/drawingml/2006/main">
              <a:ext uri="{FF2B5EF4-FFF2-40B4-BE49-F238E27FC236}">
                <a16:creationId xmlns:a16="http://schemas.microsoft.com/office/drawing/2014/main" id="{9E25F33B-807A-48AE-9399-30AA40F6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915" y="3039413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异常值 15.6</a:t>
            </a:r>
          </a:p>
        </p:txBody>
      </p:sp>
      <p:sp>
        <p:nvSpPr>
          <p:cNvPr id="34" name="box-group-2">
            <a:extLst xmlns:a="http://schemas.openxmlformats.org/drawingml/2006/main">
              <a:ext uri="{FF2B5EF4-FFF2-40B4-BE49-F238E27FC236}">
                <a16:creationId xmlns:a16="http://schemas.microsoft.com/office/drawing/2014/main" id="{994DF3D0-D911-4B67-8A39-694E5CC6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974" y="4972050"/>
            <a:ext cx="133548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华南</a:t>
            </a:r>
          </a:p>
        </p:txBody>
      </p:sp>
      <p:sp>
        <p:nvSpPr>
          <p:cNvPr id="35" name="box-sample-2">
            <a:extLst xmlns:a="http://schemas.openxmlformats.org/drawingml/2006/main">
              <a:ext uri="{FF2B5EF4-FFF2-40B4-BE49-F238E27FC236}">
                <a16:creationId xmlns:a16="http://schemas.microsoft.com/office/drawing/2014/main" id="{412E4B3D-40CE-4293-BC13-21201CD5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942" y="5200650"/>
            <a:ext cx="13935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有效 n=58　缺失=1</a:t>
            </a:r>
          </a:p>
        </p:txBody>
      </p:sp>
      <p:sp>
        <p:nvSpPr>
          <p:cNvPr id="36" name="box-whisker-3">
            <a:extLst xmlns:a="http://schemas.openxmlformats.org/drawingml/2006/main">
              <a:ext uri="{FF2B5EF4-FFF2-40B4-BE49-F238E27FC236}">
                <a16:creationId xmlns:a16="http://schemas.microsoft.com/office/drawing/2014/main" id="{34818FB8-B215-4AF1-B591-BF9108B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35843"/>
            <a:ext cx="0" cy="1250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37" name="box-cap-high-3">
            <a:extLst xmlns:a="http://schemas.openxmlformats.org/drawingml/2006/main">
              <a:ext uri="{FF2B5EF4-FFF2-40B4-BE49-F238E27FC236}">
                <a16:creationId xmlns:a16="http://schemas.microsoft.com/office/drawing/2014/main" id="{B5185CA1-FB5A-4E80-81C6-C1E14711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730" y="333584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38" name="box-cap-low-3">
            <a:extLst xmlns:a="http://schemas.openxmlformats.org/drawingml/2006/main">
              <a:ext uri="{FF2B5EF4-FFF2-40B4-BE49-F238E27FC236}">
                <a16:creationId xmlns:a16="http://schemas.microsoft.com/office/drawing/2014/main" id="{0B4DA2AD-12B7-451A-B72D-ECEBE5AE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730" y="458603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39" name="box-iqr-3">
            <a:extLst xmlns:a="http://schemas.openxmlformats.org/drawingml/2006/main">
              <a:ext uri="{FF2B5EF4-FFF2-40B4-BE49-F238E27FC236}">
                <a16:creationId xmlns:a16="http://schemas.microsoft.com/office/drawing/2014/main" id="{4E5CD288-ABFF-463D-9408-63B8ED4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533"/>
            <a:ext cx="628650" cy="474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40" name="box-median-3">
            <a:extLst xmlns:a="http://schemas.openxmlformats.org/drawingml/2006/main">
              <a:ext uri="{FF2B5EF4-FFF2-40B4-BE49-F238E27FC236}">
                <a16:creationId xmlns:a16="http://schemas.microsoft.com/office/drawing/2014/main" id="{A242D1B0-D4ED-4162-A85B-25F0F96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1823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41" name="box-median-label-3">
            <a:extLst xmlns:a="http://schemas.openxmlformats.org/drawingml/2006/main">
              <a:ext uri="{FF2B5EF4-FFF2-40B4-BE49-F238E27FC236}">
                <a16:creationId xmlns:a16="http://schemas.microsoft.com/office/drawing/2014/main" id="{6957340A-BACE-4EFE-AD88-DB0106FC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7048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8.8</a:t>
            </a:r>
          </a:p>
        </p:txBody>
      </p:sp>
      <p:sp>
        <p:nvSpPr>
          <p:cNvPr id="42" name="box-outlier-dot-3-1">
            <a:extLst xmlns:a="http://schemas.openxmlformats.org/drawingml/2006/main">
              <a:ext uri="{FF2B5EF4-FFF2-40B4-BE49-F238E27FC236}">
                <a16:creationId xmlns:a16="http://schemas.microsoft.com/office/drawing/2014/main" id="{437C70BF-E433-4B50-B1E2-1F4980AD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002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box-outlier-label-3-1">
            <a:extLst xmlns:a="http://schemas.openxmlformats.org/drawingml/2006/main">
              <a:ext uri="{FF2B5EF4-FFF2-40B4-BE49-F238E27FC236}">
                <a16:creationId xmlns:a16="http://schemas.microsoft.com/office/drawing/2014/main" id="{5B0AF7A0-4D1A-4CBD-A05B-5722D24F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52604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异常值 16.9</a:t>
            </a:r>
          </a:p>
        </p:txBody>
      </p:sp>
      <p:sp>
        <p:nvSpPr>
          <p:cNvPr id="44" name="box-group-3">
            <a:extLst xmlns:a="http://schemas.openxmlformats.org/drawingml/2006/main">
              <a:ext uri="{FF2B5EF4-FFF2-40B4-BE49-F238E27FC236}">
                <a16:creationId xmlns:a16="http://schemas.microsoft.com/office/drawing/2014/main" id="{B6E9F7E8-CD84-4288-9434-DFD8097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584" y="4972050"/>
            <a:ext cx="133548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华北</a:t>
            </a:r>
          </a:p>
        </p:txBody>
      </p:sp>
      <p:sp>
        <p:nvSpPr>
          <p:cNvPr id="45" name="box-sample-3">
            <a:extLst xmlns:a="http://schemas.openxmlformats.org/drawingml/2006/main">
              <a:ext uri="{FF2B5EF4-FFF2-40B4-BE49-F238E27FC236}">
                <a16:creationId xmlns:a16="http://schemas.microsoft.com/office/drawing/2014/main" id="{020CD54B-B989-4D32-97AF-54EA8BBA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552" y="5200650"/>
            <a:ext cx="13935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有效 n=61　缺失=3</a:t>
            </a:r>
          </a:p>
        </p:txBody>
      </p:sp>
      <p:sp>
        <p:nvSpPr>
          <p:cNvPr id="46" name="box-whisker-4">
            <a:extLst xmlns:a="http://schemas.openxmlformats.org/drawingml/2006/main">
              <a:ext uri="{FF2B5EF4-FFF2-40B4-BE49-F238E27FC236}">
                <a16:creationId xmlns:a16="http://schemas.microsoft.com/office/drawing/2014/main" id="{E34A4050-8F40-4AF4-9E0C-E8F4576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35" y="2775414"/>
            <a:ext cx="0" cy="16812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47" name="box-cap-high-4">
            <a:extLst xmlns:a="http://schemas.openxmlformats.org/drawingml/2006/main">
              <a:ext uri="{FF2B5EF4-FFF2-40B4-BE49-F238E27FC236}">
                <a16:creationId xmlns:a16="http://schemas.microsoft.com/office/drawing/2014/main" id="{03C1B7A1-A43A-4BD5-89F7-75AAC1DB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340" y="2775414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48" name="box-cap-low-4">
            <a:extLst xmlns:a="http://schemas.openxmlformats.org/drawingml/2006/main">
              <a:ext uri="{FF2B5EF4-FFF2-40B4-BE49-F238E27FC236}">
                <a16:creationId xmlns:a16="http://schemas.microsoft.com/office/drawing/2014/main" id="{F9F95087-8D0D-4BB7-B1A0-FA34142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340" y="445670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49" name="box-iqr-4">
            <a:extLst xmlns:a="http://schemas.openxmlformats.org/drawingml/2006/main">
              <a:ext uri="{FF2B5EF4-FFF2-40B4-BE49-F238E27FC236}">
                <a16:creationId xmlns:a16="http://schemas.microsoft.com/office/drawing/2014/main" id="{4F9A255F-D20D-425D-A1C5-9C47FC83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610" y="3551393"/>
            <a:ext cx="628650" cy="5891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50" name="box-median-4">
            <a:extLst xmlns:a="http://schemas.openxmlformats.org/drawingml/2006/main">
              <a:ext uri="{FF2B5EF4-FFF2-40B4-BE49-F238E27FC236}">
                <a16:creationId xmlns:a16="http://schemas.microsoft.com/office/drawing/2014/main" id="{33F6B1E9-2191-45C6-BCD5-4AE34C3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610" y="3910643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51" name="box-median-label-4">
            <a:extLst xmlns:a="http://schemas.openxmlformats.org/drawingml/2006/main">
              <a:ext uri="{FF2B5EF4-FFF2-40B4-BE49-F238E27FC236}">
                <a16:creationId xmlns:a16="http://schemas.microsoft.com/office/drawing/2014/main" id="{2259CF44-87EF-49FA-B977-DAC6366B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3805868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10.2</a:t>
            </a:r>
          </a:p>
        </p:txBody>
      </p:sp>
      <p:sp>
        <p:nvSpPr>
          <p:cNvPr id="52" name="box-outlier-dot-4-1">
            <a:extLst xmlns:a="http://schemas.openxmlformats.org/drawingml/2006/main">
              <a:ext uri="{FF2B5EF4-FFF2-40B4-BE49-F238E27FC236}">
                <a16:creationId xmlns:a16="http://schemas.microsoft.com/office/drawing/2014/main" id="{F166FD41-9B59-435E-8991-29DCF88C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310" y="225357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box-outlier-label-4-1">
            <a:extLst xmlns:a="http://schemas.openxmlformats.org/drawingml/2006/main">
              <a:ext uri="{FF2B5EF4-FFF2-40B4-BE49-F238E27FC236}">
                <a16:creationId xmlns:a16="http://schemas.microsoft.com/office/drawing/2014/main" id="{EE9E7DDA-25D8-42A5-92ED-42246C43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135" y="2205954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异常值 21.4</a:t>
            </a:r>
          </a:p>
        </p:txBody>
      </p:sp>
      <p:sp>
        <p:nvSpPr>
          <p:cNvPr id="54" name="box-outlier-dot-4-2">
            <a:extLst xmlns:a="http://schemas.openxmlformats.org/drawingml/2006/main">
              <a:ext uri="{FF2B5EF4-FFF2-40B4-BE49-F238E27FC236}">
                <a16:creationId xmlns:a16="http://schemas.microsoft.com/office/drawing/2014/main" id="{55546466-461E-4C03-BEE5-B7865FEE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310" y="2023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box-outlier-label-4-2">
            <a:extLst xmlns:a="http://schemas.openxmlformats.org/drawingml/2006/main">
              <a:ext uri="{FF2B5EF4-FFF2-40B4-BE49-F238E27FC236}">
                <a16:creationId xmlns:a16="http://schemas.microsoft.com/office/drawing/2014/main" id="{B6D81A14-C134-4305-B15B-9437E57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135" y="1976034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异常值 23</a:t>
            </a:r>
          </a:p>
        </p:txBody>
      </p:sp>
      <p:sp>
        <p:nvSpPr>
          <p:cNvPr id="56" name="box-group-4">
            <a:extLst xmlns:a="http://schemas.openxmlformats.org/drawingml/2006/main">
              <a:ext uri="{FF2B5EF4-FFF2-40B4-BE49-F238E27FC236}">
                <a16:creationId xmlns:a16="http://schemas.microsoft.com/office/drawing/2014/main" id="{51C76C1D-DE98-47A7-985A-F280B49E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194" y="4972050"/>
            <a:ext cx="133548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西南</a:t>
            </a:r>
          </a:p>
        </p:txBody>
      </p:sp>
      <p:sp>
        <p:nvSpPr>
          <p:cNvPr id="57" name="box-sample-4">
            <a:extLst xmlns:a="http://schemas.openxmlformats.org/drawingml/2006/main">
              <a:ext uri="{FF2B5EF4-FFF2-40B4-BE49-F238E27FC236}">
                <a16:creationId xmlns:a16="http://schemas.microsoft.com/office/drawing/2014/main" id="{791585A6-7F3C-4B00-A115-D8FC2910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162" y="5200650"/>
            <a:ext cx="13935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有效 n=55　缺失=4</a:t>
            </a:r>
          </a:p>
        </p:txBody>
      </p:sp>
      <p:sp>
        <p:nvSpPr>
          <p:cNvPr id="58" name="box-whisker-5">
            <a:extLst xmlns:a="http://schemas.openxmlformats.org/drawingml/2006/main">
              <a:ext uri="{FF2B5EF4-FFF2-40B4-BE49-F238E27FC236}">
                <a16:creationId xmlns:a16="http://schemas.microsoft.com/office/drawing/2014/main" id="{AF168C7A-34D0-4274-93A1-7C3749D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45" y="3364583"/>
            <a:ext cx="0" cy="12932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59" name="box-cap-high-5">
            <a:extLst xmlns:a="http://schemas.openxmlformats.org/drawingml/2006/main">
              <a:ext uri="{FF2B5EF4-FFF2-40B4-BE49-F238E27FC236}">
                <a16:creationId xmlns:a16="http://schemas.microsoft.com/office/drawing/2014/main" id="{A12427CB-4A1C-4A5B-9D0E-2916774D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6458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60" name="box-cap-low-5">
            <a:extLst xmlns:a="http://schemas.openxmlformats.org/drawingml/2006/main">
              <a:ext uri="{FF2B5EF4-FFF2-40B4-BE49-F238E27FC236}">
                <a16:creationId xmlns:a16="http://schemas.microsoft.com/office/drawing/2014/main" id="{D7D1AC8D-E212-4E66-8221-A8A42C96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57883"/>
            <a:ext cx="377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5375F"/>
            </a:solidFill>
            <a:prstDash val="solid"/>
          </a:ln>
        </p:spPr>
      </p:sp>
      <p:sp>
        <p:nvSpPr>
          <p:cNvPr id="61" name="box-iqr-5">
            <a:extLst xmlns:a="http://schemas.openxmlformats.org/drawingml/2006/main">
              <a:ext uri="{FF2B5EF4-FFF2-40B4-BE49-F238E27FC236}">
                <a16:creationId xmlns:a16="http://schemas.microsoft.com/office/drawing/2014/main" id="{3241397D-5CE5-4A5D-9E3C-A95A250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3939383"/>
            <a:ext cx="628650" cy="43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62" name="box-median-5">
            <a:extLst xmlns:a="http://schemas.openxmlformats.org/drawingml/2006/main">
              <a:ext uri="{FF2B5EF4-FFF2-40B4-BE49-F238E27FC236}">
                <a16:creationId xmlns:a16="http://schemas.microsoft.com/office/drawing/2014/main" id="{D4E0854F-0CFC-4E0E-8100-8DB81C8A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4169303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63" name="box-median-label-5">
            <a:extLst xmlns:a="http://schemas.openxmlformats.org/drawingml/2006/main">
              <a:ext uri="{FF2B5EF4-FFF2-40B4-BE49-F238E27FC236}">
                <a16:creationId xmlns:a16="http://schemas.microsoft.com/office/drawing/2014/main" id="{CCE8E9FF-5065-4E6D-BB47-3DEA371D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4064528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8.4</a:t>
            </a:r>
          </a:p>
        </p:txBody>
      </p:sp>
      <p:sp>
        <p:nvSpPr>
          <p:cNvPr id="64" name="box-group-5">
            <a:extLst xmlns:a="http://schemas.openxmlformats.org/drawingml/2006/main">
              <a:ext uri="{FF2B5EF4-FFF2-40B4-BE49-F238E27FC236}">
                <a16:creationId xmlns:a16="http://schemas.microsoft.com/office/drawing/2014/main" id="{149D6AA1-C022-40A1-8468-9A8F1A74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804" y="4972050"/>
            <a:ext cx="133548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华中</a:t>
            </a:r>
          </a:p>
        </p:txBody>
      </p:sp>
      <p:sp>
        <p:nvSpPr>
          <p:cNvPr id="65" name="box-sample-5">
            <a:extLst xmlns:a="http://schemas.openxmlformats.org/drawingml/2006/main">
              <a:ext uri="{FF2B5EF4-FFF2-40B4-BE49-F238E27FC236}">
                <a16:creationId xmlns:a16="http://schemas.microsoft.com/office/drawing/2014/main" id="{12C7D49B-AB4B-44FE-84B3-0F18C8C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772" y="5200650"/>
            <a:ext cx="139354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有效 n=60　缺失=2</a:t>
            </a:r>
          </a:p>
        </p:txBody>
      </p:sp>
      <p:sp>
        <p:nvSpPr>
          <p:cNvPr id="66" name="box-method-rail">
            <a:extLst xmlns:a="http://schemas.openxmlformats.org/drawingml/2006/main">
              <a:ext uri="{FF2B5EF4-FFF2-40B4-BE49-F238E27FC236}">
                <a16:creationId xmlns:a16="http://schemas.microsoft.com/office/drawing/2014/main" id="{171A102D-F6A9-4816-A0C5-CB6381DF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19200"/>
            <a:ext cx="26098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7" name="box-method-title">
            <a:extLst xmlns:a="http://schemas.openxmlformats.org/drawingml/2006/main">
              <a:ext uri="{FF2B5EF4-FFF2-40B4-BE49-F238E27FC236}">
                <a16:creationId xmlns:a16="http://schemas.microsoft.com/office/drawing/2014/main" id="{CA18C3C0-558E-432E-BEE8-C27DB161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335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统计口径</a:t>
            </a:r>
          </a:p>
        </p:txBody>
      </p:sp>
      <p:sp>
        <p:nvSpPr>
          <p:cNvPr id="68" name="box-method-label-1">
            <a:extLst xmlns:a="http://schemas.openxmlformats.org/drawingml/2006/main">
              <a:ext uri="{FF2B5EF4-FFF2-40B4-BE49-F238E27FC236}">
                <a16:creationId xmlns:a16="http://schemas.microsoft.com/office/drawing/2014/main" id="{E1E8679F-1C2F-476B-8EF3-F7C75B4C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样本</a:t>
            </a:r>
          </a:p>
        </p:txBody>
      </p:sp>
      <p:sp>
        <p:nvSpPr>
          <p:cNvPr id="69" name="box-method-value-1">
            <a:extLst xmlns:a="http://schemas.openxmlformats.org/drawingml/2006/main">
              <a:ext uri="{FF2B5EF4-FFF2-40B4-BE49-F238E27FC236}">
                <a16:creationId xmlns:a16="http://schemas.microsoft.com/office/drawing/2014/main" id="{0430711B-34B2-4F48-9F99-3C989E0D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2026年第二季度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每条观察为一笔订单的签收日期减下单日期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缺失起止时间的订单不参与分位数计算，缺失数单独列示</a:t>
            </a:r>
          </a:p>
        </p:txBody>
      </p:sp>
      <p:sp>
        <p:nvSpPr>
          <p:cNvPr id="70" name="box-method-label-2">
            <a:extLst xmlns:a="http://schemas.openxmlformats.org/drawingml/2006/main">
              <a:ext uri="{FF2B5EF4-FFF2-40B4-BE49-F238E27FC236}">
                <a16:creationId xmlns:a16="http://schemas.microsoft.com/office/drawing/2014/main" id="{7D096D3E-B0DF-4C5F-B447-6FC30E9F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194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四分位</a:t>
            </a:r>
          </a:p>
        </p:txBody>
      </p:sp>
      <p:sp>
        <p:nvSpPr>
          <p:cNvPr id="71" name="box-method-value-2">
            <a:extLst xmlns:a="http://schemas.openxmlformats.org/drawingml/2006/main">
              <a:ext uri="{FF2B5EF4-FFF2-40B4-BE49-F238E27FC236}">
                <a16:creationId xmlns:a16="http://schemas.microsoft.com/office/drawing/2014/main" id="{453880C3-582B-4B12-A8F4-CDECC718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670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PERCENTILE.INC（线性插值，等同 Type 7）</a:t>
            </a:r>
          </a:p>
        </p:txBody>
      </p:sp>
      <p:sp>
        <p:nvSpPr>
          <p:cNvPr id="72" name="box-method-label-3">
            <a:extLst xmlns:a="http://schemas.openxmlformats.org/drawingml/2006/main">
              <a:ext uri="{FF2B5EF4-FFF2-40B4-BE49-F238E27FC236}">
                <a16:creationId xmlns:a16="http://schemas.microsoft.com/office/drawing/2014/main" id="{F26618B7-F5D5-42FB-ACF3-D891F64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须线与异常</a:t>
            </a:r>
          </a:p>
        </p:txBody>
      </p:sp>
      <p:sp>
        <p:nvSpPr>
          <p:cNvPr id="73" name="box-method-value-3">
            <a:extLst xmlns:a="http://schemas.openxmlformats.org/drawingml/2006/main">
              <a:ext uri="{FF2B5EF4-FFF2-40B4-BE49-F238E27FC236}">
                <a16:creationId xmlns:a16="http://schemas.microsoft.com/office/drawing/2014/main" id="{1827FEA4-8AD0-4829-BE2C-7CC3872F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305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端点为 1.5×IQR 围栏内的最远观测；围栏外记录逐点标为异常值</a:t>
            </a:r>
          </a:p>
        </p:txBody>
      </p:sp>
      <p:sp>
        <p:nvSpPr>
          <p:cNvPr id="74" name="box-insight-title">
            <a:extLst xmlns:a="http://schemas.openxmlformats.org/drawingml/2006/main">
              <a:ext uri="{FF2B5EF4-FFF2-40B4-BE49-F238E27FC236}">
                <a16:creationId xmlns:a16="http://schemas.microsoft.com/office/drawing/2014/main" id="{D09686A2-CFC3-41E0-9B66-5596185F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386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关键发现</a:t>
            </a:r>
          </a:p>
        </p:txBody>
      </p:sp>
      <p:sp>
        <p:nvSpPr>
          <p:cNvPr id="75" name="box-insight-1">
            <a:extLst xmlns:a="http://schemas.openxmlformats.org/drawingml/2006/main">
              <a:ext uri="{FF2B5EF4-FFF2-40B4-BE49-F238E27FC236}">
                <a16:creationId xmlns:a16="http://schemas.microsoft.com/office/drawing/2014/main" id="{5FEA0FD4-31B4-4088-8974-EC3F5ED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4345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华东中位数为7.0天，且中间50%仅跨2.1天，五个区域中最集中</a:t>
            </a:r>
          </a:p>
        </p:txBody>
      </p:sp>
      <p:sp>
        <p:nvSpPr>
          <p:cNvPr id="76" name="box-insight-2">
            <a:extLst xmlns:a="http://schemas.openxmlformats.org/drawingml/2006/main">
              <a:ext uri="{FF2B5EF4-FFF2-40B4-BE49-F238E27FC236}">
                <a16:creationId xmlns:a16="http://schemas.microsoft.com/office/drawing/2014/main" id="{3B0308F5-D0D7-4FCE-BA5C-A5D5D6F0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435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西南中位数为10.2天，并出现21.4天和23.0天两笔异常长周期记录</a:t>
            </a:r>
          </a:p>
        </p:txBody>
      </p:sp>
      <p:sp>
        <p:nvSpPr>
          <p:cNvPr id="77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33FAE7C2-1723-4417-9338-5CDC97D0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结论：优先复盘西南长周期订单，同时保留区域口径与缺失记录供后续复算</a:t>
            </a:r>
          </a:p>
        </p:txBody>
      </p:sp>
    </p:spTree>
    <p:extLst>
      <p:ext uri="{BB962C8B-B14F-4D97-AF65-F5344CB8AC3E}">
        <p14:creationId xmlns:p14="http://schemas.microsoft.com/office/powerpoint/2010/main" val="2061457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2026-08-08T16:23:51.6080000Z</dcterms:created>
  <dcterms:modified xsi:type="dcterms:W3CDTF">2026-08-08T16:23:51.6080000Z</dcterms:modified>
</coreProperties>
</file>