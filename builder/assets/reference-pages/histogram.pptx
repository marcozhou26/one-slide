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163e747241c488f" /><Relationship Type="http://schemas.openxmlformats.org/officeDocument/2006/relationships/extended-properties" Target="/docProps/app.xml" Id="R18ec209ec90c47d3" /><Relationship Type="http://schemas.openxmlformats.org/officeDocument/2006/relationships/officeDocument" Target="/ppt/presentation.xml" Id="R5693fd2d797b4e6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e3fe46a353c4e55"/>
  </p:sldMasterIdLst>
  <p:notesMasterIdLst>
    <p:notesMasterId xmlns:r="http://schemas.openxmlformats.org/officeDocument/2006/relationships" r:id="Rf5744a98b7ac4680"/>
  </p:notesMasterIdLst>
  <p:sldIdLst>
    <p:sldId xmlns:r="http://schemas.openxmlformats.org/officeDocument/2006/relationships" id="256" r:id="Re865d58ca45e40a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9336bdc135c405e" /><Relationship Type="http://schemas.openxmlformats.org/officeDocument/2006/relationships/slideMaster" Target="/ppt/slideMasters/slideMaster1.xml" Id="R8e3fe46a353c4e55" /><Relationship Type="http://schemas.openxmlformats.org/officeDocument/2006/relationships/notesMaster" Target="/ppt/notesMasters/notesMaster1.xml" Id="Rf5744a98b7ac4680" /><Relationship Type="http://schemas.openxmlformats.org/officeDocument/2006/relationships/presProps" Target="/ppt/presProps.xml" Id="R7298ca3f8fc14037" /><Relationship Type="http://schemas.openxmlformats.org/officeDocument/2006/relationships/tableStyles" Target="/ppt/tableStyles.xml" Id="Rb4e61da3831b41cc" /><Relationship Type="http://schemas.openxmlformats.org/officeDocument/2006/relationships/slide" Target="/ppt/slides/slide1.xml" Id="Re865d58ca45e40a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25d81a4a104498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b9992299f404fa6" /><Relationship Type="http://schemas.openxmlformats.org/officeDocument/2006/relationships/notesMaster" Target="/ppt/notesMasters/notesMaster1.xml" Id="R767321ce1b0c409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Synthetic sample data, not real customer data</a:t>
            </a:r>
          </a:p>
          <a:p xmlns:a="http://schemas.openxmlformats.org/drawingml/2006/main">
            <a:r>
              <a:t>- Indicator: Anonymous transaction processing time; unit: minutes; period:2026year7Month; binning boundary:0, 10, 20, 30, 40, 50, 60, 70, 80.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eb1d228a96431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837326bdd814815" /><Relationship Type="http://schemas.openxmlformats.org/officeDocument/2006/relationships/slideLayout" Target="/ppt/slideLayouts/slideLayout1.xml" Id="Rc8faf75c5f40488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8faf75c5f40488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3964f6ba5a4966" /><Relationship Type="http://schemas.openxmlformats.org/officeDocument/2006/relationships/notesSlide" Target="/ppt/notesSlides/notesSlide1.xml" Id="R0e363883a2734b9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page-title">
            <a:extLst xmlns:a="http://schemas.openxmlformats.org/drawingml/2006/main">
              <a:ext uri="{FF2B5EF4-FFF2-40B4-BE49-F238E27FC236}">
                <a16:creationId xmlns:a16="http://schemas.microsoft.com/office/drawing/2014/main" id="{8DB7CB87-4020-48AA-8CEE-E467F684F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1116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375F"/>
                </a:solidFill>
              </a:defRPr>
            </a:pPr>
            <a:r>
              <a:rPr sz="3000" b="1">
                <a:solidFill>
                  <a:srgbClr val="15375F"/>
                </a:solidFill>
              </a:rPr>
              <a:t>The processing time is mainly concentrated in20–40minutes, the long tail on the right extends to80minutes</a:t>
            </a:r>
          </a:p>
        </p:txBody>
      </p:sp>
      <p:sp>
        <p:nvSpPr>
          <p:cNvPr id="2" name="page-subtitle">
            <a:extLst xmlns:a="http://schemas.openxmlformats.org/drawingml/2006/main">
              <a:ext uri="{FF2B5EF4-FFF2-40B4-BE49-F238E27FC236}">
                <a16:creationId xmlns:a16="http://schemas.microsoft.com/office/drawing/2014/main" id="{D3CBB00A-E50D-430F-B008-BFA8E22C4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163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Synthetic sample data, not real customer data</a:t>
            </a:r>
          </a:p>
        </p:txBody>
      </p:sp>
      <p:sp>
        <p:nvSpPr>
          <p:cNvPr id="3" name="histogram-frame">
            <a:extLst xmlns:a="http://schemas.openxmlformats.org/drawingml/2006/main">
              <a:ext uri="{FF2B5EF4-FFF2-40B4-BE49-F238E27FC236}">
                <a16:creationId xmlns:a16="http://schemas.microsoft.com/office/drawing/2014/main" id="{D8B6C9E3-6037-45EB-A273-F95B34949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95400"/>
            <a:ext cx="8458200" cy="430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4" name="histogram-grid-0">
            <a:extLst xmlns:a="http://schemas.openxmlformats.org/drawingml/2006/main">
              <a:ext uri="{FF2B5EF4-FFF2-40B4-BE49-F238E27FC236}">
                <a16:creationId xmlns:a16="http://schemas.microsoft.com/office/drawing/2014/main" id="{DE0EFB49-F6F9-4B10-AE9D-47495A272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38350"/>
            <a:ext cx="739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5" name="histogram-y-0">
            <a:extLst xmlns:a="http://schemas.openxmlformats.org/drawingml/2006/main">
              <a:ext uri="{FF2B5EF4-FFF2-40B4-BE49-F238E27FC236}">
                <a16:creationId xmlns:a16="http://schemas.microsoft.com/office/drawing/2014/main" id="{0B5D25D5-F5AB-4949-BDBF-33B60A0CF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697386"/>
                </a:solidFill>
              </a:defRPr>
            </a:pPr>
            <a:r>
              <a:rPr sz="1400" b="0">
                <a:solidFill>
                  <a:srgbClr val="697386"/>
                </a:solidFill>
              </a:rPr>
              <a:t>15</a:t>
            </a:r>
          </a:p>
        </p:txBody>
      </p:sp>
      <p:sp>
        <p:nvSpPr>
          <p:cNvPr id="6" name="histogram-grid-1">
            <a:extLst xmlns:a="http://schemas.openxmlformats.org/drawingml/2006/main">
              <a:ext uri="{FF2B5EF4-FFF2-40B4-BE49-F238E27FC236}">
                <a16:creationId xmlns:a16="http://schemas.microsoft.com/office/drawing/2014/main" id="{425B4C01-7006-4EA8-83F9-B5539EBC3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700338"/>
            <a:ext cx="739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7" name="histogram-y-1">
            <a:extLst xmlns:a="http://schemas.openxmlformats.org/drawingml/2006/main">
              <a:ext uri="{FF2B5EF4-FFF2-40B4-BE49-F238E27FC236}">
                <a16:creationId xmlns:a16="http://schemas.microsoft.com/office/drawing/2014/main" id="{0B4F9AD7-C4A1-4A4B-BE42-7C837DAE7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86038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697386"/>
                </a:solidFill>
              </a:defRPr>
            </a:pPr>
            <a:r>
              <a:rPr sz="1400" b="0">
                <a:solidFill>
                  <a:srgbClr val="697386"/>
                </a:solidFill>
              </a:rPr>
              <a:t>11</a:t>
            </a:r>
          </a:p>
        </p:txBody>
      </p:sp>
      <p:sp>
        <p:nvSpPr>
          <p:cNvPr id="8" name="histogram-grid-2">
            <a:extLst xmlns:a="http://schemas.openxmlformats.org/drawingml/2006/main">
              <a:ext uri="{FF2B5EF4-FFF2-40B4-BE49-F238E27FC236}">
                <a16:creationId xmlns:a16="http://schemas.microsoft.com/office/drawing/2014/main" id="{8D808978-3EB8-4F50-885B-3320A738C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62325"/>
            <a:ext cx="739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9" name="histogram-y-2">
            <a:extLst xmlns:a="http://schemas.openxmlformats.org/drawingml/2006/main">
              <a:ext uri="{FF2B5EF4-FFF2-40B4-BE49-F238E27FC236}">
                <a16:creationId xmlns:a16="http://schemas.microsoft.com/office/drawing/2014/main" id="{1421F604-6EEB-4132-AED1-DBC081642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697386"/>
                </a:solidFill>
              </a:defRPr>
            </a:pPr>
            <a:r>
              <a:rPr sz="1400" b="0">
                <a:solidFill>
                  <a:srgbClr val="697386"/>
                </a:solidFill>
              </a:rPr>
              <a:t>8</a:t>
            </a:r>
          </a:p>
        </p:txBody>
      </p:sp>
      <p:sp>
        <p:nvSpPr>
          <p:cNvPr id="10" name="histogram-grid-3">
            <a:extLst xmlns:a="http://schemas.openxmlformats.org/drawingml/2006/main">
              <a:ext uri="{FF2B5EF4-FFF2-40B4-BE49-F238E27FC236}">
                <a16:creationId xmlns:a16="http://schemas.microsoft.com/office/drawing/2014/main" id="{B8459FF2-1CE2-4BAF-901F-BD9DD2E2C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24313"/>
            <a:ext cx="739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11" name="histogram-y-3">
            <a:extLst xmlns:a="http://schemas.openxmlformats.org/drawingml/2006/main">
              <a:ext uri="{FF2B5EF4-FFF2-40B4-BE49-F238E27FC236}">
                <a16:creationId xmlns:a16="http://schemas.microsoft.com/office/drawing/2014/main" id="{A943A415-EA9F-47AC-AE19-0C1C48A3E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10013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697386"/>
                </a:solidFill>
              </a:defRPr>
            </a:pPr>
            <a:r>
              <a:rPr sz="1400" b="0">
                <a:solidFill>
                  <a:srgbClr val="697386"/>
                </a:solidFill>
              </a:rPr>
              <a:t>4</a:t>
            </a:r>
          </a:p>
        </p:txBody>
      </p:sp>
      <p:sp>
        <p:nvSpPr>
          <p:cNvPr id="12" name="histogram-grid-4">
            <a:extLst xmlns:a="http://schemas.openxmlformats.org/drawingml/2006/main">
              <a:ext uri="{FF2B5EF4-FFF2-40B4-BE49-F238E27FC236}">
                <a16:creationId xmlns:a16="http://schemas.microsoft.com/office/drawing/2014/main" id="{0C2BD0CA-709C-4F53-9864-10BB594C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86300"/>
            <a:ext cx="739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13" name="histogram-y-4">
            <a:extLst xmlns:a="http://schemas.openxmlformats.org/drawingml/2006/main">
              <a:ext uri="{FF2B5EF4-FFF2-40B4-BE49-F238E27FC236}">
                <a16:creationId xmlns:a16="http://schemas.microsoft.com/office/drawing/2014/main" id="{A6E4FB63-DEDC-46D3-885B-CB9A8CFC4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697386"/>
                </a:solidFill>
              </a:defRPr>
            </a:pPr>
            <a:r>
              <a:rPr sz="1400" b="0">
                <a:solidFill>
                  <a:srgbClr val="697386"/>
                </a:solidFill>
              </a:rPr>
              <a:t>0</a:t>
            </a:r>
          </a:p>
        </p:txBody>
      </p:sp>
      <p:sp>
        <p:nvSpPr>
          <p:cNvPr id="14" name="histogram-axis-title">
            <a:extLst xmlns:a="http://schemas.openxmlformats.org/drawingml/2006/main">
              <a:ext uri="{FF2B5EF4-FFF2-40B4-BE49-F238E27FC236}">
                <a16:creationId xmlns:a16="http://schemas.microsoft.com/office/drawing/2014/main" id="{211FC510-6B2E-4F2A-9634-C403E9E67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4859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Frequency (number)</a:t>
            </a:r>
          </a:p>
        </p:txBody>
      </p:sp>
      <p:sp>
        <p:nvSpPr>
          <p:cNvPr id="15" name="histogram-bar-1">
            <a:extLst xmlns:a="http://schemas.openxmlformats.org/drawingml/2006/main">
              <a:ext uri="{FF2B5EF4-FFF2-40B4-BE49-F238E27FC236}">
                <a16:creationId xmlns:a16="http://schemas.microsoft.com/office/drawing/2014/main" id="{ADA5A415-EEAF-45A3-A28E-8342EBD54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33240"/>
            <a:ext cx="923925" cy="3530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16" name="histogram-count-1">
            <a:extLst xmlns:a="http://schemas.openxmlformats.org/drawingml/2006/main">
              <a:ext uri="{FF2B5EF4-FFF2-40B4-BE49-F238E27FC236}">
                <a16:creationId xmlns:a16="http://schemas.microsoft.com/office/drawing/2014/main" id="{F7BE5BBB-B2A7-4CCC-A136-12530998A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76065"/>
            <a:ext cx="9620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15375F"/>
                </a:solidFill>
              </a:defRPr>
            </a:pPr>
            <a:r>
              <a:rPr sz="1400" b="0">
                <a:solidFill>
                  <a:srgbClr val="15375F"/>
                </a:solidFill>
              </a:rPr>
              <a:t>2</a:t>
            </a:r>
          </a:p>
        </p:txBody>
      </p:sp>
      <p:sp>
        <p:nvSpPr>
          <p:cNvPr id="17" name="histogram-bin-1">
            <a:extLst xmlns:a="http://schemas.openxmlformats.org/drawingml/2006/main">
              <a:ext uri="{FF2B5EF4-FFF2-40B4-BE49-F238E27FC236}">
                <a16:creationId xmlns:a16="http://schemas.microsoft.com/office/drawing/2014/main" id="{C65B9D74-F4BE-44B2-84FC-901042CDA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62500"/>
            <a:ext cx="1076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0–&lt;10</a:t>
            </a:r>
          </a:p>
        </p:txBody>
      </p:sp>
      <p:sp>
        <p:nvSpPr>
          <p:cNvPr id="18" name="histogram-bar-2">
            <a:extLst xmlns:a="http://schemas.openxmlformats.org/drawingml/2006/main">
              <a:ext uri="{FF2B5EF4-FFF2-40B4-BE49-F238E27FC236}">
                <a16:creationId xmlns:a16="http://schemas.microsoft.com/office/drawing/2014/main" id="{8B9E0413-4F91-4FA5-8CFE-15E54617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3450590"/>
            <a:ext cx="923925" cy="12357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19" name="histogram-count-2">
            <a:extLst xmlns:a="http://schemas.openxmlformats.org/drawingml/2006/main">
              <a:ext uri="{FF2B5EF4-FFF2-40B4-BE49-F238E27FC236}">
                <a16:creationId xmlns:a16="http://schemas.microsoft.com/office/drawing/2014/main" id="{F5C79AF2-9259-4EA0-94F7-F884092EB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" y="3193415"/>
            <a:ext cx="9620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15375F"/>
                </a:solidFill>
              </a:defRPr>
            </a:pPr>
            <a:r>
              <a:rPr sz="1400" b="0">
                <a:solidFill>
                  <a:srgbClr val="15375F"/>
                </a:solidFill>
              </a:rPr>
              <a:t>7</a:t>
            </a:r>
          </a:p>
        </p:txBody>
      </p:sp>
      <p:sp>
        <p:nvSpPr>
          <p:cNvPr id="20" name="histogram-bin-2">
            <a:extLst xmlns:a="http://schemas.openxmlformats.org/drawingml/2006/main">
              <a:ext uri="{FF2B5EF4-FFF2-40B4-BE49-F238E27FC236}">
                <a16:creationId xmlns:a16="http://schemas.microsoft.com/office/drawing/2014/main" id="{7068007A-4E07-46D3-9859-F5032EF6D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4762500"/>
            <a:ext cx="1076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10–&lt;20</a:t>
            </a:r>
          </a:p>
        </p:txBody>
      </p:sp>
      <p:sp>
        <p:nvSpPr>
          <p:cNvPr id="21" name="histogram-bar-3">
            <a:extLst xmlns:a="http://schemas.openxmlformats.org/drawingml/2006/main">
              <a:ext uri="{FF2B5EF4-FFF2-40B4-BE49-F238E27FC236}">
                <a16:creationId xmlns:a16="http://schemas.microsoft.com/office/drawing/2014/main" id="{B1110CDF-B243-4F83-B3F2-EC4BF216E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214880"/>
            <a:ext cx="923925" cy="24714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22" name="histogram-count-3">
            <a:extLst xmlns:a="http://schemas.openxmlformats.org/drawingml/2006/main">
              <a:ext uri="{FF2B5EF4-FFF2-40B4-BE49-F238E27FC236}">
                <a16:creationId xmlns:a16="http://schemas.microsoft.com/office/drawing/2014/main" id="{AA0CD83E-BA5C-442A-8CB2-29599A8F6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019300"/>
            <a:ext cx="9620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E8872D"/>
                </a:solidFill>
              </a:defRPr>
            </a:pPr>
            <a:r>
              <a:rPr sz="1400" b="1">
                <a:solidFill>
                  <a:srgbClr val="E8872D"/>
                </a:solidFill>
              </a:rPr>
              <a:t>14</a:t>
            </a:r>
          </a:p>
        </p:txBody>
      </p:sp>
      <p:sp>
        <p:nvSpPr>
          <p:cNvPr id="23" name="histogram-bin-3">
            <a:extLst xmlns:a="http://schemas.openxmlformats.org/drawingml/2006/main">
              <a:ext uri="{FF2B5EF4-FFF2-40B4-BE49-F238E27FC236}">
                <a16:creationId xmlns:a16="http://schemas.microsoft.com/office/drawing/2014/main" id="{ED025A3B-8E11-4D0E-B307-FAD3BF1D3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762500"/>
            <a:ext cx="1076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20–&lt;30</a:t>
            </a:r>
          </a:p>
        </p:txBody>
      </p:sp>
      <p:sp>
        <p:nvSpPr>
          <p:cNvPr id="24" name="histogram-bar-4">
            <a:extLst xmlns:a="http://schemas.openxmlformats.org/drawingml/2006/main">
              <a:ext uri="{FF2B5EF4-FFF2-40B4-BE49-F238E27FC236}">
                <a16:creationId xmlns:a16="http://schemas.microsoft.com/office/drawing/2014/main" id="{A17137A9-A1BB-4753-B264-8782B5259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2567940"/>
            <a:ext cx="923925" cy="2118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25" name="histogram-count-4">
            <a:extLst xmlns:a="http://schemas.openxmlformats.org/drawingml/2006/main">
              <a:ext uri="{FF2B5EF4-FFF2-40B4-BE49-F238E27FC236}">
                <a16:creationId xmlns:a16="http://schemas.microsoft.com/office/drawing/2014/main" id="{DB9F06C5-0775-4F0E-9A64-FF0A14CE3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2310765"/>
            <a:ext cx="9620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15375F"/>
                </a:solidFill>
              </a:defRPr>
            </a:pPr>
            <a:r>
              <a:rPr sz="1400" b="0">
                <a:solidFill>
                  <a:srgbClr val="15375F"/>
                </a:solidFill>
              </a:rPr>
              <a:t>12</a:t>
            </a:r>
          </a:p>
        </p:txBody>
      </p:sp>
      <p:sp>
        <p:nvSpPr>
          <p:cNvPr id="26" name="histogram-bin-4">
            <a:extLst xmlns:a="http://schemas.openxmlformats.org/drawingml/2006/main">
              <a:ext uri="{FF2B5EF4-FFF2-40B4-BE49-F238E27FC236}">
                <a16:creationId xmlns:a16="http://schemas.microsoft.com/office/drawing/2014/main" id="{DA913D33-4DF9-45F9-90A2-B37173CE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762500"/>
            <a:ext cx="1076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30–&lt;40</a:t>
            </a:r>
          </a:p>
        </p:txBody>
      </p:sp>
      <p:sp>
        <p:nvSpPr>
          <p:cNvPr id="27" name="histogram-bar-5">
            <a:extLst xmlns:a="http://schemas.openxmlformats.org/drawingml/2006/main">
              <a:ext uri="{FF2B5EF4-FFF2-40B4-BE49-F238E27FC236}">
                <a16:creationId xmlns:a16="http://schemas.microsoft.com/office/drawing/2014/main" id="{D173CA91-5BDB-4D04-96E8-C6FFB4A74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450590"/>
            <a:ext cx="923925" cy="12357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28" name="histogram-count-5">
            <a:extLst xmlns:a="http://schemas.openxmlformats.org/drawingml/2006/main">
              <a:ext uri="{FF2B5EF4-FFF2-40B4-BE49-F238E27FC236}">
                <a16:creationId xmlns:a16="http://schemas.microsoft.com/office/drawing/2014/main" id="{40A98FB0-851C-46E5-B912-2542344B0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193415"/>
            <a:ext cx="9620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15375F"/>
                </a:solidFill>
              </a:defRPr>
            </a:pPr>
            <a:r>
              <a:rPr sz="1400" b="0">
                <a:solidFill>
                  <a:srgbClr val="15375F"/>
                </a:solidFill>
              </a:rPr>
              <a:t>7</a:t>
            </a:r>
          </a:p>
        </p:txBody>
      </p:sp>
      <p:sp>
        <p:nvSpPr>
          <p:cNvPr id="29" name="histogram-bin-5">
            <a:extLst xmlns:a="http://schemas.openxmlformats.org/drawingml/2006/main">
              <a:ext uri="{FF2B5EF4-FFF2-40B4-BE49-F238E27FC236}">
                <a16:creationId xmlns:a16="http://schemas.microsoft.com/office/drawing/2014/main" id="{19B1E4A2-2477-4022-8D33-811AE9352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762500"/>
            <a:ext cx="1076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40–&lt;50</a:t>
            </a:r>
          </a:p>
        </p:txBody>
      </p:sp>
      <p:sp>
        <p:nvSpPr>
          <p:cNvPr id="30" name="histogram-bar-6">
            <a:extLst xmlns:a="http://schemas.openxmlformats.org/drawingml/2006/main">
              <a:ext uri="{FF2B5EF4-FFF2-40B4-BE49-F238E27FC236}">
                <a16:creationId xmlns:a16="http://schemas.microsoft.com/office/drawing/2014/main" id="{11F92D9E-5B64-4104-AD75-DF5036CD2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3980180"/>
            <a:ext cx="923925" cy="706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31" name="histogram-count-6">
            <a:extLst xmlns:a="http://schemas.openxmlformats.org/drawingml/2006/main">
              <a:ext uri="{FF2B5EF4-FFF2-40B4-BE49-F238E27FC236}">
                <a16:creationId xmlns:a16="http://schemas.microsoft.com/office/drawing/2014/main" id="{EEF7E194-C0D0-445C-A109-E9883F147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723005"/>
            <a:ext cx="9620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15375F"/>
                </a:solidFill>
              </a:defRPr>
            </a:pPr>
            <a:r>
              <a:rPr sz="1400" b="0">
                <a:solidFill>
                  <a:srgbClr val="15375F"/>
                </a:solidFill>
              </a:rPr>
              <a:t>4</a:t>
            </a:r>
          </a:p>
        </p:txBody>
      </p:sp>
      <p:sp>
        <p:nvSpPr>
          <p:cNvPr id="32" name="histogram-bin-6">
            <a:extLst xmlns:a="http://schemas.openxmlformats.org/drawingml/2006/main">
              <a:ext uri="{FF2B5EF4-FFF2-40B4-BE49-F238E27FC236}">
                <a16:creationId xmlns:a16="http://schemas.microsoft.com/office/drawing/2014/main" id="{FB594E7A-468E-497B-B3B1-BB4472B4D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4762500"/>
            <a:ext cx="1076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50–&lt;60</a:t>
            </a:r>
          </a:p>
        </p:txBody>
      </p:sp>
      <p:sp>
        <p:nvSpPr>
          <p:cNvPr id="33" name="histogram-bar-7">
            <a:extLst xmlns:a="http://schemas.openxmlformats.org/drawingml/2006/main">
              <a:ext uri="{FF2B5EF4-FFF2-40B4-BE49-F238E27FC236}">
                <a16:creationId xmlns:a16="http://schemas.microsoft.com/office/drawing/2014/main" id="{F0B43F9A-D631-4EB6-A4B3-451B2D451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509770"/>
            <a:ext cx="923925" cy="1765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34" name="histogram-count-7">
            <a:extLst xmlns:a="http://schemas.openxmlformats.org/drawingml/2006/main">
              <a:ext uri="{FF2B5EF4-FFF2-40B4-BE49-F238E27FC236}">
                <a16:creationId xmlns:a16="http://schemas.microsoft.com/office/drawing/2014/main" id="{EDD040CD-48B7-4A10-86C5-75A7777C4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252595"/>
            <a:ext cx="9620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15375F"/>
                </a:solidFill>
              </a:defRPr>
            </a:pPr>
            <a:r>
              <a:rPr sz="1400" b="0">
                <a:solidFill>
                  <a:srgbClr val="15375F"/>
                </a:solidFill>
              </a:rPr>
              <a:t>1</a:t>
            </a:r>
          </a:p>
        </p:txBody>
      </p:sp>
      <p:sp>
        <p:nvSpPr>
          <p:cNvPr id="35" name="histogram-bin-7">
            <a:extLst xmlns:a="http://schemas.openxmlformats.org/drawingml/2006/main">
              <a:ext uri="{FF2B5EF4-FFF2-40B4-BE49-F238E27FC236}">
                <a16:creationId xmlns:a16="http://schemas.microsoft.com/office/drawing/2014/main" id="{75FA8D7A-BF36-4901-B742-F53E7EF59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762500"/>
            <a:ext cx="1076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60–&lt;70</a:t>
            </a:r>
          </a:p>
        </p:txBody>
      </p:sp>
      <p:sp>
        <p:nvSpPr>
          <p:cNvPr id="36" name="histogram-bar-8">
            <a:extLst xmlns:a="http://schemas.openxmlformats.org/drawingml/2006/main">
              <a:ext uri="{FF2B5EF4-FFF2-40B4-BE49-F238E27FC236}">
                <a16:creationId xmlns:a16="http://schemas.microsoft.com/office/drawing/2014/main" id="{EE988D96-E2AB-4FD7-A3B7-4C4C730FC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4509770"/>
            <a:ext cx="923925" cy="1765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37" name="histogram-count-8">
            <a:extLst xmlns:a="http://schemas.openxmlformats.org/drawingml/2006/main">
              <a:ext uri="{FF2B5EF4-FFF2-40B4-BE49-F238E27FC236}">
                <a16:creationId xmlns:a16="http://schemas.microsoft.com/office/drawing/2014/main" id="{ED408CE6-9186-4783-AD10-C6180004E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4252595"/>
            <a:ext cx="9620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15375F"/>
                </a:solidFill>
              </a:defRPr>
            </a:pPr>
            <a:r>
              <a:rPr sz="1400" b="0">
                <a:solidFill>
                  <a:srgbClr val="15375F"/>
                </a:solidFill>
              </a:rPr>
              <a:t>1</a:t>
            </a:r>
          </a:p>
        </p:txBody>
      </p:sp>
      <p:sp>
        <p:nvSpPr>
          <p:cNvPr id="38" name="histogram-bin-8">
            <a:extLst xmlns:a="http://schemas.openxmlformats.org/drawingml/2006/main">
              <a:ext uri="{FF2B5EF4-FFF2-40B4-BE49-F238E27FC236}">
                <a16:creationId xmlns:a16="http://schemas.microsoft.com/office/drawing/2014/main" id="{EBE87441-2294-4E32-B9C9-9908A9988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4762500"/>
            <a:ext cx="1076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70–80</a:t>
            </a:r>
          </a:p>
        </p:txBody>
      </p:sp>
      <p:sp>
        <p:nvSpPr>
          <p:cNvPr id="39" name="histogram-x-title">
            <a:extLst xmlns:a="http://schemas.openxmlformats.org/drawingml/2006/main">
              <a:ext uri="{FF2B5EF4-FFF2-40B4-BE49-F238E27FC236}">
                <a16:creationId xmlns:a16="http://schemas.microsoft.com/office/drawing/2014/main" id="{7D6DE8E8-927D-42A1-B2AC-67609B517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086350"/>
            <a:ext cx="7391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15375F"/>
                </a:solidFill>
              </a:defRPr>
            </a:pPr>
            <a:r>
              <a:rPr sz="1400" b="1">
                <a:solidFill>
                  <a:srgbClr val="15375F"/>
                </a:solidFill>
              </a:rPr>
              <a:t>Anonymous transaction processing time (minutes)</a:t>
            </a:r>
          </a:p>
        </p:txBody>
      </p:sp>
      <p:sp>
        <p:nvSpPr>
          <p:cNvPr id="40" name="histogram-method">
            <a:extLst xmlns:a="http://schemas.openxmlformats.org/drawingml/2006/main">
              <a:ext uri="{FF2B5EF4-FFF2-40B4-BE49-F238E27FC236}">
                <a16:creationId xmlns:a16="http://schemas.microsoft.com/office/drawing/2014/main" id="{B4FE6651-7CD2-4F79-A8AF-B71042325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14950"/>
            <a:ext cx="815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sample 50, valid 48, missing 2; Closed on the left and open on the right, the last box contains the upper bound; Period:2026year7month</a:t>
            </a:r>
          </a:p>
        </p:txBody>
      </p:sp>
      <p:sp>
        <p:nvSpPr>
          <p:cNvPr id="41" name="Distribution interpretation-rail">
            <a:extLst xmlns:a="http://schemas.openxmlformats.org/drawingml/2006/main">
              <a:ext uri="{FF2B5EF4-FFF2-40B4-BE49-F238E27FC236}">
                <a16:creationId xmlns:a16="http://schemas.microsoft.com/office/drawing/2014/main" id="{E9AD712D-2C86-44F2-904C-C9E5360B5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219200"/>
            <a:ext cx="2381250" cy="443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42" name="Distribution interpretation-title">
            <a:extLst xmlns:a="http://schemas.openxmlformats.org/drawingml/2006/main">
              <a:ext uri="{FF2B5EF4-FFF2-40B4-BE49-F238E27FC236}">
                <a16:creationId xmlns:a16="http://schemas.microsoft.com/office/drawing/2014/main" id="{852CDA3B-43AE-4963-83AB-FFCC32786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3525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375F"/>
                </a:solidFill>
              </a:defRPr>
            </a:pPr>
            <a:r>
              <a:rPr sz="1800" b="1">
                <a:solidFill>
                  <a:srgbClr val="15375F"/>
                </a:solidFill>
              </a:rPr>
              <a:t>Distribution interpretation</a:t>
            </a:r>
          </a:p>
        </p:txBody>
      </p:sp>
      <p:sp>
        <p:nvSpPr>
          <p:cNvPr id="43" name="Distribution interpretation-item-1">
            <a:extLst xmlns:a="http://schemas.openxmlformats.org/drawingml/2006/main">
              <a:ext uri="{FF2B5EF4-FFF2-40B4-BE49-F238E27FC236}">
                <a16:creationId xmlns:a16="http://schemas.microsoft.com/office/drawing/2014/main" id="{5CCDCBD2-1F3E-4E18-AF6E-CC300E271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790700"/>
            <a:ext cx="2076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E8872D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20–40minutes include26valid samples, accounting for54.2%</a:t>
            </a:r>
          </a:p>
        </p:txBody>
      </p:sp>
      <p:sp>
        <p:nvSpPr>
          <p:cNvPr id="44" name="Distribution interpretation-item-2">
            <a:extLst xmlns:a="http://schemas.openxmlformats.org/drawingml/2006/main">
              <a:ext uri="{FF2B5EF4-FFF2-40B4-BE49-F238E27FC236}">
                <a16:creationId xmlns:a16="http://schemas.microsoft.com/office/drawing/2014/main" id="{DB9FCD1E-531D-4765-9815-9605CD71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952750"/>
            <a:ext cx="2076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60minutes and above only2one, accounting for4.2%, but forms a long tail on the right</a:t>
            </a:r>
          </a:p>
        </p:txBody>
      </p:sp>
      <p:sp>
        <p:nvSpPr>
          <p:cNvPr id="45" name="Distribution interpretation-item-3">
            <a:extLst xmlns:a="http://schemas.openxmlformats.org/drawingml/2006/main">
              <a:ext uri="{FF2B5EF4-FFF2-40B4-BE49-F238E27FC236}">
                <a16:creationId xmlns:a16="http://schemas.microsoft.com/office/drawing/2014/main" id="{DA3F6BDF-F298-4744-8A8A-831F744BB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114800"/>
            <a:ext cx="2076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20–30minutes is the peak interval (14)</a:t>
            </a:r>
          </a:p>
        </p:txBody>
      </p:sp>
      <p:sp>
        <p:nvSpPr>
          <p:cNvPr id="46" name="bottom-conclusion">
            <a:extLst xmlns:a="http://schemas.openxmlformats.org/drawingml/2006/main">
              <a:ext uri="{FF2B5EF4-FFF2-40B4-BE49-F238E27FC236}">
                <a16:creationId xmlns:a16="http://schemas.microsoft.com/office/drawing/2014/main" id="{A8BAC52C-EA7D-44C9-BABC-F97949CB3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43600"/>
            <a:ext cx="11163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12383">
            <a:solidFill>
              <a:srgbClr val="E8872D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5375F"/>
                </a:solidFill>
              </a:defRPr>
            </a:pPr>
            <a:r>
              <a:rPr sz="1800" b="1">
                <a:solidFill>
                  <a:srgbClr val="15375F"/>
                </a:solidFill>
              </a:rPr>
              <a:t>The processing time is mainly concentrated in20–40minutes, the long tail on the right extends to80minutes</a:t>
            </a:r>
          </a:p>
        </p:txBody>
      </p:sp>
    </p:spTree>
    <p:extLst>
      <p:ext uri="{BB962C8B-B14F-4D97-AF65-F5344CB8AC3E}">
        <p14:creationId xmlns:p14="http://schemas.microsoft.com/office/powerpoint/2010/main" val="26557276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2026-08-08T16:21:55.1830000Z</dcterms:created>
  <dcterms:modified xsi:type="dcterms:W3CDTF">2026-08-08T16:21:55.1830000Z</dcterms:modified>
</coreProperties>
</file>