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b47c8a203446f" /><Relationship Type="http://schemas.openxmlformats.org/officeDocument/2006/relationships/extended-properties" Target="/docProps/app.xml" Id="Rba6876bd4b9149ab" /><Relationship Type="http://schemas.openxmlformats.org/officeDocument/2006/relationships/officeDocument" Target="/ppt/presentation.xml" Id="R78eaadf83ec6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cfc3697044238"/>
  </p:sldMasterIdLst>
  <p:notesMasterIdLst>
    <p:notesMasterId xmlns:r="http://schemas.openxmlformats.org/officeDocument/2006/relationships" r:id="Rb40c3d7e68c645f7"/>
  </p:notesMasterIdLst>
  <p:sldIdLst>
    <p:sldId xmlns:r="http://schemas.openxmlformats.org/officeDocument/2006/relationships" id="256" r:id="R6ab8d1e5142444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ffd1a2cbb4eba" /><Relationship Type="http://schemas.openxmlformats.org/officeDocument/2006/relationships/slideMaster" Target="/ppt/slideMasters/slideMaster1.xml" Id="R73fcfc3697044238" /><Relationship Type="http://schemas.openxmlformats.org/officeDocument/2006/relationships/notesMaster" Target="/ppt/notesMasters/notesMaster1.xml" Id="Rb40c3d7e68c645f7" /><Relationship Type="http://schemas.openxmlformats.org/officeDocument/2006/relationships/presProps" Target="/ppt/presProps.xml" Id="R7217cc5dd6f64968" /><Relationship Type="http://schemas.openxmlformats.org/officeDocument/2006/relationships/tableStyles" Target="/ppt/tableStyles.xml" Id="Re2dccae72e1e43a5" /><Relationship Type="http://schemas.openxmlformats.org/officeDocument/2006/relationships/slide" Target="/ppt/slides/slide1.xml" Id="R6ab8d1e51424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cdf7c61e448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7533c60bc4e7c" /><Relationship Type="http://schemas.openxmlformats.org/officeDocument/2006/relationships/notesMaster" Target="/ppt/notesMasters/notesMaster1.xml" Id="Ra0c101c94836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ad8f30c14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3a19524b242e6" /><Relationship Type="http://schemas.openxmlformats.org/officeDocument/2006/relationships/slideLayout" Target="/ppt/slideLayouts/slideLayout1.xml" Id="R0ef5ee2074bb48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5ee2074bb48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49ebbcd934866" /><Relationship Type="http://schemas.openxmlformats.org/officeDocument/2006/relationships/notesSlide" Target="/ppt/notesSlides/notesSlide1.xml" Id="Rf0ea40ea609b4d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age-title">
            <a:extLst xmlns:a="http://schemas.openxmlformats.org/drawingml/2006/main">
              <a:ext uri="{FF2B5EF4-FFF2-40B4-BE49-F238E27FC236}">
                <a16:creationId xmlns:a16="http://schemas.microsoft.com/office/drawing/2014/main" id="{297297CF-C9EF-46D9-A343-B35FD858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5375F"/>
                </a:solidFill>
              </a:defRPr>
            </a:pPr>
            <a:r>
              <a:rPr sz="2600" b="1">
                <a:solidFill>
                  <a:srgbClr val="15375F"/>
                </a:solidFill>
              </a:rPr>
              <a:t>中心估计总体上行，但2025年四季度和2026年三季度的不确定性明显扩大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838F9E2-BDA9-4E44-8145-EBDD69CB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  <p:sp>
        <p:nvSpPr>
          <p:cNvPr id="3" name="interval-chart-frame">
            <a:extLst xmlns:a="http://schemas.openxmlformats.org/drawingml/2006/main">
              <a:ext uri="{FF2B5EF4-FFF2-40B4-BE49-F238E27FC236}">
                <a16:creationId xmlns:a16="http://schemas.microsoft.com/office/drawing/2014/main" id="{FBFBFAC7-1C18-48DD-92CD-2ACAA3E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2296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A3250911-AF93-493E-A042-5814557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匿名服务完成率（%）</a:t>
            </a:r>
          </a:p>
        </p:txBody>
      </p:sp>
      <p:sp>
        <p:nvSpPr>
          <p:cNvPr id="5" name="interval-definition">
            <a:extLst xmlns:a="http://schemas.openxmlformats.org/drawingml/2006/main">
              <a:ext uri="{FF2B5EF4-FFF2-40B4-BE49-F238E27FC236}">
                <a16:creationId xmlns:a16="http://schemas.microsoft.com/office/drawing/2014/main" id="{F49AEEE1-8543-4E21-B147-6354B19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F6FB2"/>
                </a:solidFill>
              </a:defRPr>
            </a:pPr>
            <a:r>
              <a:rPr sz="1400" b="0">
                <a:solidFill>
                  <a:srgbClr val="2F6FB2"/>
                </a:solidFill>
              </a:rPr>
              <a:t>95% bootstrap置信区间</a:t>
            </a:r>
          </a:p>
        </p:txBody>
      </p:sp>
      <p:sp>
        <p:nvSpPr>
          <p:cNvPr id="6" name="sample-definition">
            <a:extLst xmlns:a="http://schemas.openxmlformats.org/drawingml/2006/main">
              <a:ext uri="{FF2B5EF4-FFF2-40B4-BE49-F238E27FC236}">
                <a16:creationId xmlns:a16="http://schemas.microsoft.com/office/drawing/2014/main" id="{9339E3F2-B615-4E15-B323-69D86B7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335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样本：当季匿名有效样本</a:t>
            </a:r>
          </a:p>
        </p:txBody>
      </p:sp>
      <p:sp>
        <p:nvSpPr>
          <p:cNvPr id="7" name="grid-0">
            <a:extLst xmlns:a="http://schemas.openxmlformats.org/drawingml/2006/main">
              <a:ext uri="{FF2B5EF4-FFF2-40B4-BE49-F238E27FC236}">
                <a16:creationId xmlns:a16="http://schemas.microsoft.com/office/drawing/2014/main" id="{9F3AA841-DD18-453D-BDD8-0ADF4192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8" name="y-label-0">
            <a:extLst xmlns:a="http://schemas.openxmlformats.org/drawingml/2006/main">
              <a:ext uri="{FF2B5EF4-FFF2-40B4-BE49-F238E27FC236}">
                <a16:creationId xmlns:a16="http://schemas.microsoft.com/office/drawing/2014/main" id="{5CEDEEB1-36A3-45E1-9E5D-C87C9E87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4.4</a:t>
            </a:r>
          </a:p>
        </p:txBody>
      </p:sp>
      <p:sp>
        <p:nvSpPr>
          <p:cNvPr id="9" name="grid-1">
            <a:extLst xmlns:a="http://schemas.openxmlformats.org/drawingml/2006/main">
              <a:ext uri="{FF2B5EF4-FFF2-40B4-BE49-F238E27FC236}">
                <a16:creationId xmlns:a16="http://schemas.microsoft.com/office/drawing/2014/main" id="{39770B59-1D1B-4D2F-BCAB-1426B6E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0" name="y-label-1">
            <a:extLst xmlns:a="http://schemas.openxmlformats.org/drawingml/2006/main">
              <a:ext uri="{FF2B5EF4-FFF2-40B4-BE49-F238E27FC236}">
                <a16:creationId xmlns:a16="http://schemas.microsoft.com/office/drawing/2014/main" id="{31CCB3A1-4826-4B5D-8459-92EFDD9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5.3</a:t>
            </a:r>
          </a:p>
        </p:txBody>
      </p:sp>
      <p:sp>
        <p:nvSpPr>
          <p:cNvPr id="11" name="grid-2">
            <a:extLst xmlns:a="http://schemas.openxmlformats.org/drawingml/2006/main">
              <a:ext uri="{FF2B5EF4-FFF2-40B4-BE49-F238E27FC236}">
                <a16:creationId xmlns:a16="http://schemas.microsoft.com/office/drawing/2014/main" id="{82F65320-876F-4C71-8000-C05C1281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2" name="y-label-2">
            <a:extLst xmlns:a="http://schemas.openxmlformats.org/drawingml/2006/main">
              <a:ext uri="{FF2B5EF4-FFF2-40B4-BE49-F238E27FC236}">
                <a16:creationId xmlns:a16="http://schemas.microsoft.com/office/drawing/2014/main" id="{27DA2496-7BCA-46C0-BBA3-47AD30FA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6.1</a:t>
            </a:r>
          </a:p>
        </p:txBody>
      </p:sp>
      <p:sp>
        <p:nvSpPr>
          <p:cNvPr id="13" name="grid-3">
            <a:extLst xmlns:a="http://schemas.openxmlformats.org/drawingml/2006/main">
              <a:ext uri="{FF2B5EF4-FFF2-40B4-BE49-F238E27FC236}">
                <a16:creationId xmlns:a16="http://schemas.microsoft.com/office/drawing/2014/main" id="{47FE856C-98FC-437C-9DD4-61AFAA12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6222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4" name="y-label-3">
            <a:extLst xmlns:a="http://schemas.openxmlformats.org/drawingml/2006/main">
              <a:ext uri="{FF2B5EF4-FFF2-40B4-BE49-F238E27FC236}">
                <a16:creationId xmlns:a16="http://schemas.microsoft.com/office/drawing/2014/main" id="{1A537E97-A020-433F-82AD-ED4DE47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6.9</a:t>
            </a:r>
          </a:p>
        </p:txBody>
      </p:sp>
      <p:sp>
        <p:nvSpPr>
          <p:cNvPr id="15" name="grid-4">
            <a:extLst xmlns:a="http://schemas.openxmlformats.org/drawingml/2006/main">
              <a:ext uri="{FF2B5EF4-FFF2-40B4-BE49-F238E27FC236}">
                <a16:creationId xmlns:a16="http://schemas.microsoft.com/office/drawing/2014/main" id="{2855890D-B38D-4D0D-8905-F12DBBC7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dash"/>
          </a:ln>
        </p:spPr>
      </p:sp>
      <p:sp>
        <p:nvSpPr>
          <p:cNvPr id="16" name="y-label-4">
            <a:extLst xmlns:a="http://schemas.openxmlformats.org/drawingml/2006/main">
              <a:ext uri="{FF2B5EF4-FFF2-40B4-BE49-F238E27FC236}">
                <a16:creationId xmlns:a16="http://schemas.microsoft.com/office/drawing/2014/main" id="{5BA62C2C-1AC7-44E3-AE87-29409490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7.8</a:t>
            </a:r>
          </a:p>
        </p:txBody>
      </p:sp>
      <p:sp>
        <p:nvSpPr>
          <p:cNvPr id="17" name="interval-band-1">
            <a:extLst xmlns:a="http://schemas.openxmlformats.org/drawingml/2006/main">
              <a:ext uri="{FF2B5EF4-FFF2-40B4-BE49-F238E27FC236}">
                <a16:creationId xmlns:a16="http://schemas.microsoft.com/office/drawing/2014/main" id="{607D36F1-4617-4783-865C-4946D785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1039586" cy="1086445"/>
          </a:xfrm>
          <a:custGeom xmlns:a="http://schemas.openxmlformats.org/drawingml/2006/main">
            <a:pathLst>
              <a:path w="1039586" h="1086445">
                <a:moveTo>
                  <a:pt x="0" y="417864"/>
                </a:moveTo>
                <a:lnTo>
                  <a:pt x="1039586" y="0"/>
                </a:lnTo>
                <a:lnTo>
                  <a:pt x="1039586" y="835727"/>
                </a:lnTo>
                <a:lnTo>
                  <a:pt x="0" y="1086445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18" name="estimate-line-1">
            <a:extLst xmlns:a="http://schemas.openxmlformats.org/drawingml/2006/main">
              <a:ext uri="{FF2B5EF4-FFF2-40B4-BE49-F238E27FC236}">
                <a16:creationId xmlns:a16="http://schemas.microsoft.com/office/drawing/2014/main" id="{986AE66C-4DD8-43FF-BBA4-EE500329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81100" y="3675414"/>
            <a:ext cx="1039586" cy="334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19" name="interval-band-2">
            <a:extLst xmlns:a="http://schemas.openxmlformats.org/drawingml/2006/main">
              <a:ext uri="{FF2B5EF4-FFF2-40B4-BE49-F238E27FC236}">
                <a16:creationId xmlns:a16="http://schemas.microsoft.com/office/drawing/2014/main" id="{DD97D9EB-B5FA-4799-AF83-1C4BDEF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2923259"/>
            <a:ext cx="1039586" cy="1170018"/>
          </a:xfrm>
          <a:custGeom xmlns:a="http://schemas.openxmlformats.org/drawingml/2006/main">
            <a:pathLst>
              <a:path w="1039586" h="1170018">
                <a:moveTo>
                  <a:pt x="0" y="334291"/>
                </a:moveTo>
                <a:lnTo>
                  <a:pt x="1039586" y="0"/>
                </a:lnTo>
                <a:lnTo>
                  <a:pt x="1039586" y="1002873"/>
                </a:lnTo>
                <a:lnTo>
                  <a:pt x="0" y="1170018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20" name="estimate-line-2">
            <a:extLst xmlns:a="http://schemas.openxmlformats.org/drawingml/2006/main">
              <a:ext uri="{FF2B5EF4-FFF2-40B4-BE49-F238E27FC236}">
                <a16:creationId xmlns:a16="http://schemas.microsoft.com/office/drawing/2014/main" id="{CDADE3FB-3D59-498E-8B19-9B263BD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20686" y="3424695"/>
            <a:ext cx="1039586" cy="250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21" name="interval-band-3">
            <a:extLst xmlns:a="http://schemas.openxmlformats.org/drawingml/2006/main">
              <a:ext uri="{FF2B5EF4-FFF2-40B4-BE49-F238E27FC236}">
                <a16:creationId xmlns:a16="http://schemas.microsoft.com/office/drawing/2014/main" id="{AAACB039-39DA-4ACB-A0DA-D768DE92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271" y="2505396"/>
            <a:ext cx="1039586" cy="1420736"/>
          </a:xfrm>
          <a:custGeom xmlns:a="http://schemas.openxmlformats.org/drawingml/2006/main">
            <a:pathLst>
              <a:path w="1039586" h="1420736">
                <a:moveTo>
                  <a:pt x="0" y="417864"/>
                </a:moveTo>
                <a:lnTo>
                  <a:pt x="1039586" y="0"/>
                </a:lnTo>
                <a:lnTo>
                  <a:pt x="1039586" y="1337163"/>
                </a:lnTo>
                <a:lnTo>
                  <a:pt x="0" y="1420736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22" name="estimate-line-3">
            <a:extLst xmlns:a="http://schemas.openxmlformats.org/drawingml/2006/main">
              <a:ext uri="{FF2B5EF4-FFF2-40B4-BE49-F238E27FC236}">
                <a16:creationId xmlns:a16="http://schemas.microsoft.com/office/drawing/2014/main" id="{E5AD1A8A-CBF2-45A7-B28B-213EF4F6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0271" y="3173977"/>
            <a:ext cx="1039586" cy="250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23" name="interval-band-4">
            <a:extLst xmlns:a="http://schemas.openxmlformats.org/drawingml/2006/main">
              <a:ext uri="{FF2B5EF4-FFF2-40B4-BE49-F238E27FC236}">
                <a16:creationId xmlns:a16="http://schemas.microsoft.com/office/drawing/2014/main" id="{CA8668CF-F6A6-474C-A7C5-87348668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857" y="2421823"/>
            <a:ext cx="1039586" cy="1420736"/>
          </a:xfrm>
          <a:custGeom xmlns:a="http://schemas.openxmlformats.org/drawingml/2006/main">
            <a:pathLst>
              <a:path w="1039586" h="1420736">
                <a:moveTo>
                  <a:pt x="0" y="83573"/>
                </a:moveTo>
                <a:lnTo>
                  <a:pt x="1039586" y="0"/>
                </a:lnTo>
                <a:lnTo>
                  <a:pt x="1039586" y="1002873"/>
                </a:lnTo>
                <a:lnTo>
                  <a:pt x="0" y="1420736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24" name="estimate-line-4">
            <a:extLst xmlns:a="http://schemas.openxmlformats.org/drawingml/2006/main">
              <a:ext uri="{FF2B5EF4-FFF2-40B4-BE49-F238E27FC236}">
                <a16:creationId xmlns:a16="http://schemas.microsoft.com/office/drawing/2014/main" id="{1EE68F06-C0E7-4FF7-A9D3-3E7E597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99857" y="2923259"/>
            <a:ext cx="1039586" cy="250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25" name="interval-band-5">
            <a:extLst xmlns:a="http://schemas.openxmlformats.org/drawingml/2006/main">
              <a:ext uri="{FF2B5EF4-FFF2-40B4-BE49-F238E27FC236}">
                <a16:creationId xmlns:a16="http://schemas.microsoft.com/office/drawing/2014/main" id="{6EA15EEE-C8DB-419F-846B-A34C8772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443" y="2254677"/>
            <a:ext cx="1039586" cy="1170018"/>
          </a:xfrm>
          <a:custGeom xmlns:a="http://schemas.openxmlformats.org/drawingml/2006/main">
            <a:pathLst>
              <a:path w="1039586" h="1170018">
                <a:moveTo>
                  <a:pt x="0" y="167145"/>
                </a:moveTo>
                <a:lnTo>
                  <a:pt x="1039586" y="0"/>
                </a:lnTo>
                <a:lnTo>
                  <a:pt x="1039586" y="1002873"/>
                </a:lnTo>
                <a:lnTo>
                  <a:pt x="0" y="1170018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26" name="estimate-line-5">
            <a:extLst xmlns:a="http://schemas.openxmlformats.org/drawingml/2006/main">
              <a:ext uri="{FF2B5EF4-FFF2-40B4-BE49-F238E27FC236}">
                <a16:creationId xmlns:a16="http://schemas.microsoft.com/office/drawing/2014/main" id="{1E503C40-86EF-4EDA-976B-E9721DED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9443" y="2756114"/>
            <a:ext cx="1039586" cy="16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27" name="interval-band-6">
            <a:extLst xmlns:a="http://schemas.openxmlformats.org/drawingml/2006/main">
              <a:ext uri="{FF2B5EF4-FFF2-40B4-BE49-F238E27FC236}">
                <a16:creationId xmlns:a16="http://schemas.microsoft.com/office/drawing/2014/main" id="{48F80506-E62E-48CD-BBCD-9B505DE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029" y="2254677"/>
            <a:ext cx="1039586" cy="1337163"/>
          </a:xfrm>
          <a:custGeom xmlns:a="http://schemas.openxmlformats.org/drawingml/2006/main">
            <a:pathLst>
              <a:path w="1039586" h="1337163">
                <a:moveTo>
                  <a:pt x="0" y="0"/>
                </a:moveTo>
                <a:lnTo>
                  <a:pt x="1039586" y="167145"/>
                </a:lnTo>
                <a:lnTo>
                  <a:pt x="1039586" y="1337163"/>
                </a:lnTo>
                <a:lnTo>
                  <a:pt x="0" y="1002873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28" name="estimate-line-6">
            <a:extLst xmlns:a="http://schemas.openxmlformats.org/drawingml/2006/main">
              <a:ext uri="{FF2B5EF4-FFF2-40B4-BE49-F238E27FC236}">
                <a16:creationId xmlns:a16="http://schemas.microsoft.com/office/drawing/2014/main" id="{BC8BED37-C9CA-4FAF-AFFD-CCC488DF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029" y="2756114"/>
            <a:ext cx="1039586" cy="250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29" name="interval-band-7">
            <a:extLst xmlns:a="http://schemas.openxmlformats.org/drawingml/2006/main">
              <a:ext uri="{FF2B5EF4-FFF2-40B4-BE49-F238E27FC236}">
                <a16:creationId xmlns:a16="http://schemas.microsoft.com/office/drawing/2014/main" id="{EE7D4992-0B29-4ED7-ADEA-B2765F66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614" y="2171105"/>
            <a:ext cx="1039586" cy="1420736"/>
          </a:xfrm>
          <a:custGeom xmlns:a="http://schemas.openxmlformats.org/drawingml/2006/main">
            <a:pathLst>
              <a:path w="1039586" h="1420736">
                <a:moveTo>
                  <a:pt x="0" y="250718"/>
                </a:moveTo>
                <a:lnTo>
                  <a:pt x="1039586" y="0"/>
                </a:lnTo>
                <a:lnTo>
                  <a:pt x="1039586" y="1002873"/>
                </a:lnTo>
                <a:lnTo>
                  <a:pt x="0" y="1420736"/>
                </a:lnTo>
                <a:close/>
              </a:path>
            </a:pathLst>
          </a:custGeom>
          <a:solidFill xmlns:a="http://schemas.openxmlformats.org/drawingml/2006/main">
            <a:srgbClr val="2F6FB2">
              <a:alpha val="24000"/>
            </a:srgbClr>
          </a:solidFill>
          <a:ln xmlns:a="http://schemas.openxmlformats.org/drawingml/2006/main" w="7620">
            <a:solidFill>
              <a:srgbClr val="2F6FB2">
                <a:alpha val="55000"/>
              </a:srgbClr>
            </a:solidFill>
            <a:prstDash val="solid"/>
          </a:ln>
        </p:spPr>
      </p:sp>
      <p:sp>
        <p:nvSpPr>
          <p:cNvPr id="30" name="estimate-line-7">
            <a:extLst xmlns:a="http://schemas.openxmlformats.org/drawingml/2006/main">
              <a:ext uri="{FF2B5EF4-FFF2-40B4-BE49-F238E27FC236}">
                <a16:creationId xmlns:a16="http://schemas.microsoft.com/office/drawing/2014/main" id="{E95177D6-659C-4508-8A7D-F2B40441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18614" y="2672541"/>
            <a:ext cx="1039586" cy="334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5375F"/>
            </a:solidFill>
            <a:prstDash val="solid"/>
          </a:ln>
        </p:spPr>
      </p:sp>
      <p:sp>
        <p:nvSpPr>
          <p:cNvPr id="31" name="threshold-line">
            <a:extLst xmlns:a="http://schemas.openxmlformats.org/drawingml/2006/main">
              <a:ext uri="{FF2B5EF4-FFF2-40B4-BE49-F238E27FC236}">
                <a16:creationId xmlns:a16="http://schemas.microsoft.com/office/drawing/2014/main" id="{6E9E220F-DA0E-40D4-904D-679FFBAE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41123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dash"/>
          </a:ln>
        </p:spPr>
      </p:sp>
      <p:sp>
        <p:nvSpPr>
          <p:cNvPr id="32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C0B3B07B-5B27-4134-B499-615E774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74423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关注阈值 6%</a:t>
            </a:r>
          </a:p>
        </p:txBody>
      </p:sp>
      <p:sp>
        <p:nvSpPr>
          <p:cNvPr id="33" name="x-tick-1">
            <a:extLst xmlns:a="http://schemas.openxmlformats.org/drawingml/2006/main">
              <a:ext uri="{FF2B5EF4-FFF2-40B4-BE49-F238E27FC236}">
                <a16:creationId xmlns:a16="http://schemas.microsoft.com/office/drawing/2014/main" id="{98C07CC2-4F29-4C98-A4BD-765A103A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34" name="x-label-1">
            <a:extLst xmlns:a="http://schemas.openxmlformats.org/drawingml/2006/main">
              <a:ext uri="{FF2B5EF4-FFF2-40B4-BE49-F238E27FC236}">
                <a16:creationId xmlns:a16="http://schemas.microsoft.com/office/drawing/2014/main" id="{C4090103-8881-43D6-9913-FB8F1B27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2025Q1</a:t>
            </a:r>
          </a:p>
        </p:txBody>
      </p:sp>
      <p:sp>
        <p:nvSpPr>
          <p:cNvPr id="35" name="estimate-point-1">
            <a:extLst xmlns:a="http://schemas.openxmlformats.org/drawingml/2006/main">
              <a:ext uri="{FF2B5EF4-FFF2-40B4-BE49-F238E27FC236}">
                <a16:creationId xmlns:a16="http://schemas.microsoft.com/office/drawing/2014/main" id="{5C90A97C-F10E-489E-980D-3B0AF5E9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6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36" name="estimate-label-1">
            <a:extLst xmlns:a="http://schemas.openxmlformats.org/drawingml/2006/main">
              <a:ext uri="{FF2B5EF4-FFF2-40B4-BE49-F238E27FC236}">
                <a16:creationId xmlns:a16="http://schemas.microsoft.com/office/drawing/2014/main" id="{5700D4BF-00BC-400E-8D7B-CDE246E8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004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5.2</a:t>
            </a:r>
          </a:p>
        </p:txBody>
      </p:sp>
      <p:sp>
        <p:nvSpPr>
          <p:cNvPr id="37" name="x-tick-2">
            <a:extLst xmlns:a="http://schemas.openxmlformats.org/drawingml/2006/main">
              <a:ext uri="{FF2B5EF4-FFF2-40B4-BE49-F238E27FC236}">
                <a16:creationId xmlns:a16="http://schemas.microsoft.com/office/drawing/2014/main" id="{96022567-ECF4-4928-AAA0-9FA517B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38" name="x-label-2">
            <a:extLst xmlns:a="http://schemas.openxmlformats.org/drawingml/2006/main">
              <a:ext uri="{FF2B5EF4-FFF2-40B4-BE49-F238E27FC236}">
                <a16:creationId xmlns:a16="http://schemas.microsoft.com/office/drawing/2014/main" id="{6B1A8FFF-F353-4287-BFE8-ECF4443F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736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2025Q2</a:t>
            </a:r>
          </a:p>
        </p:txBody>
      </p:sp>
      <p:sp>
        <p:nvSpPr>
          <p:cNvPr id="39" name="estimate-point-2">
            <a:extLst xmlns:a="http://schemas.openxmlformats.org/drawingml/2006/main">
              <a:ext uri="{FF2B5EF4-FFF2-40B4-BE49-F238E27FC236}">
                <a16:creationId xmlns:a16="http://schemas.microsoft.com/office/drawing/2014/main" id="{1C9E5B76-9624-42A0-AAA8-9DF1274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586" y="36373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40" name="estimate-label-2">
            <a:extLst xmlns:a="http://schemas.openxmlformats.org/drawingml/2006/main">
              <a:ext uri="{FF2B5EF4-FFF2-40B4-BE49-F238E27FC236}">
                <a16:creationId xmlns:a16="http://schemas.microsoft.com/office/drawing/2014/main" id="{8AAC74E6-7B26-42A6-94EB-3F89D66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986" y="3408714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5.6</a:t>
            </a:r>
          </a:p>
        </p:txBody>
      </p:sp>
      <p:sp>
        <p:nvSpPr>
          <p:cNvPr id="41" name="x-tick-3">
            <a:extLst xmlns:a="http://schemas.openxmlformats.org/drawingml/2006/main">
              <a:ext uri="{FF2B5EF4-FFF2-40B4-BE49-F238E27FC236}">
                <a16:creationId xmlns:a16="http://schemas.microsoft.com/office/drawing/2014/main" id="{61433CC9-45F1-4522-8553-FCC0C2D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271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42" name="x-label-3">
            <a:extLst xmlns:a="http://schemas.openxmlformats.org/drawingml/2006/main">
              <a:ext uri="{FF2B5EF4-FFF2-40B4-BE49-F238E27FC236}">
                <a16:creationId xmlns:a16="http://schemas.microsoft.com/office/drawing/2014/main" id="{02BA918F-C72E-4B93-9DAC-D7B5012D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321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2025Q3</a:t>
            </a:r>
          </a:p>
        </p:txBody>
      </p:sp>
      <p:sp>
        <p:nvSpPr>
          <p:cNvPr id="43" name="estimate-point-3">
            <a:extLst xmlns:a="http://schemas.openxmlformats.org/drawingml/2006/main">
              <a:ext uri="{FF2B5EF4-FFF2-40B4-BE49-F238E27FC236}">
                <a16:creationId xmlns:a16="http://schemas.microsoft.com/office/drawing/2014/main" id="{8FAF57AF-2598-4E4C-AFCB-7BED999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171" y="33865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44" name="estimate-label-3">
            <a:extLst xmlns:a="http://schemas.openxmlformats.org/drawingml/2006/main">
              <a:ext uri="{FF2B5EF4-FFF2-40B4-BE49-F238E27FC236}">
                <a16:creationId xmlns:a16="http://schemas.microsoft.com/office/drawing/2014/main" id="{22B49587-01A5-461B-AD38-CF77E0C4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71" y="315799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5.9</a:t>
            </a:r>
          </a:p>
        </p:txBody>
      </p:sp>
      <p:sp>
        <p:nvSpPr>
          <p:cNvPr id="45" name="x-tick-4">
            <a:extLst xmlns:a="http://schemas.openxmlformats.org/drawingml/2006/main">
              <a:ext uri="{FF2B5EF4-FFF2-40B4-BE49-F238E27FC236}">
                <a16:creationId xmlns:a16="http://schemas.microsoft.com/office/drawing/2014/main" id="{6FF91CA4-00EC-4DEB-BE07-39803D9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857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46" name="x-label-4">
            <a:extLst xmlns:a="http://schemas.openxmlformats.org/drawingml/2006/main">
              <a:ext uri="{FF2B5EF4-FFF2-40B4-BE49-F238E27FC236}">
                <a16:creationId xmlns:a16="http://schemas.microsoft.com/office/drawing/2014/main" id="{0F367FE0-DAC7-425A-8972-CFFE0726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907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2025Q4</a:t>
            </a:r>
          </a:p>
        </p:txBody>
      </p:sp>
      <p:sp>
        <p:nvSpPr>
          <p:cNvPr id="47" name="estimate-point-4">
            <a:extLst xmlns:a="http://schemas.openxmlformats.org/drawingml/2006/main">
              <a:ext uri="{FF2B5EF4-FFF2-40B4-BE49-F238E27FC236}">
                <a16:creationId xmlns:a16="http://schemas.microsoft.com/office/drawing/2014/main" id="{161003FB-3698-4130-BC73-70A3E39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757" y="313587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48" name="estimate-label-4">
            <a:extLst xmlns:a="http://schemas.openxmlformats.org/drawingml/2006/main">
              <a:ext uri="{FF2B5EF4-FFF2-40B4-BE49-F238E27FC236}">
                <a16:creationId xmlns:a16="http://schemas.microsoft.com/office/drawing/2014/main" id="{F364DFD7-490B-4F75-ABB0-730CCB5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157" y="2907277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6.2</a:t>
            </a:r>
          </a:p>
        </p:txBody>
      </p:sp>
      <p:sp>
        <p:nvSpPr>
          <p:cNvPr id="49" name="x-tick-5">
            <a:extLst xmlns:a="http://schemas.openxmlformats.org/drawingml/2006/main">
              <a:ext uri="{FF2B5EF4-FFF2-40B4-BE49-F238E27FC236}">
                <a16:creationId xmlns:a16="http://schemas.microsoft.com/office/drawing/2014/main" id="{195A07E8-8B10-4CE2-87EC-E32BDB1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443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50" name="x-label-5">
            <a:extLst xmlns:a="http://schemas.openxmlformats.org/drawingml/2006/main">
              <a:ext uri="{FF2B5EF4-FFF2-40B4-BE49-F238E27FC236}">
                <a16:creationId xmlns:a16="http://schemas.microsoft.com/office/drawing/2014/main" id="{C45069C3-460D-4213-BAC5-309206F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493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2026Q1</a:t>
            </a:r>
          </a:p>
        </p:txBody>
      </p:sp>
      <p:sp>
        <p:nvSpPr>
          <p:cNvPr id="51" name="estimate-point-5">
            <a:extLst xmlns:a="http://schemas.openxmlformats.org/drawingml/2006/main">
              <a:ext uri="{FF2B5EF4-FFF2-40B4-BE49-F238E27FC236}">
                <a16:creationId xmlns:a16="http://schemas.microsoft.com/office/drawing/2014/main" id="{1DE28D2F-6AF8-45D6-B82E-A5EBD42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343" y="28851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52" name="estimate-label-5">
            <a:extLst xmlns:a="http://schemas.openxmlformats.org/drawingml/2006/main">
              <a:ext uri="{FF2B5EF4-FFF2-40B4-BE49-F238E27FC236}">
                <a16:creationId xmlns:a16="http://schemas.microsoft.com/office/drawing/2014/main" id="{4536A974-49B3-4200-A988-39675C9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43" y="2656559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6.5</a:t>
            </a:r>
          </a:p>
        </p:txBody>
      </p:sp>
      <p:sp>
        <p:nvSpPr>
          <p:cNvPr id="53" name="x-tick-6">
            <a:extLst xmlns:a="http://schemas.openxmlformats.org/drawingml/2006/main">
              <a:ext uri="{FF2B5EF4-FFF2-40B4-BE49-F238E27FC236}">
                <a16:creationId xmlns:a16="http://schemas.microsoft.com/office/drawing/2014/main" id="{668FC929-88EA-4730-807B-77098C33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029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54" name="x-label-6">
            <a:extLst xmlns:a="http://schemas.openxmlformats.org/drawingml/2006/main">
              <a:ext uri="{FF2B5EF4-FFF2-40B4-BE49-F238E27FC236}">
                <a16:creationId xmlns:a16="http://schemas.microsoft.com/office/drawing/2014/main" id="{AA7806CB-4A48-494D-8CCD-4F1537C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079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2026Q2</a:t>
            </a:r>
          </a:p>
        </p:txBody>
      </p:sp>
      <p:sp>
        <p:nvSpPr>
          <p:cNvPr id="55" name="estimate-point-6">
            <a:extLst xmlns:a="http://schemas.openxmlformats.org/drawingml/2006/main">
              <a:ext uri="{FF2B5EF4-FFF2-40B4-BE49-F238E27FC236}">
                <a16:creationId xmlns:a16="http://schemas.microsoft.com/office/drawing/2014/main" id="{1F00D835-C30C-4D7C-A9A7-CEB4044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929" y="27180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56" name="estimate-label-6">
            <a:extLst xmlns:a="http://schemas.openxmlformats.org/drawingml/2006/main">
              <a:ext uri="{FF2B5EF4-FFF2-40B4-BE49-F238E27FC236}">
                <a16:creationId xmlns:a16="http://schemas.microsoft.com/office/drawing/2014/main" id="{79B5C8A1-8FB2-4617-8D9D-92B56F23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329" y="2489414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6.7</a:t>
            </a:r>
          </a:p>
        </p:txBody>
      </p:sp>
      <p:sp>
        <p:nvSpPr>
          <p:cNvPr id="57" name="x-tick-7">
            <a:extLst xmlns:a="http://schemas.openxmlformats.org/drawingml/2006/main">
              <a:ext uri="{FF2B5EF4-FFF2-40B4-BE49-F238E27FC236}">
                <a16:creationId xmlns:a16="http://schemas.microsoft.com/office/drawing/2014/main" id="{A248A3DC-B5BA-4C74-A050-8B5F16C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614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58" name="x-label-7">
            <a:extLst xmlns:a="http://schemas.openxmlformats.org/drawingml/2006/main">
              <a:ext uri="{FF2B5EF4-FFF2-40B4-BE49-F238E27FC236}">
                <a16:creationId xmlns:a16="http://schemas.microsoft.com/office/drawing/2014/main" id="{BA3BB0B7-DC89-44E7-837C-B23A71FE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664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2026Q3</a:t>
            </a:r>
          </a:p>
        </p:txBody>
      </p:sp>
      <p:sp>
        <p:nvSpPr>
          <p:cNvPr id="59" name="estimate-point-7">
            <a:extLst xmlns:a="http://schemas.openxmlformats.org/drawingml/2006/main">
              <a:ext uri="{FF2B5EF4-FFF2-40B4-BE49-F238E27FC236}">
                <a16:creationId xmlns:a16="http://schemas.microsoft.com/office/drawing/2014/main" id="{91421888-51B5-485B-B98C-FF77B86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514" y="29687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60" name="estimate-label-7">
            <a:extLst xmlns:a="http://schemas.openxmlformats.org/drawingml/2006/main">
              <a:ext uri="{FF2B5EF4-FFF2-40B4-BE49-F238E27FC236}">
                <a16:creationId xmlns:a16="http://schemas.microsoft.com/office/drawing/2014/main" id="{600CE497-C233-4ACB-8956-85EB53DD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914" y="2740132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6.4</a:t>
            </a:r>
          </a:p>
        </p:txBody>
      </p:sp>
      <p:sp>
        <p:nvSpPr>
          <p:cNvPr id="61" name="x-tick-8">
            <a:extLst xmlns:a="http://schemas.openxmlformats.org/drawingml/2006/main">
              <a:ext uri="{FF2B5EF4-FFF2-40B4-BE49-F238E27FC236}">
                <a16:creationId xmlns:a16="http://schemas.microsoft.com/office/drawing/2014/main" id="{926CD7E0-FCA0-4B19-9F41-D7F8BA47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solid"/>
          </a:ln>
        </p:spPr>
      </p:sp>
      <p:sp>
        <p:nvSpPr>
          <p:cNvPr id="62" name="x-label-8">
            <a:extLst xmlns:a="http://schemas.openxmlformats.org/drawingml/2006/main">
              <a:ext uri="{FF2B5EF4-FFF2-40B4-BE49-F238E27FC236}">
                <a16:creationId xmlns:a16="http://schemas.microsoft.com/office/drawing/2014/main" id="{6B57552B-3565-41F1-B915-F3D4E0E2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2026Q4</a:t>
            </a:r>
          </a:p>
        </p:txBody>
      </p:sp>
      <p:sp>
        <p:nvSpPr>
          <p:cNvPr id="63" name="estimate-point-8">
            <a:extLst xmlns:a="http://schemas.openxmlformats.org/drawingml/2006/main">
              <a:ext uri="{FF2B5EF4-FFF2-40B4-BE49-F238E27FC236}">
                <a16:creationId xmlns:a16="http://schemas.microsoft.com/office/drawing/2014/main" id="{1A4A1041-D0F3-4753-AAB4-6FB2E5EB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344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</p:sp>
      <p:sp>
        <p:nvSpPr>
          <p:cNvPr id="64" name="estimate-label-8">
            <a:extLst xmlns:a="http://schemas.openxmlformats.org/drawingml/2006/main">
              <a:ext uri="{FF2B5EF4-FFF2-40B4-BE49-F238E27FC236}">
                <a16:creationId xmlns:a16="http://schemas.microsoft.com/office/drawing/2014/main" id="{E877BFE7-71F8-48FA-8061-EF03172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5841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6.8</a:t>
            </a:r>
          </a:p>
        </p:txBody>
      </p:sp>
      <p:sp>
        <p:nvSpPr>
          <p:cNvPr id="65" name="visual-legend">
            <a:extLst xmlns:a="http://schemas.openxmlformats.org/drawingml/2006/main">
              <a:ext uri="{FF2B5EF4-FFF2-40B4-BE49-F238E27FC236}">
                <a16:creationId xmlns:a16="http://schemas.microsoft.com/office/drawing/2014/main" id="{65435452-B8F3-4ED0-BCEA-5D29532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29200"/>
            <a:ext cx="727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实线与圆点：中心估计　半透明带：95% bootstrap置信区间　虚线：阈值</a:t>
            </a:r>
          </a:p>
        </p:txBody>
      </p:sp>
      <p:sp>
        <p:nvSpPr>
          <p:cNvPr id="66" name="interpretation-rail">
            <a:extLst xmlns:a="http://schemas.openxmlformats.org/drawingml/2006/main">
              <a:ext uri="{FF2B5EF4-FFF2-40B4-BE49-F238E27FC236}">
                <a16:creationId xmlns:a16="http://schemas.microsoft.com/office/drawing/2014/main" id="{420CFEB4-E001-40AB-B5DD-068260BA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00150"/>
            <a:ext cx="26860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7" name="rail-title">
            <a:extLst xmlns:a="http://schemas.openxmlformats.org/drawingml/2006/main">
              <a:ext uri="{FF2B5EF4-FFF2-40B4-BE49-F238E27FC236}">
                <a16:creationId xmlns:a16="http://schemas.microsoft.com/office/drawing/2014/main" id="{DA89DD37-BF38-4DFC-92B9-980EC0B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读图与口径</a:t>
            </a:r>
          </a:p>
        </p:txBody>
      </p:sp>
      <p:sp>
        <p:nvSpPr>
          <p:cNvPr id="68" name="insight-1">
            <a:extLst xmlns:a="http://schemas.openxmlformats.org/drawingml/2006/main">
              <a:ext uri="{FF2B5EF4-FFF2-40B4-BE49-F238E27FC236}">
                <a16:creationId xmlns:a16="http://schemas.microsoft.com/office/drawing/2014/main" id="{A602B0AE-F377-4CCB-A457-7C7DC8D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2033"/>
                </a:solidFill>
              </a:defRPr>
            </a:pPr>
            <a:r>
              <a:rPr sz="1400" b="1">
                <a:solidFill>
                  <a:srgbClr val="172033"/>
                </a:solidFill>
              </a:rPr>
              <a:t>1. 2025年四季度区间宽度扩大至1.6个百分点</a:t>
            </a:r>
          </a:p>
        </p:txBody>
      </p:sp>
      <p:sp>
        <p:nvSpPr>
          <p:cNvPr id="69" name="insight-2">
            <a:extLst xmlns:a="http://schemas.openxmlformats.org/drawingml/2006/main">
              <a:ext uri="{FF2B5EF4-FFF2-40B4-BE49-F238E27FC236}">
                <a16:creationId xmlns:a16="http://schemas.microsoft.com/office/drawing/2014/main" id="{24662028-CE72-452D-9974-A09B2BE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2. 2026年二季度区间首次整体高于6.0%</a:t>
            </a:r>
          </a:p>
        </p:txBody>
      </p:sp>
      <p:sp>
        <p:nvSpPr>
          <p:cNvPr id="70" name="insight-3">
            <a:extLst xmlns:a="http://schemas.openxmlformats.org/drawingml/2006/main">
              <a:ext uri="{FF2B5EF4-FFF2-40B4-BE49-F238E27FC236}">
                <a16:creationId xmlns:a16="http://schemas.microsoft.com/office/drawing/2014/main" id="{BC59EA24-695C-4554-8E35-52F2B849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033"/>
                </a:solidFill>
              </a:defRPr>
            </a:pPr>
            <a:r>
              <a:rPr sz="1400" b="0">
                <a:solidFill>
                  <a:srgbClr val="172033"/>
                </a:solidFill>
              </a:rPr>
              <a:t>3. 2026年三季度回落且区间变宽，方向不稳</a:t>
            </a:r>
          </a:p>
        </p:txBody>
      </p:sp>
      <p:sp>
        <p:nvSpPr>
          <p:cNvPr id="71" name="method-note">
            <a:extLst xmlns:a="http://schemas.openxmlformats.org/drawingml/2006/main">
              <a:ext uri="{FF2B5EF4-FFF2-40B4-BE49-F238E27FC236}">
                <a16:creationId xmlns:a16="http://schemas.microsoft.com/office/drawing/2014/main" id="{18459DA2-D011-43D6-8440-7BE4753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区间：重复抽样覆盖，不是单期概率</a:t>
            </a:r>
          </a:p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估计：季度比例；重抽样2000次</a:t>
            </a:r>
          </a:p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总体：目标总体为同口径服务申请</a:t>
            </a:r>
          </a:p>
        </p:txBody>
      </p:sp>
      <p:sp>
        <p:nvSpPr>
          <p:cNvPr id="72" name="threshold-semantics">
            <a:extLst xmlns:a="http://schemas.openxmlformats.org/drawingml/2006/main">
              <a:ext uri="{FF2B5EF4-FFF2-40B4-BE49-F238E27FC236}">
                <a16:creationId xmlns:a16="http://schemas.microsoft.com/office/drawing/2014/main" id="{6B477912-51C5-4FEC-8763-D9DE5C1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872D"/>
                </a:solidFill>
              </a:defRPr>
            </a:pPr>
            <a:r>
              <a:rPr sz="1200" b="1">
                <a:solidFill>
                  <a:srgbClr val="E8872D"/>
                </a:solidFill>
              </a:rPr>
              <a:t>阈值仅作业务关注线，不代表统计显著性或因果界限</a:t>
            </a:r>
          </a:p>
        </p:txBody>
      </p:sp>
      <p:sp>
        <p:nvSpPr>
          <p:cNvPr id="7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222360F-9171-4FD5-887E-003C6C5D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872D"/>
                </a:solidFill>
              </a:defRPr>
            </a:pPr>
            <a:r>
              <a:rPr sz="1200" b="0">
                <a:solidFill>
                  <a:srgbClr val="E8872D"/>
                </a:solidFill>
              </a:rPr>
              <a:t>来源：匿名合成季度样本，期间为2025年一季度至2026年四季度；合成示例数据，非真实客户数据</a:t>
            </a:r>
          </a:p>
        </p:txBody>
      </p:sp>
      <p:sp>
        <p:nvSpPr>
          <p:cNvPr id="74" name="conclusion">
            <a:extLst xmlns:a="http://schemas.openxmlformats.org/drawingml/2006/main">
              <a:ext uri="{FF2B5EF4-FFF2-40B4-BE49-F238E27FC236}">
                <a16:creationId xmlns:a16="http://schemas.microsoft.com/office/drawing/2014/main" id="{7FEB547B-99EF-4ACE-88E5-896ECD9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6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在区间明显收窄并持续高于关注线前，不宜把单季上行解释为稳定改善</a:t>
            </a:r>
          </a:p>
        </p:txBody>
      </p:sp>
    </p:spTree>
    <p:extLst>
      <p:ext uri="{BB962C8B-B14F-4D97-AF65-F5344CB8AC3E}">
        <p14:creationId xmlns:p14="http://schemas.microsoft.com/office/powerpoint/2010/main" val="942435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2026-08-08T19:00:39.9520000Z</dcterms:created>
  <dcterms:modified xsi:type="dcterms:W3CDTF">2026-08-08T19:00:39.9520000Z</dcterms:modified>
</coreProperties>
</file>