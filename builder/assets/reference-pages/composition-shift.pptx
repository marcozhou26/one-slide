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d300947583452e" /><Relationship Type="http://schemas.openxmlformats.org/officeDocument/2006/relationships/extended-properties" Target="/docProps/app.xml" Id="R74f9d3ae0cbe43f8" /><Relationship Type="http://schemas.openxmlformats.org/officeDocument/2006/relationships/officeDocument" Target="/ppt/presentation.xml" Id="R5d564c173a144e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c400d231b486b"/>
  </p:sldMasterIdLst>
  <p:notesMasterIdLst>
    <p:notesMasterId xmlns:r="http://schemas.openxmlformats.org/officeDocument/2006/relationships" r:id="R13505b62198443e5"/>
  </p:notesMasterIdLst>
  <p:sldIdLst>
    <p:sldId xmlns:r="http://schemas.openxmlformats.org/officeDocument/2006/relationships" id="256" r:id="R0327ee5ffba94b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5cacaaa3d643c1" /><Relationship Type="http://schemas.openxmlformats.org/officeDocument/2006/relationships/slideMaster" Target="/ppt/slideMasters/slideMaster1.xml" Id="R2bac400d231b486b" /><Relationship Type="http://schemas.openxmlformats.org/officeDocument/2006/relationships/notesMaster" Target="/ppt/notesMasters/notesMaster1.xml" Id="R13505b62198443e5" /><Relationship Type="http://schemas.openxmlformats.org/officeDocument/2006/relationships/presProps" Target="/ppt/presProps.xml" Id="R406ac60ba3754a10" /><Relationship Type="http://schemas.openxmlformats.org/officeDocument/2006/relationships/tableStyles" Target="/ppt/tableStyles.xml" Id="Re84363ffcc274587" /><Relationship Type="http://schemas.openxmlformats.org/officeDocument/2006/relationships/slide" Target="/ppt/slides/slide1.xml" Id="R0327ee5ffba9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61fc2bd5484e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43eacaf2d0469c" /><Relationship Type="http://schemas.openxmlformats.org/officeDocument/2006/relationships/notesMaster" Target="/ppt/notesMasters/notesMaster1.xml" Id="R72ad82f9ee4441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a85653eea4b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f2e786e8da4def" /><Relationship Type="http://schemas.openxmlformats.org/officeDocument/2006/relationships/slideLayout" Target="/ppt/slideLayouts/slideLayout1.xml" Id="R709cba14e4ee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9cba14e4ee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28c8f69964b6b" /><Relationship Type="http://schemas.openxmlformats.org/officeDocument/2006/relationships/notesSlide" Target="/ppt/notesSlides/notesSlide1.xml" Id="R6aa103d49aef47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ge-title">
            <a:extLst xmlns:a="http://schemas.openxmlformats.org/drawingml/2006/main">
              <a:ext uri="{FF2B5EF4-FFF2-40B4-BE49-F238E27FC236}">
                <a16:creationId xmlns:a16="http://schemas.microsoft.com/office/drawing/2014/main" id="{AD06FA90-8CB6-487F-82F3-649CE85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5375F"/>
                </a:solidFill>
              </a:defRPr>
            </a:pPr>
            <a:r>
              <a:rPr sz="2600" b="1">
                <a:solidFill>
                  <a:srgbClr val="15375F"/>
                </a:solidFill>
              </a:rPr>
              <a:t>The revenue structure continues to focus on core products.2022—2025Increase in annual share15percentage points</a:t>
            </a:r>
          </a:p>
        </p:txBody>
      </p:sp>
      <p:sp>
        <p:nvSpPr>
          <p:cNvPr id="2" name="composition-frame">
            <a:extLst xmlns:a="http://schemas.openxmlformats.org/drawingml/2006/main">
              <a:ext uri="{FF2B5EF4-FFF2-40B4-BE49-F238E27FC236}">
                <a16:creationId xmlns:a16="http://schemas.microsoft.com/office/drawing/2014/main" id="{9806DB7F-22ED-4FE1-B30C-748DD7B2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84582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composition-grid-0">
            <a:extLst xmlns:a="http://schemas.openxmlformats.org/drawingml/2006/main">
              <a:ext uri="{FF2B5EF4-FFF2-40B4-BE49-F238E27FC236}">
                <a16:creationId xmlns:a16="http://schemas.microsoft.com/office/drawing/2014/main" id="{8EF35DA3-B6B0-441A-8A0E-1C75219C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4" name="composition-tick-0">
            <a:extLst xmlns:a="http://schemas.openxmlformats.org/drawingml/2006/main">
              <a:ext uri="{FF2B5EF4-FFF2-40B4-BE49-F238E27FC236}">
                <a16:creationId xmlns:a16="http://schemas.microsoft.com/office/drawing/2014/main" id="{1DE744C8-2D7B-4401-8C32-3CC11BEE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100%</a:t>
            </a:r>
          </a:p>
        </p:txBody>
      </p:sp>
      <p:sp>
        <p:nvSpPr>
          <p:cNvPr id="5" name="composition-grid-1">
            <a:extLst xmlns:a="http://schemas.openxmlformats.org/drawingml/2006/main">
              <a:ext uri="{FF2B5EF4-FFF2-40B4-BE49-F238E27FC236}">
                <a16:creationId xmlns:a16="http://schemas.microsoft.com/office/drawing/2014/main" id="{CA0EDE2B-35B8-468D-A03A-F70B6556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4638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6" name="composition-tick-1">
            <a:extLst xmlns:a="http://schemas.openxmlformats.org/drawingml/2006/main">
              <a:ext uri="{FF2B5EF4-FFF2-40B4-BE49-F238E27FC236}">
                <a16:creationId xmlns:a16="http://schemas.microsoft.com/office/drawing/2014/main" id="{BDF63303-2740-4930-A52F-3CA6635E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0338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75%</a:t>
            </a:r>
          </a:p>
        </p:txBody>
      </p:sp>
      <p:sp>
        <p:nvSpPr>
          <p:cNvPr id="7" name="composition-grid-2">
            <a:extLst xmlns:a="http://schemas.openxmlformats.org/drawingml/2006/main">
              <a:ext uri="{FF2B5EF4-FFF2-40B4-BE49-F238E27FC236}">
                <a16:creationId xmlns:a16="http://schemas.microsoft.com/office/drawing/2014/main" id="{5A5C1C1A-1F5C-4EB6-9C7C-FB295B83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52825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8" name="composition-tick-2">
            <a:extLst xmlns:a="http://schemas.openxmlformats.org/drawingml/2006/main">
              <a:ext uri="{FF2B5EF4-FFF2-40B4-BE49-F238E27FC236}">
                <a16:creationId xmlns:a16="http://schemas.microsoft.com/office/drawing/2014/main" id="{57CD1DCF-4ECF-4665-8C83-B0CD11D0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50%</a:t>
            </a:r>
          </a:p>
        </p:txBody>
      </p:sp>
      <p:sp>
        <p:nvSpPr>
          <p:cNvPr id="9" name="composition-grid-3">
            <a:extLst xmlns:a="http://schemas.openxmlformats.org/drawingml/2006/main">
              <a:ext uri="{FF2B5EF4-FFF2-40B4-BE49-F238E27FC236}">
                <a16:creationId xmlns:a16="http://schemas.microsoft.com/office/drawing/2014/main" id="{F2FCFBA6-0831-4870-8038-F5DDEF3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91013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0" name="composition-tick-3">
            <a:extLst xmlns:a="http://schemas.openxmlformats.org/drawingml/2006/main">
              <a:ext uri="{FF2B5EF4-FFF2-40B4-BE49-F238E27FC236}">
                <a16:creationId xmlns:a16="http://schemas.microsoft.com/office/drawing/2014/main" id="{ADC2A169-DA47-4B8E-BBC1-A7645AF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6713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25%</a:t>
            </a:r>
          </a:p>
        </p:txBody>
      </p:sp>
      <p:sp>
        <p:nvSpPr>
          <p:cNvPr id="11" name="composition-grid-4">
            <a:extLst xmlns:a="http://schemas.openxmlformats.org/drawingml/2006/main">
              <a:ext uri="{FF2B5EF4-FFF2-40B4-BE49-F238E27FC236}">
                <a16:creationId xmlns:a16="http://schemas.microsoft.com/office/drawing/2014/main" id="{94B33F35-2B89-40C9-85DA-E8E87646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2" name="composition-tick-4">
            <a:extLst xmlns:a="http://schemas.openxmlformats.org/drawingml/2006/main">
              <a:ext uri="{FF2B5EF4-FFF2-40B4-BE49-F238E27FC236}">
                <a16:creationId xmlns:a16="http://schemas.microsoft.com/office/drawing/2014/main" id="{4D4AE2D0-3665-4835-A0B3-7C7E59CA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0%</a:t>
            </a:r>
          </a:p>
        </p:txBody>
      </p:sp>
      <p:sp>
        <p:nvSpPr>
          <p:cNvPr id="13" name="composition-legend-swatch-1">
            <a:extLst xmlns:a="http://schemas.openxmlformats.org/drawingml/2006/main">
              <a:ext uri="{FF2B5EF4-FFF2-40B4-BE49-F238E27FC236}">
                <a16:creationId xmlns:a16="http://schemas.microsoft.com/office/drawing/2014/main" id="{FBB9A087-7640-49F2-BA63-36A0725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</p:sp>
      <p:sp>
        <p:nvSpPr>
          <p:cNvPr id="14" name="composition-legend-1">
            <a:extLst xmlns:a="http://schemas.openxmlformats.org/drawingml/2006/main">
              <a:ext uri="{FF2B5EF4-FFF2-40B4-BE49-F238E27FC236}">
                <a16:creationId xmlns:a16="http://schemas.microsoft.com/office/drawing/2014/main" id="{08C926DB-C1E1-46B8-B7FA-D6B3B59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573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core products</a:t>
            </a:r>
          </a:p>
        </p:txBody>
      </p:sp>
      <p:sp>
        <p:nvSpPr>
          <p:cNvPr id="15" name="composition-legend-swatch-2">
            <a:extLst xmlns:a="http://schemas.openxmlformats.org/drawingml/2006/main">
              <a:ext uri="{FF2B5EF4-FFF2-40B4-BE49-F238E27FC236}">
                <a16:creationId xmlns:a16="http://schemas.microsoft.com/office/drawing/2014/main" id="{D9D0E0E7-18A2-4812-8EC7-768A27A8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24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0">
            <a:solidFill>
              <a:srgbClr val="15375F"/>
            </a:solidFill>
            <a:prstDash val="solid"/>
          </a:ln>
        </p:spPr>
      </p:sp>
      <p:sp>
        <p:nvSpPr>
          <p:cNvPr id="16" name="composition-legend-2">
            <a:extLst xmlns:a="http://schemas.openxmlformats.org/drawingml/2006/main">
              <a:ext uri="{FF2B5EF4-FFF2-40B4-BE49-F238E27FC236}">
                <a16:creationId xmlns:a16="http://schemas.microsoft.com/office/drawing/2014/main" id="{9EBDAA03-67EA-4C23-AC8C-A430CC5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573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value-added services</a:t>
            </a:r>
          </a:p>
        </p:txBody>
      </p:sp>
      <p:sp>
        <p:nvSpPr>
          <p:cNvPr id="17" name="composition-legend-swatch-3">
            <a:extLst xmlns:a="http://schemas.openxmlformats.org/drawingml/2006/main">
              <a:ext uri="{FF2B5EF4-FFF2-40B4-BE49-F238E27FC236}">
                <a16:creationId xmlns:a16="http://schemas.microsoft.com/office/drawing/2014/main" id="{BBFC13D5-112F-449A-999C-71640AB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24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18" name="composition-legend-3">
            <a:extLst xmlns:a="http://schemas.openxmlformats.org/drawingml/2006/main">
              <a:ext uri="{FF2B5EF4-FFF2-40B4-BE49-F238E27FC236}">
                <a16:creationId xmlns:a16="http://schemas.microsoft.com/office/drawing/2014/main" id="{A548A60A-65E6-4408-886B-67EE3EC0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Implementation services</a:t>
            </a:r>
          </a:p>
        </p:txBody>
      </p:sp>
      <p:sp>
        <p:nvSpPr>
          <p:cNvPr id="19" name="composition-legend-swatch-4">
            <a:extLst xmlns:a="http://schemas.openxmlformats.org/drawingml/2006/main">
              <a:ext uri="{FF2B5EF4-FFF2-40B4-BE49-F238E27FC236}">
                <a16:creationId xmlns:a16="http://schemas.microsoft.com/office/drawing/2014/main" id="{C3C12F66-7AE2-4583-85FC-423EF31C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24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0">
            <a:solidFill>
              <a:srgbClr val="5B8E7D"/>
            </a:solidFill>
            <a:prstDash val="solid"/>
          </a:ln>
        </p:spPr>
      </p:sp>
      <p:sp>
        <p:nvSpPr>
          <p:cNvPr id="20" name="composition-legend-4">
            <a:extLst xmlns:a="http://schemas.openxmlformats.org/drawingml/2006/main">
              <a:ext uri="{FF2B5EF4-FFF2-40B4-BE49-F238E27FC236}">
                <a16:creationId xmlns:a16="http://schemas.microsoft.com/office/drawing/2014/main" id="{03794902-AEC9-4ED6-BC1B-F62825D2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573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Others</a:t>
            </a:r>
          </a:p>
        </p:txBody>
      </p:sp>
      <p:sp>
        <p:nvSpPr>
          <p:cNvPr id="21" name="composition-1-1">
            <a:extLst xmlns:a="http://schemas.openxmlformats.org/drawingml/2006/main">
              <a:ext uri="{FF2B5EF4-FFF2-40B4-BE49-F238E27FC236}">
                <a16:creationId xmlns:a16="http://schemas.microsoft.com/office/drawing/2014/main" id="{D8A02E75-D709-431C-B487-95248E57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3789045"/>
            <a:ext cx="838200" cy="1240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composition-label-1-1">
            <a:extLst xmlns:a="http://schemas.openxmlformats.org/drawingml/2006/main">
              <a:ext uri="{FF2B5EF4-FFF2-40B4-BE49-F238E27FC236}">
                <a16:creationId xmlns:a16="http://schemas.microsoft.com/office/drawing/2014/main" id="{BA496A88-3752-4F0A-8A40-04C3E2F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4294823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23" name="composition-1-2">
            <a:extLst xmlns:a="http://schemas.openxmlformats.org/drawingml/2006/main">
              <a:ext uri="{FF2B5EF4-FFF2-40B4-BE49-F238E27FC236}">
                <a16:creationId xmlns:a16="http://schemas.microsoft.com/office/drawing/2014/main" id="{BA5575CA-5CD3-4B5A-B851-84772AE3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962275"/>
            <a:ext cx="838200" cy="826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4" name="composition-label-1-2">
            <a:extLst xmlns:a="http://schemas.openxmlformats.org/drawingml/2006/main">
              <a:ext uri="{FF2B5EF4-FFF2-40B4-BE49-F238E27FC236}">
                <a16:creationId xmlns:a16="http://schemas.microsoft.com/office/drawing/2014/main" id="{D5D0EAD6-248F-4A19-B10C-D8CE5E39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326136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28%</a:t>
            </a:r>
          </a:p>
        </p:txBody>
      </p:sp>
      <p:sp>
        <p:nvSpPr>
          <p:cNvPr id="25" name="composition-1-3">
            <a:extLst xmlns:a="http://schemas.openxmlformats.org/drawingml/2006/main">
              <a:ext uri="{FF2B5EF4-FFF2-40B4-BE49-F238E27FC236}">
                <a16:creationId xmlns:a16="http://schemas.microsoft.com/office/drawing/2014/main" id="{01094715-4F5E-40F0-91B6-D737532D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371725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composition-label-1-3">
            <a:extLst xmlns:a="http://schemas.openxmlformats.org/drawingml/2006/main">
              <a:ext uri="{FF2B5EF4-FFF2-40B4-BE49-F238E27FC236}">
                <a16:creationId xmlns:a16="http://schemas.microsoft.com/office/drawing/2014/main" id="{3FB51F82-8B32-4C36-87BB-0E69E922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25527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7" name="composition-1-4">
            <a:extLst xmlns:a="http://schemas.openxmlformats.org/drawingml/2006/main">
              <a:ext uri="{FF2B5EF4-FFF2-40B4-BE49-F238E27FC236}">
                <a16:creationId xmlns:a16="http://schemas.microsoft.com/office/drawing/2014/main" id="{298B8114-E7D5-4951-BB29-14202EF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76450"/>
            <a:ext cx="838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8" name="composition-label-1-4">
            <a:extLst xmlns:a="http://schemas.openxmlformats.org/drawingml/2006/main">
              <a:ext uri="{FF2B5EF4-FFF2-40B4-BE49-F238E27FC236}">
                <a16:creationId xmlns:a16="http://schemas.microsoft.com/office/drawing/2014/main" id="{67C410AD-7FB9-4C56-93DE-0856C59A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2109788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9" name="composition-period-1">
            <a:extLst xmlns:a="http://schemas.openxmlformats.org/drawingml/2006/main">
              <a:ext uri="{FF2B5EF4-FFF2-40B4-BE49-F238E27FC236}">
                <a16:creationId xmlns:a16="http://schemas.microsoft.com/office/drawing/2014/main" id="{E41DF16F-D9A7-46E6-8AD2-935C0601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3" y="51054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2022</a:t>
            </a:r>
          </a:p>
        </p:txBody>
      </p:sp>
      <p:sp>
        <p:nvSpPr>
          <p:cNvPr id="30" name="composition-2-1">
            <a:extLst xmlns:a="http://schemas.openxmlformats.org/drawingml/2006/main">
              <a:ext uri="{FF2B5EF4-FFF2-40B4-BE49-F238E27FC236}">
                <a16:creationId xmlns:a16="http://schemas.microsoft.com/office/drawing/2014/main" id="{AFB926DF-A434-43C5-8AC4-5799EB85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670935"/>
            <a:ext cx="838200" cy="1358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1" name="composition-label-2-1">
            <a:extLst xmlns:a="http://schemas.openxmlformats.org/drawingml/2006/main">
              <a:ext uri="{FF2B5EF4-FFF2-40B4-BE49-F238E27FC236}">
                <a16:creationId xmlns:a16="http://schemas.microsoft.com/office/drawing/2014/main" id="{D342C9D5-EA84-4113-8D45-21F2476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235768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46%</a:t>
            </a:r>
          </a:p>
        </p:txBody>
      </p:sp>
      <p:sp>
        <p:nvSpPr>
          <p:cNvPr id="32" name="composition-2-2">
            <a:extLst xmlns:a="http://schemas.openxmlformats.org/drawingml/2006/main">
              <a:ext uri="{FF2B5EF4-FFF2-40B4-BE49-F238E27FC236}">
                <a16:creationId xmlns:a16="http://schemas.microsoft.com/office/drawing/2014/main" id="{B090B944-31DE-457E-AFC2-35B8ADCD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814638"/>
            <a:ext cx="838200" cy="856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3" name="composition-label-2-2">
            <a:extLst xmlns:a="http://schemas.openxmlformats.org/drawingml/2006/main">
              <a:ext uri="{FF2B5EF4-FFF2-40B4-BE49-F238E27FC236}">
                <a16:creationId xmlns:a16="http://schemas.microsoft.com/office/drawing/2014/main" id="{BF15A45D-DC66-4363-A4C6-52C54B0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128486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29%</a:t>
            </a:r>
          </a:p>
        </p:txBody>
      </p:sp>
      <p:sp>
        <p:nvSpPr>
          <p:cNvPr id="34" name="composition-2-3">
            <a:extLst xmlns:a="http://schemas.openxmlformats.org/drawingml/2006/main">
              <a:ext uri="{FF2B5EF4-FFF2-40B4-BE49-F238E27FC236}">
                <a16:creationId xmlns:a16="http://schemas.microsoft.com/office/drawing/2014/main" id="{02AE115C-A2F3-4628-96E8-A01257E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12670"/>
            <a:ext cx="838200" cy="501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" name="composition-label-2-3">
            <a:extLst xmlns:a="http://schemas.openxmlformats.org/drawingml/2006/main">
              <a:ext uri="{FF2B5EF4-FFF2-40B4-BE49-F238E27FC236}">
                <a16:creationId xmlns:a16="http://schemas.microsoft.com/office/drawing/2014/main" id="{D3613FE4-AA7A-443E-8BE3-718C5CCB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449354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17%</a:t>
            </a:r>
          </a:p>
        </p:txBody>
      </p:sp>
      <p:sp>
        <p:nvSpPr>
          <p:cNvPr id="36" name="composition-2-4">
            <a:extLst xmlns:a="http://schemas.openxmlformats.org/drawingml/2006/main">
              <a:ext uri="{FF2B5EF4-FFF2-40B4-BE49-F238E27FC236}">
                <a16:creationId xmlns:a16="http://schemas.microsoft.com/office/drawing/2014/main" id="{04740FC5-2FEF-4D16-A9E3-084E631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076450"/>
            <a:ext cx="83820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composition-period-2">
            <a:extLst xmlns:a="http://schemas.openxmlformats.org/drawingml/2006/main">
              <a:ext uri="{FF2B5EF4-FFF2-40B4-BE49-F238E27FC236}">
                <a16:creationId xmlns:a16="http://schemas.microsoft.com/office/drawing/2014/main" id="{28427D7D-C644-46B3-8EE5-345B01CE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51054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2023</a:t>
            </a:r>
          </a:p>
        </p:txBody>
      </p:sp>
      <p:sp>
        <p:nvSpPr>
          <p:cNvPr id="38" name="composition-3-1">
            <a:extLst xmlns:a="http://schemas.openxmlformats.org/drawingml/2006/main">
              <a:ext uri="{FF2B5EF4-FFF2-40B4-BE49-F238E27FC236}">
                <a16:creationId xmlns:a16="http://schemas.microsoft.com/office/drawing/2014/main" id="{95FDEF5C-F824-4585-9B67-B3AF642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3523298"/>
            <a:ext cx="838200" cy="1505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9" name="composition-label-3-1">
            <a:extLst xmlns:a="http://schemas.openxmlformats.org/drawingml/2006/main">
              <a:ext uri="{FF2B5EF4-FFF2-40B4-BE49-F238E27FC236}">
                <a16:creationId xmlns:a16="http://schemas.microsoft.com/office/drawing/2014/main" id="{50A25FB9-D01F-4AAD-98CD-0C25220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4161949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51%</a:t>
            </a:r>
          </a:p>
        </p:txBody>
      </p:sp>
      <p:sp>
        <p:nvSpPr>
          <p:cNvPr id="40" name="composition-3-2">
            <a:extLst xmlns:a="http://schemas.openxmlformats.org/drawingml/2006/main">
              <a:ext uri="{FF2B5EF4-FFF2-40B4-BE49-F238E27FC236}">
                <a16:creationId xmlns:a16="http://schemas.microsoft.com/office/drawing/2014/main" id="{8FDA12E2-3E76-483A-8EC2-29D5B62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696527"/>
            <a:ext cx="838200" cy="826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composition-label-3-2">
            <a:extLst xmlns:a="http://schemas.openxmlformats.org/drawingml/2006/main">
              <a:ext uri="{FF2B5EF4-FFF2-40B4-BE49-F238E27FC236}">
                <a16:creationId xmlns:a16="http://schemas.microsoft.com/office/drawing/2014/main" id="{0A1597AB-300D-4F42-89C0-88ACB383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95612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28%</a:t>
            </a:r>
          </a:p>
        </p:txBody>
      </p:sp>
      <p:sp>
        <p:nvSpPr>
          <p:cNvPr id="42" name="composition-3-3">
            <a:extLst xmlns:a="http://schemas.openxmlformats.org/drawingml/2006/main">
              <a:ext uri="{FF2B5EF4-FFF2-40B4-BE49-F238E27FC236}">
                <a16:creationId xmlns:a16="http://schemas.microsoft.com/office/drawing/2014/main" id="{35F41BA1-3C73-4EC1-8A7A-CEFA0052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283142"/>
            <a:ext cx="838200" cy="413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3" name="composition-label-3-3">
            <a:extLst xmlns:a="http://schemas.openxmlformats.org/drawingml/2006/main">
              <a:ext uri="{FF2B5EF4-FFF2-40B4-BE49-F238E27FC236}">
                <a16:creationId xmlns:a16="http://schemas.microsoft.com/office/drawing/2014/main" id="{66E2728A-0094-4D8D-BDE5-DEDCDD4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37553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44" name="composition-3-4">
            <a:extLst xmlns:a="http://schemas.openxmlformats.org/drawingml/2006/main">
              <a:ext uri="{FF2B5EF4-FFF2-40B4-BE49-F238E27FC236}">
                <a16:creationId xmlns:a16="http://schemas.microsoft.com/office/drawing/2014/main" id="{47762086-40B8-4C64-986F-87A303B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076450"/>
            <a:ext cx="838200" cy="2066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composition-period-3">
            <a:extLst xmlns:a="http://schemas.openxmlformats.org/drawingml/2006/main">
              <a:ext uri="{FF2B5EF4-FFF2-40B4-BE49-F238E27FC236}">
                <a16:creationId xmlns:a16="http://schemas.microsoft.com/office/drawing/2014/main" id="{10A058B8-B2DB-4734-A7CD-4649AA69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51054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2024</a:t>
            </a:r>
          </a:p>
        </p:txBody>
      </p:sp>
      <p:sp>
        <p:nvSpPr>
          <p:cNvPr id="46" name="composition-4-1">
            <a:extLst xmlns:a="http://schemas.openxmlformats.org/drawingml/2006/main">
              <a:ext uri="{FF2B5EF4-FFF2-40B4-BE49-F238E27FC236}">
                <a16:creationId xmlns:a16="http://schemas.microsoft.com/office/drawing/2014/main" id="{5C88058F-FF8A-417C-AC3E-F20EB4FA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3346133"/>
            <a:ext cx="838200" cy="168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7" name="composition-label-4-1">
            <a:extLst xmlns:a="http://schemas.openxmlformats.org/drawingml/2006/main">
              <a:ext uri="{FF2B5EF4-FFF2-40B4-BE49-F238E27FC236}">
                <a16:creationId xmlns:a16="http://schemas.microsoft.com/office/drawing/2014/main" id="{7B7E87FB-D1A6-4966-8B36-B8421583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4073366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57%</a:t>
            </a:r>
          </a:p>
        </p:txBody>
      </p:sp>
      <p:sp>
        <p:nvSpPr>
          <p:cNvPr id="48" name="composition-4-2">
            <a:extLst xmlns:a="http://schemas.openxmlformats.org/drawingml/2006/main">
              <a:ext uri="{FF2B5EF4-FFF2-40B4-BE49-F238E27FC236}">
                <a16:creationId xmlns:a16="http://schemas.microsoft.com/office/drawing/2014/main" id="{DFBA100B-BE65-411A-9911-B103B45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2578418"/>
            <a:ext cx="838200" cy="767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composition-label-4-2">
            <a:extLst xmlns:a="http://schemas.openxmlformats.org/drawingml/2006/main">
              <a:ext uri="{FF2B5EF4-FFF2-40B4-BE49-F238E27FC236}">
                <a16:creationId xmlns:a16="http://schemas.microsoft.com/office/drawing/2014/main" id="{81331975-737E-4041-8296-4DC49021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8479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26%</a:t>
            </a:r>
          </a:p>
        </p:txBody>
      </p:sp>
      <p:sp>
        <p:nvSpPr>
          <p:cNvPr id="50" name="composition-4-3">
            <a:extLst xmlns:a="http://schemas.openxmlformats.org/drawingml/2006/main">
              <a:ext uri="{FF2B5EF4-FFF2-40B4-BE49-F238E27FC236}">
                <a16:creationId xmlns:a16="http://schemas.microsoft.com/office/drawing/2014/main" id="{228BA0CB-16DA-48DE-A634-F766DF86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2253615"/>
            <a:ext cx="838200" cy="3248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1" name="composition-label-4-3">
            <a:extLst xmlns:a="http://schemas.openxmlformats.org/drawingml/2006/main">
              <a:ext uri="{FF2B5EF4-FFF2-40B4-BE49-F238E27FC236}">
                <a16:creationId xmlns:a16="http://schemas.microsoft.com/office/drawing/2014/main" id="{497C0564-F866-408A-96DF-362542D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301716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11%</a:t>
            </a:r>
          </a:p>
        </p:txBody>
      </p:sp>
      <p:sp>
        <p:nvSpPr>
          <p:cNvPr id="52" name="composition-4-4">
            <a:extLst xmlns:a="http://schemas.openxmlformats.org/drawingml/2006/main">
              <a:ext uri="{FF2B5EF4-FFF2-40B4-BE49-F238E27FC236}">
                <a16:creationId xmlns:a16="http://schemas.microsoft.com/office/drawing/2014/main" id="{1AD09901-2CFE-4478-89DF-52C1FDE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2076450"/>
            <a:ext cx="838200" cy="177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composition-period-4">
            <a:extLst xmlns:a="http://schemas.openxmlformats.org/drawingml/2006/main">
              <a:ext uri="{FF2B5EF4-FFF2-40B4-BE49-F238E27FC236}">
                <a16:creationId xmlns:a16="http://schemas.microsoft.com/office/drawing/2014/main" id="{E9CE71C4-1196-43E5-9694-ABBE22F5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51054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2025</a:t>
            </a:r>
          </a:p>
        </p:txBody>
      </p:sp>
      <p:sp>
        <p:nvSpPr>
          <p:cNvPr id="54" name="composition-denominator">
            <a:extLst xmlns:a="http://schemas.openxmlformats.org/drawingml/2006/main">
              <a:ext uri="{FF2B5EF4-FFF2-40B4-BE49-F238E27FC236}">
                <a16:creationId xmlns:a16="http://schemas.microsoft.com/office/drawing/2014/main" id="{C11D2493-9A4A-4209-B614-C8476BB6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Denominator: Revenue recognized during the year</a:t>
            </a:r>
          </a:p>
        </p:txBody>
      </p:sp>
      <p:sp>
        <p:nvSpPr>
          <p:cNvPr id="55" name="composition-disclosure">
            <a:extLst xmlns:a="http://schemas.openxmlformats.org/drawingml/2006/main">
              <a:ext uri="{FF2B5EF4-FFF2-40B4-BE49-F238E27FC236}">
                <a16:creationId xmlns:a16="http://schemas.microsoft.com/office/drawing/2014/main" id="{76531BD7-D40A-47EA-B43D-1334D1DF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Synthetic sample data, not real customer data</a:t>
            </a:r>
          </a:p>
        </p:txBody>
      </p:sp>
      <p:sp>
        <p:nvSpPr>
          <p:cNvPr id="56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7581D896-E13D-4B65-96D3-8B4DBB84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19200"/>
            <a:ext cx="2381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57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5DACF290-9990-499D-803B-117995A0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58" name="key insights-item-1">
            <a:extLst xmlns:a="http://schemas.openxmlformats.org/drawingml/2006/main">
              <a:ext uri="{FF2B5EF4-FFF2-40B4-BE49-F238E27FC236}">
                <a16:creationId xmlns:a16="http://schemas.microsoft.com/office/drawing/2014/main" id="{7CBCC638-5AE8-4CFD-A5A3-C7E4F20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The proportion of core products has increased for three consecutive years, which is the main source of structural changes.</a:t>
            </a:r>
          </a:p>
        </p:txBody>
      </p:sp>
      <p:sp>
        <p:nvSpPr>
          <p:cNvPr id="59" name="key insights-item-2">
            <a:extLst xmlns:a="http://schemas.openxmlformats.org/drawingml/2006/main">
              <a:ext uri="{FF2B5EF4-FFF2-40B4-BE49-F238E27FC236}">
                <a16:creationId xmlns:a16="http://schemas.microsoft.com/office/drawing/2014/main" id="{165CD594-AB2F-4898-B008-610E8B1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proportion of implementation services is composed of20%down to11%, dependence on human delivery decreases</a:t>
            </a:r>
          </a:p>
        </p:txBody>
      </p:sp>
      <p:sp>
        <p:nvSpPr>
          <p:cNvPr id="60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B2504482-593E-4434-8D55-1E41F130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Conclusion: Continue to increase productization revenue while monitoring the quality of growth in value-added services</a:t>
            </a:r>
          </a:p>
        </p:txBody>
      </p:sp>
    </p:spTree>
    <p:extLst>
      <p:ext uri="{BB962C8B-B14F-4D97-AF65-F5344CB8AC3E}">
        <p14:creationId xmlns:p14="http://schemas.microsoft.com/office/powerpoint/2010/main" val="885233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2026-08-08T14:58:27.1050000Z</dcterms:created>
  <dcterms:modified xsi:type="dcterms:W3CDTF">2026-08-08T14:58:27.1050000Z</dcterms:modified>
</coreProperties>
</file>