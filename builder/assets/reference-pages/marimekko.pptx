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b7434a9fbd47b8" /><Relationship Type="http://schemas.openxmlformats.org/officeDocument/2006/relationships/extended-properties" Target="/docProps/app.xml" Id="R6abdf2d9ea244cd2" /><Relationship Type="http://schemas.openxmlformats.org/officeDocument/2006/relationships/officeDocument" Target="/ppt/presentation.xml" Id="Re8b1f689ffb540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f2e3398ed14bf9"/>
  </p:sldMasterIdLst>
  <p:notesMasterIdLst>
    <p:notesMasterId xmlns:r="http://schemas.openxmlformats.org/officeDocument/2006/relationships" r:id="R322bfc7488434f93"/>
  </p:notesMasterIdLst>
  <p:sldIdLst>
    <p:sldId xmlns:r="http://schemas.openxmlformats.org/officeDocument/2006/relationships" id="256" r:id="R1f5da4617f5c47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d7d7a57ce940bb" /><Relationship Type="http://schemas.openxmlformats.org/officeDocument/2006/relationships/slideMaster" Target="/ppt/slideMasters/slideMaster1.xml" Id="R27f2e3398ed14bf9" /><Relationship Type="http://schemas.openxmlformats.org/officeDocument/2006/relationships/notesMaster" Target="/ppt/notesMasters/notesMaster1.xml" Id="R322bfc7488434f93" /><Relationship Type="http://schemas.openxmlformats.org/officeDocument/2006/relationships/presProps" Target="/ppt/presProps.xml" Id="Re9960f30ac544e03" /><Relationship Type="http://schemas.openxmlformats.org/officeDocument/2006/relationships/tableStyles" Target="/ppt/tableStyles.xml" Id="R49b93464901d466b" /><Relationship Type="http://schemas.openxmlformats.org/officeDocument/2006/relationships/slide" Target="/ppt/slides/slide1.xml" Id="R1f5da4617f5c47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e30603a1224b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976ed075914b6d" /><Relationship Type="http://schemas.openxmlformats.org/officeDocument/2006/relationships/notesMaster" Target="/ppt/notesMasters/notesMaster1.xml" Id="Rfc5d388278c045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c2ccfe6bc40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f0fab03a9b4617" /><Relationship Type="http://schemas.openxmlformats.org/officeDocument/2006/relationships/slideLayout" Target="/ppt/slideLayouts/slideLayout1.xml" Id="Raf3e971445584b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3e971445584b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7435658894db3" /><Relationship Type="http://schemas.openxmlformats.org/officeDocument/2006/relationships/notesSlide" Target="/ppt/notesSlides/notesSlide1.xml" Id="R6bf51846e32d48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page-title">
            <a:extLst xmlns:a="http://schemas.openxmlformats.org/drawingml/2006/main">
              <a:ext uri="{FF2B5EF4-FFF2-40B4-BE49-F238E27FC236}">
                <a16:creationId xmlns:a16="http://schemas.microsoft.com/office/drawing/2014/main" id="{1A870211-241E-4268-8FD7-00A8E32F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56% The market is concentrated in two segments, but our share is insufficient 8%</a:t>
            </a:r>
          </a:p>
        </p:txBody>
      </p:sp>
      <p:sp>
        <p:nvSpPr>
          <p:cNvPr id="2" name="mekko-frame">
            <a:extLst xmlns:a="http://schemas.openxmlformats.org/drawingml/2006/main">
              <a:ext uri="{FF2B5EF4-FFF2-40B4-BE49-F238E27FC236}">
                <a16:creationId xmlns:a16="http://schemas.microsoft.com/office/drawing/2014/main" id="{612217EC-2EA9-4AE0-BB8F-78FAEC52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8096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mekko-grid-0">
            <a:extLst xmlns:a="http://schemas.openxmlformats.org/drawingml/2006/main">
              <a:ext uri="{FF2B5EF4-FFF2-40B4-BE49-F238E27FC236}">
                <a16:creationId xmlns:a16="http://schemas.microsoft.com/office/drawing/2014/main" id="{17E84613-7AB0-47C8-BC65-FDB2C378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735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4" name="mekko-tick-0">
            <a:extLst xmlns:a="http://schemas.openxmlformats.org/drawingml/2006/main">
              <a:ext uri="{FF2B5EF4-FFF2-40B4-BE49-F238E27FC236}">
                <a16:creationId xmlns:a16="http://schemas.microsoft.com/office/drawing/2014/main" id="{43504409-393C-45FF-8AA5-AC91846C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100%</a:t>
            </a:r>
          </a:p>
        </p:txBody>
      </p:sp>
      <p:sp>
        <p:nvSpPr>
          <p:cNvPr id="5" name="mekko-grid-1">
            <a:extLst xmlns:a="http://schemas.openxmlformats.org/drawingml/2006/main">
              <a:ext uri="{FF2B5EF4-FFF2-40B4-BE49-F238E27FC236}">
                <a16:creationId xmlns:a16="http://schemas.microsoft.com/office/drawing/2014/main" id="{ADA22179-A064-4265-81BC-5D333CCB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19388"/>
            <a:ext cx="735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6" name="mekko-tick-1">
            <a:extLst xmlns:a="http://schemas.openxmlformats.org/drawingml/2006/main">
              <a:ext uri="{FF2B5EF4-FFF2-40B4-BE49-F238E27FC236}">
                <a16:creationId xmlns:a16="http://schemas.microsoft.com/office/drawing/2014/main" id="{CF98E80D-E21A-40BE-B5E1-C83DD9EC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5088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75%</a:t>
            </a:r>
          </a:p>
        </p:txBody>
      </p:sp>
      <p:sp>
        <p:nvSpPr>
          <p:cNvPr id="7" name="mekko-grid-2">
            <a:extLst xmlns:a="http://schemas.openxmlformats.org/drawingml/2006/main">
              <a:ext uri="{FF2B5EF4-FFF2-40B4-BE49-F238E27FC236}">
                <a16:creationId xmlns:a16="http://schemas.microsoft.com/office/drawing/2014/main" id="{D623D293-CEB2-4E3C-90A5-CE1C3482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57575"/>
            <a:ext cx="735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8" name="mekko-tick-2">
            <a:extLst xmlns:a="http://schemas.openxmlformats.org/drawingml/2006/main">
              <a:ext uri="{FF2B5EF4-FFF2-40B4-BE49-F238E27FC236}">
                <a16:creationId xmlns:a16="http://schemas.microsoft.com/office/drawing/2014/main" id="{61FB7F73-3216-4249-B39D-8CE4657E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43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50%</a:t>
            </a:r>
          </a:p>
        </p:txBody>
      </p:sp>
      <p:sp>
        <p:nvSpPr>
          <p:cNvPr id="9" name="mekko-grid-3">
            <a:extLst xmlns:a="http://schemas.openxmlformats.org/drawingml/2006/main">
              <a:ext uri="{FF2B5EF4-FFF2-40B4-BE49-F238E27FC236}">
                <a16:creationId xmlns:a16="http://schemas.microsoft.com/office/drawing/2014/main" id="{E1A5295C-E0ED-4D7E-A950-936BDB03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5763"/>
            <a:ext cx="735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10" name="mekko-tick-3">
            <a:extLst xmlns:a="http://schemas.openxmlformats.org/drawingml/2006/main">
              <a:ext uri="{FF2B5EF4-FFF2-40B4-BE49-F238E27FC236}">
                <a16:creationId xmlns:a16="http://schemas.microsoft.com/office/drawing/2014/main" id="{C988A9C8-9A05-4336-AFB4-AFB62F0E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81463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25%</a:t>
            </a:r>
          </a:p>
        </p:txBody>
      </p:sp>
      <p:sp>
        <p:nvSpPr>
          <p:cNvPr id="11" name="mekko-grid-4">
            <a:extLst xmlns:a="http://schemas.openxmlformats.org/drawingml/2006/main">
              <a:ext uri="{FF2B5EF4-FFF2-40B4-BE49-F238E27FC236}">
                <a16:creationId xmlns:a16="http://schemas.microsoft.com/office/drawing/2014/main" id="{0661BFA8-5A49-4285-8CD7-6BA403B8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735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12" name="mekko-tick-4">
            <a:extLst xmlns:a="http://schemas.openxmlformats.org/drawingml/2006/main">
              <a:ext uri="{FF2B5EF4-FFF2-40B4-BE49-F238E27FC236}">
                <a16:creationId xmlns:a16="http://schemas.microsoft.com/office/drawing/2014/main" id="{2F5379D6-2035-4640-8C74-2DBC313B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0%</a:t>
            </a:r>
          </a:p>
        </p:txBody>
      </p:sp>
      <p:sp>
        <p:nvSpPr>
          <p:cNvPr id="13" name="mekko-1-1">
            <a:extLst xmlns:a="http://schemas.openxmlformats.org/drawingml/2006/main">
              <a:ext uri="{FF2B5EF4-FFF2-40B4-BE49-F238E27FC236}">
                <a16:creationId xmlns:a16="http://schemas.microsoft.com/office/drawing/2014/main" id="{F12A804B-4A8D-487A-94F1-83CE2E8E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7258"/>
            <a:ext cx="2353056" cy="2066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4" name="mekko-1-2">
            <a:extLst xmlns:a="http://schemas.openxmlformats.org/drawingml/2006/main">
              <a:ext uri="{FF2B5EF4-FFF2-40B4-BE49-F238E27FC236}">
                <a16:creationId xmlns:a16="http://schemas.microsoft.com/office/drawing/2014/main" id="{AA96283C-FEBD-4632-BA65-6C088FDF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5213"/>
            <a:ext cx="2353056" cy="11220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mekko-label-1-2">
            <a:extLst xmlns:a="http://schemas.openxmlformats.org/drawingml/2006/main">
              <a:ext uri="{FF2B5EF4-FFF2-40B4-BE49-F238E27FC236}">
                <a16:creationId xmlns:a16="http://schemas.microsoft.com/office/drawing/2014/main" id="{FCE58052-6811-48EE-A75A-23A48063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2885"/>
            <a:ext cx="22768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opponent A 38%</a:t>
            </a:r>
          </a:p>
        </p:txBody>
      </p:sp>
      <p:sp>
        <p:nvSpPr>
          <p:cNvPr id="16" name="mekko-1-3">
            <a:extLst xmlns:a="http://schemas.openxmlformats.org/drawingml/2006/main">
              <a:ext uri="{FF2B5EF4-FFF2-40B4-BE49-F238E27FC236}">
                <a16:creationId xmlns:a16="http://schemas.microsoft.com/office/drawing/2014/main" id="{485C2935-AA0D-4F41-A4DE-FFA3A0A1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67025"/>
            <a:ext cx="2353056" cy="738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7" name="mekko-label-1-3">
            <a:extLst xmlns:a="http://schemas.openxmlformats.org/drawingml/2006/main">
              <a:ext uri="{FF2B5EF4-FFF2-40B4-BE49-F238E27FC236}">
                <a16:creationId xmlns:a16="http://schemas.microsoft.com/office/drawing/2014/main" id="{E225ADF5-933F-4E83-A8AE-204A6983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2769"/>
            <a:ext cx="22768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opponent B 25%</a:t>
            </a:r>
          </a:p>
        </p:txBody>
      </p:sp>
      <p:sp>
        <p:nvSpPr>
          <p:cNvPr id="18" name="mekko-1-4">
            <a:extLst xmlns:a="http://schemas.openxmlformats.org/drawingml/2006/main">
              <a:ext uri="{FF2B5EF4-FFF2-40B4-BE49-F238E27FC236}">
                <a16:creationId xmlns:a16="http://schemas.microsoft.com/office/drawing/2014/main" id="{EF264C01-85A6-4362-B3CB-F003B0E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2353056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6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9" name="mekko-label-1-4">
            <a:extLst xmlns:a="http://schemas.openxmlformats.org/drawingml/2006/main">
              <a:ext uri="{FF2B5EF4-FFF2-40B4-BE49-F238E27FC236}">
                <a16:creationId xmlns:a16="http://schemas.microsoft.com/office/drawing/2014/main" id="{DA4A2313-89CB-4F7D-862C-51354019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90763"/>
            <a:ext cx="22768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Others 30%</a:t>
            </a:r>
          </a:p>
        </p:txBody>
      </p:sp>
      <p:sp>
        <p:nvSpPr>
          <p:cNvPr id="20" name="mekko-top-1">
            <a:extLst xmlns:a="http://schemas.openxmlformats.org/drawingml/2006/main">
              <a:ext uri="{FF2B5EF4-FFF2-40B4-BE49-F238E27FC236}">
                <a16:creationId xmlns:a16="http://schemas.microsoft.com/office/drawing/2014/main" id="{E9E064A6-2512-4BD9-A766-E6FF9680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47800"/>
            <a:ext cx="235305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¥38 billion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CAGR +12%</a:t>
            </a:r>
          </a:p>
        </p:txBody>
      </p:sp>
      <p:sp>
        <p:nvSpPr>
          <p:cNvPr id="21" name="mekko-bottom-1">
            <a:extLst xmlns:a="http://schemas.openxmlformats.org/drawingml/2006/main">
              <a:ext uri="{FF2B5EF4-FFF2-40B4-BE49-F238E27FC236}">
                <a16:creationId xmlns:a16="http://schemas.microsoft.com/office/drawing/2014/main" id="{13AAB004-D8A0-4FDA-A369-5C368D51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23530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large enterprise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32%</a:t>
            </a:r>
          </a:p>
        </p:txBody>
      </p:sp>
      <p:sp>
        <p:nvSpPr>
          <p:cNvPr id="22" name="mekko-priority-1">
            <a:extLst xmlns:a="http://schemas.openxmlformats.org/drawingml/2006/main">
              <a:ext uri="{FF2B5EF4-FFF2-40B4-BE49-F238E27FC236}">
                <a16:creationId xmlns:a16="http://schemas.microsoft.com/office/drawing/2014/main" id="{4DFDA516-B37F-4B97-8A2D-820675D0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52625"/>
            <a:ext cx="2410206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872D"/>
            </a:solidFill>
            <a:prstDash val="solid"/>
          </a:ln>
        </p:spPr>
      </p:sp>
      <p:sp>
        <p:nvSpPr>
          <p:cNvPr id="23" name="mekko-2-1">
            <a:extLst xmlns:a="http://schemas.openxmlformats.org/drawingml/2006/main">
              <a:ext uri="{FF2B5EF4-FFF2-40B4-BE49-F238E27FC236}">
                <a16:creationId xmlns:a16="http://schemas.microsoft.com/office/drawing/2014/main" id="{DAD66856-2A21-439A-A901-FEC73633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956" y="4697730"/>
            <a:ext cx="1764792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4" name="mekko-2-2">
            <a:extLst xmlns:a="http://schemas.openxmlformats.org/drawingml/2006/main">
              <a:ext uri="{FF2B5EF4-FFF2-40B4-BE49-F238E27FC236}">
                <a16:creationId xmlns:a16="http://schemas.microsoft.com/office/drawing/2014/main" id="{35DCB0DA-5256-451B-B8E0-0D60F08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956" y="3693795"/>
            <a:ext cx="1764792" cy="1003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5" name="mekko-label-2-2">
            <a:extLst xmlns:a="http://schemas.openxmlformats.org/drawingml/2006/main">
              <a:ext uri="{FF2B5EF4-FFF2-40B4-BE49-F238E27FC236}">
                <a16:creationId xmlns:a16="http://schemas.microsoft.com/office/drawing/2014/main" id="{DEA16EC9-4F4D-457D-9CD9-584C2B1F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056" y="4062412"/>
            <a:ext cx="168859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opponent A 34%</a:t>
            </a:r>
          </a:p>
        </p:txBody>
      </p:sp>
      <p:sp>
        <p:nvSpPr>
          <p:cNvPr id="26" name="mekko-2-3">
            <a:extLst xmlns:a="http://schemas.openxmlformats.org/drawingml/2006/main">
              <a:ext uri="{FF2B5EF4-FFF2-40B4-BE49-F238E27FC236}">
                <a16:creationId xmlns:a16="http://schemas.microsoft.com/office/drawing/2014/main" id="{13540DC0-CF8B-4E41-B2AA-59BB613A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956" y="2867025"/>
            <a:ext cx="1764792" cy="826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7" name="mekko-label-2-3">
            <a:extLst xmlns:a="http://schemas.openxmlformats.org/drawingml/2006/main">
              <a:ext uri="{FF2B5EF4-FFF2-40B4-BE49-F238E27FC236}">
                <a16:creationId xmlns:a16="http://schemas.microsoft.com/office/drawing/2014/main" id="{E08225D3-6F68-4679-9CC5-7FD96175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056" y="3147060"/>
            <a:ext cx="168859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opponent B 28%</a:t>
            </a:r>
          </a:p>
        </p:txBody>
      </p:sp>
      <p:sp>
        <p:nvSpPr>
          <p:cNvPr id="28" name="mekko-2-4">
            <a:extLst xmlns:a="http://schemas.openxmlformats.org/drawingml/2006/main">
              <a:ext uri="{FF2B5EF4-FFF2-40B4-BE49-F238E27FC236}">
                <a16:creationId xmlns:a16="http://schemas.microsoft.com/office/drawing/2014/main" id="{D4B2FF2F-9160-42CD-988A-3656B7A9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956" y="1981200"/>
            <a:ext cx="1764792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6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9" name="mekko-label-2-4">
            <a:extLst xmlns:a="http://schemas.openxmlformats.org/drawingml/2006/main">
              <a:ext uri="{FF2B5EF4-FFF2-40B4-BE49-F238E27FC236}">
                <a16:creationId xmlns:a16="http://schemas.microsoft.com/office/drawing/2014/main" id="{60E2BE8B-B8C6-433F-B32E-48D3FC01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056" y="2290762"/>
            <a:ext cx="168859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Others 30%</a:t>
            </a:r>
          </a:p>
        </p:txBody>
      </p:sp>
      <p:sp>
        <p:nvSpPr>
          <p:cNvPr id="30" name="mekko-top-2">
            <a:extLst xmlns:a="http://schemas.openxmlformats.org/drawingml/2006/main">
              <a:ext uri="{FF2B5EF4-FFF2-40B4-BE49-F238E27FC236}">
                <a16:creationId xmlns:a16="http://schemas.microsoft.com/office/drawing/2014/main" id="{B66E8A9A-45D4-421A-8C35-576B1C22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956" y="1447800"/>
            <a:ext cx="176479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¥29 billion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CAGR +9%</a:t>
            </a:r>
          </a:p>
        </p:txBody>
      </p:sp>
      <p:sp>
        <p:nvSpPr>
          <p:cNvPr id="31" name="mekko-bottom-2">
            <a:extLst xmlns:a="http://schemas.openxmlformats.org/drawingml/2006/main">
              <a:ext uri="{FF2B5EF4-FFF2-40B4-BE49-F238E27FC236}">
                <a16:creationId xmlns:a16="http://schemas.microsoft.com/office/drawing/2014/main" id="{4B80C0A1-A2CF-4B1A-BBE3-68B27355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956" y="5010150"/>
            <a:ext cx="176479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medium-sized enterprise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24%</a:t>
            </a:r>
          </a:p>
        </p:txBody>
      </p:sp>
      <p:sp>
        <p:nvSpPr>
          <p:cNvPr id="32" name="mekko-priority-2">
            <a:extLst xmlns:a="http://schemas.openxmlformats.org/drawingml/2006/main">
              <a:ext uri="{FF2B5EF4-FFF2-40B4-BE49-F238E27FC236}">
                <a16:creationId xmlns:a16="http://schemas.microsoft.com/office/drawing/2014/main" id="{9A04FC52-F844-4E00-986D-1434D32D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381" y="1952625"/>
            <a:ext cx="1821942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872D"/>
            </a:solidFill>
            <a:prstDash val="solid"/>
          </a:ln>
        </p:spPr>
      </p:sp>
      <p:sp>
        <p:nvSpPr>
          <p:cNvPr id="33" name="mekko-3-1">
            <a:extLst xmlns:a="http://schemas.openxmlformats.org/drawingml/2006/main">
              <a:ext uri="{FF2B5EF4-FFF2-40B4-BE49-F238E27FC236}">
                <a16:creationId xmlns:a16="http://schemas.microsoft.com/office/drawing/2014/main" id="{DE01F420-E074-4D6D-A9B9-742E2D98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748" y="4520565"/>
            <a:ext cx="1323594" cy="413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4" name="mekko-label-3-1">
            <a:extLst xmlns:a="http://schemas.openxmlformats.org/drawingml/2006/main">
              <a:ext uri="{FF2B5EF4-FFF2-40B4-BE49-F238E27FC236}">
                <a16:creationId xmlns:a16="http://schemas.microsoft.com/office/drawing/2014/main" id="{CDBBED48-85F3-4B61-9A3E-B2C91187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848" y="4593908"/>
            <a:ext cx="124739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Our side 14%</a:t>
            </a:r>
          </a:p>
        </p:txBody>
      </p:sp>
      <p:sp>
        <p:nvSpPr>
          <p:cNvPr id="35" name="mekko-3-2">
            <a:extLst xmlns:a="http://schemas.openxmlformats.org/drawingml/2006/main">
              <a:ext uri="{FF2B5EF4-FFF2-40B4-BE49-F238E27FC236}">
                <a16:creationId xmlns:a16="http://schemas.microsoft.com/office/drawing/2014/main" id="{236235D6-F56C-42AC-BA29-6915E65A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748" y="3693795"/>
            <a:ext cx="1323594" cy="826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6" name="mekko-label-3-2">
            <a:extLst xmlns:a="http://schemas.openxmlformats.org/drawingml/2006/main">
              <a:ext uri="{FF2B5EF4-FFF2-40B4-BE49-F238E27FC236}">
                <a16:creationId xmlns:a16="http://schemas.microsoft.com/office/drawing/2014/main" id="{17392A92-40BE-40A9-AAFF-79646F91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848" y="3973830"/>
            <a:ext cx="124739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opponent A 28%</a:t>
            </a:r>
          </a:p>
        </p:txBody>
      </p:sp>
      <p:sp>
        <p:nvSpPr>
          <p:cNvPr id="37" name="mekko-3-3">
            <a:extLst xmlns:a="http://schemas.openxmlformats.org/drawingml/2006/main">
              <a:ext uri="{FF2B5EF4-FFF2-40B4-BE49-F238E27FC236}">
                <a16:creationId xmlns:a16="http://schemas.microsoft.com/office/drawing/2014/main" id="{A9404C32-EE87-4F6B-8997-D2BA2EF3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748" y="2985135"/>
            <a:ext cx="1323594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8" name="mekko-label-3-3">
            <a:extLst xmlns:a="http://schemas.openxmlformats.org/drawingml/2006/main">
              <a:ext uri="{FF2B5EF4-FFF2-40B4-BE49-F238E27FC236}">
                <a16:creationId xmlns:a16="http://schemas.microsoft.com/office/drawing/2014/main" id="{AB402476-8072-4CFE-AA13-E4F9631E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848" y="3206115"/>
            <a:ext cx="124739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opponent B 24%</a:t>
            </a:r>
          </a:p>
        </p:txBody>
      </p:sp>
      <p:sp>
        <p:nvSpPr>
          <p:cNvPr id="39" name="mekko-3-4">
            <a:extLst xmlns:a="http://schemas.openxmlformats.org/drawingml/2006/main">
              <a:ext uri="{FF2B5EF4-FFF2-40B4-BE49-F238E27FC236}">
                <a16:creationId xmlns:a16="http://schemas.microsoft.com/office/drawing/2014/main" id="{BB67C35E-306E-4095-B526-8736A634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748" y="1981200"/>
            <a:ext cx="1323594" cy="1003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6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0" name="mekko-label-3-4">
            <a:extLst xmlns:a="http://schemas.openxmlformats.org/drawingml/2006/main">
              <a:ext uri="{FF2B5EF4-FFF2-40B4-BE49-F238E27FC236}">
                <a16:creationId xmlns:a16="http://schemas.microsoft.com/office/drawing/2014/main" id="{44C7AB7D-B0C9-4B51-B832-DD79A916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848" y="2349818"/>
            <a:ext cx="124739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Others 34%</a:t>
            </a:r>
          </a:p>
        </p:txBody>
      </p:sp>
      <p:sp>
        <p:nvSpPr>
          <p:cNvPr id="41" name="mekko-top-3">
            <a:extLst xmlns:a="http://schemas.openxmlformats.org/drawingml/2006/main">
              <a:ext uri="{FF2B5EF4-FFF2-40B4-BE49-F238E27FC236}">
                <a16:creationId xmlns:a16="http://schemas.microsoft.com/office/drawing/2014/main" id="{B14166C0-D4A4-4F2A-BDF9-03983867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748" y="1447800"/>
            <a:ext cx="132359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¥22 billion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CAGR +5%</a:t>
            </a:r>
          </a:p>
        </p:txBody>
      </p:sp>
      <p:sp>
        <p:nvSpPr>
          <p:cNvPr id="42" name="mekko-bottom-3">
            <a:extLst xmlns:a="http://schemas.openxmlformats.org/drawingml/2006/main">
              <a:ext uri="{FF2B5EF4-FFF2-40B4-BE49-F238E27FC236}">
                <a16:creationId xmlns:a16="http://schemas.microsoft.com/office/drawing/2014/main" id="{9244A78A-C0D7-4817-89B5-4AF35EC9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748" y="5010150"/>
            <a:ext cx="132359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Small and micro enterprises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18%</a:t>
            </a:r>
          </a:p>
        </p:txBody>
      </p:sp>
      <p:sp>
        <p:nvSpPr>
          <p:cNvPr id="43" name="mekko-4-1">
            <a:extLst xmlns:a="http://schemas.openxmlformats.org/drawingml/2006/main">
              <a:ext uri="{FF2B5EF4-FFF2-40B4-BE49-F238E27FC236}">
                <a16:creationId xmlns:a16="http://schemas.microsoft.com/office/drawing/2014/main" id="{8225238E-B481-4D2A-94F8-451BB8A0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342" y="4609148"/>
            <a:ext cx="1102995" cy="3248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4" name="mekko-4-2">
            <a:extLst xmlns:a="http://schemas.openxmlformats.org/drawingml/2006/main">
              <a:ext uri="{FF2B5EF4-FFF2-40B4-BE49-F238E27FC236}">
                <a16:creationId xmlns:a16="http://schemas.microsoft.com/office/drawing/2014/main" id="{2A6362CE-4258-4638-8A33-BBFFB6AE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342" y="3693795"/>
            <a:ext cx="1102995" cy="9153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5" name="mekko-label-4-2">
            <a:extLst xmlns:a="http://schemas.openxmlformats.org/drawingml/2006/main">
              <a:ext uri="{FF2B5EF4-FFF2-40B4-BE49-F238E27FC236}">
                <a16:creationId xmlns:a16="http://schemas.microsoft.com/office/drawing/2014/main" id="{D9BDDEBB-7D40-459F-A213-B1C5F21B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442" y="4018121"/>
            <a:ext cx="10267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opponent A 31%</a:t>
            </a:r>
          </a:p>
        </p:txBody>
      </p:sp>
      <p:sp>
        <p:nvSpPr>
          <p:cNvPr id="46" name="mekko-4-3">
            <a:extLst xmlns:a="http://schemas.openxmlformats.org/drawingml/2006/main">
              <a:ext uri="{FF2B5EF4-FFF2-40B4-BE49-F238E27FC236}">
                <a16:creationId xmlns:a16="http://schemas.microsoft.com/office/drawing/2014/main" id="{9E8C379A-3555-4A47-96A9-8EEB64B1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342" y="3044190"/>
            <a:ext cx="1102995" cy="649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7" name="mekko-label-4-3">
            <a:extLst xmlns:a="http://schemas.openxmlformats.org/drawingml/2006/main">
              <a:ext uri="{FF2B5EF4-FFF2-40B4-BE49-F238E27FC236}">
                <a16:creationId xmlns:a16="http://schemas.microsoft.com/office/drawing/2014/main" id="{6D38251F-B778-496F-A76E-1681D582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442" y="3235643"/>
            <a:ext cx="10267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opponent B 22%</a:t>
            </a:r>
          </a:p>
        </p:txBody>
      </p:sp>
      <p:sp>
        <p:nvSpPr>
          <p:cNvPr id="48" name="mekko-4-4">
            <a:extLst xmlns:a="http://schemas.openxmlformats.org/drawingml/2006/main">
              <a:ext uri="{FF2B5EF4-FFF2-40B4-BE49-F238E27FC236}">
                <a16:creationId xmlns:a16="http://schemas.microsoft.com/office/drawing/2014/main" id="{B08FCC96-4368-4CCE-B2F9-EFE6D7F1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342" y="1981200"/>
            <a:ext cx="1102995" cy="1062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6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9" name="mekko-label-4-4">
            <a:extLst xmlns:a="http://schemas.openxmlformats.org/drawingml/2006/main">
              <a:ext uri="{FF2B5EF4-FFF2-40B4-BE49-F238E27FC236}">
                <a16:creationId xmlns:a16="http://schemas.microsoft.com/office/drawing/2014/main" id="{0518C3AF-C08D-403F-A7DE-88D964B9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442" y="2379345"/>
            <a:ext cx="10267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Others 36%</a:t>
            </a:r>
          </a:p>
        </p:txBody>
      </p:sp>
      <p:sp>
        <p:nvSpPr>
          <p:cNvPr id="50" name="mekko-top-4">
            <a:extLst xmlns:a="http://schemas.openxmlformats.org/drawingml/2006/main">
              <a:ext uri="{FF2B5EF4-FFF2-40B4-BE49-F238E27FC236}">
                <a16:creationId xmlns:a16="http://schemas.microsoft.com/office/drawing/2014/main" id="{406F13A2-E529-42B7-BBFB-6466C5A3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342" y="1447800"/>
            <a:ext cx="110299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¥18 billion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CAGR +7%</a:t>
            </a:r>
          </a:p>
        </p:txBody>
      </p:sp>
      <p:sp>
        <p:nvSpPr>
          <p:cNvPr id="51" name="mekko-bottom-4">
            <a:extLst xmlns:a="http://schemas.openxmlformats.org/drawingml/2006/main">
              <a:ext uri="{FF2B5EF4-FFF2-40B4-BE49-F238E27FC236}">
                <a16:creationId xmlns:a16="http://schemas.microsoft.com/office/drawing/2014/main" id="{A9EDBD25-B8C7-43C1-8E89-B347C3A3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342" y="5010150"/>
            <a:ext cx="110299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Government and enterprise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15%</a:t>
            </a:r>
          </a:p>
        </p:txBody>
      </p:sp>
      <p:sp>
        <p:nvSpPr>
          <p:cNvPr id="52" name="mekko-5-1">
            <a:extLst xmlns:a="http://schemas.openxmlformats.org/drawingml/2006/main">
              <a:ext uri="{FF2B5EF4-FFF2-40B4-BE49-F238E27FC236}">
                <a16:creationId xmlns:a16="http://schemas.microsoft.com/office/drawing/2014/main" id="{FEA5AECC-0C13-4B6A-BDE7-E6928251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337" y="4402455"/>
            <a:ext cx="808863" cy="531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3" name="mekko-label-5-1">
            <a:extLst xmlns:a="http://schemas.openxmlformats.org/drawingml/2006/main">
              <a:ext uri="{FF2B5EF4-FFF2-40B4-BE49-F238E27FC236}">
                <a16:creationId xmlns:a16="http://schemas.microsoft.com/office/drawing/2014/main" id="{956A9BB6-FF20-4EF6-AC9A-C3B918EC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437" y="4534853"/>
            <a:ext cx="7326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Our side 18%</a:t>
            </a:r>
          </a:p>
        </p:txBody>
      </p:sp>
      <p:sp>
        <p:nvSpPr>
          <p:cNvPr id="54" name="mekko-5-2">
            <a:extLst xmlns:a="http://schemas.openxmlformats.org/drawingml/2006/main">
              <a:ext uri="{FF2B5EF4-FFF2-40B4-BE49-F238E27FC236}">
                <a16:creationId xmlns:a16="http://schemas.microsoft.com/office/drawing/2014/main" id="{0549EB97-6ADD-4E96-9EA2-0E51673D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337" y="3664268"/>
            <a:ext cx="808863" cy="738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5" name="mekko-label-5-2">
            <a:extLst xmlns:a="http://schemas.openxmlformats.org/drawingml/2006/main">
              <a:ext uri="{FF2B5EF4-FFF2-40B4-BE49-F238E27FC236}">
                <a16:creationId xmlns:a16="http://schemas.microsoft.com/office/drawing/2014/main" id="{92AD14E1-8F03-4BDB-8463-D8B34117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437" y="3900011"/>
            <a:ext cx="7326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opponent A 25%</a:t>
            </a:r>
          </a:p>
        </p:txBody>
      </p:sp>
      <p:sp>
        <p:nvSpPr>
          <p:cNvPr id="56" name="mekko-5-3">
            <a:extLst xmlns:a="http://schemas.openxmlformats.org/drawingml/2006/main">
              <a:ext uri="{FF2B5EF4-FFF2-40B4-BE49-F238E27FC236}">
                <a16:creationId xmlns:a16="http://schemas.microsoft.com/office/drawing/2014/main" id="{B89F3A24-A0F2-48D2-BEB6-9CB23F75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337" y="3073718"/>
            <a:ext cx="80886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7" name="mekko-label-5-3">
            <a:extLst xmlns:a="http://schemas.openxmlformats.org/drawingml/2006/main">
              <a:ext uri="{FF2B5EF4-FFF2-40B4-BE49-F238E27FC236}">
                <a16:creationId xmlns:a16="http://schemas.microsoft.com/office/drawing/2014/main" id="{4855F6F9-3E4C-4DE2-8BD8-CDCA782B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437" y="3235643"/>
            <a:ext cx="7326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opponent B 20%</a:t>
            </a:r>
          </a:p>
        </p:txBody>
      </p:sp>
      <p:sp>
        <p:nvSpPr>
          <p:cNvPr id="58" name="mekko-5-4">
            <a:extLst xmlns:a="http://schemas.openxmlformats.org/drawingml/2006/main">
              <a:ext uri="{FF2B5EF4-FFF2-40B4-BE49-F238E27FC236}">
                <a16:creationId xmlns:a16="http://schemas.microsoft.com/office/drawing/2014/main" id="{235B35AB-11A7-4C3A-A1DC-D355FDF4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337" y="1981200"/>
            <a:ext cx="808863" cy="1092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6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mekko-label-5-4">
            <a:extLst xmlns:a="http://schemas.openxmlformats.org/drawingml/2006/main">
              <a:ext uri="{FF2B5EF4-FFF2-40B4-BE49-F238E27FC236}">
                <a16:creationId xmlns:a16="http://schemas.microsoft.com/office/drawing/2014/main" id="{97D58B1E-05C0-4DC6-9FA7-9F019E3F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437" y="2394109"/>
            <a:ext cx="7326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Others 37%</a:t>
            </a:r>
          </a:p>
        </p:txBody>
      </p:sp>
      <p:sp>
        <p:nvSpPr>
          <p:cNvPr id="60" name="mekko-top-5">
            <a:extLst xmlns:a="http://schemas.openxmlformats.org/drawingml/2006/main">
              <a:ext uri="{FF2B5EF4-FFF2-40B4-BE49-F238E27FC236}">
                <a16:creationId xmlns:a16="http://schemas.microsoft.com/office/drawing/2014/main" id="{40204369-ABBB-41E4-9526-7B0ABC72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337" y="1447800"/>
            <a:ext cx="8088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¥13 billion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CAGR +3%</a:t>
            </a:r>
          </a:p>
        </p:txBody>
      </p:sp>
      <p:sp>
        <p:nvSpPr>
          <p:cNvPr id="61" name="mekko-bottom-5">
            <a:extLst xmlns:a="http://schemas.openxmlformats.org/drawingml/2006/main">
              <a:ext uri="{FF2B5EF4-FFF2-40B4-BE49-F238E27FC236}">
                <a16:creationId xmlns:a16="http://schemas.microsoft.com/office/drawing/2014/main" id="{897456FA-DB68-44F5-B5DC-DFDD68C8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337" y="5010150"/>
            <a:ext cx="8088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personal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11%</a:t>
            </a:r>
          </a:p>
        </p:txBody>
      </p:sp>
      <p:sp>
        <p:nvSpPr>
          <p:cNvPr id="62" name="key insights-rail">
            <a:extLst xmlns:a="http://schemas.openxmlformats.org/drawingml/2006/main">
              <a:ext uri="{FF2B5EF4-FFF2-40B4-BE49-F238E27FC236}">
                <a16:creationId xmlns:a16="http://schemas.microsoft.com/office/drawing/2014/main" id="{F8648E36-7997-4A18-ABCD-F3B28F87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00150"/>
            <a:ext cx="2686050" cy="44767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63" name="key insights-title">
            <a:extLst xmlns:a="http://schemas.openxmlformats.org/drawingml/2006/main">
              <a:ext uri="{FF2B5EF4-FFF2-40B4-BE49-F238E27FC236}">
                <a16:creationId xmlns:a16="http://schemas.microsoft.com/office/drawing/2014/main" id="{087E3AE0-394C-4CAC-AF86-5F33ED77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335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key insights</a:t>
            </a:r>
          </a:p>
        </p:txBody>
      </p:sp>
      <p:sp>
        <p:nvSpPr>
          <p:cNvPr id="64" name="key insights-item-1">
            <a:extLst xmlns:a="http://schemas.openxmlformats.org/drawingml/2006/main">
              <a:ext uri="{FF2B5EF4-FFF2-40B4-BE49-F238E27FC236}">
                <a16:creationId xmlns:a16="http://schemas.microsoft.com/office/drawing/2014/main" id="{AD7423E0-6C04-41B7-952C-742712F0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716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Large and medium-sized enterprises occupy the market 56%</a:t>
            </a:r>
          </a:p>
        </p:txBody>
      </p:sp>
      <p:sp>
        <p:nvSpPr>
          <p:cNvPr id="65" name="key insights-item-2">
            <a:extLst xmlns:a="http://schemas.openxmlformats.org/drawingml/2006/main">
              <a:ext uri="{FF2B5EF4-FFF2-40B4-BE49-F238E27FC236}">
                <a16:creationId xmlns:a16="http://schemas.microsoft.com/office/drawing/2014/main" id="{A31C880D-D454-46F4-8156-E09C92B3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3370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Our share in both major segments is lower than 8%</a:t>
            </a:r>
          </a:p>
        </p:txBody>
      </p:sp>
      <p:sp>
        <p:nvSpPr>
          <p:cNvPr id="66" name="key insights-item-3">
            <a:extLst xmlns:a="http://schemas.openxmlformats.org/drawingml/2006/main">
              <a:ext uri="{FF2B5EF4-FFF2-40B4-BE49-F238E27FC236}">
                <a16:creationId xmlns:a16="http://schemas.microsoft.com/office/drawing/2014/main" id="{95C60500-730F-4D95-9C8A-73B5DB7A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Prioritizing investment in two major segments can cover the main growth space</a:t>
            </a:r>
          </a:p>
        </p:txBody>
      </p:sp>
      <p:sp>
        <p:nvSpPr>
          <p:cNvPr id="67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ECD5DABD-1150-4D39-9E28-98389472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Resource priority is shifted to the segmentation of large and medium-sized enterprises</a:t>
            </a:r>
          </a:p>
        </p:txBody>
      </p:sp>
    </p:spTree>
    <p:extLst>
      <p:ext uri="{BB962C8B-B14F-4D97-AF65-F5344CB8AC3E}">
        <p14:creationId xmlns:p14="http://schemas.microsoft.com/office/powerpoint/2010/main" val="1703786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2026-07-31T20:15:40.4600000Z</dcterms:created>
  <dcterms:modified xsi:type="dcterms:W3CDTF">2026-07-31T20:15:40.4600000Z</dcterms:modified>
</coreProperties>
</file>