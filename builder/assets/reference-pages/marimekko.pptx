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3b59af72844716" /><Relationship Type="http://schemas.openxmlformats.org/officeDocument/2006/relationships/extended-properties" Target="/docProps/app.xml" Id="Rae88d8fa90d5463c" /><Relationship Type="http://schemas.openxmlformats.org/officeDocument/2006/relationships/officeDocument" Target="/ppt/presentation.xml" Id="R88d07ab7f8e049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61503b5e434065"/>
  </p:sldMasterIdLst>
  <p:notesMasterIdLst>
    <p:notesMasterId xmlns:r="http://schemas.openxmlformats.org/officeDocument/2006/relationships" r:id="R8008d85d826d4996"/>
  </p:notesMasterIdLst>
  <p:sldIdLst>
    <p:sldId xmlns:r="http://schemas.openxmlformats.org/officeDocument/2006/relationships" id="256" r:id="R70947db8137047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d095e8756e4e92" /><Relationship Type="http://schemas.openxmlformats.org/officeDocument/2006/relationships/slideMaster" Target="/ppt/slideMasters/slideMaster1.xml" Id="R6661503b5e434065" /><Relationship Type="http://schemas.openxmlformats.org/officeDocument/2006/relationships/notesMaster" Target="/ppt/notesMasters/notesMaster1.xml" Id="R8008d85d826d4996" /><Relationship Type="http://schemas.openxmlformats.org/officeDocument/2006/relationships/presProps" Target="/ppt/presProps.xml" Id="Re7d55606a4d047bf" /><Relationship Type="http://schemas.openxmlformats.org/officeDocument/2006/relationships/tableStyles" Target="/ppt/tableStyles.xml" Id="R149e47de3fd44e5b" /><Relationship Type="http://schemas.openxmlformats.org/officeDocument/2006/relationships/slide" Target="/ppt/slides/slide1.xml" Id="R70947db8137047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1374e8e47c49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74e41008184a4f" /><Relationship Type="http://schemas.openxmlformats.org/officeDocument/2006/relationships/notesMaster" Target="/ppt/notesMasters/notesMaster1.xml" Id="R13b0d4922eaf4a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0bba6fa90343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31f1769b7f48ee" /><Relationship Type="http://schemas.openxmlformats.org/officeDocument/2006/relationships/slideLayout" Target="/ppt/slideLayouts/slideLayout1.xml" Id="R876694dcf01c4c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6694dcf01c4c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eb2f87e454cf3" /><Relationship Type="http://schemas.openxmlformats.org/officeDocument/2006/relationships/notesSlide" Target="/ppt/notesSlides/notesSlide1.xml" Id="Rd733ba56525c46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page-title">
            <a:extLst xmlns:a="http://schemas.openxmlformats.org/drawingml/2006/main">
              <a:ext uri="{FF2B5EF4-FFF2-40B4-BE49-F238E27FC236}">
                <a16:creationId xmlns:a16="http://schemas.microsoft.com/office/drawing/2014/main" id="{4CBDE7D6-20FA-4335-A8C6-F890FDD9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56% 的市场集中在两个细分，但我方份额不足 8%</a:t>
            </a:r>
          </a:p>
        </p:txBody>
      </p:sp>
      <p:sp>
        <p:nvSpPr>
          <p:cNvPr id="2" name="mekko-frame">
            <a:extLst xmlns:a="http://schemas.openxmlformats.org/drawingml/2006/main">
              <a:ext uri="{FF2B5EF4-FFF2-40B4-BE49-F238E27FC236}">
                <a16:creationId xmlns:a16="http://schemas.microsoft.com/office/drawing/2014/main" id="{E7416673-6EEF-485A-86AF-ACDA0009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8096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mekko-grid-0">
            <a:extLst xmlns:a="http://schemas.openxmlformats.org/drawingml/2006/main">
              <a:ext uri="{FF2B5EF4-FFF2-40B4-BE49-F238E27FC236}">
                <a16:creationId xmlns:a16="http://schemas.microsoft.com/office/drawing/2014/main" id="{9F4C8282-56B9-423F-BC82-9136CCBE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4" name="mekko-tick-0">
            <a:extLst xmlns:a="http://schemas.openxmlformats.org/drawingml/2006/main">
              <a:ext uri="{FF2B5EF4-FFF2-40B4-BE49-F238E27FC236}">
                <a16:creationId xmlns:a16="http://schemas.microsoft.com/office/drawing/2014/main" id="{A5B5CF33-7543-4906-B745-BD56B46B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18669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¥38亿</a:t>
            </a:r>
          </a:p>
        </p:txBody>
      </p:sp>
      <p:sp>
        <p:nvSpPr>
          <p:cNvPr id="5" name="mekko-grid-1">
            <a:extLst xmlns:a="http://schemas.openxmlformats.org/drawingml/2006/main">
              <a:ext uri="{FF2B5EF4-FFF2-40B4-BE49-F238E27FC236}">
                <a16:creationId xmlns:a16="http://schemas.microsoft.com/office/drawing/2014/main" id="{BB9C48EA-65B1-4A73-BEC7-5FCDE9FD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19388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6" name="mekko-tick-1">
            <a:extLst xmlns:a="http://schemas.openxmlformats.org/drawingml/2006/main">
              <a:ext uri="{FF2B5EF4-FFF2-40B4-BE49-F238E27FC236}">
                <a16:creationId xmlns:a16="http://schemas.microsoft.com/office/drawing/2014/main" id="{A6FEDFF1-37F3-4509-987B-A12E5D54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605088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¥28.5亿</a:t>
            </a:r>
          </a:p>
        </p:txBody>
      </p:sp>
      <p:sp>
        <p:nvSpPr>
          <p:cNvPr id="7" name="mekko-grid-2">
            <a:extLst xmlns:a="http://schemas.openxmlformats.org/drawingml/2006/main">
              <a:ext uri="{FF2B5EF4-FFF2-40B4-BE49-F238E27FC236}">
                <a16:creationId xmlns:a16="http://schemas.microsoft.com/office/drawing/2014/main" id="{A1813E6E-C6EE-4DDA-995A-B44BC72B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57575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8" name="mekko-tick-2">
            <a:extLst xmlns:a="http://schemas.openxmlformats.org/drawingml/2006/main">
              <a:ext uri="{FF2B5EF4-FFF2-40B4-BE49-F238E27FC236}">
                <a16:creationId xmlns:a16="http://schemas.microsoft.com/office/drawing/2014/main" id="{E0E9CDB3-193D-4678-BEAF-94C615CF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3343275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¥19亿</a:t>
            </a:r>
          </a:p>
        </p:txBody>
      </p:sp>
      <p:sp>
        <p:nvSpPr>
          <p:cNvPr id="9" name="mekko-grid-3">
            <a:extLst xmlns:a="http://schemas.openxmlformats.org/drawingml/2006/main">
              <a:ext uri="{FF2B5EF4-FFF2-40B4-BE49-F238E27FC236}">
                <a16:creationId xmlns:a16="http://schemas.microsoft.com/office/drawing/2014/main" id="{F63C7A88-E9E9-4262-8369-DE5554A4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95763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0" name="mekko-tick-3">
            <a:extLst xmlns:a="http://schemas.openxmlformats.org/drawingml/2006/main">
              <a:ext uri="{FF2B5EF4-FFF2-40B4-BE49-F238E27FC236}">
                <a16:creationId xmlns:a16="http://schemas.microsoft.com/office/drawing/2014/main" id="{25646EC2-AF57-456B-876D-6FB670C9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081463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¥9.5亿</a:t>
            </a:r>
          </a:p>
        </p:txBody>
      </p:sp>
      <p:sp>
        <p:nvSpPr>
          <p:cNvPr id="11" name="mekko-grid-4">
            <a:extLst xmlns:a="http://schemas.openxmlformats.org/drawingml/2006/main">
              <a:ext uri="{FF2B5EF4-FFF2-40B4-BE49-F238E27FC236}">
                <a16:creationId xmlns:a16="http://schemas.microsoft.com/office/drawing/2014/main" id="{0E94B6B3-FE1A-46C1-8383-B21E5665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33950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2" name="mekko-tick-4">
            <a:extLst xmlns:a="http://schemas.openxmlformats.org/drawingml/2006/main">
              <a:ext uri="{FF2B5EF4-FFF2-40B4-BE49-F238E27FC236}">
                <a16:creationId xmlns:a16="http://schemas.microsoft.com/office/drawing/2014/main" id="{59BFBB95-6CC5-43EE-AACB-10176AEF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8196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¥0亿</a:t>
            </a:r>
          </a:p>
        </p:txBody>
      </p:sp>
      <p:sp>
        <p:nvSpPr>
          <p:cNvPr id="13" name="mekko-1-1">
            <a:extLst xmlns:a="http://schemas.openxmlformats.org/drawingml/2006/main">
              <a:ext uri="{FF2B5EF4-FFF2-40B4-BE49-F238E27FC236}">
                <a16:creationId xmlns:a16="http://schemas.microsoft.com/office/drawing/2014/main" id="{558A28B8-D694-45E6-8259-D6CA89C3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00838"/>
            <a:ext cx="2328545" cy="233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4" name="mekko-1-2">
            <a:extLst xmlns:a="http://schemas.openxmlformats.org/drawingml/2006/main">
              <a:ext uri="{FF2B5EF4-FFF2-40B4-BE49-F238E27FC236}">
                <a16:creationId xmlns:a16="http://schemas.microsoft.com/office/drawing/2014/main" id="{8FF41192-BB93-4105-9327-E3173DA7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2983"/>
            <a:ext cx="2328545" cy="10878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mekko-label-1-2">
            <a:extLst xmlns:a="http://schemas.openxmlformats.org/drawingml/2006/main">
              <a:ext uri="{FF2B5EF4-FFF2-40B4-BE49-F238E27FC236}">
                <a16:creationId xmlns:a16="http://schemas.microsoft.com/office/drawing/2014/main" id="{AD8BBF23-3110-4B19-9A13-BF29A800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3561"/>
            <a:ext cx="22523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A ¥14亿</a:t>
            </a:r>
          </a:p>
        </p:txBody>
      </p:sp>
      <p:sp>
        <p:nvSpPr>
          <p:cNvPr id="16" name="mekko-1-3">
            <a:extLst xmlns:a="http://schemas.openxmlformats.org/drawingml/2006/main">
              <a:ext uri="{FF2B5EF4-FFF2-40B4-BE49-F238E27FC236}">
                <a16:creationId xmlns:a16="http://schemas.microsoft.com/office/drawing/2014/main" id="{4B225860-6B3C-4C03-87DC-8A185EFF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5943"/>
            <a:ext cx="2328545" cy="7770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7" name="mekko-label-1-3">
            <a:extLst xmlns:a="http://schemas.openxmlformats.org/drawingml/2006/main">
              <a:ext uri="{FF2B5EF4-FFF2-40B4-BE49-F238E27FC236}">
                <a16:creationId xmlns:a16="http://schemas.microsoft.com/office/drawing/2014/main" id="{172CA254-C571-407A-8399-CF7C4E82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91113"/>
            <a:ext cx="22523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B ¥10亿</a:t>
            </a:r>
          </a:p>
        </p:txBody>
      </p:sp>
      <p:sp>
        <p:nvSpPr>
          <p:cNvPr id="18" name="mekko-1-4">
            <a:extLst xmlns:a="http://schemas.openxmlformats.org/drawingml/2006/main">
              <a:ext uri="{FF2B5EF4-FFF2-40B4-BE49-F238E27FC236}">
                <a16:creationId xmlns:a16="http://schemas.microsoft.com/office/drawing/2014/main" id="{AE79A7E9-C98F-44E0-A64F-B6E13D9D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2328545" cy="85474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9" name="mekko-label-1-4">
            <a:extLst xmlns:a="http://schemas.openxmlformats.org/drawingml/2006/main">
              <a:ext uri="{FF2B5EF4-FFF2-40B4-BE49-F238E27FC236}">
                <a16:creationId xmlns:a16="http://schemas.microsoft.com/office/drawing/2014/main" id="{1F9A1B13-6EE6-4B0A-91E7-894CD134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75222"/>
            <a:ext cx="225234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¥11亿</a:t>
            </a:r>
          </a:p>
        </p:txBody>
      </p:sp>
      <p:sp>
        <p:nvSpPr>
          <p:cNvPr id="20" name="mekko-top-1">
            <a:extLst xmlns:a="http://schemas.openxmlformats.org/drawingml/2006/main">
              <a:ext uri="{FF2B5EF4-FFF2-40B4-BE49-F238E27FC236}">
                <a16:creationId xmlns:a16="http://schemas.microsoft.com/office/drawing/2014/main" id="{56EDB4C8-87D7-4C92-9CFC-1C3288E2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447800"/>
            <a:ext cx="232854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¥38 亿</a:t>
            </a:r>
          </a:p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+12%</a:t>
            </a:r>
          </a:p>
        </p:txBody>
      </p:sp>
      <p:sp>
        <p:nvSpPr>
          <p:cNvPr id="21" name="mekko-bottom-1">
            <a:extLst xmlns:a="http://schemas.openxmlformats.org/drawingml/2006/main">
              <a:ext uri="{FF2B5EF4-FFF2-40B4-BE49-F238E27FC236}">
                <a16:creationId xmlns:a16="http://schemas.microsoft.com/office/drawing/2014/main" id="{6D551CAE-99E8-4097-AD79-F1885CDE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10150"/>
            <a:ext cx="232854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大型企业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¥38亿</a:t>
            </a:r>
          </a:p>
        </p:txBody>
      </p:sp>
      <p:sp>
        <p:nvSpPr>
          <p:cNvPr id="22" name="mekko-priority-1">
            <a:extLst xmlns:a="http://schemas.openxmlformats.org/drawingml/2006/main">
              <a:ext uri="{FF2B5EF4-FFF2-40B4-BE49-F238E27FC236}">
                <a16:creationId xmlns:a16="http://schemas.microsoft.com/office/drawing/2014/main" id="{5CDC22EF-6396-454E-BCF4-B1200DAB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52625"/>
            <a:ext cx="2385695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23" name="mekko-2-1">
            <a:extLst xmlns:a="http://schemas.openxmlformats.org/drawingml/2006/main">
              <a:ext uri="{FF2B5EF4-FFF2-40B4-BE49-F238E27FC236}">
                <a16:creationId xmlns:a16="http://schemas.microsoft.com/office/drawing/2014/main" id="{78E14DA7-9DED-48EE-99D1-D037F057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445" y="4778542"/>
            <a:ext cx="1777048" cy="1554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4" name="mekko-2-2">
            <a:extLst xmlns:a="http://schemas.openxmlformats.org/drawingml/2006/main">
              <a:ext uri="{FF2B5EF4-FFF2-40B4-BE49-F238E27FC236}">
                <a16:creationId xmlns:a16="http://schemas.microsoft.com/office/drawing/2014/main" id="{B0D3CCE4-5F1F-4C3A-AFF9-01057A73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445" y="4001503"/>
            <a:ext cx="1777048" cy="7770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5" name="mekko-label-2-2">
            <a:extLst xmlns:a="http://schemas.openxmlformats.org/drawingml/2006/main">
              <a:ext uri="{FF2B5EF4-FFF2-40B4-BE49-F238E27FC236}">
                <a16:creationId xmlns:a16="http://schemas.microsoft.com/office/drawing/2014/main" id="{65F62433-4ED8-42E9-A777-5C1C5A83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545" y="4256672"/>
            <a:ext cx="170084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A ¥10亿</a:t>
            </a:r>
          </a:p>
        </p:txBody>
      </p:sp>
      <p:sp>
        <p:nvSpPr>
          <p:cNvPr id="26" name="mekko-2-3">
            <a:extLst xmlns:a="http://schemas.openxmlformats.org/drawingml/2006/main">
              <a:ext uri="{FF2B5EF4-FFF2-40B4-BE49-F238E27FC236}">
                <a16:creationId xmlns:a16="http://schemas.microsoft.com/office/drawing/2014/main" id="{1DE22FFE-4E9E-4592-8D08-BB923F68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445" y="3379871"/>
            <a:ext cx="1777048" cy="6216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7" name="mekko-label-2-3">
            <a:extLst xmlns:a="http://schemas.openxmlformats.org/drawingml/2006/main">
              <a:ext uri="{FF2B5EF4-FFF2-40B4-BE49-F238E27FC236}">
                <a16:creationId xmlns:a16="http://schemas.microsoft.com/office/drawing/2014/main" id="{535E0307-0269-4E69-A6D2-3A2E5AD3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545" y="3557337"/>
            <a:ext cx="170084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FFFFFF"/>
                </a:solidFill>
              </a:defRPr>
            </a:pPr>
            <a:r>
              <a:rPr sz="1600" b="0">
                <a:solidFill>
                  <a:srgbClr val="FFFFFF"/>
                </a:solidFill>
              </a:rPr>
              <a:t>对手 B ¥8亿</a:t>
            </a:r>
          </a:p>
        </p:txBody>
      </p:sp>
      <p:sp>
        <p:nvSpPr>
          <p:cNvPr id="28" name="mekko-2-4">
            <a:extLst xmlns:a="http://schemas.openxmlformats.org/drawingml/2006/main">
              <a:ext uri="{FF2B5EF4-FFF2-40B4-BE49-F238E27FC236}">
                <a16:creationId xmlns:a16="http://schemas.microsoft.com/office/drawing/2014/main" id="{6E989107-D3B5-48CE-BC08-8EF24607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445" y="2680536"/>
            <a:ext cx="1777048" cy="699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9" name="mekko-label-2-4">
            <a:extLst xmlns:a="http://schemas.openxmlformats.org/drawingml/2006/main">
              <a:ext uri="{FF2B5EF4-FFF2-40B4-BE49-F238E27FC236}">
                <a16:creationId xmlns:a16="http://schemas.microsoft.com/office/drawing/2014/main" id="{76EE29E2-F8F5-41F7-929F-3B7F7106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545" y="2896853"/>
            <a:ext cx="1700848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¥9亿</a:t>
            </a:r>
          </a:p>
        </p:txBody>
      </p:sp>
      <p:sp>
        <p:nvSpPr>
          <p:cNvPr id="30" name="mekko-top-2">
            <a:extLst xmlns:a="http://schemas.openxmlformats.org/drawingml/2006/main">
              <a:ext uri="{FF2B5EF4-FFF2-40B4-BE49-F238E27FC236}">
                <a16:creationId xmlns:a16="http://schemas.microsoft.com/office/drawing/2014/main" id="{A84001CF-C305-4F31-8BAA-718F38FE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445" y="1447800"/>
            <a:ext cx="177704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¥29 亿</a:t>
            </a:r>
          </a:p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+9%</a:t>
            </a:r>
          </a:p>
        </p:txBody>
      </p:sp>
      <p:sp>
        <p:nvSpPr>
          <p:cNvPr id="31" name="mekko-bottom-2">
            <a:extLst xmlns:a="http://schemas.openxmlformats.org/drawingml/2006/main">
              <a:ext uri="{FF2B5EF4-FFF2-40B4-BE49-F238E27FC236}">
                <a16:creationId xmlns:a16="http://schemas.microsoft.com/office/drawing/2014/main" id="{2176A943-3DE2-462D-A1DB-6C2C02B8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445" y="5010150"/>
            <a:ext cx="177704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中型企业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¥29亿</a:t>
            </a:r>
          </a:p>
        </p:txBody>
      </p:sp>
      <p:sp>
        <p:nvSpPr>
          <p:cNvPr id="32" name="mekko-priority-2">
            <a:extLst xmlns:a="http://schemas.openxmlformats.org/drawingml/2006/main">
              <a:ext uri="{FF2B5EF4-FFF2-40B4-BE49-F238E27FC236}">
                <a16:creationId xmlns:a16="http://schemas.microsoft.com/office/drawing/2014/main" id="{79084898-E81F-43BE-9647-A8EDFE95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870" y="1952625"/>
            <a:ext cx="1834198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33" name="mekko-3-1">
            <a:extLst xmlns:a="http://schemas.openxmlformats.org/drawingml/2006/main">
              <a:ext uri="{FF2B5EF4-FFF2-40B4-BE49-F238E27FC236}">
                <a16:creationId xmlns:a16="http://schemas.microsoft.com/office/drawing/2014/main" id="{ADFAB8FD-9FF8-4B93-A6A7-9C3CF6C2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493" y="4700838"/>
            <a:ext cx="1348105" cy="233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4" name="mekko-3-2">
            <a:extLst xmlns:a="http://schemas.openxmlformats.org/drawingml/2006/main">
              <a:ext uri="{FF2B5EF4-FFF2-40B4-BE49-F238E27FC236}">
                <a16:creationId xmlns:a16="http://schemas.microsoft.com/office/drawing/2014/main" id="{ADDD2BC6-1EB4-4A6F-A841-120C9439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493" y="4234614"/>
            <a:ext cx="1348105" cy="466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5" name="mekko-3-3">
            <a:extLst xmlns:a="http://schemas.openxmlformats.org/drawingml/2006/main">
              <a:ext uri="{FF2B5EF4-FFF2-40B4-BE49-F238E27FC236}">
                <a16:creationId xmlns:a16="http://schemas.microsoft.com/office/drawing/2014/main" id="{DAAE15B3-BC34-44E9-B6A8-46C427A8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493" y="3846095"/>
            <a:ext cx="1348105" cy="388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6" name="mekko-3-4">
            <a:extLst xmlns:a="http://schemas.openxmlformats.org/drawingml/2006/main">
              <a:ext uri="{FF2B5EF4-FFF2-40B4-BE49-F238E27FC236}">
                <a16:creationId xmlns:a16="http://schemas.microsoft.com/office/drawing/2014/main" id="{A937FC1A-4E75-4966-9BD4-7CD131A5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493" y="3224463"/>
            <a:ext cx="1348105" cy="6216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7" name="mekko-label-3-4">
            <a:extLst xmlns:a="http://schemas.openxmlformats.org/drawingml/2006/main">
              <a:ext uri="{FF2B5EF4-FFF2-40B4-BE49-F238E27FC236}">
                <a16:creationId xmlns:a16="http://schemas.microsoft.com/office/drawing/2014/main" id="{95A69CEB-62AD-4AC1-B2BF-9041DCAA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593" y="3401929"/>
            <a:ext cx="127190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其他 ¥8亿</a:t>
            </a:r>
          </a:p>
        </p:txBody>
      </p:sp>
      <p:sp>
        <p:nvSpPr>
          <p:cNvPr id="38" name="mekko-top-3">
            <a:extLst xmlns:a="http://schemas.openxmlformats.org/drawingml/2006/main">
              <a:ext uri="{FF2B5EF4-FFF2-40B4-BE49-F238E27FC236}">
                <a16:creationId xmlns:a16="http://schemas.microsoft.com/office/drawing/2014/main" id="{11C7EC53-12B8-4CD0-A894-2C5AC4A0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493" y="1447800"/>
            <a:ext cx="134810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¥22 亿</a:t>
            </a:r>
          </a:p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+5%</a:t>
            </a:r>
          </a:p>
        </p:txBody>
      </p:sp>
      <p:sp>
        <p:nvSpPr>
          <p:cNvPr id="39" name="mekko-bottom-3">
            <a:extLst xmlns:a="http://schemas.openxmlformats.org/drawingml/2006/main">
              <a:ext uri="{FF2B5EF4-FFF2-40B4-BE49-F238E27FC236}">
                <a16:creationId xmlns:a16="http://schemas.microsoft.com/office/drawing/2014/main" id="{C7823FF5-0B0A-4740-8420-89432E4C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493" y="5010150"/>
            <a:ext cx="134810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小微企业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¥22亿</a:t>
            </a:r>
          </a:p>
        </p:txBody>
      </p:sp>
      <p:sp>
        <p:nvSpPr>
          <p:cNvPr id="40" name="mekko-4-1">
            <a:extLst xmlns:a="http://schemas.openxmlformats.org/drawingml/2006/main">
              <a:ext uri="{FF2B5EF4-FFF2-40B4-BE49-F238E27FC236}">
                <a16:creationId xmlns:a16="http://schemas.microsoft.com/office/drawing/2014/main" id="{19BB2F0D-1524-434C-A9C6-D87570BD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597" y="4778542"/>
            <a:ext cx="1102995" cy="1554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1" name="mekko-4-2">
            <a:extLst xmlns:a="http://schemas.openxmlformats.org/drawingml/2006/main">
              <a:ext uri="{FF2B5EF4-FFF2-40B4-BE49-F238E27FC236}">
                <a16:creationId xmlns:a16="http://schemas.microsoft.com/office/drawing/2014/main" id="{2F74C869-98FF-4481-92B4-23E7CCF5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597" y="4312318"/>
            <a:ext cx="1102995" cy="466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2" name="mekko-4-3">
            <a:extLst xmlns:a="http://schemas.openxmlformats.org/drawingml/2006/main">
              <a:ext uri="{FF2B5EF4-FFF2-40B4-BE49-F238E27FC236}">
                <a16:creationId xmlns:a16="http://schemas.microsoft.com/office/drawing/2014/main" id="{81D2FFCA-DD4E-4466-AA12-487A962C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597" y="4001503"/>
            <a:ext cx="1102995" cy="310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3" name="mekko-4-4">
            <a:extLst xmlns:a="http://schemas.openxmlformats.org/drawingml/2006/main">
              <a:ext uri="{FF2B5EF4-FFF2-40B4-BE49-F238E27FC236}">
                <a16:creationId xmlns:a16="http://schemas.microsoft.com/office/drawing/2014/main" id="{0625B812-1CB1-4D27-B945-5AB982E4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597" y="3535279"/>
            <a:ext cx="1102995" cy="4662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4" name="mekko-top-4">
            <a:extLst xmlns:a="http://schemas.openxmlformats.org/drawingml/2006/main">
              <a:ext uri="{FF2B5EF4-FFF2-40B4-BE49-F238E27FC236}">
                <a16:creationId xmlns:a16="http://schemas.microsoft.com/office/drawing/2014/main" id="{D0C07A80-8DAA-46BA-A19F-881C8A44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597" y="1447800"/>
            <a:ext cx="110299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¥18 亿</a:t>
            </a:r>
          </a:p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+7%</a:t>
            </a:r>
          </a:p>
        </p:txBody>
      </p:sp>
      <p:sp>
        <p:nvSpPr>
          <p:cNvPr id="45" name="mekko-bottom-4">
            <a:extLst xmlns:a="http://schemas.openxmlformats.org/drawingml/2006/main">
              <a:ext uri="{FF2B5EF4-FFF2-40B4-BE49-F238E27FC236}">
                <a16:creationId xmlns:a16="http://schemas.microsoft.com/office/drawing/2014/main" id="{E3ABF6BB-B7D5-434D-B671-20F85D4C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597" y="5010150"/>
            <a:ext cx="110299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政企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¥18亿</a:t>
            </a:r>
          </a:p>
        </p:txBody>
      </p:sp>
      <p:sp>
        <p:nvSpPr>
          <p:cNvPr id="46" name="mekko-5-1">
            <a:extLst xmlns:a="http://schemas.openxmlformats.org/drawingml/2006/main">
              <a:ext uri="{FF2B5EF4-FFF2-40B4-BE49-F238E27FC236}">
                <a16:creationId xmlns:a16="http://schemas.microsoft.com/office/drawing/2014/main" id="{356A6C3D-C7A4-419A-94C2-0C89C90B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592" y="4778542"/>
            <a:ext cx="796608" cy="1554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7" name="mekko-5-2">
            <a:extLst xmlns:a="http://schemas.openxmlformats.org/drawingml/2006/main">
              <a:ext uri="{FF2B5EF4-FFF2-40B4-BE49-F238E27FC236}">
                <a16:creationId xmlns:a16="http://schemas.microsoft.com/office/drawing/2014/main" id="{CD5B1C8A-B0D4-4A51-A061-0509C4EB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592" y="4545430"/>
            <a:ext cx="796608" cy="233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8" name="mekko-5-3">
            <a:extLst xmlns:a="http://schemas.openxmlformats.org/drawingml/2006/main">
              <a:ext uri="{FF2B5EF4-FFF2-40B4-BE49-F238E27FC236}">
                <a16:creationId xmlns:a16="http://schemas.microsoft.com/office/drawing/2014/main" id="{F6CDB012-E30B-4145-BB05-B3E8CB72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592" y="4312318"/>
            <a:ext cx="796608" cy="233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9" name="mekko-5-4">
            <a:extLst xmlns:a="http://schemas.openxmlformats.org/drawingml/2006/main">
              <a:ext uri="{FF2B5EF4-FFF2-40B4-BE49-F238E27FC236}">
                <a16:creationId xmlns:a16="http://schemas.microsoft.com/office/drawing/2014/main" id="{B924178F-E37E-418B-A474-9CB27507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592" y="3923799"/>
            <a:ext cx="796608" cy="388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8C6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50" name="mekko-top-5">
            <a:extLst xmlns:a="http://schemas.openxmlformats.org/drawingml/2006/main">
              <a:ext uri="{FF2B5EF4-FFF2-40B4-BE49-F238E27FC236}">
                <a16:creationId xmlns:a16="http://schemas.microsoft.com/office/drawing/2014/main" id="{FB3E1761-FF3A-40AB-B6E4-66A4D8BA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592" y="1447800"/>
            <a:ext cx="79660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¥13 亿</a:t>
            </a:r>
          </a:p>
          <a:p xmlns:a="http://schemas.openxmlformats.org/drawingml/2006/main">
            <a:pPr algn="ctr">
              <a:defRPr sz="1400" b="1">
                <a:solidFill>
                  <a:srgbClr val="15375F"/>
                </a:solidFill>
              </a:defRPr>
            </a:pPr>
            <a:r>
              <a:rPr sz="1400" b="1">
                <a:solidFill>
                  <a:srgbClr val="15375F"/>
                </a:solidFill>
              </a:rPr>
              <a:t>+3%</a:t>
            </a:r>
          </a:p>
        </p:txBody>
      </p:sp>
      <p:sp>
        <p:nvSpPr>
          <p:cNvPr id="51" name="mekko-bottom-5">
            <a:extLst xmlns:a="http://schemas.openxmlformats.org/drawingml/2006/main">
              <a:ext uri="{FF2B5EF4-FFF2-40B4-BE49-F238E27FC236}">
                <a16:creationId xmlns:a16="http://schemas.microsoft.com/office/drawing/2014/main" id="{6064C83B-B7D8-41E0-8971-ADC3F253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592" y="5010150"/>
            <a:ext cx="79660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个人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¥13亿</a:t>
            </a:r>
          </a:p>
        </p:txBody>
      </p:sp>
      <p:sp>
        <p:nvSpPr>
          <p:cNvPr id="52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5C81F436-5A83-43EB-92B4-44172655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200150"/>
            <a:ext cx="26860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53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E31F4499-B6EE-496F-8ED3-26A506B6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3335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54" name="关键洞察-item-1">
            <a:extLst xmlns:a="http://schemas.openxmlformats.org/drawingml/2006/main">
              <a:ext uri="{FF2B5EF4-FFF2-40B4-BE49-F238E27FC236}">
                <a16:creationId xmlns:a16="http://schemas.microsoft.com/office/drawing/2014/main" id="{EB23DFC2-7D84-4545-84A3-2B4678DD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7165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大型与中型企业占市场 56%</a:t>
            </a:r>
          </a:p>
        </p:txBody>
      </p:sp>
      <p:sp>
        <p:nvSpPr>
          <p:cNvPr id="55" name="关键洞察-item-2">
            <a:extLst xmlns:a="http://schemas.openxmlformats.org/drawingml/2006/main">
              <a:ext uri="{FF2B5EF4-FFF2-40B4-BE49-F238E27FC236}">
                <a16:creationId xmlns:a16="http://schemas.microsoft.com/office/drawing/2014/main" id="{6489918B-9D58-469C-B9CA-295C2572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3370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我方在两大细分份额均低于 8%</a:t>
            </a:r>
          </a:p>
        </p:txBody>
      </p:sp>
      <p:sp>
        <p:nvSpPr>
          <p:cNvPr id="56" name="关键洞察-item-3">
            <a:extLst xmlns:a="http://schemas.openxmlformats.org/drawingml/2006/main">
              <a:ext uri="{FF2B5EF4-FFF2-40B4-BE49-F238E27FC236}">
                <a16:creationId xmlns:a16="http://schemas.microsoft.com/office/drawing/2014/main" id="{9863F606-0554-4234-BB98-965DDEFC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2381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优先投入两大细分可覆盖主要增长空间</a:t>
            </a:r>
          </a:p>
        </p:txBody>
      </p:sp>
      <p:sp>
        <p:nvSpPr>
          <p:cNvPr id="57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59FA3295-F102-4879-A834-83039E98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资源优先转向大型与中型企业细分</a:t>
            </a:r>
          </a:p>
        </p:txBody>
      </p:sp>
    </p:spTree>
    <p:extLst>
      <p:ext uri="{BB962C8B-B14F-4D97-AF65-F5344CB8AC3E}">
        <p14:creationId xmlns:p14="http://schemas.microsoft.com/office/powerpoint/2010/main" val="379820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2026-08-10T17:45:48.0440000Z</dcterms:created>
  <dcterms:modified xsi:type="dcterms:W3CDTF">2026-08-10T17:45:48.0440000Z</dcterms:modified>
</coreProperties>
</file>