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1a20d9c58146bc" /><Relationship Type="http://schemas.openxmlformats.org/officeDocument/2006/relationships/extended-properties" Target="/docProps/app.xml" Id="R8d72dd158e1a4438" /><Relationship Type="http://schemas.openxmlformats.org/officeDocument/2006/relationships/officeDocument" Target="/ppt/presentation.xml" Id="Rbbb458c879844c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3482e9376442b5"/>
  </p:sldMasterIdLst>
  <p:notesMasterIdLst>
    <p:notesMasterId xmlns:r="http://schemas.openxmlformats.org/officeDocument/2006/relationships" r:id="Rea0d2a5916b042e1"/>
  </p:notesMasterIdLst>
  <p:sldIdLst>
    <p:sldId xmlns:r="http://schemas.openxmlformats.org/officeDocument/2006/relationships" id="256" r:id="R0b30de033e5346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bd9cf3998e493a" /><Relationship Type="http://schemas.openxmlformats.org/officeDocument/2006/relationships/slideMaster" Target="/ppt/slideMasters/slideMaster1.xml" Id="R613482e9376442b5" /><Relationship Type="http://schemas.openxmlformats.org/officeDocument/2006/relationships/notesMaster" Target="/ppt/notesMasters/notesMaster1.xml" Id="Rea0d2a5916b042e1" /><Relationship Type="http://schemas.openxmlformats.org/officeDocument/2006/relationships/presProps" Target="/ppt/presProps.xml" Id="Raa977de777e64761" /><Relationship Type="http://schemas.openxmlformats.org/officeDocument/2006/relationships/tableStyles" Target="/ppt/tableStyles.xml" Id="Rfce7aae756aa4c10" /><Relationship Type="http://schemas.openxmlformats.org/officeDocument/2006/relationships/slide" Target="/ppt/slides/slide1.xml" Id="R0b30de033e5346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2489170b844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52c99f403544bb" /><Relationship Type="http://schemas.openxmlformats.org/officeDocument/2006/relationships/notesMaster" Target="/ppt/notesMasters/notesMaster1.xml" Id="R7a703f616acd4d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70f083b10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9f7a00fa974284" /><Relationship Type="http://schemas.openxmlformats.org/officeDocument/2006/relationships/slideLayout" Target="/ppt/slideLayouts/slideLayout1.xml" Id="R16054237273640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054237273640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fc225f3ab44a7" /><Relationship Type="http://schemas.openxmlformats.org/officeDocument/2006/relationships/notesSlide" Target="/ppt/notesSlides/notesSlide1.xml" Id="Rcdc691d0f64e4b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page-title">
            <a:extLst xmlns:a="http://schemas.openxmlformats.org/drawingml/2006/main">
              <a:ext uri="{FF2B5EF4-FFF2-40B4-BE49-F238E27FC236}">
                <a16:creationId xmlns:a16="http://schemas.microsoft.com/office/drawing/2014/main" id="{BDC5DB45-C385-4910-83A0-DDDBD383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Resultant 70% The fluctuation comes from two variables, and the remaining six can not be controlled for the time being.</a:t>
            </a:r>
          </a:p>
        </p:txBody>
      </p:sp>
      <p:sp>
        <p:nvSpPr>
          <p:cNvPr id="2" name="tornado-frame">
            <a:extLst xmlns:a="http://schemas.openxmlformats.org/drawingml/2006/main">
              <a:ext uri="{FF2B5EF4-FFF2-40B4-BE49-F238E27FC236}">
                <a16:creationId xmlns:a16="http://schemas.microsoft.com/office/drawing/2014/main" id="{DB9D5009-5A32-471A-92FC-7C4BC4EE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8286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tornado-base">
            <a:extLst xmlns:a="http://schemas.openxmlformats.org/drawingml/2006/main">
              <a:ext uri="{FF2B5EF4-FFF2-40B4-BE49-F238E27FC236}">
                <a16:creationId xmlns:a16="http://schemas.microsoft.com/office/drawing/2014/main" id="{3CD29C6C-3D71-4282-AA3C-46D1C62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669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15375F"/>
            </a:solidFill>
            <a:prstDash val="solid"/>
          </a:ln>
        </p:spPr>
      </p:sp>
      <p:sp>
        <p:nvSpPr>
          <p:cNvPr id="4" name="tornado-base-label">
            <a:extLst xmlns:a="http://schemas.openxmlformats.org/drawingml/2006/main">
              <a:ext uri="{FF2B5EF4-FFF2-40B4-BE49-F238E27FC236}">
                <a16:creationId xmlns:a16="http://schemas.microsoft.com/office/drawing/2014/main" id="{1D1D0D63-179B-4CCE-8EF9-89C9AD65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24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benchmark 100</a:t>
            </a:r>
          </a:p>
        </p:txBody>
      </p:sp>
      <p:sp>
        <p:nvSpPr>
          <p:cNvPr id="5" name="priority-row-1">
            <a:extLst xmlns:a="http://schemas.openxmlformats.org/drawingml/2006/main">
              <a:ext uri="{FF2B5EF4-FFF2-40B4-BE49-F238E27FC236}">
                <a16:creationId xmlns:a16="http://schemas.microsoft.com/office/drawing/2014/main" id="{8430783C-124D-45EB-B024-F7A4E537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813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ar-1">
            <a:extLst xmlns:a="http://schemas.openxmlformats.org/drawingml/2006/main">
              <a:ext uri="{FF2B5EF4-FFF2-40B4-BE49-F238E27FC236}">
                <a16:creationId xmlns:a16="http://schemas.microsoft.com/office/drawing/2014/main" id="{4B8F1971-2250-45E1-B8D4-8E392B01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price realization rate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90% / 100% / 108%</a:t>
            </a:r>
          </a:p>
        </p:txBody>
      </p:sp>
      <p:sp>
        <p:nvSpPr>
          <p:cNvPr id="7" name="low-1">
            <a:extLst xmlns:a="http://schemas.openxmlformats.org/drawingml/2006/main">
              <a:ext uri="{FF2B5EF4-FFF2-40B4-BE49-F238E27FC236}">
                <a16:creationId xmlns:a16="http://schemas.microsoft.com/office/drawing/2014/main" id="{A0E7AFFE-FE7F-4E46-975D-66476D3B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7332" y="2105025"/>
            <a:ext cx="1408043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8" name="high-1">
            <a:extLst xmlns:a="http://schemas.openxmlformats.org/drawingml/2006/main">
              <a:ext uri="{FF2B5EF4-FFF2-40B4-BE49-F238E27FC236}">
                <a16:creationId xmlns:a16="http://schemas.microsoft.com/office/drawing/2014/main" id="{FBAA5EFD-5E79-4102-B22F-4FF59E84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05025"/>
            <a:ext cx="1206894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9" name="low-label-1">
            <a:extLst xmlns:a="http://schemas.openxmlformats.org/drawingml/2006/main">
              <a:ext uri="{FF2B5EF4-FFF2-40B4-BE49-F238E27FC236}">
                <a16:creationId xmlns:a16="http://schemas.microsoft.com/office/drawing/2014/main" id="{0D224F9A-06D9-4231-9001-55264CE5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032" y="20955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72</a:t>
            </a:r>
          </a:p>
        </p:txBody>
      </p:sp>
      <p:sp>
        <p:nvSpPr>
          <p:cNvPr id="10" name="high-label-1">
            <a:extLst xmlns:a="http://schemas.openxmlformats.org/drawingml/2006/main">
              <a:ext uri="{FF2B5EF4-FFF2-40B4-BE49-F238E27FC236}">
                <a16:creationId xmlns:a16="http://schemas.microsoft.com/office/drawing/2014/main" id="{41C70F0F-DEF2-4FF9-B1AD-E8CEF903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419" y="20955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124</a:t>
            </a:r>
          </a:p>
        </p:txBody>
      </p:sp>
      <p:sp>
        <p:nvSpPr>
          <p:cNvPr id="11" name="control-1">
            <a:extLst xmlns:a="http://schemas.openxmlformats.org/drawingml/2006/main">
              <a:ext uri="{FF2B5EF4-FFF2-40B4-BE49-F238E27FC236}">
                <a16:creationId xmlns:a16="http://schemas.microsoft.com/office/drawing/2014/main" id="{6495466F-9F1D-46DE-AE98-BA1CF68D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high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Strong</a:t>
            </a:r>
          </a:p>
        </p:txBody>
      </p:sp>
      <p:sp>
        <p:nvSpPr>
          <p:cNvPr id="12" name="priority-row-2">
            <a:extLst xmlns:a="http://schemas.openxmlformats.org/drawingml/2006/main">
              <a:ext uri="{FF2B5EF4-FFF2-40B4-BE49-F238E27FC236}">
                <a16:creationId xmlns:a16="http://schemas.microsoft.com/office/drawing/2014/main" id="{6A4A6A67-3BD0-4EA6-B92D-41D8845C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8134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var-2">
            <a:extLst xmlns:a="http://schemas.openxmlformats.org/drawingml/2006/main">
              <a:ext uri="{FF2B5EF4-FFF2-40B4-BE49-F238E27FC236}">
                <a16:creationId xmlns:a16="http://schemas.microsoft.com/office/drawing/2014/main" id="{7837425F-8095-4EA8-9FCB-C470DDB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Sales growth</a:t>
            </a:r>
          </a:p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-8% / 5% / 15%</a:t>
            </a:r>
          </a:p>
        </p:txBody>
      </p:sp>
      <p:sp>
        <p:nvSpPr>
          <p:cNvPr id="14" name="low-2">
            <a:extLst xmlns:a="http://schemas.openxmlformats.org/drawingml/2006/main">
              <a:ext uri="{FF2B5EF4-FFF2-40B4-BE49-F238E27FC236}">
                <a16:creationId xmlns:a16="http://schemas.microsoft.com/office/drawing/2014/main" id="{4C5EA4F5-5578-43E9-B704-88C7F74D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630" y="2505075"/>
            <a:ext cx="100574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15" name="high-2">
            <a:extLst xmlns:a="http://schemas.openxmlformats.org/drawingml/2006/main">
              <a:ext uri="{FF2B5EF4-FFF2-40B4-BE49-F238E27FC236}">
                <a16:creationId xmlns:a16="http://schemas.microsoft.com/office/drawing/2014/main" id="{B2743810-5212-4CC2-B6E3-9DD0DB65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05075"/>
            <a:ext cx="90517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16" name="low-label-2">
            <a:extLst xmlns:a="http://schemas.openxmlformats.org/drawingml/2006/main">
              <a:ext uri="{FF2B5EF4-FFF2-40B4-BE49-F238E27FC236}">
                <a16:creationId xmlns:a16="http://schemas.microsoft.com/office/drawing/2014/main" id="{4D6A3EDC-1FF1-4253-B33D-6C475C82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330" y="24955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80</a:t>
            </a:r>
          </a:p>
        </p:txBody>
      </p:sp>
      <p:sp>
        <p:nvSpPr>
          <p:cNvPr id="17" name="high-label-2">
            <a:extLst xmlns:a="http://schemas.openxmlformats.org/drawingml/2006/main">
              <a:ext uri="{FF2B5EF4-FFF2-40B4-BE49-F238E27FC236}">
                <a16:creationId xmlns:a16="http://schemas.microsoft.com/office/drawing/2014/main" id="{07EEE4AC-AC22-4183-8D75-FA541431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696" y="24955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118</a:t>
            </a:r>
          </a:p>
        </p:txBody>
      </p:sp>
      <p:sp>
        <p:nvSpPr>
          <p:cNvPr id="18" name="control-2">
            <a:extLst xmlns:a="http://schemas.openxmlformats.org/drawingml/2006/main">
              <a:ext uri="{FF2B5EF4-FFF2-40B4-BE49-F238E27FC236}">
                <a16:creationId xmlns:a16="http://schemas.microsoft.com/office/drawing/2014/main" id="{B38A06C7-D244-4335-9BCD-3F2262C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384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in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Strong</a:t>
            </a:r>
          </a:p>
        </p:txBody>
      </p:sp>
      <p:sp>
        <p:nvSpPr>
          <p:cNvPr id="19" name="var-3">
            <a:extLst xmlns:a="http://schemas.openxmlformats.org/drawingml/2006/main">
              <a:ext uri="{FF2B5EF4-FFF2-40B4-BE49-F238E27FC236}">
                <a16:creationId xmlns:a16="http://schemas.microsoft.com/office/drawing/2014/main" id="{094876B7-6573-4A9C-B595-4E60226B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product portfolio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low / benchmark / high</a:t>
            </a:r>
          </a:p>
        </p:txBody>
      </p:sp>
      <p:sp>
        <p:nvSpPr>
          <p:cNvPr id="20" name="low-3">
            <a:extLst xmlns:a="http://schemas.openxmlformats.org/drawingml/2006/main">
              <a:ext uri="{FF2B5EF4-FFF2-40B4-BE49-F238E27FC236}">
                <a16:creationId xmlns:a16="http://schemas.microsoft.com/office/drawing/2014/main" id="{295C6A4D-40F3-4A74-AD33-BF5EC3D9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64" y="2905125"/>
            <a:ext cx="35201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21" name="high-3">
            <a:extLst xmlns:a="http://schemas.openxmlformats.org/drawingml/2006/main">
              <a:ext uri="{FF2B5EF4-FFF2-40B4-BE49-F238E27FC236}">
                <a16:creationId xmlns:a16="http://schemas.microsoft.com/office/drawing/2014/main" id="{77AD0F9B-2CDC-4F15-B49D-B3941F92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35201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22" name="low-label-3">
            <a:extLst xmlns:a="http://schemas.openxmlformats.org/drawingml/2006/main">
              <a:ext uri="{FF2B5EF4-FFF2-40B4-BE49-F238E27FC236}">
                <a16:creationId xmlns:a16="http://schemas.microsoft.com/office/drawing/2014/main" id="{712255DB-6826-4ECF-AB32-215931D0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064" y="2895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93</a:t>
            </a:r>
          </a:p>
        </p:txBody>
      </p:sp>
      <p:sp>
        <p:nvSpPr>
          <p:cNvPr id="23" name="high-label-3">
            <a:extLst xmlns:a="http://schemas.openxmlformats.org/drawingml/2006/main">
              <a:ext uri="{FF2B5EF4-FFF2-40B4-BE49-F238E27FC236}">
                <a16:creationId xmlns:a16="http://schemas.microsoft.com/office/drawing/2014/main" id="{D2D0A414-0E5C-4D12-BAA8-D2CF038D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536" y="2895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107</a:t>
            </a:r>
          </a:p>
        </p:txBody>
      </p:sp>
      <p:sp>
        <p:nvSpPr>
          <p:cNvPr id="24" name="control-3">
            <a:extLst xmlns:a="http://schemas.openxmlformats.org/drawingml/2006/main">
              <a:ext uri="{FF2B5EF4-FFF2-40B4-BE49-F238E27FC236}">
                <a16:creationId xmlns:a16="http://schemas.microsoft.com/office/drawing/2014/main" id="{EF359256-5B8D-4029-B8D9-99C56511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in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in</a:t>
            </a:r>
          </a:p>
        </p:txBody>
      </p:sp>
      <p:sp>
        <p:nvSpPr>
          <p:cNvPr id="25" name="var-4">
            <a:extLst xmlns:a="http://schemas.openxmlformats.org/drawingml/2006/main">
              <a:ext uri="{FF2B5EF4-FFF2-40B4-BE49-F238E27FC236}">
                <a16:creationId xmlns:a16="http://schemas.microsoft.com/office/drawing/2014/main" id="{C43E266D-6777-4689-BF89-748A9E17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Labor cost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-3% / 0% / +6%</a:t>
            </a:r>
          </a:p>
        </p:txBody>
      </p:sp>
      <p:sp>
        <p:nvSpPr>
          <p:cNvPr id="26" name="low-4">
            <a:extLst xmlns:a="http://schemas.openxmlformats.org/drawingml/2006/main">
              <a:ext uri="{FF2B5EF4-FFF2-40B4-BE49-F238E27FC236}">
                <a16:creationId xmlns:a16="http://schemas.microsoft.com/office/drawing/2014/main" id="{BF101728-BE2B-49D6-AB9A-92E91090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939" y="3305175"/>
            <a:ext cx="25143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27" name="high-4">
            <a:extLst xmlns:a="http://schemas.openxmlformats.org/drawingml/2006/main">
              <a:ext uri="{FF2B5EF4-FFF2-40B4-BE49-F238E27FC236}">
                <a16:creationId xmlns:a16="http://schemas.microsoft.com/office/drawing/2014/main" id="{4C5D9457-3709-4534-8E4F-8EFCEA61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05175"/>
            <a:ext cx="251436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28" name="low-label-4">
            <a:extLst xmlns:a="http://schemas.openxmlformats.org/drawingml/2006/main">
              <a:ext uri="{FF2B5EF4-FFF2-40B4-BE49-F238E27FC236}">
                <a16:creationId xmlns:a16="http://schemas.microsoft.com/office/drawing/2014/main" id="{22E1824C-D78F-4559-966D-C4BA3C67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7639" y="32956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95</a:t>
            </a:r>
          </a:p>
        </p:txBody>
      </p:sp>
      <p:sp>
        <p:nvSpPr>
          <p:cNvPr id="29" name="high-label-4">
            <a:extLst xmlns:a="http://schemas.openxmlformats.org/drawingml/2006/main">
              <a:ext uri="{FF2B5EF4-FFF2-40B4-BE49-F238E27FC236}">
                <a16:creationId xmlns:a16="http://schemas.microsoft.com/office/drawing/2014/main" id="{1A39F82D-3532-4A7A-8274-BD24A91F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961" y="32956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105</a:t>
            </a:r>
          </a:p>
        </p:txBody>
      </p:sp>
      <p:sp>
        <p:nvSpPr>
          <p:cNvPr id="30" name="control-4">
            <a:extLst xmlns:a="http://schemas.openxmlformats.org/drawingml/2006/main">
              <a:ext uri="{FF2B5EF4-FFF2-40B4-BE49-F238E27FC236}">
                <a16:creationId xmlns:a16="http://schemas.microsoft.com/office/drawing/2014/main" id="{C8D86B60-F0ED-4D82-B574-2A3B5E1F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high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Strong</a:t>
            </a:r>
          </a:p>
        </p:txBody>
      </p:sp>
      <p:sp>
        <p:nvSpPr>
          <p:cNvPr id="31" name="var-5">
            <a:extLst xmlns:a="http://schemas.openxmlformats.org/drawingml/2006/main">
              <a:ext uri="{FF2B5EF4-FFF2-40B4-BE49-F238E27FC236}">
                <a16:creationId xmlns:a16="http://schemas.microsoft.com/office/drawing/2014/main" id="{BB998DBE-4C3E-42CC-9DD6-2BA10C66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Raw material price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-5% / 0% / +5%</a:t>
            </a:r>
          </a:p>
        </p:txBody>
      </p:sp>
      <p:sp>
        <p:nvSpPr>
          <p:cNvPr id="32" name="low-5">
            <a:extLst xmlns:a="http://schemas.openxmlformats.org/drawingml/2006/main">
              <a:ext uri="{FF2B5EF4-FFF2-40B4-BE49-F238E27FC236}">
                <a16:creationId xmlns:a16="http://schemas.microsoft.com/office/drawing/2014/main" id="{A4F5D2F0-AE5E-499B-AB4F-E8A52097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4226" y="3705225"/>
            <a:ext cx="20114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33" name="high-5">
            <a:extLst xmlns:a="http://schemas.openxmlformats.org/drawingml/2006/main">
              <a:ext uri="{FF2B5EF4-FFF2-40B4-BE49-F238E27FC236}">
                <a16:creationId xmlns:a16="http://schemas.microsoft.com/office/drawing/2014/main" id="{AC0D292C-4DE9-4689-84B1-EEC4E0EB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05225"/>
            <a:ext cx="201149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34" name="low-label-5">
            <a:extLst xmlns:a="http://schemas.openxmlformats.org/drawingml/2006/main">
              <a:ext uri="{FF2B5EF4-FFF2-40B4-BE49-F238E27FC236}">
                <a16:creationId xmlns:a16="http://schemas.microsoft.com/office/drawing/2014/main" id="{B74B98D4-FD09-4CA5-AF81-59F7DA5F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7926" y="3695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96</a:t>
            </a:r>
          </a:p>
        </p:txBody>
      </p:sp>
      <p:sp>
        <p:nvSpPr>
          <p:cNvPr id="35" name="high-label-5">
            <a:extLst xmlns:a="http://schemas.openxmlformats.org/drawingml/2006/main">
              <a:ext uri="{FF2B5EF4-FFF2-40B4-BE49-F238E27FC236}">
                <a16:creationId xmlns:a16="http://schemas.microsoft.com/office/drawing/2014/main" id="{17619BB6-9985-4B94-B1E3-84E91180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674" y="36957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104</a:t>
            </a:r>
          </a:p>
        </p:txBody>
      </p:sp>
      <p:sp>
        <p:nvSpPr>
          <p:cNvPr id="36" name="control-5">
            <a:extLst xmlns:a="http://schemas.openxmlformats.org/drawingml/2006/main">
              <a:ext uri="{FF2B5EF4-FFF2-40B4-BE49-F238E27FC236}">
                <a16:creationId xmlns:a16="http://schemas.microsoft.com/office/drawing/2014/main" id="{9FE5C400-D050-4265-9809-81D97887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low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in</a:t>
            </a:r>
          </a:p>
        </p:txBody>
      </p:sp>
      <p:sp>
        <p:nvSpPr>
          <p:cNvPr id="37" name="var-6">
            <a:extLst xmlns:a="http://schemas.openxmlformats.org/drawingml/2006/main">
              <a:ext uri="{FF2B5EF4-FFF2-40B4-BE49-F238E27FC236}">
                <a16:creationId xmlns:a16="http://schemas.microsoft.com/office/drawing/2014/main" id="{367FFAE0-DED8-4B6F-B855-3DAEE43B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exchange rate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6.8 / 7.1 / 7.4</a:t>
            </a:r>
          </a:p>
        </p:txBody>
      </p:sp>
      <p:sp>
        <p:nvSpPr>
          <p:cNvPr id="38" name="low-6">
            <a:extLst xmlns:a="http://schemas.openxmlformats.org/drawingml/2006/main">
              <a:ext uri="{FF2B5EF4-FFF2-40B4-BE49-F238E27FC236}">
                <a16:creationId xmlns:a16="http://schemas.microsoft.com/office/drawing/2014/main" id="{5D8B9388-1308-48DD-9789-36D9C3E4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800" y="4105275"/>
            <a:ext cx="100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39" name="high-6">
            <a:extLst xmlns:a="http://schemas.openxmlformats.org/drawingml/2006/main">
              <a:ext uri="{FF2B5EF4-FFF2-40B4-BE49-F238E27FC236}">
                <a16:creationId xmlns:a16="http://schemas.microsoft.com/office/drawing/2014/main" id="{7C97C49F-B3CB-47E5-BEE5-A994CE5A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05275"/>
            <a:ext cx="100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40" name="low-label-6">
            <a:extLst xmlns:a="http://schemas.openxmlformats.org/drawingml/2006/main">
              <a:ext uri="{FF2B5EF4-FFF2-40B4-BE49-F238E27FC236}">
                <a16:creationId xmlns:a16="http://schemas.microsoft.com/office/drawing/2014/main" id="{894DE7B0-50F6-46D5-B800-07408A3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8500" y="40957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98</a:t>
            </a:r>
          </a:p>
        </p:txBody>
      </p:sp>
      <p:sp>
        <p:nvSpPr>
          <p:cNvPr id="41" name="high-label-6">
            <a:extLst xmlns:a="http://schemas.openxmlformats.org/drawingml/2006/main">
              <a:ext uri="{FF2B5EF4-FFF2-40B4-BE49-F238E27FC236}">
                <a16:creationId xmlns:a16="http://schemas.microsoft.com/office/drawing/2014/main" id="{2F3F4231-2C95-43F4-96CD-C1970DD5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100" y="40957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102</a:t>
            </a:r>
          </a:p>
        </p:txBody>
      </p:sp>
      <p:sp>
        <p:nvSpPr>
          <p:cNvPr id="42" name="control-6">
            <a:extLst xmlns:a="http://schemas.openxmlformats.org/drawingml/2006/main">
              <a:ext uri="{FF2B5EF4-FFF2-40B4-BE49-F238E27FC236}">
                <a16:creationId xmlns:a16="http://schemas.microsoft.com/office/drawing/2014/main" id="{E603726F-8D93-46AF-B0C2-8C178B46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low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in</a:t>
            </a:r>
          </a:p>
        </p:txBody>
      </p:sp>
      <p:sp>
        <p:nvSpPr>
          <p:cNvPr id="43" name="var-7">
            <a:extLst xmlns:a="http://schemas.openxmlformats.org/drawingml/2006/main">
              <a:ext uri="{FF2B5EF4-FFF2-40B4-BE49-F238E27FC236}">
                <a16:creationId xmlns:a16="http://schemas.microsoft.com/office/drawing/2014/main" id="{1E128054-0CDB-4506-BFAB-3609BD40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tax rate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18% / 20% / 22%</a:t>
            </a:r>
          </a:p>
        </p:txBody>
      </p:sp>
      <p:sp>
        <p:nvSpPr>
          <p:cNvPr id="44" name="low-7">
            <a:extLst xmlns:a="http://schemas.openxmlformats.org/drawingml/2006/main">
              <a:ext uri="{FF2B5EF4-FFF2-40B4-BE49-F238E27FC236}">
                <a16:creationId xmlns:a16="http://schemas.microsoft.com/office/drawing/2014/main" id="{FB6E90D8-3D08-469B-9489-40677690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944" y="4505325"/>
            <a:ext cx="7543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45" name="high-7">
            <a:extLst xmlns:a="http://schemas.openxmlformats.org/drawingml/2006/main">
              <a:ext uri="{FF2B5EF4-FFF2-40B4-BE49-F238E27FC236}">
                <a16:creationId xmlns:a16="http://schemas.microsoft.com/office/drawing/2014/main" id="{56C1949E-E027-4C1E-8EFD-8AC4E489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05325"/>
            <a:ext cx="75431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46" name="low-label-7">
            <a:extLst xmlns:a="http://schemas.openxmlformats.org/drawingml/2006/main">
              <a:ext uri="{FF2B5EF4-FFF2-40B4-BE49-F238E27FC236}">
                <a16:creationId xmlns:a16="http://schemas.microsoft.com/office/drawing/2014/main" id="{966EC440-49DE-4759-883F-3CE1B38B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3644" y="44958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98.5</a:t>
            </a:r>
          </a:p>
        </p:txBody>
      </p:sp>
      <p:sp>
        <p:nvSpPr>
          <p:cNvPr id="47" name="high-label-7">
            <a:extLst xmlns:a="http://schemas.openxmlformats.org/drawingml/2006/main">
              <a:ext uri="{FF2B5EF4-FFF2-40B4-BE49-F238E27FC236}">
                <a16:creationId xmlns:a16="http://schemas.microsoft.com/office/drawing/2014/main" id="{9B14081D-1177-43D3-BD48-B59B0E88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956" y="44958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101.5</a:t>
            </a:r>
          </a:p>
        </p:txBody>
      </p:sp>
      <p:sp>
        <p:nvSpPr>
          <p:cNvPr id="48" name="control-7">
            <a:extLst xmlns:a="http://schemas.openxmlformats.org/drawingml/2006/main">
              <a:ext uri="{FF2B5EF4-FFF2-40B4-BE49-F238E27FC236}">
                <a16:creationId xmlns:a16="http://schemas.microsoft.com/office/drawing/2014/main" id="{EC3EAFA7-3809-4F2E-A3EA-56D33C02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low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Strong</a:t>
            </a:r>
          </a:p>
        </p:txBody>
      </p:sp>
      <p:sp>
        <p:nvSpPr>
          <p:cNvPr id="49" name="var-8">
            <a:extLst xmlns:a="http://schemas.openxmlformats.org/drawingml/2006/main">
              <a:ext uri="{FF2B5EF4-FFF2-40B4-BE49-F238E27FC236}">
                <a16:creationId xmlns:a16="http://schemas.microsoft.com/office/drawing/2014/main" id="{A44FDEF1-4F9D-4D67-829B-893DE884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overhead</a:t>
            </a:r>
          </a:p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-2% / 0% / +2%</a:t>
            </a:r>
          </a:p>
        </p:txBody>
      </p:sp>
      <p:sp>
        <p:nvSpPr>
          <p:cNvPr id="50" name="low-8">
            <a:extLst xmlns:a="http://schemas.openxmlformats.org/drawingml/2006/main">
              <a:ext uri="{FF2B5EF4-FFF2-40B4-BE49-F238E27FC236}">
                <a16:creationId xmlns:a16="http://schemas.microsoft.com/office/drawing/2014/main" id="{9B32A5F9-DC9D-4AFA-A1DC-D12C2A78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88" y="4905375"/>
            <a:ext cx="5028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386"/>
          </a:solidFill>
          <a:ln xmlns:a="http://schemas.openxmlformats.org/drawingml/2006/main" w="0">
            <a:solidFill>
              <a:srgbClr val="697386"/>
            </a:solidFill>
            <a:prstDash val="solid"/>
          </a:ln>
        </p:spPr>
      </p:sp>
      <p:sp>
        <p:nvSpPr>
          <p:cNvPr id="51" name="high-8">
            <a:extLst xmlns:a="http://schemas.openxmlformats.org/drawingml/2006/main">
              <a:ext uri="{FF2B5EF4-FFF2-40B4-BE49-F238E27FC236}">
                <a16:creationId xmlns:a16="http://schemas.microsoft.com/office/drawing/2014/main" id="{D75F933D-1038-41D9-868E-032A9F0A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905375"/>
            <a:ext cx="50287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52" name="low-label-8">
            <a:extLst xmlns:a="http://schemas.openxmlformats.org/drawingml/2006/main">
              <a:ext uri="{FF2B5EF4-FFF2-40B4-BE49-F238E27FC236}">
                <a16:creationId xmlns:a16="http://schemas.microsoft.com/office/drawing/2014/main" id="{9B68B526-07DB-4340-9428-71F05B32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8788" y="48958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99</a:t>
            </a:r>
          </a:p>
        </p:txBody>
      </p:sp>
      <p:sp>
        <p:nvSpPr>
          <p:cNvPr id="53" name="high-label-8">
            <a:extLst xmlns:a="http://schemas.openxmlformats.org/drawingml/2006/main">
              <a:ext uri="{FF2B5EF4-FFF2-40B4-BE49-F238E27FC236}">
                <a16:creationId xmlns:a16="http://schemas.microsoft.com/office/drawing/2014/main" id="{FAEB5BC3-224C-44A1-BDA6-8A0C8B97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2812" y="489585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101</a:t>
            </a:r>
          </a:p>
        </p:txBody>
      </p:sp>
      <p:sp>
        <p:nvSpPr>
          <p:cNvPr id="54" name="control-8">
            <a:extLst xmlns:a="http://schemas.openxmlformats.org/drawingml/2006/main">
              <a:ext uri="{FF2B5EF4-FFF2-40B4-BE49-F238E27FC236}">
                <a16:creationId xmlns:a16="http://schemas.microsoft.com/office/drawing/2014/main" id="{AFB3A5C1-F1F1-444A-9FEF-E9B51377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1390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Controllability high</a:t>
            </a:r>
          </a:p>
          <a:p xmlns:a="http://schemas.openxmlformats.org/drawingml/2006/main">
            <a:pPr algn="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Confidence weak</a:t>
            </a:r>
          </a:p>
        </p:txBody>
      </p:sp>
      <p:sp>
        <p:nvSpPr>
          <p:cNvPr id="55" name="pareto-1">
            <a:extLst xmlns:a="http://schemas.openxmlformats.org/drawingml/2006/main">
              <a:ext uri="{FF2B5EF4-FFF2-40B4-BE49-F238E27FC236}">
                <a16:creationId xmlns:a16="http://schemas.microsoft.com/office/drawing/2014/main" id="{897586A1-55A2-4A66-BF81-500927BE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95600" y="1615218"/>
            <a:ext cx="734786" cy="889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56" name="pareto-2">
            <a:extLst xmlns:a="http://schemas.openxmlformats.org/drawingml/2006/main">
              <a:ext uri="{FF2B5EF4-FFF2-40B4-BE49-F238E27FC236}">
                <a16:creationId xmlns:a16="http://schemas.microsoft.com/office/drawing/2014/main" id="{2AA46183-F7DE-4BEA-AE81-86DC526F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630386" y="1584070"/>
            <a:ext cx="734786" cy="3114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57" name="pareto-3">
            <a:extLst xmlns:a="http://schemas.openxmlformats.org/drawingml/2006/main">
              <a:ext uri="{FF2B5EF4-FFF2-40B4-BE49-F238E27FC236}">
                <a16:creationId xmlns:a16="http://schemas.microsoft.com/office/drawing/2014/main" id="{F10EDB8D-649B-4B14-A701-F04AB88A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65171" y="1561822"/>
            <a:ext cx="734786" cy="22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58" name="pareto-4">
            <a:extLst xmlns:a="http://schemas.openxmlformats.org/drawingml/2006/main">
              <a:ext uri="{FF2B5EF4-FFF2-40B4-BE49-F238E27FC236}">
                <a16:creationId xmlns:a16="http://schemas.microsoft.com/office/drawing/2014/main" id="{84BB0F28-3B5C-4997-AD04-2B30D710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099957" y="1544023"/>
            <a:ext cx="734786" cy="17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59" name="pareto-5">
            <a:extLst xmlns:a="http://schemas.openxmlformats.org/drawingml/2006/main">
              <a:ext uri="{FF2B5EF4-FFF2-40B4-BE49-F238E27FC236}">
                <a16:creationId xmlns:a16="http://schemas.microsoft.com/office/drawing/2014/main" id="{C6430C5B-8721-4F77-A97A-2A2A2392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834743" y="1535124"/>
            <a:ext cx="734786" cy="88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0" name="pareto-6">
            <a:extLst xmlns:a="http://schemas.openxmlformats.org/drawingml/2006/main">
              <a:ext uri="{FF2B5EF4-FFF2-40B4-BE49-F238E27FC236}">
                <a16:creationId xmlns:a16="http://schemas.microsoft.com/office/drawing/2014/main" id="{D4F262ED-5549-4612-9647-793739E8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69529" y="1528450"/>
            <a:ext cx="734786" cy="66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1" name="pareto-7">
            <a:extLst xmlns:a="http://schemas.openxmlformats.org/drawingml/2006/main">
              <a:ext uri="{FF2B5EF4-FFF2-40B4-BE49-F238E27FC236}">
                <a16:creationId xmlns:a16="http://schemas.microsoft.com/office/drawing/2014/main" id="{018DBBE9-8235-4A84-8448-DB1B8BC9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4314" y="1524000"/>
            <a:ext cx="734786" cy="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2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BFF646D5-FCDE-405A-BB4C-315A882F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57300"/>
            <a:ext cx="2590800" cy="432435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3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5314A413-5B84-44CF-AAB7-4B9C4D0C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390650"/>
            <a:ext cx="2247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64" name="key insights-item-1">
            <a:extLst xmlns:a="http://schemas.openxmlformats.org/drawingml/2006/main">
              <a:ext uri="{FF2B5EF4-FFF2-40B4-BE49-F238E27FC236}">
                <a16:creationId xmlns:a16="http://schemas.microsoft.com/office/drawing/2014/main" id="{A9BAF697-37FE-47FB-BA0C-04A41384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Price realization rate is the primary sensitive variable</a:t>
            </a:r>
          </a:p>
        </p:txBody>
      </p:sp>
      <p:sp>
        <p:nvSpPr>
          <p:cNvPr id="65" name="key insights-item-2">
            <a:extLst xmlns:a="http://schemas.openxmlformats.org/drawingml/2006/main">
              <a:ext uri="{FF2B5EF4-FFF2-40B4-BE49-F238E27FC236}">
                <a16:creationId xmlns:a16="http://schemas.microsoft.com/office/drawing/2014/main" id="{4561A02C-8760-44B7-8372-5551BE0E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9085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Sales growth and price jointly explain 70% Fluctuation</a:t>
            </a:r>
          </a:p>
        </p:txBody>
      </p:sp>
      <p:sp>
        <p:nvSpPr>
          <p:cNvPr id="66" name="key insights-item-3">
            <a:extLst xmlns:a="http://schemas.openxmlformats.org/drawingml/2006/main">
              <a:ext uri="{FF2B5EF4-FFF2-40B4-BE49-F238E27FC236}">
                <a16:creationId xmlns:a16="http://schemas.microsoft.com/office/drawing/2014/main" id="{0A150743-032F-4EAE-A44E-82040418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2286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individual impacts of the last six items are all lower than 15%</a:t>
            </a:r>
          </a:p>
        </p:txBody>
      </p:sp>
      <p:sp>
        <p:nvSpPr>
          <p:cNvPr id="67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633E1AC4-D9D1-4E29-8DD7-344BB7E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Management and control actions: Sales is responsible for price realization rate, operations is responsible for sales conversion</a:t>
            </a:r>
          </a:p>
        </p:txBody>
      </p:sp>
    </p:spTree>
    <p:extLst>
      <p:ext uri="{BB962C8B-B14F-4D97-AF65-F5344CB8AC3E}">
        <p14:creationId xmlns:p14="http://schemas.microsoft.com/office/powerpoint/2010/main" val="5974632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2026-07-31T20:15:51.2020000Z</dcterms:created>
  <dcterms:modified xsi:type="dcterms:W3CDTF">2026-07-31T20:15:51.2020000Z</dcterms:modified>
</coreProperties>
</file>