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9360ad746a4f6b" /><Relationship Type="http://schemas.openxmlformats.org/officeDocument/2006/relationships/extended-properties" Target="/docProps/app.xml" Id="Rd58e6af376c24487" /><Relationship Type="http://schemas.openxmlformats.org/officeDocument/2006/relationships/officeDocument" Target="/ppt/presentation.xml" Id="R4a5138bc14174c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f9e512013e466a"/>
  </p:sldMasterIdLst>
  <p:notesMasterIdLst>
    <p:notesMasterId xmlns:r="http://schemas.openxmlformats.org/officeDocument/2006/relationships" r:id="Rd9952dcead664939"/>
  </p:notesMasterIdLst>
  <p:sldIdLst>
    <p:sldId xmlns:r="http://schemas.openxmlformats.org/officeDocument/2006/relationships" id="256" r:id="Rbbc108154d8849c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a02d0605ab4467" /><Relationship Type="http://schemas.openxmlformats.org/officeDocument/2006/relationships/slideMaster" Target="/ppt/slideMasters/slideMaster1.xml" Id="Rb8f9e512013e466a" /><Relationship Type="http://schemas.openxmlformats.org/officeDocument/2006/relationships/notesMaster" Target="/ppt/notesMasters/notesMaster1.xml" Id="Rd9952dcead664939" /><Relationship Type="http://schemas.openxmlformats.org/officeDocument/2006/relationships/presProps" Target="/ppt/presProps.xml" Id="Rca749eb423ad41b1" /><Relationship Type="http://schemas.openxmlformats.org/officeDocument/2006/relationships/tableStyles" Target="/ppt/tableStyles.xml" Id="R10dbb05430004fe5" /><Relationship Type="http://schemas.openxmlformats.org/officeDocument/2006/relationships/slide" Target="/ppt/slides/slide1.xml" Id="Rbbc108154d8849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a382b1918f44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dfcbc5cc7c4167" /><Relationship Type="http://schemas.openxmlformats.org/officeDocument/2006/relationships/notesMaster" Target="/ppt/notesMasters/notesMaster1.xml" Id="R22c73aec33f745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2e48b23fd541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afb2308d0343ef" /><Relationship Type="http://schemas.openxmlformats.org/officeDocument/2006/relationships/slideLayout" Target="/ppt/slideLayouts/slideLayout1.xml" Id="Ra8cb2bc1f29643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cb2bc1f29643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52e9aac584709" /><Relationship Type="http://schemas.openxmlformats.org/officeDocument/2006/relationships/notesSlide" Target="/ppt/notesSlides/notesSlide1.xml" Id="Rda70cdea85e44f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838700" y="5014913"/>
            <a:ext cx="552450" cy="3524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AEB8C6"/>
            </a:solidFill>
            <a:prstDash val="solid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4838700" y="4662488"/>
            <a:ext cx="552450" cy="3524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AEB8C6"/>
            </a:solidFill>
            <a:prstDash val="solid"/>
          </a:ln>
        </p:spPr>
      </p:cxnSp>
      <p:cxnSp>
        <p:nvCxnSpPr>
          <p:cNvPr id="21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838700" y="2528888"/>
            <a:ext cx="552450" cy="3524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AEB8C6"/>
            </a:solidFill>
            <a:prstDash val="solid"/>
          </a:ln>
        </p:spPr>
      </p:cxnSp>
      <p:cxnSp>
        <p:nvCxnSpPr>
          <p:cNvPr id="22" name=""/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4838700" y="2176463"/>
            <a:ext cx="552450" cy="3524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4288">
            <a:solidFill>
              <a:srgbClr val="AEB8C6"/>
            </a:solidFill>
            <a:prstDash val="solid"/>
          </a:ln>
        </p:spPr>
      </p:cxnSp>
      <p:cxnSp>
        <p:nvCxnSpPr>
          <p:cNvPr id="23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343150" y="3562350"/>
            <a:ext cx="495300" cy="1452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7145">
            <a:solidFill>
              <a:srgbClr val="AEB8C6"/>
            </a:solidFill>
            <a:prstDash val="solid"/>
          </a:ln>
        </p:spPr>
      </p:cxnSp>
      <p:cxnSp>
        <p:nvCxnSpPr>
          <p:cNvPr id="24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2343150" y="2528888"/>
            <a:ext cx="495300" cy="1033462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7145">
            <a:solidFill>
              <a:srgbClr val="AEB8C6"/>
            </a:solidFill>
            <a:prstDash val="solid"/>
          </a:ln>
        </p:spPr>
      </p:cxnSp>
      <p:sp>
        <p:nvSpPr>
          <p:cNvPr id="25" name="page-title">
            <a:extLst xmlns:a="http://schemas.openxmlformats.org/drawingml/2006/main">
              <a:ext uri="{FF2B5EF4-FFF2-40B4-BE49-F238E27FC236}">
                <a16:creationId xmlns:a16="http://schemas.microsoft.com/office/drawing/2014/main" id="{98815BEC-8A59-4964-AF8B-234D5FDA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2033"/>
                </a:solidFill>
              </a:defRPr>
            </a:pPr>
            <a:r>
              <a:rPr sz="2625" b="1">
                <a:solidFill>
                  <a:srgbClr val="172033"/>
                </a:solidFill>
              </a:rPr>
              <a:t>The root cause of the decline in human efficiency is concentrated on job structure and shift execution</a:t>
            </a:r>
          </a:p>
        </p:txBody>
      </p:sp>
      <p:sp>
        <p:nvSpPr>
          <p:cNvPr id="2" name="root-root">
            <a:extLst xmlns:a="http://schemas.openxmlformats.org/drawingml/2006/main">
              <a:ext uri="{FF2B5EF4-FFF2-40B4-BE49-F238E27FC236}">
                <a16:creationId xmlns:a16="http://schemas.microsoft.com/office/drawing/2014/main" id="{AC691C25-DC1E-48E3-BE52-E54CE3BC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24200"/>
            <a:ext cx="180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Why human efficiency continues to decline</a:t>
            </a:r>
          </a:p>
        </p:txBody>
      </p:sp>
      <p:sp>
        <p:nvSpPr>
          <p:cNvPr id="3" name="branch-b1">
            <a:extLst xmlns:a="http://schemas.openxmlformats.org/drawingml/2006/main">
              <a:ext uri="{FF2B5EF4-FFF2-40B4-BE49-F238E27FC236}">
                <a16:creationId xmlns:a16="http://schemas.microsoft.com/office/drawing/2014/main" id="{3063B4D4-3594-4E75-8076-FF64013D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033588"/>
            <a:ext cx="2000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structural factors</a:t>
            </a:r>
          </a:p>
        </p:txBody>
      </p:sp>
      <p:sp>
        <p:nvSpPr>
          <p:cNvPr id="4" name="branch-b2">
            <a:extLst xmlns:a="http://schemas.openxmlformats.org/drawingml/2006/main">
              <a:ext uri="{FF2B5EF4-FFF2-40B4-BE49-F238E27FC236}">
                <a16:creationId xmlns:a16="http://schemas.microsoft.com/office/drawing/2014/main" id="{2317CF81-5900-4683-95A4-ADDD8982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19613"/>
            <a:ext cx="2000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operational factors</a:t>
            </a:r>
          </a:p>
        </p:txBody>
      </p:sp>
      <p:sp>
        <p:nvSpPr>
          <p:cNvPr id="5" name="child-c11">
            <a:extLst xmlns:a="http://schemas.openxmlformats.org/drawingml/2006/main">
              <a:ext uri="{FF2B5EF4-FFF2-40B4-BE49-F238E27FC236}">
                <a16:creationId xmlns:a16="http://schemas.microsoft.com/office/drawing/2014/main" id="{1987753B-43EE-4D43-B9DD-0433693D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1188"/>
            <a:ext cx="26860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2095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Key positions vacant</a:t>
            </a:r>
          </a:p>
        </p:txBody>
      </p:sp>
      <p:sp>
        <p:nvSpPr>
          <p:cNvPr id="6" name="child-c12">
            <a:extLst xmlns:a="http://schemas.openxmlformats.org/drawingml/2006/main">
              <a:ext uri="{FF2B5EF4-FFF2-40B4-BE49-F238E27FC236}">
                <a16:creationId xmlns:a16="http://schemas.microsoft.com/office/drawing/2014/main" id="{D5DF2130-D2D2-492D-9F14-5ED88BBF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586038"/>
            <a:ext cx="26860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Too many levels of management</a:t>
            </a:r>
          </a:p>
        </p:txBody>
      </p:sp>
      <p:sp>
        <p:nvSpPr>
          <p:cNvPr id="7" name="child-c21">
            <a:extLst xmlns:a="http://schemas.openxmlformats.org/drawingml/2006/main">
              <a:ext uri="{FF2B5EF4-FFF2-40B4-BE49-F238E27FC236}">
                <a16:creationId xmlns:a16="http://schemas.microsoft.com/office/drawing/2014/main" id="{CBD0A349-3D4D-4444-AD39-E4E2B563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367213"/>
            <a:ext cx="26860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Insufficient peak shifts</a:t>
            </a:r>
          </a:p>
        </p:txBody>
      </p:sp>
      <p:sp>
        <p:nvSpPr>
          <p:cNvPr id="8" name="child-c22">
            <a:extLst xmlns:a="http://schemas.openxmlformats.org/drawingml/2006/main">
              <a:ext uri="{FF2B5EF4-FFF2-40B4-BE49-F238E27FC236}">
                <a16:creationId xmlns:a16="http://schemas.microsoft.com/office/drawing/2014/main" id="{0BBB4869-2074-45A9-93DB-6486D4CA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072063"/>
            <a:ext cx="26860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low peak redundancy</a:t>
            </a:r>
          </a:p>
        </p:txBody>
      </p:sp>
      <p:sp>
        <p:nvSpPr>
          <p:cNvPr id="15" name="so-what-rail">
            <a:extLst xmlns:a="http://schemas.openxmlformats.org/drawingml/2006/main">
              <a:ext uri="{FF2B5EF4-FFF2-40B4-BE49-F238E27FC236}">
                <a16:creationId xmlns:a16="http://schemas.microsoft.com/office/drawing/2014/main" id="{B2A1656B-AA9D-42AA-AA14-7E35A1CF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390650"/>
            <a:ext cx="2895600" cy="47625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so-what-title">
            <a:extLst xmlns:a="http://schemas.openxmlformats.org/drawingml/2006/main">
              <a:ext uri="{FF2B5EF4-FFF2-40B4-BE49-F238E27FC236}">
                <a16:creationId xmlns:a16="http://schemas.microsoft.com/office/drawing/2014/main" id="{DC3A493D-A37F-4D8B-949F-A512D90C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5240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So What</a:t>
            </a:r>
          </a:p>
        </p:txBody>
      </p:sp>
      <p:sp>
        <p:nvSpPr>
          <p:cNvPr id="17" name="insight-1">
            <a:extLst xmlns:a="http://schemas.openxmlformats.org/drawingml/2006/main">
              <a:ext uri="{FF2B5EF4-FFF2-40B4-BE49-F238E27FC236}">
                <a16:creationId xmlns:a16="http://schemas.microsoft.com/office/drawing/2014/main" id="{DACB9A52-F286-473D-9911-995565A4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47850"/>
            <a:ext cx="247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Fill key positions first</a:t>
            </a:r>
          </a:p>
        </p:txBody>
      </p:sp>
      <p:sp>
        <p:nvSpPr>
          <p:cNvPr id="18" name="insight-2">
            <a:extLst xmlns:a="http://schemas.openxmlformats.org/drawingml/2006/main">
              <a:ext uri="{FF2B5EF4-FFF2-40B4-BE49-F238E27FC236}">
                <a16:creationId xmlns:a16="http://schemas.microsoft.com/office/drawing/2014/main" id="{98DB4910-789A-4F03-AC25-E18C834C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771900"/>
            <a:ext cx="247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Adjust peak shift schedule again</a:t>
            </a:r>
          </a:p>
        </p:txBody>
      </p:sp>
    </p:spTree>
    <p:extLst>
      <p:ext uri="{BB962C8B-B14F-4D97-AF65-F5344CB8AC3E}">
        <p14:creationId xmlns:p14="http://schemas.microsoft.com/office/powerpoint/2010/main" val="2789782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2026-07-31T20:14:14.5500000Z</dcterms:created>
  <dcterms:modified xsi:type="dcterms:W3CDTF">2026-07-31T20:14:14.5500000Z</dcterms:modified>
</coreProperties>
</file>