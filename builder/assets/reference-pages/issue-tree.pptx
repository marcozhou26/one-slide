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360ad746a4f6b" /><Relationship Type="http://schemas.openxmlformats.org/officeDocument/2006/relationships/extended-properties" Target="/docProps/app.xml" Id="Rd58e6af376c24487" /><Relationship Type="http://schemas.openxmlformats.org/officeDocument/2006/relationships/officeDocument" Target="/ppt/presentation.xml" Id="R4a5138bc14174c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9e512013e466a"/>
  </p:sldMasterIdLst>
  <p:notesMasterIdLst>
    <p:notesMasterId xmlns:r="http://schemas.openxmlformats.org/officeDocument/2006/relationships" r:id="Rd9952dcead664939"/>
  </p:notesMasterIdLst>
  <p:sldIdLst>
    <p:sldId xmlns:r="http://schemas.openxmlformats.org/officeDocument/2006/relationships" id="256" r:id="Rbbc108154d8849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a02d0605ab4467" /><Relationship Type="http://schemas.openxmlformats.org/officeDocument/2006/relationships/slideMaster" Target="/ppt/slideMasters/slideMaster1.xml" Id="Rb8f9e512013e466a" /><Relationship Type="http://schemas.openxmlformats.org/officeDocument/2006/relationships/notesMaster" Target="/ppt/notesMasters/notesMaster1.xml" Id="Rd9952dcead664939" /><Relationship Type="http://schemas.openxmlformats.org/officeDocument/2006/relationships/presProps" Target="/ppt/presProps.xml" Id="Rca749eb423ad41b1" /><Relationship Type="http://schemas.openxmlformats.org/officeDocument/2006/relationships/tableStyles" Target="/ppt/tableStyles.xml" Id="R10dbb05430004fe5" /><Relationship Type="http://schemas.openxmlformats.org/officeDocument/2006/relationships/slide" Target="/ppt/slides/slide1.xml" Id="Rbbc108154d88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a382b1918f44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fcbc5cc7c4167" /><Relationship Type="http://schemas.openxmlformats.org/officeDocument/2006/relationships/notesMaster" Target="/ppt/notesMasters/notesMaster1.xml" Id="R22c73aec33f745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e48b23fd541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afb2308d0343ef" /><Relationship Type="http://schemas.openxmlformats.org/officeDocument/2006/relationships/slideLayout" Target="/ppt/slideLayouts/slideLayout1.xml" Id="Ra8cb2bc1f296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b2bc1f296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52e9aac584709" /><Relationship Type="http://schemas.openxmlformats.org/officeDocument/2006/relationships/notesSlide" Target="/ppt/notesSlides/notesSlide1.xml" Id="Rda70cdea85e44f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38700" y="5014913"/>
            <a:ext cx="552450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EB8C6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838700" y="4662488"/>
            <a:ext cx="552450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EB8C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38700" y="2528888"/>
            <a:ext cx="552450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EB8C6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838700" y="2176463"/>
            <a:ext cx="552450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EB8C6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43150" y="3562350"/>
            <a:ext cx="4953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AEB8C6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2343150" y="2528888"/>
            <a:ext cx="495300" cy="103346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AEB8C6"/>
            </a:solidFill>
            <a:prstDash val="solid"/>
          </a:ln>
        </p:spPr>
      </p:cxnSp>
      <p:sp>
        <p:nvSpPr>
          <p:cNvPr id="25" name="page-title">
            <a:extLst xmlns:a="http://schemas.openxmlformats.org/drawingml/2006/main">
              <a:ext uri="{FF2B5EF4-FFF2-40B4-BE49-F238E27FC236}">
                <a16:creationId xmlns:a16="http://schemas.microsoft.com/office/drawing/2014/main" id="{98815BEC-8A59-4964-AF8B-234D5FD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人效下滑的根因集中在岗位结构与排班执行</a:t>
            </a:r>
          </a:p>
        </p:txBody>
      </p:sp>
      <p:sp>
        <p:nvSpPr>
          <p:cNvPr id="2" name="root-root">
            <a:extLst xmlns:a="http://schemas.openxmlformats.org/drawingml/2006/main">
              <a:ext uri="{FF2B5EF4-FFF2-40B4-BE49-F238E27FC236}">
                <a16:creationId xmlns:a16="http://schemas.microsoft.com/office/drawing/2014/main" id="{AC691C25-DC1E-48E3-BE52-E54CE3BC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人效为何持续下滑</a:t>
            </a:r>
          </a:p>
        </p:txBody>
      </p:sp>
      <p:sp>
        <p:nvSpPr>
          <p:cNvPr id="3" name="branch-b1">
            <a:extLst xmlns:a="http://schemas.openxmlformats.org/drawingml/2006/main">
              <a:ext uri="{FF2B5EF4-FFF2-40B4-BE49-F238E27FC236}">
                <a16:creationId xmlns:a16="http://schemas.microsoft.com/office/drawing/2014/main" id="{3063B4D4-3594-4E75-8076-FF64013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33588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结构性因素</a:t>
            </a:r>
          </a:p>
        </p:txBody>
      </p:sp>
      <p:sp>
        <p:nvSpPr>
          <p:cNvPr id="4" name="branch-b2">
            <a:extLst xmlns:a="http://schemas.openxmlformats.org/drawingml/2006/main">
              <a:ext uri="{FF2B5EF4-FFF2-40B4-BE49-F238E27FC236}">
                <a16:creationId xmlns:a16="http://schemas.microsoft.com/office/drawing/2014/main" id="{2317CF81-5900-4683-95A4-ADDD8982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19613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运营性因素</a:t>
            </a:r>
          </a:p>
        </p:txBody>
      </p:sp>
      <p:sp>
        <p:nvSpPr>
          <p:cNvPr id="5" name="child-c11">
            <a:extLst xmlns:a="http://schemas.openxmlformats.org/drawingml/2006/main">
              <a:ext uri="{FF2B5EF4-FFF2-40B4-BE49-F238E27FC236}">
                <a16:creationId xmlns:a16="http://schemas.microsoft.com/office/drawing/2014/main" id="{1987753B-43EE-4D43-B9DD-0433693D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81188"/>
            <a:ext cx="2686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2095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关键岗位空缺</a:t>
            </a:r>
          </a:p>
        </p:txBody>
      </p:sp>
      <p:sp>
        <p:nvSpPr>
          <p:cNvPr id="6" name="child-c12">
            <a:extLst xmlns:a="http://schemas.openxmlformats.org/drawingml/2006/main">
              <a:ext uri="{FF2B5EF4-FFF2-40B4-BE49-F238E27FC236}">
                <a16:creationId xmlns:a16="http://schemas.microsoft.com/office/drawing/2014/main" id="{D5DF2130-D2D2-492D-9F14-5ED88BBF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86038"/>
            <a:ext cx="2686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管理层级过多</a:t>
            </a:r>
          </a:p>
        </p:txBody>
      </p:sp>
      <p:sp>
        <p:nvSpPr>
          <p:cNvPr id="7" name="child-c21">
            <a:extLst xmlns:a="http://schemas.openxmlformats.org/drawingml/2006/main">
              <a:ext uri="{FF2B5EF4-FFF2-40B4-BE49-F238E27FC236}">
                <a16:creationId xmlns:a16="http://schemas.microsoft.com/office/drawing/2014/main" id="{CBD0A349-3D4D-4444-AD39-E4E2B56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67213"/>
            <a:ext cx="2686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高峰排班不足</a:t>
            </a:r>
          </a:p>
        </p:txBody>
      </p:sp>
      <p:sp>
        <p:nvSpPr>
          <p:cNvPr id="8" name="child-c22">
            <a:extLst xmlns:a="http://schemas.openxmlformats.org/drawingml/2006/main">
              <a:ext uri="{FF2B5EF4-FFF2-40B4-BE49-F238E27FC236}">
                <a16:creationId xmlns:a16="http://schemas.microsoft.com/office/drawing/2014/main" id="{0BBB4869-2074-45A9-93DB-6486D4CA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72063"/>
            <a:ext cx="2686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1430">
            <a:solidFill>
              <a:srgbClr val="AEB8C6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低峰冗余</a:t>
            </a:r>
          </a:p>
        </p:txBody>
      </p:sp>
      <p:sp>
        <p:nvSpPr>
          <p:cNvPr id="15" name="so-what-rail">
            <a:extLst xmlns:a="http://schemas.openxmlformats.org/drawingml/2006/main">
              <a:ext uri="{FF2B5EF4-FFF2-40B4-BE49-F238E27FC236}">
                <a16:creationId xmlns:a16="http://schemas.microsoft.com/office/drawing/2014/main" id="{B2A1656B-AA9D-42AA-AA14-7E35A1CF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90650"/>
            <a:ext cx="2895600" cy="47625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so-what-title">
            <a:extLst xmlns:a="http://schemas.openxmlformats.org/drawingml/2006/main">
              <a:ext uri="{FF2B5EF4-FFF2-40B4-BE49-F238E27FC236}">
                <a16:creationId xmlns:a16="http://schemas.microsoft.com/office/drawing/2014/main" id="{DC3A493D-A37F-4D8B-949F-A512D90C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So What</a:t>
            </a:r>
          </a:p>
        </p:txBody>
      </p:sp>
      <p:sp>
        <p:nvSpPr>
          <p:cNvPr id="17" name="insight-1">
            <a:extLst xmlns:a="http://schemas.openxmlformats.org/drawingml/2006/main">
              <a:ext uri="{FF2B5EF4-FFF2-40B4-BE49-F238E27FC236}">
                <a16:creationId xmlns:a16="http://schemas.microsoft.com/office/drawing/2014/main" id="{DACB9A52-F286-473D-9911-995565A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4785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先补齐关键岗位</a:t>
            </a:r>
          </a:p>
        </p:txBody>
      </p:sp>
      <p:sp>
        <p:nvSpPr>
          <p:cNvPr id="18" name="insight-2">
            <a:extLst xmlns:a="http://schemas.openxmlformats.org/drawingml/2006/main">
              <a:ext uri="{FF2B5EF4-FFF2-40B4-BE49-F238E27FC236}">
                <a16:creationId xmlns:a16="http://schemas.microsoft.com/office/drawing/2014/main" id="{98DB4910-789A-4F03-AC25-E18C834C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7190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再调整高峰排班</a:t>
            </a:r>
          </a:p>
        </p:txBody>
      </p:sp>
    </p:spTree>
    <p:extLst>
      <p:ext uri="{BB962C8B-B14F-4D97-AF65-F5344CB8AC3E}">
        <p14:creationId xmlns:p14="http://schemas.microsoft.com/office/powerpoint/2010/main" val="278978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2026-07-31T20:14:14.5500000Z</dcterms:created>
  <dcterms:modified xsi:type="dcterms:W3CDTF">2026-07-31T20:14:14.5500000Z</dcterms:modified>
</coreProperties>
</file>