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052ca5f7824bcd" /><Relationship Type="http://schemas.openxmlformats.org/officeDocument/2006/relationships/extended-properties" Target="/docProps/app.xml" Id="R439aef8197264c80" /><Relationship Type="http://schemas.openxmlformats.org/officeDocument/2006/relationships/officeDocument" Target="/ppt/presentation.xml" Id="Rd5c5139b0bc749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b40c6428d24a31"/>
  </p:sldMasterIdLst>
  <p:notesMasterIdLst>
    <p:notesMasterId xmlns:r="http://schemas.openxmlformats.org/officeDocument/2006/relationships" r:id="R2149ef37cf59418a"/>
  </p:notesMasterIdLst>
  <p:sldIdLst>
    <p:sldId xmlns:r="http://schemas.openxmlformats.org/officeDocument/2006/relationships" id="256" r:id="Rcbd534572ec347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73356418754be7" /><Relationship Type="http://schemas.openxmlformats.org/officeDocument/2006/relationships/slideMaster" Target="/ppt/slideMasters/slideMaster1.xml" Id="Rbbb40c6428d24a31" /><Relationship Type="http://schemas.openxmlformats.org/officeDocument/2006/relationships/notesMaster" Target="/ppt/notesMasters/notesMaster1.xml" Id="R2149ef37cf59418a" /><Relationship Type="http://schemas.openxmlformats.org/officeDocument/2006/relationships/presProps" Target="/ppt/presProps.xml" Id="R1c706c534de4483d" /><Relationship Type="http://schemas.openxmlformats.org/officeDocument/2006/relationships/tableStyles" Target="/ppt/tableStyles.xml" Id="Rf0e977b7f4304638" /><Relationship Type="http://schemas.openxmlformats.org/officeDocument/2006/relationships/slide" Target="/ppt/slides/slide1.xml" Id="Rcbd534572ec347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40fea0eff34c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53386d836b4f86" /><Relationship Type="http://schemas.openxmlformats.org/officeDocument/2006/relationships/notesMaster" Target="/ppt/notesMasters/notesMaster1.xml" Id="R8f7fd488a6f440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606f7b170548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424879942144a3" /><Relationship Type="http://schemas.openxmlformats.org/officeDocument/2006/relationships/slideLayout" Target="/ppt/slideLayouts/slideLayout1.xml" Id="R99405648b6374a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405648b6374a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64297c51b4db8" /><Relationship Type="http://schemas.openxmlformats.org/officeDocument/2006/relationships/notesSlide" Target="/ppt/notesSlides/notesSlide1.xml" Id="R8033b4a547e647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page-title">
            <a:extLst xmlns:a="http://schemas.openxmlformats.org/drawingml/2006/main">
              <a:ext uri="{FF2B5EF4-FFF2-40B4-BE49-F238E27FC236}">
                <a16:creationId xmlns:a16="http://schemas.microsoft.com/office/drawing/2014/main" id="{6A7BED0A-7455-40DD-AC4F-26B6B051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75F"/>
                </a:solidFill>
              </a:defRPr>
            </a:pPr>
            <a:r>
              <a:rPr sz="2550" b="1">
                <a:solidFill>
                  <a:srgbClr val="15375F"/>
                </a:solidFill>
              </a:rPr>
              <a:t>Only three of the nine business lines consistently outperformed the company average.</a:t>
            </a:r>
          </a:p>
        </p:txBody>
      </p:sp>
      <p:sp>
        <p:nvSpPr>
          <p:cNvPr id="2" name="small-1">
            <a:extLst xmlns:a="http://schemas.openxmlformats.org/drawingml/2006/main">
              <a:ext uri="{FF2B5EF4-FFF2-40B4-BE49-F238E27FC236}">
                <a16:creationId xmlns:a16="http://schemas.microsoft.com/office/drawing/2014/main" id="{538254D9-FD6B-426A-BF8A-BDE3BD53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2755900" cy="13970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6FB2"/>
            </a:solidFill>
            <a:prstDash val="solid"/>
          </a:ln>
        </p:spPr>
      </p:sp>
      <p:sp>
        <p:nvSpPr>
          <p:cNvPr id="3" name="small-title-1">
            <a:extLst xmlns:a="http://schemas.openxmlformats.org/drawingml/2006/main">
              <a:ext uri="{FF2B5EF4-FFF2-40B4-BE49-F238E27FC236}">
                <a16:creationId xmlns:a16="http://schemas.microsoft.com/office/drawing/2014/main" id="{E26438E1-29F2-4EAE-85F7-C69FB394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26771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business A</a:t>
            </a:r>
          </a:p>
        </p:txBody>
      </p:sp>
      <p:sp>
        <p:nvSpPr>
          <p:cNvPr id="4" name="small-summary-1">
            <a:extLst xmlns:a="http://schemas.openxmlformats.org/drawingml/2006/main">
              <a:ext uri="{FF2B5EF4-FFF2-40B4-BE49-F238E27FC236}">
                <a16:creationId xmlns:a16="http://schemas.microsoft.com/office/drawing/2014/main" id="{ACFFEA26-BD7A-4CAE-8A09-EFE51D5A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214" y="1295400"/>
            <a:ext cx="135039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End of term 90｜CAGR +high</a:t>
            </a:r>
          </a:p>
        </p:txBody>
      </p:sp>
      <p:sp>
        <p:nvSpPr>
          <p:cNvPr id="5" name="small-b-1-1">
            <a:extLst xmlns:a="http://schemas.openxmlformats.org/drawingml/2006/main">
              <a:ext uri="{FF2B5EF4-FFF2-40B4-BE49-F238E27FC236}">
                <a16:creationId xmlns:a16="http://schemas.microsoft.com/office/drawing/2014/main" id="{58658592-0C07-420A-9B48-F666E6D2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42950" y="2137410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6" name="small-b-1-2">
            <a:extLst xmlns:a="http://schemas.openxmlformats.org/drawingml/2006/main">
              <a:ext uri="{FF2B5EF4-FFF2-40B4-BE49-F238E27FC236}">
                <a16:creationId xmlns:a16="http://schemas.microsoft.com/office/drawing/2014/main" id="{F5F883B7-04ED-44E2-8DB2-894A12B8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46200" y="2098887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7" name="small-b-1-3">
            <a:extLst xmlns:a="http://schemas.openxmlformats.org/drawingml/2006/main">
              <a:ext uri="{FF2B5EF4-FFF2-40B4-BE49-F238E27FC236}">
                <a16:creationId xmlns:a16="http://schemas.microsoft.com/office/drawing/2014/main" id="{466B8DB5-E98E-496B-80D4-A01D353A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49450" y="2060363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8" name="small-b-1-4">
            <a:extLst xmlns:a="http://schemas.openxmlformats.org/drawingml/2006/main">
              <a:ext uri="{FF2B5EF4-FFF2-40B4-BE49-F238E27FC236}">
                <a16:creationId xmlns:a16="http://schemas.microsoft.com/office/drawing/2014/main" id="{2C55F209-F311-4F58-970D-C41F36FF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552700" y="2021840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9" name="small-s-1-1">
            <a:extLst xmlns:a="http://schemas.openxmlformats.org/drawingml/2006/main">
              <a:ext uri="{FF2B5EF4-FFF2-40B4-BE49-F238E27FC236}">
                <a16:creationId xmlns:a16="http://schemas.microsoft.com/office/drawing/2014/main" id="{CA494F96-2AFE-469E-9D81-9F628CDC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42950" y="2137410"/>
            <a:ext cx="603250" cy="770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B2"/>
            </a:solidFill>
            <a:prstDash val="solid"/>
          </a:ln>
        </p:spPr>
      </p:sp>
      <p:sp>
        <p:nvSpPr>
          <p:cNvPr id="10" name="small-s-1-2">
            <a:extLst xmlns:a="http://schemas.openxmlformats.org/drawingml/2006/main">
              <a:ext uri="{FF2B5EF4-FFF2-40B4-BE49-F238E27FC236}">
                <a16:creationId xmlns:a16="http://schemas.microsoft.com/office/drawing/2014/main" id="{1419CAAB-3D1E-4F50-8210-893AEB24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46200" y="2041102"/>
            <a:ext cx="603250" cy="963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B2"/>
            </a:solidFill>
            <a:prstDash val="solid"/>
          </a:ln>
        </p:spPr>
      </p:sp>
      <p:sp>
        <p:nvSpPr>
          <p:cNvPr id="11" name="small-s-1-3">
            <a:extLst xmlns:a="http://schemas.openxmlformats.org/drawingml/2006/main">
              <a:ext uri="{FF2B5EF4-FFF2-40B4-BE49-F238E27FC236}">
                <a16:creationId xmlns:a16="http://schemas.microsoft.com/office/drawing/2014/main" id="{FA6A0BCC-1D16-4EA8-B581-F5DCC8A6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49450" y="1925532"/>
            <a:ext cx="603250" cy="1155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B2"/>
            </a:solidFill>
            <a:prstDash val="solid"/>
          </a:ln>
        </p:spPr>
      </p:sp>
      <p:sp>
        <p:nvSpPr>
          <p:cNvPr id="12" name="small-s-1-4">
            <a:extLst xmlns:a="http://schemas.openxmlformats.org/drawingml/2006/main">
              <a:ext uri="{FF2B5EF4-FFF2-40B4-BE49-F238E27FC236}">
                <a16:creationId xmlns:a16="http://schemas.microsoft.com/office/drawing/2014/main" id="{28A1207C-EA07-4894-A58F-12A6609D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552700" y="1790700"/>
            <a:ext cx="603250" cy="1348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B2"/>
            </a:solidFill>
            <a:prstDash val="solid"/>
          </a:ln>
        </p:spPr>
      </p:sp>
      <p:sp>
        <p:nvSpPr>
          <p:cNvPr id="13" name="small-class-1">
            <a:extLst xmlns:a="http://schemas.openxmlformats.org/drawingml/2006/main">
              <a:ext uri="{FF2B5EF4-FFF2-40B4-BE49-F238E27FC236}">
                <a16:creationId xmlns:a16="http://schemas.microsoft.com/office/drawing/2014/main" id="{79F57D61-CB08-4A94-AB2C-F2895C8D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7600"/>
            <a:ext cx="256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Increase investment</a:t>
            </a:r>
          </a:p>
        </p:txBody>
      </p:sp>
      <p:sp>
        <p:nvSpPr>
          <p:cNvPr id="14" name="small-2">
            <a:extLst xmlns:a="http://schemas.openxmlformats.org/drawingml/2006/main">
              <a:ext uri="{FF2B5EF4-FFF2-40B4-BE49-F238E27FC236}">
                <a16:creationId xmlns:a16="http://schemas.microsoft.com/office/drawing/2014/main" id="{0C5D5303-7DB2-46AD-B559-2B3AB46A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00" y="1238250"/>
            <a:ext cx="2755900" cy="13970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6FB2"/>
            </a:solidFill>
            <a:prstDash val="solid"/>
          </a:ln>
        </p:spPr>
      </p:sp>
      <p:sp>
        <p:nvSpPr>
          <p:cNvPr id="15" name="small-title-2">
            <a:extLst xmlns:a="http://schemas.openxmlformats.org/drawingml/2006/main">
              <a:ext uri="{FF2B5EF4-FFF2-40B4-BE49-F238E27FC236}">
                <a16:creationId xmlns:a16="http://schemas.microsoft.com/office/drawing/2014/main" id="{69AEDDFC-2A66-4CE3-8B2A-D3739E73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950" y="1314450"/>
            <a:ext cx="126771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business B</a:t>
            </a:r>
          </a:p>
        </p:txBody>
      </p:sp>
      <p:sp>
        <p:nvSpPr>
          <p:cNvPr id="16" name="small-summary-2">
            <a:extLst xmlns:a="http://schemas.openxmlformats.org/drawingml/2006/main">
              <a:ext uri="{FF2B5EF4-FFF2-40B4-BE49-F238E27FC236}">
                <a16:creationId xmlns:a16="http://schemas.microsoft.com/office/drawing/2014/main" id="{690AB4E0-F9D3-4806-AB25-442A26EF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414" y="1295400"/>
            <a:ext cx="135039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End of term 84｜CAGR +high</a:t>
            </a:r>
          </a:p>
        </p:txBody>
      </p:sp>
      <p:sp>
        <p:nvSpPr>
          <p:cNvPr id="17" name="small-b-2-1">
            <a:extLst xmlns:a="http://schemas.openxmlformats.org/drawingml/2006/main">
              <a:ext uri="{FF2B5EF4-FFF2-40B4-BE49-F238E27FC236}">
                <a16:creationId xmlns:a16="http://schemas.microsoft.com/office/drawing/2014/main" id="{10DDDB85-7C36-429C-BA55-5516983C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13150" y="2137410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18" name="small-b-2-2">
            <a:extLst xmlns:a="http://schemas.openxmlformats.org/drawingml/2006/main">
              <a:ext uri="{FF2B5EF4-FFF2-40B4-BE49-F238E27FC236}">
                <a16:creationId xmlns:a16="http://schemas.microsoft.com/office/drawing/2014/main" id="{04C77AE7-19A4-45FE-8952-12BB8D94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216400" y="2098887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19" name="small-b-2-3">
            <a:extLst xmlns:a="http://schemas.openxmlformats.org/drawingml/2006/main">
              <a:ext uri="{FF2B5EF4-FFF2-40B4-BE49-F238E27FC236}">
                <a16:creationId xmlns:a16="http://schemas.microsoft.com/office/drawing/2014/main" id="{A4498CF0-D243-4C80-9781-4EE578B2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819650" y="2060363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20" name="small-b-2-4">
            <a:extLst xmlns:a="http://schemas.openxmlformats.org/drawingml/2006/main">
              <a:ext uri="{FF2B5EF4-FFF2-40B4-BE49-F238E27FC236}">
                <a16:creationId xmlns:a16="http://schemas.microsoft.com/office/drawing/2014/main" id="{4E5472C7-85D1-4F7E-8551-985D0FE9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22900" y="2021840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21" name="small-s-2-1">
            <a:extLst xmlns:a="http://schemas.openxmlformats.org/drawingml/2006/main">
              <a:ext uri="{FF2B5EF4-FFF2-40B4-BE49-F238E27FC236}">
                <a16:creationId xmlns:a16="http://schemas.microsoft.com/office/drawing/2014/main" id="{AA051C37-C4DA-44E3-861F-50F6FF29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13150" y="2195195"/>
            <a:ext cx="603250" cy="770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B2"/>
            </a:solidFill>
            <a:prstDash val="solid"/>
          </a:ln>
        </p:spPr>
      </p:sp>
      <p:sp>
        <p:nvSpPr>
          <p:cNvPr id="22" name="small-s-2-2">
            <a:extLst xmlns:a="http://schemas.openxmlformats.org/drawingml/2006/main">
              <a:ext uri="{FF2B5EF4-FFF2-40B4-BE49-F238E27FC236}">
                <a16:creationId xmlns:a16="http://schemas.microsoft.com/office/drawing/2014/main" id="{DBFC2911-669D-452C-B64F-CB4BD766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216400" y="2098887"/>
            <a:ext cx="603250" cy="963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B2"/>
            </a:solidFill>
            <a:prstDash val="solid"/>
          </a:ln>
        </p:spPr>
      </p:sp>
      <p:sp>
        <p:nvSpPr>
          <p:cNvPr id="23" name="small-s-2-3">
            <a:extLst xmlns:a="http://schemas.openxmlformats.org/drawingml/2006/main">
              <a:ext uri="{FF2B5EF4-FFF2-40B4-BE49-F238E27FC236}">
                <a16:creationId xmlns:a16="http://schemas.microsoft.com/office/drawing/2014/main" id="{07CC5A39-717D-4515-8E89-F3B65551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819650" y="2002578"/>
            <a:ext cx="603250" cy="963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B2"/>
            </a:solidFill>
            <a:prstDash val="solid"/>
          </a:ln>
        </p:spPr>
      </p:sp>
      <p:sp>
        <p:nvSpPr>
          <p:cNvPr id="24" name="small-s-2-4">
            <a:extLst xmlns:a="http://schemas.openxmlformats.org/drawingml/2006/main">
              <a:ext uri="{FF2B5EF4-FFF2-40B4-BE49-F238E27FC236}">
                <a16:creationId xmlns:a16="http://schemas.microsoft.com/office/drawing/2014/main" id="{EC4F121A-B510-443E-842F-F2BA98A5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22900" y="1906270"/>
            <a:ext cx="603250" cy="963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B2"/>
            </a:solidFill>
            <a:prstDash val="solid"/>
          </a:ln>
        </p:spPr>
      </p:sp>
      <p:sp>
        <p:nvSpPr>
          <p:cNvPr id="25" name="small-class-2">
            <a:extLst xmlns:a="http://schemas.openxmlformats.org/drawingml/2006/main">
              <a:ext uri="{FF2B5EF4-FFF2-40B4-BE49-F238E27FC236}">
                <a16:creationId xmlns:a16="http://schemas.microsoft.com/office/drawing/2014/main" id="{02668D52-33CB-4EB7-A957-8330D680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950" y="2387600"/>
            <a:ext cx="256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Increase investment</a:t>
            </a:r>
          </a:p>
        </p:txBody>
      </p:sp>
      <p:sp>
        <p:nvSpPr>
          <p:cNvPr id="26" name="small-3">
            <a:extLst xmlns:a="http://schemas.openxmlformats.org/drawingml/2006/main">
              <a:ext uri="{FF2B5EF4-FFF2-40B4-BE49-F238E27FC236}">
                <a16:creationId xmlns:a16="http://schemas.microsoft.com/office/drawing/2014/main" id="{0CC3E177-A64C-4EA8-AD72-B0B56078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900" y="1238250"/>
            <a:ext cx="2755900" cy="13970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97386"/>
            </a:solidFill>
            <a:prstDash val="solid"/>
          </a:ln>
        </p:spPr>
      </p:sp>
      <p:sp>
        <p:nvSpPr>
          <p:cNvPr id="27" name="small-title-3">
            <a:extLst xmlns:a="http://schemas.openxmlformats.org/drawingml/2006/main">
              <a:ext uri="{FF2B5EF4-FFF2-40B4-BE49-F238E27FC236}">
                <a16:creationId xmlns:a16="http://schemas.microsoft.com/office/drawing/2014/main" id="{86EB2DC1-1664-421F-A079-2EEC29A1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150" y="1314450"/>
            <a:ext cx="126771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business C</a:t>
            </a:r>
          </a:p>
        </p:txBody>
      </p:sp>
      <p:sp>
        <p:nvSpPr>
          <p:cNvPr id="28" name="small-summary-3">
            <a:extLst xmlns:a="http://schemas.openxmlformats.org/drawingml/2006/main">
              <a:ext uri="{FF2B5EF4-FFF2-40B4-BE49-F238E27FC236}">
                <a16:creationId xmlns:a16="http://schemas.microsoft.com/office/drawing/2014/main" id="{B393BE4C-016B-4F77-B1F3-7CB39EBF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614" y="1295400"/>
            <a:ext cx="135039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697386"/>
                </a:solidFill>
              </a:defRPr>
            </a:pPr>
            <a:r>
              <a:rPr sz="1600" b="1">
                <a:solidFill>
                  <a:srgbClr val="697386"/>
                </a:solidFill>
              </a:rPr>
              <a:t>End of term 82｜CAGR +low</a:t>
            </a:r>
          </a:p>
        </p:txBody>
      </p:sp>
      <p:sp>
        <p:nvSpPr>
          <p:cNvPr id="29" name="small-b-3-1">
            <a:extLst xmlns:a="http://schemas.openxmlformats.org/drawingml/2006/main">
              <a:ext uri="{FF2B5EF4-FFF2-40B4-BE49-F238E27FC236}">
                <a16:creationId xmlns:a16="http://schemas.microsoft.com/office/drawing/2014/main" id="{3D28A5ED-082C-43E5-91F1-7F93AA44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83350" y="2137410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30" name="small-b-3-2">
            <a:extLst xmlns:a="http://schemas.openxmlformats.org/drawingml/2006/main">
              <a:ext uri="{FF2B5EF4-FFF2-40B4-BE49-F238E27FC236}">
                <a16:creationId xmlns:a16="http://schemas.microsoft.com/office/drawing/2014/main" id="{0AD55E5C-3ED8-49DC-A18C-51931119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86600" y="2098887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31" name="small-b-3-3">
            <a:extLst xmlns:a="http://schemas.openxmlformats.org/drawingml/2006/main">
              <a:ext uri="{FF2B5EF4-FFF2-40B4-BE49-F238E27FC236}">
                <a16:creationId xmlns:a16="http://schemas.microsoft.com/office/drawing/2014/main" id="{F6D8391C-FED6-4063-9B22-E5732B5D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689850" y="2060363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32" name="small-b-3-4">
            <a:extLst xmlns:a="http://schemas.openxmlformats.org/drawingml/2006/main">
              <a:ext uri="{FF2B5EF4-FFF2-40B4-BE49-F238E27FC236}">
                <a16:creationId xmlns:a16="http://schemas.microsoft.com/office/drawing/2014/main" id="{DACA2F07-55B1-402D-9567-2F4910CF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93100" y="2021840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33" name="small-s-3-1">
            <a:extLst xmlns:a="http://schemas.openxmlformats.org/drawingml/2006/main">
              <a:ext uri="{FF2B5EF4-FFF2-40B4-BE49-F238E27FC236}">
                <a16:creationId xmlns:a16="http://schemas.microsoft.com/office/drawing/2014/main" id="{DECA52EF-2C24-4093-947A-259B9AA4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83350" y="2079625"/>
            <a:ext cx="603250" cy="192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697386"/>
            </a:solidFill>
            <a:prstDash val="solid"/>
          </a:ln>
        </p:spPr>
      </p:sp>
      <p:sp>
        <p:nvSpPr>
          <p:cNvPr id="34" name="small-s-3-2">
            <a:extLst xmlns:a="http://schemas.openxmlformats.org/drawingml/2006/main">
              <a:ext uri="{FF2B5EF4-FFF2-40B4-BE49-F238E27FC236}">
                <a16:creationId xmlns:a16="http://schemas.microsoft.com/office/drawing/2014/main" id="{9CBF4AA6-287D-44DF-AC40-35ECBF6B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86600" y="2021840"/>
            <a:ext cx="603250" cy="577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697386"/>
            </a:solidFill>
            <a:prstDash val="solid"/>
          </a:ln>
        </p:spPr>
      </p:sp>
      <p:sp>
        <p:nvSpPr>
          <p:cNvPr id="35" name="small-s-3-3">
            <a:extLst xmlns:a="http://schemas.openxmlformats.org/drawingml/2006/main">
              <a:ext uri="{FF2B5EF4-FFF2-40B4-BE49-F238E27FC236}">
                <a16:creationId xmlns:a16="http://schemas.microsoft.com/office/drawing/2014/main" id="{AA3D4A85-C9D4-46B8-960B-96A1A1E7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689850" y="1983317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697386"/>
            </a:solidFill>
            <a:prstDash val="solid"/>
          </a:ln>
        </p:spPr>
      </p:sp>
      <p:sp>
        <p:nvSpPr>
          <p:cNvPr id="36" name="small-s-3-4">
            <a:extLst xmlns:a="http://schemas.openxmlformats.org/drawingml/2006/main">
              <a:ext uri="{FF2B5EF4-FFF2-40B4-BE49-F238E27FC236}">
                <a16:creationId xmlns:a16="http://schemas.microsoft.com/office/drawing/2014/main" id="{EC4EBAB4-A4AA-4F52-AC76-D70A516D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93100" y="1944793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697386"/>
            </a:solidFill>
            <a:prstDash val="solid"/>
          </a:ln>
        </p:spPr>
      </p:sp>
      <p:sp>
        <p:nvSpPr>
          <p:cNvPr id="37" name="small-class-3">
            <a:extLst xmlns:a="http://schemas.openxmlformats.org/drawingml/2006/main">
              <a:ext uri="{FF2B5EF4-FFF2-40B4-BE49-F238E27FC236}">
                <a16:creationId xmlns:a16="http://schemas.microsoft.com/office/drawing/2014/main" id="{25D26009-B76D-4553-9774-2DB1EC14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150" y="2387600"/>
            <a:ext cx="256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697386"/>
                </a:solidFill>
              </a:defRPr>
            </a:pPr>
            <a:r>
              <a:rPr sz="1600" b="1">
                <a:solidFill>
                  <a:srgbClr val="697386"/>
                </a:solidFill>
              </a:rPr>
              <a:t>maintain</a:t>
            </a:r>
          </a:p>
        </p:txBody>
      </p:sp>
      <p:sp>
        <p:nvSpPr>
          <p:cNvPr id="38" name="small-4">
            <a:extLst xmlns:a="http://schemas.openxmlformats.org/drawingml/2006/main">
              <a:ext uri="{FF2B5EF4-FFF2-40B4-BE49-F238E27FC236}">
                <a16:creationId xmlns:a16="http://schemas.microsoft.com/office/drawing/2014/main" id="{2656ECB1-1657-411D-B390-470C475A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49550"/>
            <a:ext cx="2755900" cy="13970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72D"/>
            </a:solidFill>
            <a:prstDash val="solid"/>
          </a:ln>
        </p:spPr>
      </p:sp>
      <p:sp>
        <p:nvSpPr>
          <p:cNvPr id="39" name="small-title-4">
            <a:extLst xmlns:a="http://schemas.openxmlformats.org/drawingml/2006/main">
              <a:ext uri="{FF2B5EF4-FFF2-40B4-BE49-F238E27FC236}">
                <a16:creationId xmlns:a16="http://schemas.microsoft.com/office/drawing/2014/main" id="{C3F2892E-FF2C-4A34-97A3-F6B57BD9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5750"/>
            <a:ext cx="126771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business D</a:t>
            </a:r>
          </a:p>
        </p:txBody>
      </p:sp>
      <p:sp>
        <p:nvSpPr>
          <p:cNvPr id="40" name="small-summary-4">
            <a:extLst xmlns:a="http://schemas.openxmlformats.org/drawingml/2006/main">
              <a:ext uri="{FF2B5EF4-FFF2-40B4-BE49-F238E27FC236}">
                <a16:creationId xmlns:a16="http://schemas.microsoft.com/office/drawing/2014/main" id="{0EAEA4F9-A273-4025-A9CA-5C9A9481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214" y="2806700"/>
            <a:ext cx="135039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End of term 70｜CAGR +low</a:t>
            </a:r>
          </a:p>
        </p:txBody>
      </p:sp>
      <p:sp>
        <p:nvSpPr>
          <p:cNvPr id="41" name="small-b-4-1">
            <a:extLst xmlns:a="http://schemas.openxmlformats.org/drawingml/2006/main">
              <a:ext uri="{FF2B5EF4-FFF2-40B4-BE49-F238E27FC236}">
                <a16:creationId xmlns:a16="http://schemas.microsoft.com/office/drawing/2014/main" id="{35AF6CB4-210D-4161-8477-2EF433DD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42950" y="3648710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42" name="small-b-4-2">
            <a:extLst xmlns:a="http://schemas.openxmlformats.org/drawingml/2006/main">
              <a:ext uri="{FF2B5EF4-FFF2-40B4-BE49-F238E27FC236}">
                <a16:creationId xmlns:a16="http://schemas.microsoft.com/office/drawing/2014/main" id="{3BE6A098-DD86-4F14-B853-4530231D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46200" y="3610187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43" name="small-b-4-3">
            <a:extLst xmlns:a="http://schemas.openxmlformats.org/drawingml/2006/main">
              <a:ext uri="{FF2B5EF4-FFF2-40B4-BE49-F238E27FC236}">
                <a16:creationId xmlns:a16="http://schemas.microsoft.com/office/drawing/2014/main" id="{AB2FD426-E8AE-4F24-835F-E17C4C41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49450" y="3571663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44" name="small-b-4-4">
            <a:extLst xmlns:a="http://schemas.openxmlformats.org/drawingml/2006/main">
              <a:ext uri="{FF2B5EF4-FFF2-40B4-BE49-F238E27FC236}">
                <a16:creationId xmlns:a16="http://schemas.microsoft.com/office/drawing/2014/main" id="{F51AA058-ADCD-444E-9BB1-6FCF48C7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552700" y="3533140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45" name="small-s-4-1">
            <a:extLst xmlns:a="http://schemas.openxmlformats.org/drawingml/2006/main">
              <a:ext uri="{FF2B5EF4-FFF2-40B4-BE49-F238E27FC236}">
                <a16:creationId xmlns:a16="http://schemas.microsoft.com/office/drawing/2014/main" id="{D02DD7A9-6458-4E7A-A6F0-47699107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71663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8872D"/>
            </a:solidFill>
            <a:prstDash val="solid"/>
          </a:ln>
        </p:spPr>
      </p:sp>
      <p:sp>
        <p:nvSpPr>
          <p:cNvPr id="46" name="small-s-4-2">
            <a:extLst xmlns:a="http://schemas.openxmlformats.org/drawingml/2006/main">
              <a:ext uri="{FF2B5EF4-FFF2-40B4-BE49-F238E27FC236}">
                <a16:creationId xmlns:a16="http://schemas.microsoft.com/office/drawing/2014/main" id="{960052DB-4236-4E5D-9744-5D479356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200" y="3610187"/>
            <a:ext cx="603250" cy="192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8872D"/>
            </a:solidFill>
            <a:prstDash val="solid"/>
          </a:ln>
        </p:spPr>
      </p:sp>
      <p:sp>
        <p:nvSpPr>
          <p:cNvPr id="47" name="small-s-4-3">
            <a:extLst xmlns:a="http://schemas.openxmlformats.org/drawingml/2006/main">
              <a:ext uri="{FF2B5EF4-FFF2-40B4-BE49-F238E27FC236}">
                <a16:creationId xmlns:a16="http://schemas.microsoft.com/office/drawing/2014/main" id="{76014325-9310-4E55-9BB0-9F7B162F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9450" y="3629448"/>
            <a:ext cx="603250" cy="192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8872D"/>
            </a:solidFill>
            <a:prstDash val="solid"/>
          </a:ln>
        </p:spPr>
      </p:sp>
      <p:sp>
        <p:nvSpPr>
          <p:cNvPr id="48" name="small-s-4-4">
            <a:extLst xmlns:a="http://schemas.openxmlformats.org/drawingml/2006/main">
              <a:ext uri="{FF2B5EF4-FFF2-40B4-BE49-F238E27FC236}">
                <a16:creationId xmlns:a16="http://schemas.microsoft.com/office/drawing/2014/main" id="{35F88696-1CFB-4933-BB6D-FEBAF662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48710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8872D"/>
            </a:solidFill>
            <a:prstDash val="solid"/>
          </a:ln>
        </p:spPr>
      </p:sp>
      <p:sp>
        <p:nvSpPr>
          <p:cNvPr id="49" name="small-class-4">
            <a:extLst xmlns:a="http://schemas.openxmlformats.org/drawingml/2006/main">
              <a:ext uri="{FF2B5EF4-FFF2-40B4-BE49-F238E27FC236}">
                <a16:creationId xmlns:a16="http://schemas.microsoft.com/office/drawing/2014/main" id="{6567FB31-6277-4DEE-A1AE-B7EBCD24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98900"/>
            <a:ext cx="256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Exit or shrink</a:t>
            </a:r>
          </a:p>
        </p:txBody>
      </p:sp>
      <p:sp>
        <p:nvSpPr>
          <p:cNvPr id="50" name="small-5">
            <a:extLst xmlns:a="http://schemas.openxmlformats.org/drawingml/2006/main">
              <a:ext uri="{FF2B5EF4-FFF2-40B4-BE49-F238E27FC236}">
                <a16:creationId xmlns:a16="http://schemas.microsoft.com/office/drawing/2014/main" id="{77221D94-27FF-4546-AE30-1D688B07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00" y="2749550"/>
            <a:ext cx="2755900" cy="13970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97386"/>
            </a:solidFill>
            <a:prstDash val="solid"/>
          </a:ln>
        </p:spPr>
      </p:sp>
      <p:sp>
        <p:nvSpPr>
          <p:cNvPr id="51" name="small-title-5">
            <a:extLst xmlns:a="http://schemas.openxmlformats.org/drawingml/2006/main">
              <a:ext uri="{FF2B5EF4-FFF2-40B4-BE49-F238E27FC236}">
                <a16:creationId xmlns:a16="http://schemas.microsoft.com/office/drawing/2014/main" id="{3D02B0D7-7E03-4F54-8878-ADF55492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950" y="2825750"/>
            <a:ext cx="126771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business E</a:t>
            </a:r>
          </a:p>
        </p:txBody>
      </p:sp>
      <p:sp>
        <p:nvSpPr>
          <p:cNvPr id="52" name="small-summary-5">
            <a:extLst xmlns:a="http://schemas.openxmlformats.org/drawingml/2006/main">
              <a:ext uri="{FF2B5EF4-FFF2-40B4-BE49-F238E27FC236}">
                <a16:creationId xmlns:a16="http://schemas.microsoft.com/office/drawing/2014/main" id="{20C905D9-58A4-49AD-9593-76DAD78B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414" y="2806700"/>
            <a:ext cx="135039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697386"/>
                </a:solidFill>
              </a:defRPr>
            </a:pPr>
            <a:r>
              <a:rPr sz="1600" b="1">
                <a:solidFill>
                  <a:srgbClr val="697386"/>
                </a:solidFill>
              </a:rPr>
              <a:t>End of term 73｜CAGR +high</a:t>
            </a:r>
          </a:p>
        </p:txBody>
      </p:sp>
      <p:sp>
        <p:nvSpPr>
          <p:cNvPr id="53" name="small-b-5-1">
            <a:extLst xmlns:a="http://schemas.openxmlformats.org/drawingml/2006/main">
              <a:ext uri="{FF2B5EF4-FFF2-40B4-BE49-F238E27FC236}">
                <a16:creationId xmlns:a16="http://schemas.microsoft.com/office/drawing/2014/main" id="{0CF32187-8F5A-46CF-81DF-61D6B736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13150" y="3648710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54" name="small-b-5-2">
            <a:extLst xmlns:a="http://schemas.openxmlformats.org/drawingml/2006/main">
              <a:ext uri="{FF2B5EF4-FFF2-40B4-BE49-F238E27FC236}">
                <a16:creationId xmlns:a16="http://schemas.microsoft.com/office/drawing/2014/main" id="{4AA3924F-7E18-4CA8-B69D-710B9AFC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216400" y="3610187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55" name="small-b-5-3">
            <a:extLst xmlns:a="http://schemas.openxmlformats.org/drawingml/2006/main">
              <a:ext uri="{FF2B5EF4-FFF2-40B4-BE49-F238E27FC236}">
                <a16:creationId xmlns:a16="http://schemas.microsoft.com/office/drawing/2014/main" id="{59F24BFB-C41A-4CC1-B6CE-9468DD3A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819650" y="3571663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56" name="small-b-5-4">
            <a:extLst xmlns:a="http://schemas.openxmlformats.org/drawingml/2006/main">
              <a:ext uri="{FF2B5EF4-FFF2-40B4-BE49-F238E27FC236}">
                <a16:creationId xmlns:a16="http://schemas.microsoft.com/office/drawing/2014/main" id="{F5A9DAB7-2BAD-4781-A177-BF312AFB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22900" y="3533140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57" name="small-s-5-1">
            <a:extLst xmlns:a="http://schemas.openxmlformats.org/drawingml/2006/main">
              <a:ext uri="{FF2B5EF4-FFF2-40B4-BE49-F238E27FC236}">
                <a16:creationId xmlns:a16="http://schemas.microsoft.com/office/drawing/2014/main" id="{21B91CAC-CDA3-4EA7-9673-53176205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13150" y="3802803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697386"/>
            </a:solidFill>
            <a:prstDash val="solid"/>
          </a:ln>
        </p:spPr>
      </p:sp>
      <p:sp>
        <p:nvSpPr>
          <p:cNvPr id="58" name="small-s-5-2">
            <a:extLst xmlns:a="http://schemas.openxmlformats.org/drawingml/2006/main">
              <a:ext uri="{FF2B5EF4-FFF2-40B4-BE49-F238E27FC236}">
                <a16:creationId xmlns:a16="http://schemas.microsoft.com/office/drawing/2014/main" id="{E69E3B66-A3C9-43E6-8AFD-84DDCF76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216400" y="3745018"/>
            <a:ext cx="603250" cy="577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697386"/>
            </a:solidFill>
            <a:prstDash val="solid"/>
          </a:ln>
        </p:spPr>
      </p:sp>
      <p:sp>
        <p:nvSpPr>
          <p:cNvPr id="59" name="small-s-5-3">
            <a:extLst xmlns:a="http://schemas.openxmlformats.org/drawingml/2006/main">
              <a:ext uri="{FF2B5EF4-FFF2-40B4-BE49-F238E27FC236}">
                <a16:creationId xmlns:a16="http://schemas.microsoft.com/office/drawing/2014/main" id="{4FA5D1F5-CD64-4793-8F58-1ABFE42E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819650" y="3687233"/>
            <a:ext cx="603250" cy="577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697386"/>
            </a:solidFill>
            <a:prstDash val="solid"/>
          </a:ln>
        </p:spPr>
      </p:sp>
      <p:sp>
        <p:nvSpPr>
          <p:cNvPr id="60" name="small-s-5-4">
            <a:extLst xmlns:a="http://schemas.openxmlformats.org/drawingml/2006/main">
              <a:ext uri="{FF2B5EF4-FFF2-40B4-BE49-F238E27FC236}">
                <a16:creationId xmlns:a16="http://schemas.microsoft.com/office/drawing/2014/main" id="{68CF085A-0608-43B6-B7E2-0CCDA955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22900" y="3629448"/>
            <a:ext cx="603250" cy="577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697386"/>
            </a:solidFill>
            <a:prstDash val="solid"/>
          </a:ln>
        </p:spPr>
      </p:sp>
      <p:sp>
        <p:nvSpPr>
          <p:cNvPr id="61" name="small-class-5">
            <a:extLst xmlns:a="http://schemas.openxmlformats.org/drawingml/2006/main">
              <a:ext uri="{FF2B5EF4-FFF2-40B4-BE49-F238E27FC236}">
                <a16:creationId xmlns:a16="http://schemas.microsoft.com/office/drawing/2014/main" id="{9D1B5E7E-C05A-47A3-A1D5-01ED1AD2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950" y="3898900"/>
            <a:ext cx="256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697386"/>
                </a:solidFill>
              </a:defRPr>
            </a:pPr>
            <a:r>
              <a:rPr sz="1600" b="1">
                <a:solidFill>
                  <a:srgbClr val="697386"/>
                </a:solidFill>
              </a:rPr>
              <a:t>maintain</a:t>
            </a:r>
          </a:p>
        </p:txBody>
      </p:sp>
      <p:sp>
        <p:nvSpPr>
          <p:cNvPr id="62" name="small-6">
            <a:extLst xmlns:a="http://schemas.openxmlformats.org/drawingml/2006/main">
              <a:ext uri="{FF2B5EF4-FFF2-40B4-BE49-F238E27FC236}">
                <a16:creationId xmlns:a16="http://schemas.microsoft.com/office/drawing/2014/main" id="{33969A8A-D0F5-4D07-B1D3-F0099A09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900" y="2749550"/>
            <a:ext cx="2755900" cy="13970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72D"/>
            </a:solidFill>
            <a:prstDash val="solid"/>
          </a:ln>
        </p:spPr>
      </p:sp>
      <p:sp>
        <p:nvSpPr>
          <p:cNvPr id="63" name="small-title-6">
            <a:extLst xmlns:a="http://schemas.openxmlformats.org/drawingml/2006/main">
              <a:ext uri="{FF2B5EF4-FFF2-40B4-BE49-F238E27FC236}">
                <a16:creationId xmlns:a16="http://schemas.microsoft.com/office/drawing/2014/main" id="{E31204EA-23E5-4737-81D8-33238737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150" y="2825750"/>
            <a:ext cx="126771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business F</a:t>
            </a:r>
          </a:p>
        </p:txBody>
      </p:sp>
      <p:sp>
        <p:nvSpPr>
          <p:cNvPr id="64" name="small-summary-6">
            <a:extLst xmlns:a="http://schemas.openxmlformats.org/drawingml/2006/main">
              <a:ext uri="{FF2B5EF4-FFF2-40B4-BE49-F238E27FC236}">
                <a16:creationId xmlns:a16="http://schemas.microsoft.com/office/drawing/2014/main" id="{05B6BFF4-5896-4630-AA2E-53DFEDDD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614" y="2806700"/>
            <a:ext cx="135039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End of term 76｜CAGR +low</a:t>
            </a:r>
          </a:p>
        </p:txBody>
      </p:sp>
      <p:sp>
        <p:nvSpPr>
          <p:cNvPr id="65" name="small-b-6-1">
            <a:extLst xmlns:a="http://schemas.openxmlformats.org/drawingml/2006/main">
              <a:ext uri="{FF2B5EF4-FFF2-40B4-BE49-F238E27FC236}">
                <a16:creationId xmlns:a16="http://schemas.microsoft.com/office/drawing/2014/main" id="{AFD2CACB-F058-4C22-BE0A-752319CF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83350" y="3648710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66" name="small-b-6-2">
            <a:extLst xmlns:a="http://schemas.openxmlformats.org/drawingml/2006/main">
              <a:ext uri="{FF2B5EF4-FFF2-40B4-BE49-F238E27FC236}">
                <a16:creationId xmlns:a16="http://schemas.microsoft.com/office/drawing/2014/main" id="{17BFC661-143C-41A9-810C-5FCED382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86600" y="3610187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67" name="small-b-6-3">
            <a:extLst xmlns:a="http://schemas.openxmlformats.org/drawingml/2006/main">
              <a:ext uri="{FF2B5EF4-FFF2-40B4-BE49-F238E27FC236}">
                <a16:creationId xmlns:a16="http://schemas.microsoft.com/office/drawing/2014/main" id="{4DCDEA9D-EDA8-49DC-AA90-E1FF9A9A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689850" y="3571663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68" name="small-b-6-4">
            <a:extLst xmlns:a="http://schemas.openxmlformats.org/drawingml/2006/main">
              <a:ext uri="{FF2B5EF4-FFF2-40B4-BE49-F238E27FC236}">
                <a16:creationId xmlns:a16="http://schemas.microsoft.com/office/drawing/2014/main" id="{0EB00512-EC35-4930-B56D-C9BAFF74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93100" y="3533140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69" name="small-s-6-1">
            <a:extLst xmlns:a="http://schemas.openxmlformats.org/drawingml/2006/main">
              <a:ext uri="{FF2B5EF4-FFF2-40B4-BE49-F238E27FC236}">
                <a16:creationId xmlns:a16="http://schemas.microsoft.com/office/drawing/2014/main" id="{4CFA50DF-60C0-4301-A4E6-5E13DEF5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350" y="3494617"/>
            <a:ext cx="603250" cy="192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8872D"/>
            </a:solidFill>
            <a:prstDash val="solid"/>
          </a:ln>
        </p:spPr>
      </p:sp>
      <p:sp>
        <p:nvSpPr>
          <p:cNvPr id="70" name="small-s-6-2">
            <a:extLst xmlns:a="http://schemas.openxmlformats.org/drawingml/2006/main">
              <a:ext uri="{FF2B5EF4-FFF2-40B4-BE49-F238E27FC236}">
                <a16:creationId xmlns:a16="http://schemas.microsoft.com/office/drawing/2014/main" id="{34154858-9B84-450A-A51B-81809B45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13878"/>
            <a:ext cx="603250" cy="192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8872D"/>
            </a:solidFill>
            <a:prstDash val="solid"/>
          </a:ln>
        </p:spPr>
      </p:sp>
      <p:sp>
        <p:nvSpPr>
          <p:cNvPr id="71" name="small-s-6-3">
            <a:extLst xmlns:a="http://schemas.openxmlformats.org/drawingml/2006/main">
              <a:ext uri="{FF2B5EF4-FFF2-40B4-BE49-F238E27FC236}">
                <a16:creationId xmlns:a16="http://schemas.microsoft.com/office/drawing/2014/main" id="{593A9E44-45C8-4ACD-A14C-F159BECF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33140"/>
            <a:ext cx="603250" cy="192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8872D"/>
            </a:solidFill>
            <a:prstDash val="solid"/>
          </a:ln>
        </p:spPr>
      </p:sp>
      <p:sp>
        <p:nvSpPr>
          <p:cNvPr id="72" name="small-s-6-4">
            <a:extLst xmlns:a="http://schemas.openxmlformats.org/drawingml/2006/main">
              <a:ext uri="{FF2B5EF4-FFF2-40B4-BE49-F238E27FC236}">
                <a16:creationId xmlns:a16="http://schemas.microsoft.com/office/drawing/2014/main" id="{77117BC2-DD77-47D1-8F59-23C7E3F3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552402"/>
            <a:ext cx="603250" cy="192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8872D"/>
            </a:solidFill>
            <a:prstDash val="solid"/>
          </a:ln>
        </p:spPr>
      </p:sp>
      <p:sp>
        <p:nvSpPr>
          <p:cNvPr id="73" name="small-class-6">
            <a:extLst xmlns:a="http://schemas.openxmlformats.org/drawingml/2006/main">
              <a:ext uri="{FF2B5EF4-FFF2-40B4-BE49-F238E27FC236}">
                <a16:creationId xmlns:a16="http://schemas.microsoft.com/office/drawing/2014/main" id="{9D726A4E-335F-41D6-9793-276B95A9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150" y="3898900"/>
            <a:ext cx="256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Exit or shrink</a:t>
            </a:r>
          </a:p>
        </p:txBody>
      </p:sp>
      <p:sp>
        <p:nvSpPr>
          <p:cNvPr id="74" name="small-7">
            <a:extLst xmlns:a="http://schemas.openxmlformats.org/drawingml/2006/main">
              <a:ext uri="{FF2B5EF4-FFF2-40B4-BE49-F238E27FC236}">
                <a16:creationId xmlns:a16="http://schemas.microsoft.com/office/drawing/2014/main" id="{DDBF4EC9-57FD-414B-9462-7E3C2471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0850"/>
            <a:ext cx="2755900" cy="13970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6FB2"/>
            </a:solidFill>
            <a:prstDash val="solid"/>
          </a:ln>
        </p:spPr>
      </p:sp>
      <p:sp>
        <p:nvSpPr>
          <p:cNvPr id="75" name="small-title-7">
            <a:extLst xmlns:a="http://schemas.openxmlformats.org/drawingml/2006/main">
              <a:ext uri="{FF2B5EF4-FFF2-40B4-BE49-F238E27FC236}">
                <a16:creationId xmlns:a16="http://schemas.microsoft.com/office/drawing/2014/main" id="{14C26989-2764-4D2B-9AA4-9E0BB2C0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7050"/>
            <a:ext cx="126771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business G</a:t>
            </a:r>
          </a:p>
        </p:txBody>
      </p:sp>
      <p:sp>
        <p:nvSpPr>
          <p:cNvPr id="76" name="small-summary-7">
            <a:extLst xmlns:a="http://schemas.openxmlformats.org/drawingml/2006/main">
              <a:ext uri="{FF2B5EF4-FFF2-40B4-BE49-F238E27FC236}">
                <a16:creationId xmlns:a16="http://schemas.microsoft.com/office/drawing/2014/main" id="{0D407EC8-DD41-4A89-8A5C-3DF596FE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214" y="4318000"/>
            <a:ext cx="135039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End of term 86｜CAGR +high</a:t>
            </a:r>
          </a:p>
        </p:txBody>
      </p:sp>
      <p:sp>
        <p:nvSpPr>
          <p:cNvPr id="77" name="small-b-7-1">
            <a:extLst xmlns:a="http://schemas.openxmlformats.org/drawingml/2006/main">
              <a:ext uri="{FF2B5EF4-FFF2-40B4-BE49-F238E27FC236}">
                <a16:creationId xmlns:a16="http://schemas.microsoft.com/office/drawing/2014/main" id="{A35B400F-2D42-439D-AE07-167F5B4D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42950" y="5160010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78" name="small-b-7-2">
            <a:extLst xmlns:a="http://schemas.openxmlformats.org/drawingml/2006/main">
              <a:ext uri="{FF2B5EF4-FFF2-40B4-BE49-F238E27FC236}">
                <a16:creationId xmlns:a16="http://schemas.microsoft.com/office/drawing/2014/main" id="{8666A304-2AD6-433C-9DF5-B82985B3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46200" y="5121487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79" name="small-b-7-3">
            <a:extLst xmlns:a="http://schemas.openxmlformats.org/drawingml/2006/main">
              <a:ext uri="{FF2B5EF4-FFF2-40B4-BE49-F238E27FC236}">
                <a16:creationId xmlns:a16="http://schemas.microsoft.com/office/drawing/2014/main" id="{F619D3B3-BA7F-4ECB-A2CD-62D4A710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49450" y="5082963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80" name="small-b-7-4">
            <a:extLst xmlns:a="http://schemas.openxmlformats.org/drawingml/2006/main">
              <a:ext uri="{FF2B5EF4-FFF2-40B4-BE49-F238E27FC236}">
                <a16:creationId xmlns:a16="http://schemas.microsoft.com/office/drawing/2014/main" id="{B28193D7-DD45-4FA8-BEA7-B9118CC7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552700" y="5044440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81" name="small-s-7-1">
            <a:extLst xmlns:a="http://schemas.openxmlformats.org/drawingml/2006/main">
              <a:ext uri="{FF2B5EF4-FFF2-40B4-BE49-F238E27FC236}">
                <a16:creationId xmlns:a16="http://schemas.microsoft.com/office/drawing/2014/main" id="{DA446ED3-E781-4124-AA1E-7737D096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42950" y="5275580"/>
            <a:ext cx="603250" cy="1155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B2"/>
            </a:solidFill>
            <a:prstDash val="solid"/>
          </a:ln>
        </p:spPr>
      </p:sp>
      <p:sp>
        <p:nvSpPr>
          <p:cNvPr id="82" name="small-s-7-2">
            <a:extLst xmlns:a="http://schemas.openxmlformats.org/drawingml/2006/main">
              <a:ext uri="{FF2B5EF4-FFF2-40B4-BE49-F238E27FC236}">
                <a16:creationId xmlns:a16="http://schemas.microsoft.com/office/drawing/2014/main" id="{F00CC329-16B1-42D3-ABF7-BC0EB8C5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46200" y="5160010"/>
            <a:ext cx="603250" cy="1155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B2"/>
            </a:solidFill>
            <a:prstDash val="solid"/>
          </a:ln>
        </p:spPr>
      </p:sp>
      <p:sp>
        <p:nvSpPr>
          <p:cNvPr id="83" name="small-s-7-3">
            <a:extLst xmlns:a="http://schemas.openxmlformats.org/drawingml/2006/main">
              <a:ext uri="{FF2B5EF4-FFF2-40B4-BE49-F238E27FC236}">
                <a16:creationId xmlns:a16="http://schemas.microsoft.com/office/drawing/2014/main" id="{D34007CB-1971-4EA5-BCCE-5B477727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49450" y="5025178"/>
            <a:ext cx="603250" cy="1348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B2"/>
            </a:solidFill>
            <a:prstDash val="solid"/>
          </a:ln>
        </p:spPr>
      </p:sp>
      <p:sp>
        <p:nvSpPr>
          <p:cNvPr id="84" name="small-s-7-4">
            <a:extLst xmlns:a="http://schemas.openxmlformats.org/drawingml/2006/main">
              <a:ext uri="{FF2B5EF4-FFF2-40B4-BE49-F238E27FC236}">
                <a16:creationId xmlns:a16="http://schemas.microsoft.com/office/drawing/2014/main" id="{E6F27C5B-C2B0-4A5D-83BF-17E5D073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552700" y="4890347"/>
            <a:ext cx="603250" cy="1348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B2"/>
            </a:solidFill>
            <a:prstDash val="solid"/>
          </a:ln>
        </p:spPr>
      </p:sp>
      <p:sp>
        <p:nvSpPr>
          <p:cNvPr id="85" name="small-class-7">
            <a:extLst xmlns:a="http://schemas.openxmlformats.org/drawingml/2006/main">
              <a:ext uri="{FF2B5EF4-FFF2-40B4-BE49-F238E27FC236}">
                <a16:creationId xmlns:a16="http://schemas.microsoft.com/office/drawing/2014/main" id="{DD85E541-7615-4EC5-BB43-159F3B33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256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Increase investment</a:t>
            </a:r>
          </a:p>
        </p:txBody>
      </p:sp>
      <p:sp>
        <p:nvSpPr>
          <p:cNvPr id="86" name="small-8">
            <a:extLst xmlns:a="http://schemas.openxmlformats.org/drawingml/2006/main">
              <a:ext uri="{FF2B5EF4-FFF2-40B4-BE49-F238E27FC236}">
                <a16:creationId xmlns:a16="http://schemas.microsoft.com/office/drawing/2014/main" id="{19E7BF1A-51CC-4E6B-BA57-B3C60060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00" y="4260850"/>
            <a:ext cx="2755900" cy="13970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97386"/>
            </a:solidFill>
            <a:prstDash val="solid"/>
          </a:ln>
        </p:spPr>
      </p:sp>
      <p:sp>
        <p:nvSpPr>
          <p:cNvPr id="87" name="small-title-8">
            <a:extLst xmlns:a="http://schemas.openxmlformats.org/drawingml/2006/main">
              <a:ext uri="{FF2B5EF4-FFF2-40B4-BE49-F238E27FC236}">
                <a16:creationId xmlns:a16="http://schemas.microsoft.com/office/drawing/2014/main" id="{3E59F205-5299-49F0-8347-93F62C84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950" y="4337050"/>
            <a:ext cx="126771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business H</a:t>
            </a:r>
          </a:p>
        </p:txBody>
      </p:sp>
      <p:sp>
        <p:nvSpPr>
          <p:cNvPr id="88" name="small-summary-8">
            <a:extLst xmlns:a="http://schemas.openxmlformats.org/drawingml/2006/main">
              <a:ext uri="{FF2B5EF4-FFF2-40B4-BE49-F238E27FC236}">
                <a16:creationId xmlns:a16="http://schemas.microsoft.com/office/drawing/2014/main" id="{B1FBB4D4-814E-424B-839B-544D9DEB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414" y="4318000"/>
            <a:ext cx="135039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697386"/>
                </a:solidFill>
              </a:defRPr>
            </a:pPr>
            <a:r>
              <a:rPr sz="1600" b="1">
                <a:solidFill>
                  <a:srgbClr val="697386"/>
                </a:solidFill>
              </a:rPr>
              <a:t>End of term 77｜CAGR +low</a:t>
            </a:r>
          </a:p>
        </p:txBody>
      </p:sp>
      <p:sp>
        <p:nvSpPr>
          <p:cNvPr id="89" name="small-b-8-1">
            <a:extLst xmlns:a="http://schemas.openxmlformats.org/drawingml/2006/main">
              <a:ext uri="{FF2B5EF4-FFF2-40B4-BE49-F238E27FC236}">
                <a16:creationId xmlns:a16="http://schemas.microsoft.com/office/drawing/2014/main" id="{69A36C6A-C9EE-4C0B-A207-24AF3E28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13150" y="5160010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90" name="small-b-8-2">
            <a:extLst xmlns:a="http://schemas.openxmlformats.org/drawingml/2006/main">
              <a:ext uri="{FF2B5EF4-FFF2-40B4-BE49-F238E27FC236}">
                <a16:creationId xmlns:a16="http://schemas.microsoft.com/office/drawing/2014/main" id="{6CB6BA99-673C-4815-B3FD-A3199F2E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216400" y="5121487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91" name="small-b-8-3">
            <a:extLst xmlns:a="http://schemas.openxmlformats.org/drawingml/2006/main">
              <a:ext uri="{FF2B5EF4-FFF2-40B4-BE49-F238E27FC236}">
                <a16:creationId xmlns:a16="http://schemas.microsoft.com/office/drawing/2014/main" id="{48FEF2ED-A3B2-45CE-8AEE-1A0C9EDF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819650" y="5082963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92" name="small-b-8-4">
            <a:extLst xmlns:a="http://schemas.openxmlformats.org/drawingml/2006/main">
              <a:ext uri="{FF2B5EF4-FFF2-40B4-BE49-F238E27FC236}">
                <a16:creationId xmlns:a16="http://schemas.microsoft.com/office/drawing/2014/main" id="{57F1395C-294F-4215-8FAD-A2E9371D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22900" y="5044440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93" name="small-s-8-1">
            <a:extLst xmlns:a="http://schemas.openxmlformats.org/drawingml/2006/main">
              <a:ext uri="{FF2B5EF4-FFF2-40B4-BE49-F238E27FC236}">
                <a16:creationId xmlns:a16="http://schemas.microsoft.com/office/drawing/2014/main" id="{0E517471-9457-49CE-920A-3E37B176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150" y="5140748"/>
            <a:ext cx="603250" cy="192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697386"/>
            </a:solidFill>
            <a:prstDash val="solid"/>
          </a:ln>
        </p:spPr>
      </p:sp>
      <p:sp>
        <p:nvSpPr>
          <p:cNvPr id="94" name="small-s-8-2">
            <a:extLst xmlns:a="http://schemas.openxmlformats.org/drawingml/2006/main">
              <a:ext uri="{FF2B5EF4-FFF2-40B4-BE49-F238E27FC236}">
                <a16:creationId xmlns:a16="http://schemas.microsoft.com/office/drawing/2014/main" id="{AA0055FF-504E-4007-8F6D-056D4F06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216400" y="5121487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697386"/>
            </a:solidFill>
            <a:prstDash val="solid"/>
          </a:ln>
        </p:spPr>
      </p:sp>
      <p:sp>
        <p:nvSpPr>
          <p:cNvPr id="95" name="small-s-8-3">
            <a:extLst xmlns:a="http://schemas.openxmlformats.org/drawingml/2006/main">
              <a:ext uri="{FF2B5EF4-FFF2-40B4-BE49-F238E27FC236}">
                <a16:creationId xmlns:a16="http://schemas.microsoft.com/office/drawing/2014/main" id="{A7E13FDD-5CF7-484A-83E9-0F2C369C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819650" y="5102225"/>
            <a:ext cx="603250" cy="192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697386"/>
            </a:solidFill>
            <a:prstDash val="solid"/>
          </a:ln>
        </p:spPr>
      </p:sp>
      <p:sp>
        <p:nvSpPr>
          <p:cNvPr id="96" name="small-s-8-4">
            <a:extLst xmlns:a="http://schemas.openxmlformats.org/drawingml/2006/main">
              <a:ext uri="{FF2B5EF4-FFF2-40B4-BE49-F238E27FC236}">
                <a16:creationId xmlns:a16="http://schemas.microsoft.com/office/drawing/2014/main" id="{798E58C9-236A-49A8-9AE5-88843509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22900" y="5063702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697386"/>
            </a:solidFill>
            <a:prstDash val="solid"/>
          </a:ln>
        </p:spPr>
      </p:sp>
      <p:sp>
        <p:nvSpPr>
          <p:cNvPr id="97" name="small-class-8">
            <a:extLst xmlns:a="http://schemas.openxmlformats.org/drawingml/2006/main">
              <a:ext uri="{FF2B5EF4-FFF2-40B4-BE49-F238E27FC236}">
                <a16:creationId xmlns:a16="http://schemas.microsoft.com/office/drawing/2014/main" id="{D1C2285E-BF3B-4CA3-9BBD-9CC82EE6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950" y="5410200"/>
            <a:ext cx="256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697386"/>
                </a:solidFill>
              </a:defRPr>
            </a:pPr>
            <a:r>
              <a:rPr sz="1600" b="1">
                <a:solidFill>
                  <a:srgbClr val="697386"/>
                </a:solidFill>
              </a:rPr>
              <a:t>maintain</a:t>
            </a:r>
          </a:p>
        </p:txBody>
      </p:sp>
      <p:sp>
        <p:nvSpPr>
          <p:cNvPr id="98" name="small-9">
            <a:extLst xmlns:a="http://schemas.openxmlformats.org/drawingml/2006/main">
              <a:ext uri="{FF2B5EF4-FFF2-40B4-BE49-F238E27FC236}">
                <a16:creationId xmlns:a16="http://schemas.microsoft.com/office/drawing/2014/main" id="{5C1A4DAF-E630-4392-AE3A-7A89D09F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900" y="4260850"/>
            <a:ext cx="2755900" cy="13970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72D"/>
            </a:solidFill>
            <a:prstDash val="solid"/>
          </a:ln>
        </p:spPr>
      </p:sp>
      <p:sp>
        <p:nvSpPr>
          <p:cNvPr id="99" name="small-title-9">
            <a:extLst xmlns:a="http://schemas.openxmlformats.org/drawingml/2006/main">
              <a:ext uri="{FF2B5EF4-FFF2-40B4-BE49-F238E27FC236}">
                <a16:creationId xmlns:a16="http://schemas.microsoft.com/office/drawing/2014/main" id="{6D52B80E-5774-44AE-B82E-DEB1A6E6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150" y="4337050"/>
            <a:ext cx="126771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business I</a:t>
            </a:r>
          </a:p>
        </p:txBody>
      </p:sp>
      <p:sp>
        <p:nvSpPr>
          <p:cNvPr id="100" name="small-summary-9">
            <a:extLst xmlns:a="http://schemas.openxmlformats.org/drawingml/2006/main">
              <a:ext uri="{FF2B5EF4-FFF2-40B4-BE49-F238E27FC236}">
                <a16:creationId xmlns:a16="http://schemas.microsoft.com/office/drawing/2014/main" id="{8E0F13E9-7A5E-4052-BACA-1CFC3864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614" y="4318000"/>
            <a:ext cx="135039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End of term 64｜CAGR +low</a:t>
            </a:r>
          </a:p>
        </p:txBody>
      </p:sp>
      <p:sp>
        <p:nvSpPr>
          <p:cNvPr id="101" name="small-b-9-1">
            <a:extLst xmlns:a="http://schemas.openxmlformats.org/drawingml/2006/main">
              <a:ext uri="{FF2B5EF4-FFF2-40B4-BE49-F238E27FC236}">
                <a16:creationId xmlns:a16="http://schemas.microsoft.com/office/drawing/2014/main" id="{BC7DEACB-3995-49A2-8DE0-3A9E0352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83350" y="5160010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102" name="small-b-9-2">
            <a:extLst xmlns:a="http://schemas.openxmlformats.org/drawingml/2006/main">
              <a:ext uri="{FF2B5EF4-FFF2-40B4-BE49-F238E27FC236}">
                <a16:creationId xmlns:a16="http://schemas.microsoft.com/office/drawing/2014/main" id="{36346F89-414D-41A8-81BC-3BD9F98C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86600" y="5121487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103" name="small-b-9-3">
            <a:extLst xmlns:a="http://schemas.openxmlformats.org/drawingml/2006/main">
              <a:ext uri="{FF2B5EF4-FFF2-40B4-BE49-F238E27FC236}">
                <a16:creationId xmlns:a16="http://schemas.microsoft.com/office/drawing/2014/main" id="{60B82915-B610-4075-98EE-BFFDC767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689850" y="5082963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104" name="small-b-9-4">
            <a:extLst xmlns:a="http://schemas.openxmlformats.org/drawingml/2006/main">
              <a:ext uri="{FF2B5EF4-FFF2-40B4-BE49-F238E27FC236}">
                <a16:creationId xmlns:a16="http://schemas.microsoft.com/office/drawing/2014/main" id="{83AEC917-CB45-46B8-97FA-978F5079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93100" y="5044440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EB8C6"/>
            </a:solidFill>
            <a:prstDash val="solid"/>
          </a:ln>
        </p:spPr>
      </p:sp>
      <p:sp>
        <p:nvSpPr>
          <p:cNvPr id="105" name="small-s-9-1">
            <a:extLst xmlns:a="http://schemas.openxmlformats.org/drawingml/2006/main">
              <a:ext uri="{FF2B5EF4-FFF2-40B4-BE49-F238E27FC236}">
                <a16:creationId xmlns:a16="http://schemas.microsoft.com/office/drawing/2014/main" id="{22EC7779-BC7F-4BCF-B9A2-FEF045C7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83350" y="5198533"/>
            <a:ext cx="603250" cy="192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8872D"/>
            </a:solidFill>
            <a:prstDash val="solid"/>
          </a:ln>
        </p:spPr>
      </p:sp>
      <p:sp>
        <p:nvSpPr>
          <p:cNvPr id="106" name="small-s-9-2">
            <a:extLst xmlns:a="http://schemas.openxmlformats.org/drawingml/2006/main">
              <a:ext uri="{FF2B5EF4-FFF2-40B4-BE49-F238E27FC236}">
                <a16:creationId xmlns:a16="http://schemas.microsoft.com/office/drawing/2014/main" id="{AC3FD985-2E4E-4989-BCEE-4A6FD957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198533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8872D"/>
            </a:solidFill>
            <a:prstDash val="solid"/>
          </a:ln>
        </p:spPr>
      </p:sp>
      <p:sp>
        <p:nvSpPr>
          <p:cNvPr id="107" name="small-s-9-3">
            <a:extLst xmlns:a="http://schemas.openxmlformats.org/drawingml/2006/main">
              <a:ext uri="{FF2B5EF4-FFF2-40B4-BE49-F238E27FC236}">
                <a16:creationId xmlns:a16="http://schemas.microsoft.com/office/drawing/2014/main" id="{ED7E70DE-0A8B-4E9B-A258-C6526809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5237057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8872D"/>
            </a:solidFill>
            <a:prstDash val="solid"/>
          </a:ln>
        </p:spPr>
      </p:sp>
      <p:sp>
        <p:nvSpPr>
          <p:cNvPr id="108" name="small-s-9-4">
            <a:extLst xmlns:a="http://schemas.openxmlformats.org/drawingml/2006/main">
              <a:ext uri="{FF2B5EF4-FFF2-40B4-BE49-F238E27FC236}">
                <a16:creationId xmlns:a16="http://schemas.microsoft.com/office/drawing/2014/main" id="{F70C2A62-A4EB-47B4-BCFF-1136C256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5275580"/>
            <a:ext cx="603250" cy="38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8872D"/>
            </a:solidFill>
            <a:prstDash val="solid"/>
          </a:ln>
        </p:spPr>
      </p:sp>
      <p:sp>
        <p:nvSpPr>
          <p:cNvPr id="109" name="small-class-9">
            <a:extLst xmlns:a="http://schemas.openxmlformats.org/drawingml/2006/main">
              <a:ext uri="{FF2B5EF4-FFF2-40B4-BE49-F238E27FC236}">
                <a16:creationId xmlns:a16="http://schemas.microsoft.com/office/drawing/2014/main" id="{22BEC40B-1763-467C-9ACB-76F68478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150" y="5410200"/>
            <a:ext cx="256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Exit or shrink</a:t>
            </a:r>
          </a:p>
        </p:txBody>
      </p:sp>
      <p:sp>
        <p:nvSpPr>
          <p:cNvPr id="110" name="key insights-rail">
            <a:extLst xmlns:a="http://schemas.openxmlformats.org/drawingml/2006/main">
              <a:ext uri="{FF2B5EF4-FFF2-40B4-BE49-F238E27FC236}">
                <a16:creationId xmlns:a16="http://schemas.microsoft.com/office/drawing/2014/main" id="{E8C77533-C4CB-4B5B-8092-F758ACB9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219200"/>
            <a:ext cx="2324100" cy="44577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111" name="key insights-title">
            <a:extLst xmlns:a="http://schemas.openxmlformats.org/drawingml/2006/main">
              <a:ext uri="{FF2B5EF4-FFF2-40B4-BE49-F238E27FC236}">
                <a16:creationId xmlns:a16="http://schemas.microsoft.com/office/drawing/2014/main" id="{83C23248-AAB1-4C84-8F07-29619DEE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3525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key insights</a:t>
            </a:r>
          </a:p>
        </p:txBody>
      </p:sp>
      <p:sp>
        <p:nvSpPr>
          <p:cNvPr id="112" name="key insights-item-1">
            <a:extLst xmlns:a="http://schemas.openxmlformats.org/drawingml/2006/main">
              <a:ext uri="{FF2B5EF4-FFF2-40B4-BE49-F238E27FC236}">
                <a16:creationId xmlns:a16="http://schemas.microsoft.com/office/drawing/2014/main" id="{6273D565-CAF1-4572-8144-1162DA90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0193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Three business lines continue to outperform the company’s average</a:t>
            </a:r>
          </a:p>
        </p:txBody>
      </p:sp>
      <p:sp>
        <p:nvSpPr>
          <p:cNvPr id="113" name="key insights-item-2">
            <a:extLst xmlns:a="http://schemas.openxmlformats.org/drawingml/2006/main">
              <a:ext uri="{FF2B5EF4-FFF2-40B4-BE49-F238E27FC236}">
                <a16:creationId xmlns:a16="http://schemas.microsoft.com/office/drawing/2014/main" id="{8F6B7B3D-F3DA-4D6D-B7DD-80B34277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52750"/>
            <a:ext cx="20193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Three business lines ended the period lower than the benchmark</a:t>
            </a:r>
          </a:p>
        </p:txBody>
      </p:sp>
      <p:sp>
        <p:nvSpPr>
          <p:cNvPr id="114" name="key insights-item-3">
            <a:extLst xmlns:a="http://schemas.openxmlformats.org/drawingml/2006/main">
              <a:ext uri="{FF2B5EF4-FFF2-40B4-BE49-F238E27FC236}">
                <a16:creationId xmlns:a16="http://schemas.microsoft.com/office/drawing/2014/main" id="{447F9187-3D67-4D69-A2E5-0F0ECB90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14800"/>
            <a:ext cx="20193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High-growth businesses share standardization capabilities</a:t>
            </a:r>
          </a:p>
        </p:txBody>
      </p:sp>
      <p:sp>
        <p:nvSpPr>
          <p:cNvPr id="115" name="bottom-conclusion">
            <a:extLst xmlns:a="http://schemas.openxmlformats.org/drawingml/2006/main">
              <a:ext uri="{FF2B5EF4-FFF2-40B4-BE49-F238E27FC236}">
                <a16:creationId xmlns:a16="http://schemas.microsoft.com/office/drawing/2014/main" id="{9DB8448A-055E-44A8-90A2-B95E89DD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62650"/>
            <a:ext cx="111633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12383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Classified disposal: increase investment 3 item, maintain 3 item, exit or shrink 3 item</a:t>
            </a:r>
          </a:p>
        </p:txBody>
      </p:sp>
    </p:spTree>
    <p:extLst>
      <p:ext uri="{BB962C8B-B14F-4D97-AF65-F5344CB8AC3E}">
        <p14:creationId xmlns:p14="http://schemas.microsoft.com/office/powerpoint/2010/main" val="19821298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2026-07-31T20:16:34.1990000Z</dcterms:created>
  <dcterms:modified xsi:type="dcterms:W3CDTF">2026-07-31T20:16:34.1990000Z</dcterms:modified>
</coreProperties>
</file>