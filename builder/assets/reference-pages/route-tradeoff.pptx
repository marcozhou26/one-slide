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b007af749e4f77" /><Relationship Type="http://schemas.openxmlformats.org/officeDocument/2006/relationships/extended-properties" Target="/docProps/app.xml" Id="R7d223ac3679848f0" /><Relationship Type="http://schemas.openxmlformats.org/officeDocument/2006/relationships/officeDocument" Target="/ppt/presentation.xml" Id="Rd31936650bb347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9256a15cfc4d7b"/>
  </p:sldMasterIdLst>
  <p:notesMasterIdLst>
    <p:notesMasterId xmlns:r="http://schemas.openxmlformats.org/officeDocument/2006/relationships" r:id="R2958d59feda9456b"/>
  </p:notesMasterIdLst>
  <p:sldIdLst>
    <p:sldId xmlns:r="http://schemas.openxmlformats.org/officeDocument/2006/relationships" id="256" r:id="R37713afca95a42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41983084bc4447" /><Relationship Type="http://schemas.openxmlformats.org/officeDocument/2006/relationships/slideMaster" Target="/ppt/slideMasters/slideMaster1.xml" Id="Rf09256a15cfc4d7b" /><Relationship Type="http://schemas.openxmlformats.org/officeDocument/2006/relationships/notesMaster" Target="/ppt/notesMasters/notesMaster1.xml" Id="R2958d59feda9456b" /><Relationship Type="http://schemas.openxmlformats.org/officeDocument/2006/relationships/presProps" Target="/ppt/presProps.xml" Id="R7f9d6c1ce7e94bfc" /><Relationship Type="http://schemas.openxmlformats.org/officeDocument/2006/relationships/tableStyles" Target="/ppt/tableStyles.xml" Id="R108272dccde749d0" /><Relationship Type="http://schemas.openxmlformats.org/officeDocument/2006/relationships/slide" Target="/ppt/slides/slide1.xml" Id="R37713afca95a42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7b036893134b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f47b457f844b1f" /><Relationship Type="http://schemas.openxmlformats.org/officeDocument/2006/relationships/notesMaster" Target="/ppt/notesMasters/notesMaster1.xml" Id="Rfe2b264f4f5a40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f86069c10d4d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a00e3ae0ab4681" /><Relationship Type="http://schemas.openxmlformats.org/officeDocument/2006/relationships/slideLayout" Target="/ppt/slideLayouts/slideLayout1.xml" Id="R4157cd4a2cea43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57cd4a2cea43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3b2ef40d24e65" /><Relationship Type="http://schemas.openxmlformats.org/officeDocument/2006/relationships/notesSlide" Target="/ppt/notesSlides/notesSlide1.xml" Id="R3d4800e5bd8a40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9" name=""/>
          <p:cNvCxnSpPr>
            <a:stCxn xmlns:a="http://schemas.openxmlformats.org/drawingml/2006/main" id="16" idx="2"/>
            <a:endCxn xmlns:a="http://schemas.openxmlformats.org/drawingml/2006/main" id="36" idx="3"/>
          </p:cNvCxnSpPr>
          <p:nvPr/>
        </p:nvCxnSpPr>
        <p:spPr>
          <a:xfrm xmlns:a="http://schemas.openxmlformats.org/drawingml/2006/main">
            <a:off x="9629775" y="5334000"/>
            <a:ext cx="1038225" cy="6477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E8872D"/>
            </a:solidFill>
            <a:prstDash val="solid"/>
            <a:tailEnd type="triangle" w="med" len="med"/>
          </a:ln>
        </p:spPr>
      </p:cxnSp>
      <p:cxnSp>
        <p:nvCxnSpPr>
          <p:cNvPr id="40" name=""/>
          <p:cNvCxnSpPr>
            <a:stCxn xmlns:a="http://schemas.openxmlformats.org/drawingml/2006/main" id="2" idx="2"/>
            <a:endCxn xmlns:a="http://schemas.openxmlformats.org/drawingml/2006/main" id="36" idx="1"/>
          </p:cNvCxnSpPr>
          <p:nvPr/>
        </p:nvCxnSpPr>
        <p:spPr>
          <a:xfrm xmlns:a="http://schemas.openxmlformats.org/drawingml/2006/main" flipH="1">
            <a:off x="1524000" y="5334000"/>
            <a:ext cx="1038225" cy="6477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E8872D"/>
            </a:solidFill>
            <a:prstDash val="solid"/>
            <a:tailEnd type="triangle" w="med" len="med"/>
          </a:ln>
        </p:spPr>
      </p:cxnSp>
      <p:sp>
        <p:nvSpPr>
          <p:cNvPr id="35" name="conflict-axis-2">
            <a:extLst xmlns:a="http://schemas.openxmlformats.org/drawingml/2006/main">
              <a:ext uri="{FF2B5EF4-FFF2-40B4-BE49-F238E27FC236}">
                <a16:creationId xmlns:a16="http://schemas.microsoft.com/office/drawing/2014/main" id="{1546D2B0-CAD9-4F02-9D04-01F7575F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57525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8872D"/>
            </a:solidFill>
            <a:prstDash val="solid"/>
          </a:ln>
        </p:spPr>
      </p:sp>
      <p:sp>
        <p:nvSpPr>
          <p:cNvPr id="33" name="conflict-axis-1">
            <a:extLst xmlns:a="http://schemas.openxmlformats.org/drawingml/2006/main">
              <a:ext uri="{FF2B5EF4-FFF2-40B4-BE49-F238E27FC236}">
                <a16:creationId xmlns:a16="http://schemas.microsoft.com/office/drawing/2014/main" id="{4C1708A0-43A7-42D7-BECC-63A4AFE6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85975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8872D"/>
            </a:solidFill>
            <a:prstDash val="solid"/>
          </a:ln>
        </p:spPr>
      </p:sp>
      <p:sp>
        <p:nvSpPr>
          <p:cNvPr id="43" name="page-title">
            <a:extLst xmlns:a="http://schemas.openxmlformats.org/drawingml/2006/main">
              <a:ext uri="{FF2B5EF4-FFF2-40B4-BE49-F238E27FC236}">
                <a16:creationId xmlns:a16="http://schemas.microsoft.com/office/drawing/2014/main" id="{3030BD9D-F5AA-4DAA-9FCF-CDFD69E4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75F"/>
                </a:solidFill>
              </a:defRPr>
            </a:pPr>
            <a:r>
              <a:rPr sz="2550" b="1">
                <a:solidFill>
                  <a:srgbClr val="15375F"/>
                </a:solidFill>
              </a:rPr>
              <a:t>不做全面自建，先以外采平台＋内建数据资产的混合路线破局</a:t>
            </a:r>
          </a:p>
        </p:txBody>
      </p:sp>
      <p:sp>
        <p:nvSpPr>
          <p:cNvPr id="2" name="route-1-frame">
            <a:extLst xmlns:a="http://schemas.openxmlformats.org/drawingml/2006/main">
              <a:ext uri="{FF2B5EF4-FFF2-40B4-BE49-F238E27FC236}">
                <a16:creationId xmlns:a16="http://schemas.microsoft.com/office/drawing/2014/main" id="{EF648D44-CAE1-4910-8F06-2E9C89AC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40957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5240">
            <a:solidFill>
              <a:srgbClr val="AEB8C6"/>
            </a:solidFill>
            <a:prstDash val="solid"/>
          </a:ln>
        </p:spPr>
      </p:sp>
      <p:sp>
        <p:nvSpPr>
          <p:cNvPr id="3" name="route-1-title">
            <a:extLst xmlns:a="http://schemas.openxmlformats.org/drawingml/2006/main">
              <a:ext uri="{FF2B5EF4-FFF2-40B4-BE49-F238E27FC236}">
                <a16:creationId xmlns:a16="http://schemas.microsoft.com/office/drawing/2014/main" id="{C60C3C36-BFBB-4479-B709-6DA3936D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3752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697386"/>
                </a:solidFill>
              </a:defRPr>
            </a:pPr>
            <a:r>
              <a:rPr sz="1725" b="1">
                <a:solidFill>
                  <a:srgbClr val="697386"/>
                </a:solidFill>
              </a:rPr>
              <a:t>路线 A：自建 AI 中台</a:t>
            </a:r>
          </a:p>
        </p:txBody>
      </p:sp>
      <p:sp>
        <p:nvSpPr>
          <p:cNvPr id="4" name="route-1-dim-1">
            <a:extLst xmlns:a="http://schemas.openxmlformats.org/drawingml/2006/main">
              <a:ext uri="{FF2B5EF4-FFF2-40B4-BE49-F238E27FC236}">
                <a16:creationId xmlns:a16="http://schemas.microsoft.com/office/drawing/2014/main" id="{EA4CAA72-3005-47B6-AEDE-342BBE8A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990600" cy="88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投入成本</a:t>
            </a:r>
          </a:p>
        </p:txBody>
      </p:sp>
      <p:sp>
        <p:nvSpPr>
          <p:cNvPr id="5" name="route-1-judgment-1">
            <a:extLst xmlns:a="http://schemas.openxmlformats.org/drawingml/2006/main">
              <a:ext uri="{FF2B5EF4-FFF2-40B4-BE49-F238E27FC236}">
                <a16:creationId xmlns:a16="http://schemas.microsoft.com/office/drawing/2014/main" id="{F812654E-8672-4076-91E2-61BCA468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876425"/>
            <a:ext cx="22098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投入成本高</a:t>
            </a:r>
          </a:p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首年约 900 万</a:t>
            </a:r>
          </a:p>
        </p:txBody>
      </p:sp>
      <p:sp>
        <p:nvSpPr>
          <p:cNvPr id="6" name="route-1-score-1">
            <a:extLst xmlns:a="http://schemas.openxmlformats.org/drawingml/2006/main">
              <a:ext uri="{FF2B5EF4-FFF2-40B4-BE49-F238E27FC236}">
                <a16:creationId xmlns:a16="http://schemas.microsoft.com/office/drawing/2014/main" id="{0C19CD25-AFCF-494C-A47A-03BE4DC0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895475"/>
            <a:ext cx="4572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EB8C6"/>
                </a:solidFill>
              </a:defRPr>
            </a:pPr>
            <a:r>
              <a:rPr sz="1875" b="1">
                <a:solidFill>
                  <a:srgbClr val="AEB8C6"/>
                </a:solidFill>
              </a:rPr>
              <a:t>○</a:t>
            </a:r>
          </a:p>
        </p:txBody>
      </p:sp>
      <p:sp>
        <p:nvSpPr>
          <p:cNvPr id="7" name="route-1-divider-1">
            <a:extLst xmlns:a="http://schemas.openxmlformats.org/drawingml/2006/main">
              <a:ext uri="{FF2B5EF4-FFF2-40B4-BE49-F238E27FC236}">
                <a16:creationId xmlns:a16="http://schemas.microsoft.com/office/drawing/2014/main" id="{6D2F1748-20C8-4C7B-AC6F-2CD7434C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25750"/>
            <a:ext cx="3867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route-1-dim-2">
            <a:extLst xmlns:a="http://schemas.openxmlformats.org/drawingml/2006/main">
              <a:ext uri="{FF2B5EF4-FFF2-40B4-BE49-F238E27FC236}">
                <a16:creationId xmlns:a16="http://schemas.microsoft.com/office/drawing/2014/main" id="{5A57428E-2A41-4D59-85E2-BC8093A3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82900"/>
            <a:ext cx="990600" cy="88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见效周期</a:t>
            </a:r>
          </a:p>
        </p:txBody>
      </p:sp>
      <p:sp>
        <p:nvSpPr>
          <p:cNvPr id="9" name="route-1-judgment-2">
            <a:extLst xmlns:a="http://schemas.openxmlformats.org/drawingml/2006/main">
              <a:ext uri="{FF2B5EF4-FFF2-40B4-BE49-F238E27FC236}">
                <a16:creationId xmlns:a16="http://schemas.microsoft.com/office/drawing/2014/main" id="{F745956F-0A23-4199-B478-D882742F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73375"/>
            <a:ext cx="22098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见效周期长</a:t>
            </a:r>
          </a:p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约需 15 个月</a:t>
            </a:r>
          </a:p>
        </p:txBody>
      </p:sp>
      <p:sp>
        <p:nvSpPr>
          <p:cNvPr id="10" name="route-1-score-2">
            <a:extLst xmlns:a="http://schemas.openxmlformats.org/drawingml/2006/main">
              <a:ext uri="{FF2B5EF4-FFF2-40B4-BE49-F238E27FC236}">
                <a16:creationId xmlns:a16="http://schemas.microsoft.com/office/drawing/2014/main" id="{F8255999-842D-4939-829F-C43A525D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92425"/>
            <a:ext cx="4572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EB8C6"/>
                </a:solidFill>
              </a:defRPr>
            </a:pPr>
            <a:r>
              <a:rPr sz="1875" b="1">
                <a:solidFill>
                  <a:srgbClr val="AEB8C6"/>
                </a:solidFill>
              </a:rPr>
              <a:t>○</a:t>
            </a:r>
          </a:p>
        </p:txBody>
      </p:sp>
      <p:sp>
        <p:nvSpPr>
          <p:cNvPr id="11" name="route-1-divider-2">
            <a:extLst xmlns:a="http://schemas.openxmlformats.org/drawingml/2006/main">
              <a:ext uri="{FF2B5EF4-FFF2-40B4-BE49-F238E27FC236}">
                <a16:creationId xmlns:a16="http://schemas.microsoft.com/office/drawing/2014/main" id="{1543ED27-BE01-44A8-9EB3-2BC082AB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22700"/>
            <a:ext cx="3867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route-1-dim-3">
            <a:extLst xmlns:a="http://schemas.openxmlformats.org/drawingml/2006/main">
              <a:ext uri="{FF2B5EF4-FFF2-40B4-BE49-F238E27FC236}">
                <a16:creationId xmlns:a16="http://schemas.microsoft.com/office/drawing/2014/main" id="{7DD39B7A-E837-4EC9-8F81-D23F27D1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79850"/>
            <a:ext cx="990600" cy="88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能力沉淀</a:t>
            </a:r>
          </a:p>
        </p:txBody>
      </p:sp>
      <p:sp>
        <p:nvSpPr>
          <p:cNvPr id="13" name="route-1-judgment-3">
            <a:extLst xmlns:a="http://schemas.openxmlformats.org/drawingml/2006/main">
              <a:ext uri="{FF2B5EF4-FFF2-40B4-BE49-F238E27FC236}">
                <a16:creationId xmlns:a16="http://schemas.microsoft.com/office/drawing/2014/main" id="{1D0864E7-04AA-4492-9F07-979D88AD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870325"/>
            <a:ext cx="22098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能力沉淀强</a:t>
            </a:r>
          </a:p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核心资产留在内部</a:t>
            </a:r>
          </a:p>
        </p:txBody>
      </p:sp>
      <p:sp>
        <p:nvSpPr>
          <p:cNvPr id="14" name="route-1-score-3">
            <a:extLst xmlns:a="http://schemas.openxmlformats.org/drawingml/2006/main">
              <a:ext uri="{FF2B5EF4-FFF2-40B4-BE49-F238E27FC236}">
                <a16:creationId xmlns:a16="http://schemas.microsoft.com/office/drawing/2014/main" id="{0B0D1DD2-D9AC-4CD1-9E11-06D147C4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889375"/>
            <a:ext cx="4572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6FB2"/>
                </a:solidFill>
              </a:defRPr>
            </a:pPr>
            <a:r>
              <a:rPr sz="1875" b="1">
                <a:solidFill>
                  <a:srgbClr val="2F6FB2"/>
                </a:solidFill>
              </a:rPr>
              <a:t>●</a:t>
            </a:r>
          </a:p>
        </p:txBody>
      </p:sp>
      <p:sp>
        <p:nvSpPr>
          <p:cNvPr id="15" name="route-1-total">
            <a:extLst xmlns:a="http://schemas.openxmlformats.org/drawingml/2006/main">
              <a:ext uri="{FF2B5EF4-FFF2-40B4-BE49-F238E27FC236}">
                <a16:creationId xmlns:a16="http://schemas.microsoft.com/office/drawing/2014/main" id="{38E75F62-E327-4165-AEFE-A659803A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24425"/>
            <a:ext cx="3790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697386"/>
                </a:solidFill>
              </a:defRPr>
            </a:pPr>
            <a:r>
              <a:rPr sz="1600" b="1">
                <a:solidFill>
                  <a:srgbClr val="697386"/>
                </a:solidFill>
              </a:rPr>
              <a:t>总评分 5/9</a:t>
            </a:r>
          </a:p>
        </p:txBody>
      </p:sp>
      <p:sp>
        <p:nvSpPr>
          <p:cNvPr id="16" name="route-2-frame">
            <a:extLst xmlns:a="http://schemas.openxmlformats.org/drawingml/2006/main">
              <a:ext uri="{FF2B5EF4-FFF2-40B4-BE49-F238E27FC236}">
                <a16:creationId xmlns:a16="http://schemas.microsoft.com/office/drawing/2014/main" id="{6E1BB2C2-C5E4-448E-8800-B3E970CF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38250"/>
            <a:ext cx="40957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E9F1FA"/>
          </a:solidFill>
          <a:ln xmlns:a="http://schemas.openxmlformats.org/drawingml/2006/main" w="15240">
            <a:solidFill>
              <a:srgbClr val="2F6FB2"/>
            </a:solidFill>
            <a:prstDash val="solid"/>
          </a:ln>
        </p:spPr>
      </p:sp>
      <p:sp>
        <p:nvSpPr>
          <p:cNvPr id="17" name="route-2-title">
            <a:extLst xmlns:a="http://schemas.openxmlformats.org/drawingml/2006/main">
              <a:ext uri="{FF2B5EF4-FFF2-40B4-BE49-F238E27FC236}">
                <a16:creationId xmlns:a16="http://schemas.microsoft.com/office/drawing/2014/main" id="{23C8F118-1A01-4110-B133-94EAC378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352550"/>
            <a:ext cx="3752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375F"/>
                </a:solidFill>
              </a:defRPr>
            </a:pPr>
            <a:r>
              <a:rPr sz="1725" b="1">
                <a:solidFill>
                  <a:srgbClr val="15375F"/>
                </a:solidFill>
              </a:rPr>
              <a:t>路线 B：外采成熟平台</a:t>
            </a:r>
          </a:p>
        </p:txBody>
      </p:sp>
      <p:sp>
        <p:nvSpPr>
          <p:cNvPr id="18" name="route-2-dim-1">
            <a:extLst xmlns:a="http://schemas.openxmlformats.org/drawingml/2006/main">
              <a:ext uri="{FF2B5EF4-FFF2-40B4-BE49-F238E27FC236}">
                <a16:creationId xmlns:a16="http://schemas.microsoft.com/office/drawing/2014/main" id="{46D77EA4-FDFE-4A57-BB48-E06FF624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85950"/>
            <a:ext cx="990600" cy="88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投入成本</a:t>
            </a:r>
          </a:p>
        </p:txBody>
      </p:sp>
      <p:sp>
        <p:nvSpPr>
          <p:cNvPr id="19" name="route-2-judgment-1">
            <a:extLst xmlns:a="http://schemas.openxmlformats.org/drawingml/2006/main">
              <a:ext uri="{FF2B5EF4-FFF2-40B4-BE49-F238E27FC236}">
                <a16:creationId xmlns:a16="http://schemas.microsoft.com/office/drawing/2014/main" id="{AC4120A2-EF25-4432-AC03-9BAEF655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76425"/>
            <a:ext cx="22098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投入成本低</a:t>
            </a:r>
          </a:p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首年约 400 万</a:t>
            </a:r>
          </a:p>
        </p:txBody>
      </p:sp>
      <p:sp>
        <p:nvSpPr>
          <p:cNvPr id="20" name="route-2-score-1">
            <a:extLst xmlns:a="http://schemas.openxmlformats.org/drawingml/2006/main">
              <a:ext uri="{FF2B5EF4-FFF2-40B4-BE49-F238E27FC236}">
                <a16:creationId xmlns:a16="http://schemas.microsoft.com/office/drawing/2014/main" id="{85969738-C4F0-48AB-9681-96A4D8B3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895475"/>
            <a:ext cx="4572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6FB2"/>
                </a:solidFill>
              </a:defRPr>
            </a:pPr>
            <a:r>
              <a:rPr sz="1875" b="1">
                <a:solidFill>
                  <a:srgbClr val="2F6FB2"/>
                </a:solidFill>
              </a:rPr>
              <a:t>●</a:t>
            </a:r>
          </a:p>
        </p:txBody>
      </p:sp>
      <p:sp>
        <p:nvSpPr>
          <p:cNvPr id="21" name="route-2-divider-1">
            <a:extLst xmlns:a="http://schemas.openxmlformats.org/drawingml/2006/main">
              <a:ext uri="{FF2B5EF4-FFF2-40B4-BE49-F238E27FC236}">
                <a16:creationId xmlns:a16="http://schemas.microsoft.com/office/drawing/2014/main" id="{1758FC8F-C34D-4D9C-9F3C-1BA69C61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25750"/>
            <a:ext cx="3867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route-2-dim-2">
            <a:extLst xmlns:a="http://schemas.openxmlformats.org/drawingml/2006/main">
              <a:ext uri="{FF2B5EF4-FFF2-40B4-BE49-F238E27FC236}">
                <a16:creationId xmlns:a16="http://schemas.microsoft.com/office/drawing/2014/main" id="{F1DB601A-7EE3-4C18-9634-B6FE9C6A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82900"/>
            <a:ext cx="990600" cy="88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见效周期</a:t>
            </a:r>
          </a:p>
        </p:txBody>
      </p:sp>
      <p:sp>
        <p:nvSpPr>
          <p:cNvPr id="23" name="route-2-judgment-2">
            <a:extLst xmlns:a="http://schemas.openxmlformats.org/drawingml/2006/main">
              <a:ext uri="{FF2B5EF4-FFF2-40B4-BE49-F238E27FC236}">
                <a16:creationId xmlns:a16="http://schemas.microsoft.com/office/drawing/2014/main" id="{067AE68A-0A70-428C-931D-D4598AE8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73375"/>
            <a:ext cx="22098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见效周期短</a:t>
            </a:r>
          </a:p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约需 5 个月</a:t>
            </a:r>
          </a:p>
        </p:txBody>
      </p:sp>
      <p:sp>
        <p:nvSpPr>
          <p:cNvPr id="24" name="route-2-score-2">
            <a:extLst xmlns:a="http://schemas.openxmlformats.org/drawingml/2006/main">
              <a:ext uri="{FF2B5EF4-FFF2-40B4-BE49-F238E27FC236}">
                <a16:creationId xmlns:a16="http://schemas.microsoft.com/office/drawing/2014/main" id="{B8A3F36C-D06D-433C-8C2A-F9ED68C0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892425"/>
            <a:ext cx="4572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6FB2"/>
                </a:solidFill>
              </a:defRPr>
            </a:pPr>
            <a:r>
              <a:rPr sz="1875" b="1">
                <a:solidFill>
                  <a:srgbClr val="2F6FB2"/>
                </a:solidFill>
              </a:rPr>
              <a:t>●</a:t>
            </a:r>
          </a:p>
        </p:txBody>
      </p:sp>
      <p:sp>
        <p:nvSpPr>
          <p:cNvPr id="25" name="route-2-divider-2">
            <a:extLst xmlns:a="http://schemas.openxmlformats.org/drawingml/2006/main">
              <a:ext uri="{FF2B5EF4-FFF2-40B4-BE49-F238E27FC236}">
                <a16:creationId xmlns:a16="http://schemas.microsoft.com/office/drawing/2014/main" id="{CEDA83D0-75D4-45F0-BDD1-9E9C041D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822700"/>
            <a:ext cx="3867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route-2-dim-3">
            <a:extLst xmlns:a="http://schemas.openxmlformats.org/drawingml/2006/main">
              <a:ext uri="{FF2B5EF4-FFF2-40B4-BE49-F238E27FC236}">
                <a16:creationId xmlns:a16="http://schemas.microsoft.com/office/drawing/2014/main" id="{284E82CA-3695-49F9-9DA2-2E347EF3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9850"/>
            <a:ext cx="990600" cy="88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能力沉淀</a:t>
            </a:r>
          </a:p>
        </p:txBody>
      </p:sp>
      <p:sp>
        <p:nvSpPr>
          <p:cNvPr id="27" name="route-2-judgment-3">
            <a:extLst xmlns:a="http://schemas.openxmlformats.org/drawingml/2006/main">
              <a:ext uri="{FF2B5EF4-FFF2-40B4-BE49-F238E27FC236}">
                <a16:creationId xmlns:a16="http://schemas.microsoft.com/office/drawing/2014/main" id="{61F8496B-7CBD-4BB2-BBCF-82BE9CBF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70325"/>
            <a:ext cx="22098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能力沉淀弱</a:t>
            </a:r>
          </a:p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产品能力主要在外部</a:t>
            </a:r>
          </a:p>
        </p:txBody>
      </p:sp>
      <p:sp>
        <p:nvSpPr>
          <p:cNvPr id="28" name="route-2-score-3">
            <a:extLst xmlns:a="http://schemas.openxmlformats.org/drawingml/2006/main">
              <a:ext uri="{FF2B5EF4-FFF2-40B4-BE49-F238E27FC236}">
                <a16:creationId xmlns:a16="http://schemas.microsoft.com/office/drawing/2014/main" id="{18A897FE-D3A5-4A2A-A837-015F95C6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889375"/>
            <a:ext cx="4572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EB8C6"/>
                </a:solidFill>
              </a:defRPr>
            </a:pPr>
            <a:r>
              <a:rPr sz="1875" b="1">
                <a:solidFill>
                  <a:srgbClr val="AEB8C6"/>
                </a:solidFill>
              </a:rPr>
              <a:t>○</a:t>
            </a:r>
          </a:p>
        </p:txBody>
      </p:sp>
      <p:sp>
        <p:nvSpPr>
          <p:cNvPr id="29" name="route-2-total">
            <a:extLst xmlns:a="http://schemas.openxmlformats.org/drawingml/2006/main">
              <a:ext uri="{FF2B5EF4-FFF2-40B4-BE49-F238E27FC236}">
                <a16:creationId xmlns:a16="http://schemas.microsoft.com/office/drawing/2014/main" id="{EEDF528F-BE22-47F2-B583-36B06E2E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924425"/>
            <a:ext cx="3790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总评分 7/9</a:t>
            </a:r>
          </a:p>
        </p:txBody>
      </p:sp>
      <p:sp>
        <p:nvSpPr>
          <p:cNvPr id="30" name="conflict-band">
            <a:extLst xmlns:a="http://schemas.openxmlformats.org/drawingml/2006/main">
              <a:ext uri="{FF2B5EF4-FFF2-40B4-BE49-F238E27FC236}">
                <a16:creationId xmlns:a16="http://schemas.microsoft.com/office/drawing/2014/main" id="{188D5C92-B1E0-4837-B310-313E1994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238250"/>
            <a:ext cx="2362200" cy="40957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1" name="conflict-label">
            <a:extLst xmlns:a="http://schemas.openxmlformats.org/drawingml/2006/main">
              <a:ext uri="{FF2B5EF4-FFF2-40B4-BE49-F238E27FC236}">
                <a16:creationId xmlns:a16="http://schemas.microsoft.com/office/drawing/2014/main" id="{4981BC16-15BA-454D-B826-85AAC30F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35255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关键权衡</a:t>
            </a:r>
          </a:p>
        </p:txBody>
      </p:sp>
      <p:sp>
        <p:nvSpPr>
          <p:cNvPr id="32" name="conflict-1">
            <a:extLst xmlns:a="http://schemas.openxmlformats.org/drawingml/2006/main">
              <a:ext uri="{FF2B5EF4-FFF2-40B4-BE49-F238E27FC236}">
                <a16:creationId xmlns:a16="http://schemas.microsoft.com/office/drawing/2014/main" id="{E42A6F28-E0D9-4488-B5D5-E828A720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28800"/>
            <a:ext cx="1905000" cy="514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12383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控制权 vs 速度</a:t>
            </a:r>
          </a:p>
        </p:txBody>
      </p:sp>
      <p:sp>
        <p:nvSpPr>
          <p:cNvPr id="34" name="conflict-2">
            <a:extLst xmlns:a="http://schemas.openxmlformats.org/drawingml/2006/main">
              <a:ext uri="{FF2B5EF4-FFF2-40B4-BE49-F238E27FC236}">
                <a16:creationId xmlns:a16="http://schemas.microsoft.com/office/drawing/2014/main" id="{01E1E9CF-2173-4188-8D43-7A2D7511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00350"/>
            <a:ext cx="1905000" cy="514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12383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长期资产 vs 短期 ROI</a:t>
            </a:r>
          </a:p>
        </p:txBody>
      </p:sp>
      <p:sp>
        <p:nvSpPr>
          <p:cNvPr id="36" name="recommendation">
            <a:extLst xmlns:a="http://schemas.openxmlformats.org/drawingml/2006/main">
              <a:ext uri="{FF2B5EF4-FFF2-40B4-BE49-F238E27FC236}">
                <a16:creationId xmlns:a16="http://schemas.microsoft.com/office/drawing/2014/main" id="{BE67B838-5FA4-42EA-AADB-F969A456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19750"/>
            <a:ext cx="9144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0E2"/>
          </a:solidFill>
          <a:ln xmlns:a="http://schemas.openxmlformats.org/drawingml/2006/main" w="19050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推荐路线：外采平台承接通用能力，内部建设数据资产</a:t>
            </a:r>
          </a:p>
        </p:txBody>
      </p:sp>
    </p:spTree>
    <p:extLst>
      <p:ext uri="{BB962C8B-B14F-4D97-AF65-F5344CB8AC3E}">
        <p14:creationId xmlns:p14="http://schemas.microsoft.com/office/powerpoint/2010/main" val="7857772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2026-07-31T20:14:46.7190000Z</dcterms:created>
  <dcterms:modified xsi:type="dcterms:W3CDTF">2026-07-31T20:14:46.7190000Z</dcterms:modified>
</coreProperties>
</file>