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d1b14a3204b89" /><Relationship Type="http://schemas.openxmlformats.org/officeDocument/2006/relationships/extended-properties" Target="/docProps/app.xml" Id="Rdfda2ed8d7e94fa8" /><Relationship Type="http://schemas.openxmlformats.org/officeDocument/2006/relationships/officeDocument" Target="/ppt/presentation.xml" Id="R28ecea6d8fc8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3d773167c46bf"/>
  </p:sldMasterIdLst>
  <p:notesMasterIdLst>
    <p:notesMasterId xmlns:r="http://schemas.openxmlformats.org/officeDocument/2006/relationships" r:id="R915f3a9599c04ac3"/>
  </p:notesMasterIdLst>
  <p:sldIdLst>
    <p:sldId xmlns:r="http://schemas.openxmlformats.org/officeDocument/2006/relationships" id="256" r:id="Reb1a3bf591a64a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e53abda164324" /><Relationship Type="http://schemas.openxmlformats.org/officeDocument/2006/relationships/slideMaster" Target="/ppt/slideMasters/slideMaster1.xml" Id="Rd193d773167c46bf" /><Relationship Type="http://schemas.openxmlformats.org/officeDocument/2006/relationships/notesMaster" Target="/ppt/notesMasters/notesMaster1.xml" Id="R915f3a9599c04ac3" /><Relationship Type="http://schemas.openxmlformats.org/officeDocument/2006/relationships/presProps" Target="/ppt/presProps.xml" Id="R34e580c4a7134c6e" /><Relationship Type="http://schemas.openxmlformats.org/officeDocument/2006/relationships/tableStyles" Target="/ppt/tableStyles.xml" Id="R050d90b2981d4e16" /><Relationship Type="http://schemas.openxmlformats.org/officeDocument/2006/relationships/slide" Target="/ppt/slides/slide1.xml" Id="Reb1a3bf591a6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c2bac1e5d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d101e0b0f4b91" /><Relationship Type="http://schemas.openxmlformats.org/officeDocument/2006/relationships/notesMaster" Target="/ppt/notesMasters/notesMaster1.xml" Id="Rba5d6a3fd0a6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423bcb78a4b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6eb71b2ff4b71" /><Relationship Type="http://schemas.openxmlformats.org/officeDocument/2006/relationships/slideLayout" Target="/ppt/slideLayouts/slideLayout1.xml" Id="R1dbd8be8a37e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d8be8a37e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e8c8432a841be" /><Relationship Type="http://schemas.openxmlformats.org/officeDocument/2006/relationships/notesSlide" Target="/ppt/notesSlides/notesSlide1.xml" Id="R628d1778c5d348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title">
            <a:extLst xmlns:a="http://schemas.openxmlformats.org/drawingml/2006/main">
              <a:ext uri="{FF2B5EF4-FFF2-40B4-BE49-F238E27FC236}">
                <a16:creationId xmlns:a16="http://schemas.microsoft.com/office/drawing/2014/main" id="{CB806FF4-8699-44D3-B736-24F44DB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375F"/>
                </a:solidFill>
              </a:defRPr>
            </a:pPr>
            <a:r>
              <a:rPr sz="2400" b="1">
                <a:solidFill>
                  <a:srgbClr val="15375F"/>
                </a:solidFill>
              </a:rPr>
              <a:t>证明服务一次解决率仅72%，积压达到190件，应优先调整入口说明与责任分派</a:t>
            </a:r>
          </a:p>
        </p:txBody>
      </p:sp>
      <p:sp>
        <p:nvSpPr>
          <p:cNvPr id="2" name="metric-1">
            <a:extLst xmlns:a="http://schemas.openxmlformats.org/drawingml/2006/main">
              <a:ext uri="{FF2B5EF4-FFF2-40B4-BE49-F238E27FC236}">
                <a16:creationId xmlns:a16="http://schemas.microsoft.com/office/drawing/2014/main" id="{05194FAD-9588-430A-A190-0E795F4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71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872D"/>
                </a:solidFill>
              </a:defRPr>
            </a:pPr>
            <a:r>
              <a:rPr sz="1800" b="1">
                <a:solidFill>
                  <a:srgbClr val="E8872D"/>
                </a:solidFill>
              </a:rPr>
              <a:t>总需求量</a:t>
            </a:r>
          </a:p>
          <a:p xmlns:a="http://schemas.openxmlformats.org/drawingml/2006/main">
            <a:pPr algn="ctr">
              <a:defRPr sz="1800" b="1">
                <a:solidFill>
                  <a:srgbClr val="E8872D"/>
                </a:solidFill>
              </a:defRPr>
            </a:pPr>
            <a:r>
              <a:rPr sz="1800" b="1">
                <a:solidFill>
                  <a:srgbClr val="E8872D"/>
                </a:solidFill>
              </a:rPr>
              <a:t>5,080件</a:t>
            </a:r>
          </a:p>
          <a:p xmlns:a="http://schemas.openxmlformats.org/drawingml/2006/main">
            <a:pPr algn="ctr">
              <a:defRPr sz="1800" b="1">
                <a:solidFill>
                  <a:srgbClr val="E8872D"/>
                </a:solidFill>
              </a:defRPr>
            </a:pPr>
            <a:r>
              <a:rPr sz="1800" b="1">
                <a:solidFill>
                  <a:srgbClr val="E8872D"/>
                </a:solidFill>
              </a:rPr>
              <a:t>观察期：2026年上半年</a:t>
            </a:r>
          </a:p>
        </p:txBody>
      </p:sp>
      <p:sp>
        <p:nvSpPr>
          <p:cNvPr id="3" name="metric-2">
            <a:extLst xmlns:a="http://schemas.openxmlformats.org/drawingml/2006/main">
              <a:ext uri="{FF2B5EF4-FFF2-40B4-BE49-F238E27FC236}">
                <a16:creationId xmlns:a16="http://schemas.microsoft.com/office/drawing/2014/main" id="{A906888C-3FB7-4C14-85B4-EAA5420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1200150"/>
            <a:ext cx="271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一次解决率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82.6%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88%</a:t>
            </a:r>
          </a:p>
        </p:txBody>
      </p:sp>
      <p:sp>
        <p:nvSpPr>
          <p:cNvPr id="4" name="metric-3">
            <a:extLst xmlns:a="http://schemas.openxmlformats.org/drawingml/2006/main">
              <a:ext uri="{FF2B5EF4-FFF2-40B4-BE49-F238E27FC236}">
                <a16:creationId xmlns:a16="http://schemas.microsoft.com/office/drawing/2014/main" id="{DB1EE960-D532-4778-8A77-0B380F3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550" y="1200150"/>
            <a:ext cx="271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期末积压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445件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&lt;300件</a:t>
            </a:r>
          </a:p>
        </p:txBody>
      </p:sp>
      <p:sp>
        <p:nvSpPr>
          <p:cNvPr id="5" name="operating-diagnostic-table">
            <a:extLst xmlns:a="http://schemas.openxmlformats.org/drawingml/2006/main">
              <a:ext uri="{FF2B5EF4-FFF2-40B4-BE49-F238E27FC236}">
                <a16:creationId xmlns:a16="http://schemas.microsoft.com/office/drawing/2014/main" id="{51B24828-B928-4055-9DB0-5D91C859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8382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" name="operating-column-1">
            <a:extLst xmlns:a="http://schemas.openxmlformats.org/drawingml/2006/main">
              <a:ext uri="{FF2B5EF4-FFF2-40B4-BE49-F238E27FC236}">
                <a16:creationId xmlns:a16="http://schemas.microsoft.com/office/drawing/2014/main" id="{484FF06B-3209-4FDA-A5B8-B5AC602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669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需求量</a:t>
            </a:r>
          </a:p>
        </p:txBody>
      </p:sp>
      <p:sp>
        <p:nvSpPr>
          <p:cNvPr id="7" name="operating-column-2">
            <a:extLst xmlns:a="http://schemas.openxmlformats.org/drawingml/2006/main">
              <a:ext uri="{FF2B5EF4-FFF2-40B4-BE49-F238E27FC236}">
                <a16:creationId xmlns:a16="http://schemas.microsoft.com/office/drawing/2014/main" id="{1FCBACD9-3C7C-4662-A7F0-E75B4D3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669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一次解决率</a:t>
            </a:r>
          </a:p>
        </p:txBody>
      </p:sp>
      <p:sp>
        <p:nvSpPr>
          <p:cNvPr id="8" name="operating-column-3">
            <a:extLst xmlns:a="http://schemas.openxmlformats.org/drawingml/2006/main">
              <a:ext uri="{FF2B5EF4-FFF2-40B4-BE49-F238E27FC236}">
                <a16:creationId xmlns:a16="http://schemas.microsoft.com/office/drawing/2014/main" id="{C8B2A4E2-C596-4866-92A9-99D80D13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积压</a:t>
            </a:r>
          </a:p>
        </p:txBody>
      </p:sp>
      <p:sp>
        <p:nvSpPr>
          <p:cNvPr id="9" name="operating-column-4">
            <a:extLst xmlns:a="http://schemas.openxmlformats.org/drawingml/2006/main">
              <a:ext uri="{FF2B5EF4-FFF2-40B4-BE49-F238E27FC236}">
                <a16:creationId xmlns:a16="http://schemas.microsoft.com/office/drawing/2014/main" id="{6C2EA376-40EA-451D-A925-75E4691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669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责任组</a:t>
            </a:r>
          </a:p>
        </p:txBody>
      </p:sp>
      <p:sp>
        <p:nvSpPr>
          <p:cNvPr id="10" name="operating-row-1">
            <a:extLst xmlns:a="http://schemas.openxmlformats.org/drawingml/2006/main">
              <a:ext uri="{FF2B5EF4-FFF2-40B4-BE49-F238E27FC236}">
                <a16:creationId xmlns:a16="http://schemas.microsoft.com/office/drawing/2014/main" id="{8B432C64-60BA-4B82-B478-418E165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1430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薪资</a:t>
            </a:r>
          </a:p>
        </p:txBody>
      </p:sp>
      <p:sp>
        <p:nvSpPr>
          <p:cNvPr id="11" name="operating-cell-1-1">
            <a:extLst xmlns:a="http://schemas.openxmlformats.org/drawingml/2006/main">
              <a:ext uri="{FF2B5EF4-FFF2-40B4-BE49-F238E27FC236}">
                <a16:creationId xmlns:a16="http://schemas.microsoft.com/office/drawing/2014/main" id="{44A1AB32-9300-4211-90D4-E52B122D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1,420件</a:t>
            </a:r>
          </a:p>
        </p:txBody>
      </p:sp>
      <p:sp>
        <p:nvSpPr>
          <p:cNvPr id="12" name="operating-cell-1-2">
            <a:extLst xmlns:a="http://schemas.openxmlformats.org/drawingml/2006/main">
              <a:ext uri="{FF2B5EF4-FFF2-40B4-BE49-F238E27FC236}">
                <a16:creationId xmlns:a16="http://schemas.microsoft.com/office/drawing/2014/main" id="{CE839BD1-95D8-4FA1-A378-96A85899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88%</a:t>
            </a:r>
          </a:p>
        </p:txBody>
      </p:sp>
      <p:sp>
        <p:nvSpPr>
          <p:cNvPr id="13" name="operating-cell-1-3">
            <a:extLst xmlns:a="http://schemas.openxmlformats.org/drawingml/2006/main">
              <a:ext uri="{FF2B5EF4-FFF2-40B4-BE49-F238E27FC236}">
                <a16:creationId xmlns:a16="http://schemas.microsoft.com/office/drawing/2014/main" id="{C7A85BBF-43EA-4553-A719-9DEC52DE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65件</a:t>
            </a:r>
          </a:p>
        </p:txBody>
      </p:sp>
      <p:sp>
        <p:nvSpPr>
          <p:cNvPr id="14" name="operating-cell-1-4">
            <a:extLst xmlns:a="http://schemas.openxmlformats.org/drawingml/2006/main">
              <a:ext uri="{FF2B5EF4-FFF2-40B4-BE49-F238E27FC236}">
                <a16:creationId xmlns:a16="http://schemas.microsoft.com/office/drawing/2014/main" id="{A61AB42A-E139-472D-8AC4-E601E88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6700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薪酬组</a:t>
            </a:r>
          </a:p>
        </p:txBody>
      </p:sp>
      <p:sp>
        <p:nvSpPr>
          <p:cNvPr id="15" name="operating-row-2">
            <a:extLst xmlns:a="http://schemas.openxmlformats.org/drawingml/2006/main">
              <a:ext uri="{FF2B5EF4-FFF2-40B4-BE49-F238E27FC236}">
                <a16:creationId xmlns:a16="http://schemas.microsoft.com/office/drawing/2014/main" id="{785B91C1-7C11-4BC4-B615-E5C64F0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6120"/>
            <a:ext cx="11430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福利</a:t>
            </a:r>
          </a:p>
        </p:txBody>
      </p:sp>
      <p:sp>
        <p:nvSpPr>
          <p:cNvPr id="16" name="operating-cell-2-1">
            <a:extLst xmlns:a="http://schemas.openxmlformats.org/drawingml/2006/main">
              <a:ext uri="{FF2B5EF4-FFF2-40B4-BE49-F238E27FC236}">
                <a16:creationId xmlns:a16="http://schemas.microsoft.com/office/drawing/2014/main" id="{2D32A25C-CA6A-4E1F-89BA-447E6273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4612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980件</a:t>
            </a:r>
          </a:p>
        </p:txBody>
      </p:sp>
      <p:sp>
        <p:nvSpPr>
          <p:cNvPr id="17" name="operating-cell-2-2">
            <a:extLst xmlns:a="http://schemas.openxmlformats.org/drawingml/2006/main">
              <a:ext uri="{FF2B5EF4-FFF2-40B4-BE49-F238E27FC236}">
                <a16:creationId xmlns:a16="http://schemas.microsoft.com/office/drawing/2014/main" id="{E24FE23D-AA43-4221-B57B-08CC088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4612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84%</a:t>
            </a:r>
          </a:p>
        </p:txBody>
      </p:sp>
      <p:sp>
        <p:nvSpPr>
          <p:cNvPr id="18" name="operating-cell-2-3">
            <a:extLst xmlns:a="http://schemas.openxmlformats.org/drawingml/2006/main">
              <a:ext uri="{FF2B5EF4-FFF2-40B4-BE49-F238E27FC236}">
                <a16:creationId xmlns:a16="http://schemas.microsoft.com/office/drawing/2014/main" id="{64B4C3DA-AD44-4F86-B4F5-DA1DBB0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4612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70件</a:t>
            </a:r>
          </a:p>
        </p:txBody>
      </p:sp>
      <p:sp>
        <p:nvSpPr>
          <p:cNvPr id="19" name="operating-cell-2-4">
            <a:extLst xmlns:a="http://schemas.openxmlformats.org/drawingml/2006/main">
              <a:ext uri="{FF2B5EF4-FFF2-40B4-BE49-F238E27FC236}">
                <a16:creationId xmlns:a16="http://schemas.microsoft.com/office/drawing/2014/main" id="{9D39450D-924F-4829-8908-1C2398F1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4612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福利组</a:t>
            </a:r>
          </a:p>
        </p:txBody>
      </p:sp>
      <p:sp>
        <p:nvSpPr>
          <p:cNvPr id="20" name="operating-row-3">
            <a:extLst xmlns:a="http://schemas.openxmlformats.org/drawingml/2006/main">
              <a:ext uri="{FF2B5EF4-FFF2-40B4-BE49-F238E27FC236}">
                <a16:creationId xmlns:a16="http://schemas.microsoft.com/office/drawing/2014/main" id="{712A961C-E383-48B5-8CF6-8F15226C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5240"/>
            <a:ext cx="11430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休假</a:t>
            </a:r>
          </a:p>
        </p:txBody>
      </p:sp>
      <p:sp>
        <p:nvSpPr>
          <p:cNvPr id="21" name="operating-cell-3-1">
            <a:extLst xmlns:a="http://schemas.openxmlformats.org/drawingml/2006/main">
              <a:ext uri="{FF2B5EF4-FFF2-40B4-BE49-F238E27FC236}">
                <a16:creationId xmlns:a16="http://schemas.microsoft.com/office/drawing/2014/main" id="{CFFCE1B3-5BB1-40AE-AD24-988BEDD8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524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1,100件</a:t>
            </a:r>
          </a:p>
        </p:txBody>
      </p:sp>
      <p:sp>
        <p:nvSpPr>
          <p:cNvPr id="22" name="operating-cell-3-2">
            <a:extLst xmlns:a="http://schemas.openxmlformats.org/drawingml/2006/main">
              <a:ext uri="{FF2B5EF4-FFF2-40B4-BE49-F238E27FC236}">
                <a16:creationId xmlns:a16="http://schemas.microsoft.com/office/drawing/2014/main" id="{A68E10C0-C186-4DE0-B339-709213B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2524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86%</a:t>
            </a:r>
          </a:p>
        </p:txBody>
      </p:sp>
      <p:sp>
        <p:nvSpPr>
          <p:cNvPr id="23" name="operating-cell-3-3">
            <a:extLst xmlns:a="http://schemas.openxmlformats.org/drawingml/2006/main">
              <a:ext uri="{FF2B5EF4-FFF2-40B4-BE49-F238E27FC236}">
                <a16:creationId xmlns:a16="http://schemas.microsoft.com/office/drawing/2014/main" id="{F997E671-1274-438D-B84C-AC1BA8A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2524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55件</a:t>
            </a:r>
          </a:p>
        </p:txBody>
      </p:sp>
      <p:sp>
        <p:nvSpPr>
          <p:cNvPr id="24" name="operating-cell-3-4">
            <a:extLst xmlns:a="http://schemas.openxmlformats.org/drawingml/2006/main">
              <a:ext uri="{FF2B5EF4-FFF2-40B4-BE49-F238E27FC236}">
                <a16:creationId xmlns:a16="http://schemas.microsoft.com/office/drawing/2014/main" id="{2F6DA26B-B80F-4256-99D8-00055B2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2524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员工服务组</a:t>
            </a:r>
          </a:p>
        </p:txBody>
      </p:sp>
      <p:sp>
        <p:nvSpPr>
          <p:cNvPr id="25" name="operating-row-4">
            <a:extLst xmlns:a="http://schemas.openxmlformats.org/drawingml/2006/main">
              <a:ext uri="{FF2B5EF4-FFF2-40B4-BE49-F238E27FC236}">
                <a16:creationId xmlns:a16="http://schemas.microsoft.com/office/drawing/2014/main" id="{E83CAD18-C4C8-490F-8535-74525F9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4360"/>
            <a:ext cx="11430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证明</a:t>
            </a:r>
          </a:p>
        </p:txBody>
      </p:sp>
      <p:sp>
        <p:nvSpPr>
          <p:cNvPr id="26" name="operating-cell-4-1">
            <a:extLst xmlns:a="http://schemas.openxmlformats.org/drawingml/2006/main">
              <a:ext uri="{FF2B5EF4-FFF2-40B4-BE49-F238E27FC236}">
                <a16:creationId xmlns:a16="http://schemas.microsoft.com/office/drawing/2014/main" id="{291785C9-175E-429C-BADF-1D6DD2D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436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930件</a:t>
            </a:r>
          </a:p>
        </p:txBody>
      </p:sp>
      <p:sp>
        <p:nvSpPr>
          <p:cNvPr id="27" name="operating-cell-4-2">
            <a:extLst xmlns:a="http://schemas.openxmlformats.org/drawingml/2006/main">
              <a:ext uri="{FF2B5EF4-FFF2-40B4-BE49-F238E27FC236}">
                <a16:creationId xmlns:a16="http://schemas.microsoft.com/office/drawing/2014/main" id="{1A7BD277-4558-4A39-B053-5EBD7BA6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0436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72%</a:t>
            </a:r>
          </a:p>
        </p:txBody>
      </p:sp>
      <p:sp>
        <p:nvSpPr>
          <p:cNvPr id="28" name="operating-cell-4-3">
            <a:extLst xmlns:a="http://schemas.openxmlformats.org/drawingml/2006/main">
              <a:ext uri="{FF2B5EF4-FFF2-40B4-BE49-F238E27FC236}">
                <a16:creationId xmlns:a16="http://schemas.microsoft.com/office/drawing/2014/main" id="{5CCB1D16-AE39-46FF-9CC9-59940DC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0436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190件</a:t>
            </a:r>
          </a:p>
        </p:txBody>
      </p:sp>
      <p:sp>
        <p:nvSpPr>
          <p:cNvPr id="29" name="operating-cell-4-4">
            <a:extLst xmlns:a="http://schemas.openxmlformats.org/drawingml/2006/main">
              <a:ext uri="{FF2B5EF4-FFF2-40B4-BE49-F238E27FC236}">
                <a16:creationId xmlns:a16="http://schemas.microsoft.com/office/drawing/2014/main" id="{FE7B9C46-EEE7-441A-9C3E-26644AA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40436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员工服务组</a:t>
            </a:r>
          </a:p>
        </p:txBody>
      </p:sp>
      <p:sp>
        <p:nvSpPr>
          <p:cNvPr id="30" name="operating-row-5">
            <a:extLst xmlns:a="http://schemas.openxmlformats.org/drawingml/2006/main">
              <a:ext uri="{FF2B5EF4-FFF2-40B4-BE49-F238E27FC236}">
                <a16:creationId xmlns:a16="http://schemas.microsoft.com/office/drawing/2014/main" id="{90F2BB82-01FC-4112-935F-0D53269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3480"/>
            <a:ext cx="11430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其他</a:t>
            </a:r>
          </a:p>
        </p:txBody>
      </p:sp>
      <p:sp>
        <p:nvSpPr>
          <p:cNvPr id="31" name="operating-cell-5-1">
            <a:extLst xmlns:a="http://schemas.openxmlformats.org/drawingml/2006/main">
              <a:ext uri="{FF2B5EF4-FFF2-40B4-BE49-F238E27FC236}">
                <a16:creationId xmlns:a16="http://schemas.microsoft.com/office/drawing/2014/main" id="{88013060-BF8F-4C81-8E82-95C4B9D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8348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650件</a:t>
            </a:r>
          </a:p>
        </p:txBody>
      </p:sp>
      <p:sp>
        <p:nvSpPr>
          <p:cNvPr id="32" name="operating-cell-5-2">
            <a:extLst xmlns:a="http://schemas.openxmlformats.org/drawingml/2006/main">
              <a:ext uri="{FF2B5EF4-FFF2-40B4-BE49-F238E27FC236}">
                <a16:creationId xmlns:a16="http://schemas.microsoft.com/office/drawing/2014/main" id="{86ED08FB-C17F-4412-AC22-A0D600E3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8348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76%</a:t>
            </a:r>
          </a:p>
        </p:txBody>
      </p:sp>
      <p:sp>
        <p:nvSpPr>
          <p:cNvPr id="33" name="operating-cell-5-3">
            <a:extLst xmlns:a="http://schemas.openxmlformats.org/drawingml/2006/main">
              <a:ext uri="{FF2B5EF4-FFF2-40B4-BE49-F238E27FC236}">
                <a16:creationId xmlns:a16="http://schemas.microsoft.com/office/drawing/2014/main" id="{75B6F1B3-38A7-4793-9C45-4DE1688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8348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65件</a:t>
            </a:r>
          </a:p>
        </p:txBody>
      </p:sp>
      <p:sp>
        <p:nvSpPr>
          <p:cNvPr id="34" name="operating-cell-5-4">
            <a:extLst xmlns:a="http://schemas.openxmlformats.org/drawingml/2006/main">
              <a:ext uri="{FF2B5EF4-FFF2-40B4-BE49-F238E27FC236}">
                <a16:creationId xmlns:a16="http://schemas.microsoft.com/office/drawing/2014/main" id="{96B27210-0965-44BD-A7C5-595AFBD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83480"/>
            <a:ext cx="1724025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共享服务组</a:t>
            </a:r>
          </a:p>
        </p:txBody>
      </p:sp>
      <p:sp>
        <p:nvSpPr>
          <p:cNvPr id="35" name="发现／原因／动作-rail">
            <a:extLst xmlns:a="http://schemas.openxmlformats.org/drawingml/2006/main">
              <a:ext uri="{FF2B5EF4-FFF2-40B4-BE49-F238E27FC236}">
                <a16:creationId xmlns:a16="http://schemas.microsoft.com/office/drawing/2014/main" id="{E3DFA316-2A73-424B-8D16-5964DAA7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5336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6" name="发现／原因／动作-title">
            <a:extLst xmlns:a="http://schemas.openxmlformats.org/drawingml/2006/main">
              <a:ext uri="{FF2B5EF4-FFF2-40B4-BE49-F238E27FC236}">
                <a16:creationId xmlns:a16="http://schemas.microsoft.com/office/drawing/2014/main" id="{3DD53630-22AC-41E8-87E6-1D7CC5B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33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发现／原因／动作</a:t>
            </a:r>
          </a:p>
        </p:txBody>
      </p:sp>
      <p:sp>
        <p:nvSpPr>
          <p:cNvPr id="37" name="发现／原因／动作-1">
            <a:extLst xmlns:a="http://schemas.openxmlformats.org/drawingml/2006/main">
              <a:ext uri="{FF2B5EF4-FFF2-40B4-BE49-F238E27FC236}">
                <a16:creationId xmlns:a16="http://schemas.microsoft.com/office/drawing/2014/main" id="{9B9A72B2-698F-40E9-A9A0-B563C5B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证明服务的一次解决率最低且积压最高</a:t>
            </a:r>
          </a:p>
        </p:txBody>
      </p:sp>
      <p:sp>
        <p:nvSpPr>
          <p:cNvPr id="38" name="发现／原因／动作-2">
            <a:extLst xmlns:a="http://schemas.openxmlformats.org/drawingml/2006/main">
              <a:ext uri="{FF2B5EF4-FFF2-40B4-BE49-F238E27FC236}">
                <a16:creationId xmlns:a16="http://schemas.microsoft.com/office/drawing/2014/main" id="{9CB1F4A1-AE9A-4965-9E8A-0FE8420F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薪资需求量最高，但一次解决率已达到88%</a:t>
            </a:r>
          </a:p>
        </p:txBody>
      </p:sp>
      <p:sp>
        <p:nvSpPr>
          <p:cNvPr id="39" name="发现／原因／动作-3">
            <a:extLst xmlns:a="http://schemas.openxmlformats.org/drawingml/2006/main">
              <a:ext uri="{FF2B5EF4-FFF2-40B4-BE49-F238E27FC236}">
                <a16:creationId xmlns:a16="http://schemas.microsoft.com/office/drawing/2014/main" id="{FBD900B0-C119-4213-B6FC-025D82B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先调整证明入口说明，再检查责任分派规则</a:t>
            </a:r>
          </a:p>
        </p:txBody>
      </p:sp>
      <p:sp>
        <p:nvSpPr>
          <p:cNvPr id="40" name="bottom">
            <a:extLst xmlns:a="http://schemas.openxmlformats.org/drawingml/2006/main">
              <a:ext uri="{FF2B5EF4-FFF2-40B4-BE49-F238E27FC236}">
                <a16:creationId xmlns:a16="http://schemas.microsoft.com/office/drawing/2014/main" id="{46D2D358-E29E-48E4-9123-636A4CB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优先治理证明服务，不扩大其他服务的流程改造范围</a:t>
            </a:r>
          </a:p>
        </p:txBody>
      </p:sp>
      <p:sp>
        <p:nvSpPr>
          <p:cNvPr id="41" name="operating-disclosure">
            <a:extLst xmlns:a="http://schemas.openxmlformats.org/drawingml/2006/main">
              <a:ext uri="{FF2B5EF4-FFF2-40B4-BE49-F238E27FC236}">
                <a16:creationId xmlns:a16="http://schemas.microsoft.com/office/drawing/2014/main" id="{31B1FC09-E555-497D-9871-2F89A6B9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</p:spTree>
    <p:extLst>
      <p:ext uri="{BB962C8B-B14F-4D97-AF65-F5344CB8AC3E}">
        <p14:creationId xmlns:p14="http://schemas.microsoft.com/office/powerpoint/2010/main" val="802791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2026-08-11T00:49:15.7590000Z</dcterms:created>
  <dcterms:modified xsi:type="dcterms:W3CDTF">2026-08-11T00:49:15.7590000Z</dcterms:modified>
</coreProperties>
</file>