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4251311010415f" /><Relationship Type="http://schemas.openxmlformats.org/officeDocument/2006/relationships/extended-properties" Target="/docProps/app.xml" Id="Rb19587a200814f4d" /><Relationship Type="http://schemas.openxmlformats.org/officeDocument/2006/relationships/officeDocument" Target="/ppt/presentation.xml" Id="R7cce3d18b91244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788c61a8a74832"/>
  </p:sldMasterIdLst>
  <p:notesMasterIdLst>
    <p:notesMasterId xmlns:r="http://schemas.openxmlformats.org/officeDocument/2006/relationships" r:id="R9b707222215a49f6"/>
  </p:notesMasterIdLst>
  <p:sldIdLst>
    <p:sldId xmlns:r="http://schemas.openxmlformats.org/officeDocument/2006/relationships" id="256" r:id="R58a2ce5165a2493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f683a4afd64808" /><Relationship Type="http://schemas.openxmlformats.org/officeDocument/2006/relationships/slideMaster" Target="/ppt/slideMasters/slideMaster1.xml" Id="Rba788c61a8a74832" /><Relationship Type="http://schemas.openxmlformats.org/officeDocument/2006/relationships/notesMaster" Target="/ppt/notesMasters/notesMaster1.xml" Id="R9b707222215a49f6" /><Relationship Type="http://schemas.openxmlformats.org/officeDocument/2006/relationships/presProps" Target="/ppt/presProps.xml" Id="Rc732b7cde2a34079" /><Relationship Type="http://schemas.openxmlformats.org/officeDocument/2006/relationships/tableStyles" Target="/ppt/tableStyles.xml" Id="R8b560f33268146ec" /><Relationship Type="http://schemas.openxmlformats.org/officeDocument/2006/relationships/slide" Target="/ppt/slides/slide1.xml" Id="R58a2ce5165a249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5e99b40a3841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9d875e6ec743bb" /><Relationship Type="http://schemas.openxmlformats.org/officeDocument/2006/relationships/notesMaster" Target="/ppt/notesMasters/notesMaster1.xml" Id="R492a549abf954a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de2974d09f41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38aa490fa04de9" /><Relationship Type="http://schemas.openxmlformats.org/officeDocument/2006/relationships/slideLayout" Target="/ppt/slideLayouts/slideLayout1.xml" Id="Ra9a35613f4fe4d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a35613f4fe4d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48198f2d0b4b8b" /><Relationship Type="http://schemas.openxmlformats.org/officeDocument/2006/relationships/notesSlide" Target="/ppt/notesSlides/notesSlide1.xml" Id="Ra2a776114c8945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page-title">
            <a:extLst xmlns:a="http://schemas.openxmlformats.org/drawingml/2006/main">
              <a:ext uri="{FF2B5EF4-FFF2-40B4-BE49-F238E27FC236}">
                <a16:creationId xmlns:a16="http://schemas.microsoft.com/office/drawing/2014/main" id="{92231436-9EDA-45CA-AEAE-F19420D8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利润减少二十亿元，主要由人工和价格因素造成</a:t>
            </a:r>
          </a:p>
        </p:txBody>
      </p:sp>
      <p:sp>
        <p:nvSpPr>
          <p:cNvPr id="2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FECB60A8-E581-4633-8A48-B66E1B31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830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" name="bridge-1">
            <a:extLst xmlns:a="http://schemas.openxmlformats.org/drawingml/2006/main">
              <a:ext uri="{FF2B5EF4-FFF2-40B4-BE49-F238E27FC236}">
                <a16:creationId xmlns:a16="http://schemas.microsoft.com/office/drawing/2014/main" id="{44C97090-87B2-408F-94E4-466BA1C9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030" y="1562100"/>
            <a:ext cx="10134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EB8C6"/>
            </a:solidFill>
            <a:prstDash val="dash"/>
          </a:ln>
        </p:spPr>
      </p:sp>
      <p:sp>
        <p:nvSpPr>
          <p:cNvPr id="4" name="bridge-2">
            <a:extLst xmlns:a="http://schemas.openxmlformats.org/drawingml/2006/main">
              <a:ext uri="{FF2B5EF4-FFF2-40B4-BE49-F238E27FC236}">
                <a16:creationId xmlns:a16="http://schemas.microsoft.com/office/drawing/2014/main" id="{D6BC46B5-8849-4DE6-8052-C328EFE7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5190" y="1895475"/>
            <a:ext cx="10134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EB8C6"/>
            </a:solidFill>
            <a:prstDash val="dash"/>
          </a:ln>
        </p:spPr>
      </p:sp>
      <p:sp>
        <p:nvSpPr>
          <p:cNvPr id="5" name="bridge-3">
            <a:extLst xmlns:a="http://schemas.openxmlformats.org/drawingml/2006/main">
              <a:ext uri="{FF2B5EF4-FFF2-40B4-BE49-F238E27FC236}">
                <a16:creationId xmlns:a16="http://schemas.microsoft.com/office/drawing/2014/main" id="{2EB36CA6-0C1D-48F6-B434-28960AB2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728788"/>
            <a:ext cx="10134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EB8C6"/>
            </a:solidFill>
            <a:prstDash val="dash"/>
          </a:ln>
        </p:spPr>
      </p:sp>
      <p:sp>
        <p:nvSpPr>
          <p:cNvPr id="6" name="bridge-4">
            <a:extLst xmlns:a="http://schemas.openxmlformats.org/drawingml/2006/main">
              <a:ext uri="{FF2B5EF4-FFF2-40B4-BE49-F238E27FC236}">
                <a16:creationId xmlns:a16="http://schemas.microsoft.com/office/drawing/2014/main" id="{A46A5CBE-2609-49EA-B710-5FCF37B8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510" y="2228850"/>
            <a:ext cx="10134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EB8C6"/>
            </a:solidFill>
            <a:prstDash val="dash"/>
          </a:ln>
        </p:spPr>
      </p:sp>
      <p:sp>
        <p:nvSpPr>
          <p:cNvPr id="7" name="bar-start">
            <a:extLst xmlns:a="http://schemas.openxmlformats.org/drawingml/2006/main">
              <a:ext uri="{FF2B5EF4-FFF2-40B4-BE49-F238E27FC236}">
                <a16:creationId xmlns:a16="http://schemas.microsoft.com/office/drawing/2014/main" id="{BBE0DA4B-02C6-49C4-8045-28E3E955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" y="1562100"/>
            <a:ext cx="6477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75F"/>
          </a:solidFill>
          <a:ln xmlns:a="http://schemas.openxmlformats.org/drawingml/2006/main" w="9525">
            <a:solidFill>
              <a:srgbClr val="15375F"/>
            </a:solidFill>
            <a:prstDash val="solid"/>
          </a:ln>
        </p:spPr>
      </p:sp>
      <p:sp>
        <p:nvSpPr>
          <p:cNvPr id="8" name="value-1">
            <a:extLst xmlns:a="http://schemas.openxmlformats.org/drawingml/2006/main">
              <a:ext uri="{FF2B5EF4-FFF2-40B4-BE49-F238E27FC236}">
                <a16:creationId xmlns:a16="http://schemas.microsoft.com/office/drawing/2014/main" id="{A5ABF1A3-7758-4D0D-91D6-C35E2969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" y="1257300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100亿元</a:t>
            </a:r>
          </a:p>
        </p:txBody>
      </p:sp>
      <p:sp>
        <p:nvSpPr>
          <p:cNvPr id="9" name="label-1">
            <a:extLst xmlns:a="http://schemas.openxmlformats.org/drawingml/2006/main">
              <a:ext uri="{FF2B5EF4-FFF2-40B4-BE49-F238E27FC236}">
                <a16:creationId xmlns:a16="http://schemas.microsoft.com/office/drawing/2014/main" id="{EDC0544C-F728-407D-9831-CCB153B9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" y="495300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基准期利润</a:t>
            </a:r>
          </a:p>
        </p:txBody>
      </p:sp>
      <p:sp>
        <p:nvSpPr>
          <p:cNvPr id="10" name="bar-price">
            <a:extLst xmlns:a="http://schemas.openxmlformats.org/drawingml/2006/main">
              <a:ext uri="{FF2B5EF4-FFF2-40B4-BE49-F238E27FC236}">
                <a16:creationId xmlns:a16="http://schemas.microsoft.com/office/drawing/2014/main" id="{40B3E340-A3CC-475E-BDA7-075B4BFA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7490" y="1562100"/>
            <a:ext cx="647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9525">
            <a:solidFill>
              <a:srgbClr val="E8872D"/>
            </a:solidFill>
            <a:prstDash val="solid"/>
          </a:ln>
        </p:spPr>
      </p:sp>
      <p:sp>
        <p:nvSpPr>
          <p:cNvPr id="11" name="value-2">
            <a:extLst xmlns:a="http://schemas.openxmlformats.org/drawingml/2006/main">
              <a:ext uri="{FF2B5EF4-FFF2-40B4-BE49-F238E27FC236}">
                <a16:creationId xmlns:a16="http://schemas.microsoft.com/office/drawing/2014/main" id="{F126EC8B-BC5C-4DA6-85B2-10A0D3FB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990" y="1257300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-10亿元</a:t>
            </a:r>
          </a:p>
        </p:txBody>
      </p:sp>
      <p:sp>
        <p:nvSpPr>
          <p:cNvPr id="12" name="label-2">
            <a:extLst xmlns:a="http://schemas.openxmlformats.org/drawingml/2006/main">
              <a:ext uri="{FF2B5EF4-FFF2-40B4-BE49-F238E27FC236}">
                <a16:creationId xmlns:a16="http://schemas.microsoft.com/office/drawing/2014/main" id="{BFF0A599-E500-42C7-9BCF-E6AC048D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3640" y="495300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价格因素</a:t>
            </a:r>
          </a:p>
        </p:txBody>
      </p:sp>
      <p:sp>
        <p:nvSpPr>
          <p:cNvPr id="13" name="bar-volume">
            <a:extLst xmlns:a="http://schemas.openxmlformats.org/drawingml/2006/main">
              <a:ext uri="{FF2B5EF4-FFF2-40B4-BE49-F238E27FC236}">
                <a16:creationId xmlns:a16="http://schemas.microsoft.com/office/drawing/2014/main" id="{47B2F86B-472A-4B1A-ABE1-C3CA41C2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28788"/>
            <a:ext cx="647700" cy="166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9525">
            <a:solidFill>
              <a:srgbClr val="2F6FB2"/>
            </a:solidFill>
            <a:prstDash val="solid"/>
          </a:ln>
        </p:spPr>
      </p:sp>
      <p:sp>
        <p:nvSpPr>
          <p:cNvPr id="14" name="value-3">
            <a:extLst xmlns:a="http://schemas.openxmlformats.org/drawingml/2006/main">
              <a:ext uri="{FF2B5EF4-FFF2-40B4-BE49-F238E27FC236}">
                <a16:creationId xmlns:a16="http://schemas.microsoft.com/office/drawing/2014/main" id="{A20350CE-0D47-49D3-AE67-ECEFA294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423988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2F6FB2"/>
                </a:solidFill>
              </a:defRPr>
            </a:pPr>
            <a:r>
              <a:rPr sz="1600" b="1">
                <a:solidFill>
                  <a:srgbClr val="2F6FB2"/>
                </a:solidFill>
              </a:rPr>
              <a:t>+5亿元</a:t>
            </a:r>
          </a:p>
        </p:txBody>
      </p:sp>
      <p:sp>
        <p:nvSpPr>
          <p:cNvPr id="15" name="label-3">
            <a:extLst xmlns:a="http://schemas.openxmlformats.org/drawingml/2006/main">
              <a:ext uri="{FF2B5EF4-FFF2-40B4-BE49-F238E27FC236}">
                <a16:creationId xmlns:a16="http://schemas.microsoft.com/office/drawing/2014/main" id="{57CF2609-461C-49B8-8DD5-B37D4817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95300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销量因素</a:t>
            </a:r>
          </a:p>
        </p:txBody>
      </p:sp>
      <p:sp>
        <p:nvSpPr>
          <p:cNvPr id="16" name="bar-labor">
            <a:extLst xmlns:a="http://schemas.openxmlformats.org/drawingml/2006/main">
              <a:ext uri="{FF2B5EF4-FFF2-40B4-BE49-F238E27FC236}">
                <a16:creationId xmlns:a16="http://schemas.microsoft.com/office/drawing/2014/main" id="{567E244D-FAB2-437C-A367-A4905885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810" y="1728788"/>
            <a:ext cx="647700" cy="500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9525">
            <a:solidFill>
              <a:srgbClr val="E8872D"/>
            </a:solidFill>
            <a:prstDash val="solid"/>
          </a:ln>
        </p:spPr>
      </p:sp>
      <p:sp>
        <p:nvSpPr>
          <p:cNvPr id="17" name="value-4">
            <a:extLst xmlns:a="http://schemas.openxmlformats.org/drawingml/2006/main">
              <a:ext uri="{FF2B5EF4-FFF2-40B4-BE49-F238E27FC236}">
                <a16:creationId xmlns:a16="http://schemas.microsoft.com/office/drawing/2014/main" id="{B8A5FD98-E875-4177-A862-3987659C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9310" y="1423988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-15亿元</a:t>
            </a:r>
          </a:p>
        </p:txBody>
      </p:sp>
      <p:sp>
        <p:nvSpPr>
          <p:cNvPr id="18" name="label-4">
            <a:extLst xmlns:a="http://schemas.openxmlformats.org/drawingml/2006/main">
              <a:ext uri="{FF2B5EF4-FFF2-40B4-BE49-F238E27FC236}">
                <a16:creationId xmlns:a16="http://schemas.microsoft.com/office/drawing/2014/main" id="{5BC0D3AA-2F77-4B6B-8A86-E11CEE0C9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5960" y="495300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人工成本</a:t>
            </a:r>
          </a:p>
        </p:txBody>
      </p:sp>
      <p:sp>
        <p:nvSpPr>
          <p:cNvPr id="19" name="bar-end">
            <a:extLst xmlns:a="http://schemas.openxmlformats.org/drawingml/2006/main">
              <a:ext uri="{FF2B5EF4-FFF2-40B4-BE49-F238E27FC236}">
                <a16:creationId xmlns:a16="http://schemas.microsoft.com/office/drawing/2014/main" id="{0C846695-FA44-449B-BA5E-8A4C6166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0970" y="2228850"/>
            <a:ext cx="6477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75F"/>
          </a:solidFill>
          <a:ln xmlns:a="http://schemas.openxmlformats.org/drawingml/2006/main" w="9525">
            <a:solidFill>
              <a:srgbClr val="15375F"/>
            </a:solidFill>
            <a:prstDash val="solid"/>
          </a:ln>
        </p:spPr>
      </p:sp>
      <p:sp>
        <p:nvSpPr>
          <p:cNvPr id="20" name="value-5">
            <a:extLst xmlns:a="http://schemas.openxmlformats.org/drawingml/2006/main">
              <a:ext uri="{FF2B5EF4-FFF2-40B4-BE49-F238E27FC236}">
                <a16:creationId xmlns:a16="http://schemas.microsoft.com/office/drawing/2014/main" id="{548B488F-2221-447C-BE40-49E2D376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0470" y="1924050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80亿元</a:t>
            </a:r>
          </a:p>
        </p:txBody>
      </p:sp>
      <p:sp>
        <p:nvSpPr>
          <p:cNvPr id="21" name="label-5">
            <a:extLst xmlns:a="http://schemas.openxmlformats.org/drawingml/2006/main">
              <a:ext uri="{FF2B5EF4-FFF2-40B4-BE49-F238E27FC236}">
                <a16:creationId xmlns:a16="http://schemas.microsoft.com/office/drawing/2014/main" id="{AF47FCBD-DCE8-4315-B5E2-F98318FD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120" y="495300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当期利润</a:t>
            </a:r>
          </a:p>
        </p:txBody>
      </p:sp>
      <p:sp>
        <p:nvSpPr>
          <p:cNvPr id="22" name="insight-rail">
            <a:extLst xmlns:a="http://schemas.openxmlformats.org/drawingml/2006/main">
              <a:ext uri="{FF2B5EF4-FFF2-40B4-BE49-F238E27FC236}">
                <a16:creationId xmlns:a16="http://schemas.microsoft.com/office/drawing/2014/main" id="{2A44642C-98E3-4724-8C69-E634B36E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428750"/>
            <a:ext cx="2457450" cy="346710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insight-title">
            <a:extLst xmlns:a="http://schemas.openxmlformats.org/drawingml/2006/main">
              <a:ext uri="{FF2B5EF4-FFF2-40B4-BE49-F238E27FC236}">
                <a16:creationId xmlns:a16="http://schemas.microsoft.com/office/drawing/2014/main" id="{3D602BD4-5602-4C0C-94DF-CD8456AB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6192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2F6FB2"/>
                </a:solidFill>
              </a:defRPr>
            </a:pPr>
            <a:r>
              <a:rPr sz="1600" b="1">
                <a:solidFill>
                  <a:srgbClr val="2F6FB2"/>
                </a:solidFill>
              </a:rPr>
              <a:t>关键洞察</a:t>
            </a:r>
          </a:p>
        </p:txBody>
      </p:sp>
      <p:sp>
        <p:nvSpPr>
          <p:cNvPr id="24" name="insight-1">
            <a:extLst xmlns:a="http://schemas.openxmlformats.org/drawingml/2006/main">
              <a:ext uri="{FF2B5EF4-FFF2-40B4-BE49-F238E27FC236}">
                <a16:creationId xmlns:a16="http://schemas.microsoft.com/office/drawing/2014/main" id="{ABFE828A-10C2-42CB-9EB8-6FEAE95D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7645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人工成本是最大的可控负向因素</a:t>
            </a:r>
          </a:p>
        </p:txBody>
      </p:sp>
      <p:sp>
        <p:nvSpPr>
          <p:cNvPr id="25" name="bottom-conclusion">
            <a:extLst xmlns:a="http://schemas.openxmlformats.org/drawingml/2006/main">
              <a:ext uri="{FF2B5EF4-FFF2-40B4-BE49-F238E27FC236}">
                <a16:creationId xmlns:a16="http://schemas.microsoft.com/office/drawing/2014/main" id="{5CA46A84-3CA4-437E-8A45-CC5DA0E2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104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14288">
            <a:solidFill>
              <a:srgbClr val="2F6FB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优先回收人工成本和价格损失</a:t>
            </a:r>
          </a:p>
        </p:txBody>
      </p:sp>
    </p:spTree>
    <p:extLst>
      <p:ext uri="{BB962C8B-B14F-4D97-AF65-F5344CB8AC3E}">
        <p14:creationId xmlns:p14="http://schemas.microsoft.com/office/powerpoint/2010/main" val="10753119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2026-07-31T20:14:35.9820000Z</dcterms:created>
  <dcterms:modified xsi:type="dcterms:W3CDTF">2026-07-31T20:14:35.9820000Z</dcterms:modified>
</coreProperties>
</file>