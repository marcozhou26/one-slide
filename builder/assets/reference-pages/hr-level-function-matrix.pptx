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80f9b7b7eb64c7a" /><Relationship Type="http://schemas.openxmlformats.org/officeDocument/2006/relationships/extended-properties" Target="/docProps/app.xml" Id="R9a0f73d90c7b49ea" /><Relationship Type="http://schemas.openxmlformats.org/officeDocument/2006/relationships/officeDocument" Target="/ppt/presentation.xml" Id="R6930e45a2ec84c8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129b7c2f34e4150"/>
  </p:sldMasterIdLst>
  <p:notesMasterIdLst>
    <p:notesMasterId xmlns:r="http://schemas.openxmlformats.org/officeDocument/2006/relationships" r:id="Ra693ca56df46459d"/>
  </p:notesMasterIdLst>
  <p:sldIdLst>
    <p:sldId xmlns:r="http://schemas.openxmlformats.org/officeDocument/2006/relationships" id="256" r:id="R0610c8009fb24d4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f977982634e4a5e" /><Relationship Type="http://schemas.openxmlformats.org/officeDocument/2006/relationships/slideMaster" Target="/ppt/slideMasters/slideMaster1.xml" Id="Re129b7c2f34e4150" /><Relationship Type="http://schemas.openxmlformats.org/officeDocument/2006/relationships/notesMaster" Target="/ppt/notesMasters/notesMaster1.xml" Id="Ra693ca56df46459d" /><Relationship Type="http://schemas.openxmlformats.org/officeDocument/2006/relationships/presProps" Target="/ppt/presProps.xml" Id="R937fff0d1dc44075" /><Relationship Type="http://schemas.openxmlformats.org/officeDocument/2006/relationships/tableStyles" Target="/ppt/tableStyles.xml" Id="R1e911f8f6c8244f7" /><Relationship Type="http://schemas.openxmlformats.org/officeDocument/2006/relationships/slide" Target="/ppt/slides/slide1.xml" Id="R0610c8009fb24d4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820c3c8acfe452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c8cf41bbb8e4f09" /><Relationship Type="http://schemas.openxmlformats.org/officeDocument/2006/relationships/notesMaster" Target="/ppt/notesMasters/notesMaster1.xml" Id="Ree52abe9e8fc4bc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76ae77116346e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14ab0468f694208" /><Relationship Type="http://schemas.openxmlformats.org/officeDocument/2006/relationships/slideLayout" Target="/ppt/slideLayouts/slideLayout1.xml" Id="R225f817b6a084b7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25f817b6a084b7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96ed493fb44ad2" /><Relationship Type="http://schemas.openxmlformats.org/officeDocument/2006/relationships/notesSlide" Target="/ppt/notesSlides/notesSlide1.xml" Id="R145fb7f3c928444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" name="page-title">
            <a:extLst xmlns:a="http://schemas.openxmlformats.org/drawingml/2006/main">
              <a:ext uri="{FF2B5EF4-FFF2-40B4-BE49-F238E27FC236}">
                <a16:creationId xmlns:a16="http://schemas.microsoft.com/office/drawing/2014/main" id="{82546111-976C-43A0-8689-533F1F68E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375F"/>
                </a:solidFill>
              </a:defRPr>
            </a:pPr>
            <a:r>
              <a:rPr sz="2550" b="1">
                <a:solidFill>
                  <a:srgbClr val="15375F"/>
                </a:solidFill>
              </a:rPr>
              <a:t>Proportion of management positions 14%, average management span 4.2 People, the eight-layer structure makes the decision-making chain two levels longer than its peers</a:t>
            </a:r>
          </a:p>
        </p:txBody>
      </p:sp>
      <p:sp>
        <p:nvSpPr>
          <p:cNvPr id="2" name="level-frame">
            <a:extLst xmlns:a="http://schemas.openxmlformats.org/drawingml/2006/main">
              <a:ext uri="{FF2B5EF4-FFF2-40B4-BE49-F238E27FC236}">
                <a16:creationId xmlns:a16="http://schemas.microsoft.com/office/drawing/2014/main" id="{A14AB137-E2F8-4938-9DB9-217435478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8382000" cy="4457700"/>
          </a:xfrm>
          <a:prstGeom xmlns:a="http://schemas.openxmlformats.org/drawingml/2006/main" prst="roundRect">
            <a:avLst>
              <a:gd name="adj" fmla="val 17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  <a:prstDash val="solid"/>
          </a:ln>
        </p:spPr>
      </p:sp>
      <p:sp>
        <p:nvSpPr>
          <p:cNvPr id="3" name="function-1">
            <a:extLst xmlns:a="http://schemas.openxmlformats.org/drawingml/2006/main">
              <a:ext uri="{FF2B5EF4-FFF2-40B4-BE49-F238E27FC236}">
                <a16:creationId xmlns:a16="http://schemas.microsoft.com/office/drawing/2014/main" id="{F9A932F8-4288-4AD6-84D0-88F6831EF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276350"/>
            <a:ext cx="1219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6668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management</a:t>
            </a:r>
          </a:p>
        </p:txBody>
      </p:sp>
      <p:sp>
        <p:nvSpPr>
          <p:cNvPr id="4" name="function-2">
            <a:extLst xmlns:a="http://schemas.openxmlformats.org/drawingml/2006/main">
              <a:ext uri="{FF2B5EF4-FFF2-40B4-BE49-F238E27FC236}">
                <a16:creationId xmlns:a16="http://schemas.microsoft.com/office/drawing/2014/main" id="{1C5EA869-1E03-4AFC-B912-3D47C1848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276350"/>
            <a:ext cx="1219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6668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Technology</a:t>
            </a:r>
          </a:p>
        </p:txBody>
      </p:sp>
      <p:sp>
        <p:nvSpPr>
          <p:cNvPr id="5" name="function-3">
            <a:extLst xmlns:a="http://schemas.openxmlformats.org/drawingml/2006/main">
              <a:ext uri="{FF2B5EF4-FFF2-40B4-BE49-F238E27FC236}">
                <a16:creationId xmlns:a16="http://schemas.microsoft.com/office/drawing/2014/main" id="{46CE07A1-2759-4A47-8D53-54823194B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276350"/>
            <a:ext cx="1219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6668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Marketing</a:t>
            </a:r>
          </a:p>
        </p:txBody>
      </p:sp>
      <p:sp>
        <p:nvSpPr>
          <p:cNvPr id="6" name="function-4">
            <a:extLst xmlns:a="http://schemas.openxmlformats.org/drawingml/2006/main">
              <a:ext uri="{FF2B5EF4-FFF2-40B4-BE49-F238E27FC236}">
                <a16:creationId xmlns:a16="http://schemas.microsoft.com/office/drawing/2014/main" id="{BE505AEA-7C2B-497F-A811-67EF2409F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276350"/>
            <a:ext cx="1219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6668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functional support</a:t>
            </a:r>
          </a:p>
        </p:txBody>
      </p:sp>
      <p:sp>
        <p:nvSpPr>
          <p:cNvPr id="7" name="function-5">
            <a:extLst xmlns:a="http://schemas.openxmlformats.org/drawingml/2006/main">
              <a:ext uri="{FF2B5EF4-FFF2-40B4-BE49-F238E27FC236}">
                <a16:creationId xmlns:a16="http://schemas.microsoft.com/office/drawing/2014/main" id="{E46F6B43-5BE6-4967-87D4-A208BB3B3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276350"/>
            <a:ext cx="1219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6668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Operation</a:t>
            </a:r>
          </a:p>
        </p:txBody>
      </p:sp>
      <p:sp>
        <p:nvSpPr>
          <p:cNvPr id="8" name="level-bar-1">
            <a:extLst xmlns:a="http://schemas.openxmlformats.org/drawingml/2006/main">
              <a:ext uri="{FF2B5EF4-FFF2-40B4-BE49-F238E27FC236}">
                <a16:creationId xmlns:a16="http://schemas.microsoft.com/office/drawing/2014/main" id="{7DED8DF1-95CF-40F3-BD82-C1FEFACA0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1386" y="1657350"/>
            <a:ext cx="102714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B2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level-bar-label-1">
            <a:extLst xmlns:a="http://schemas.openxmlformats.org/drawingml/2006/main">
              <a:ext uri="{FF2B5EF4-FFF2-40B4-BE49-F238E27FC236}">
                <a16:creationId xmlns:a16="http://schemas.microsoft.com/office/drawing/2014/main" id="{D71D9644-0AF3-4944-BB0C-FAFD2875C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57350"/>
            <a:ext cx="1573686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L8  17</a:t>
            </a:r>
          </a:p>
        </p:txBody>
      </p:sp>
      <p:sp>
        <p:nvSpPr>
          <p:cNvPr id="10" name="level-cell-1-1">
            <a:extLst xmlns:a="http://schemas.openxmlformats.org/drawingml/2006/main">
              <a:ext uri="{FF2B5EF4-FFF2-40B4-BE49-F238E27FC236}">
                <a16:creationId xmlns:a16="http://schemas.microsoft.com/office/drawing/2014/main" id="{F5E53A8B-6AEF-4553-8AB7-7F0676FBD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600200"/>
            <a:ext cx="1219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5715">
            <a:solidFill>
              <a:srgbClr val="E8872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E8872D"/>
                </a:solidFill>
              </a:defRPr>
            </a:pPr>
            <a:r>
              <a:rPr sz="1600" b="1">
                <a:solidFill>
                  <a:srgbClr val="E8872D"/>
                </a:solidFill>
              </a:rPr>
              <a:t>12｜42million</a:t>
            </a:r>
          </a:p>
          <a:p xmlns:a="http://schemas.openxmlformats.org/drawingml/2006/main">
            <a:pPr algn="ctr">
              <a:defRPr sz="1600" b="1">
                <a:solidFill>
                  <a:srgbClr val="E8872D"/>
                </a:solidFill>
              </a:defRPr>
            </a:pPr>
            <a:r>
              <a:rPr sz="1600" b="1">
                <a:solidFill>
                  <a:srgbClr val="E8872D"/>
                </a:solidFill>
              </a:rPr>
              <a:t>9years old</a:t>
            </a:r>
          </a:p>
        </p:txBody>
      </p:sp>
      <p:sp>
        <p:nvSpPr>
          <p:cNvPr id="11" name="level-cell-1-2">
            <a:extLst xmlns:a="http://schemas.openxmlformats.org/drawingml/2006/main">
              <a:ext uri="{FF2B5EF4-FFF2-40B4-BE49-F238E27FC236}">
                <a16:creationId xmlns:a16="http://schemas.microsoft.com/office/drawing/2014/main" id="{FADAC74B-C8CA-414C-B208-5FF9A1828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600200"/>
            <a:ext cx="1219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571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5｜41million</a:t>
            </a:r>
          </a:p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9.2years old</a:t>
            </a:r>
          </a:p>
        </p:txBody>
      </p:sp>
      <p:sp>
        <p:nvSpPr>
          <p:cNvPr id="12" name="level-cell-1-3">
            <a:extLst xmlns:a="http://schemas.openxmlformats.org/drawingml/2006/main">
              <a:ext uri="{FF2B5EF4-FFF2-40B4-BE49-F238E27FC236}">
                <a16:creationId xmlns:a16="http://schemas.microsoft.com/office/drawing/2014/main" id="{73B9926D-4EFE-428B-9D80-B1C120B6F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600200"/>
            <a:ext cx="1219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8872D"/>
            </a:solidFill>
            <a:prstDash val="dash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E8872D"/>
                </a:solidFill>
              </a:defRPr>
            </a:pPr>
            <a:r>
              <a:rPr sz="1600" b="1">
                <a:solidFill>
                  <a:srgbClr val="E8872D"/>
                </a:solidFill>
              </a:rPr>
              <a:t>fault</a:t>
            </a:r>
          </a:p>
        </p:txBody>
      </p:sp>
      <p:sp>
        <p:nvSpPr>
          <p:cNvPr id="13" name="level-cell-1-4">
            <a:extLst xmlns:a="http://schemas.openxmlformats.org/drawingml/2006/main">
              <a:ext uri="{FF2B5EF4-FFF2-40B4-BE49-F238E27FC236}">
                <a16:creationId xmlns:a16="http://schemas.microsoft.com/office/drawing/2014/main" id="{03608942-6176-4B36-8086-DA1A5EFB6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600200"/>
            <a:ext cx="1219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8872D"/>
            </a:solidFill>
            <a:prstDash val="dash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E8872D"/>
                </a:solidFill>
              </a:defRPr>
            </a:pPr>
            <a:r>
              <a:rPr sz="1600" b="1">
                <a:solidFill>
                  <a:srgbClr val="E8872D"/>
                </a:solidFill>
              </a:rPr>
              <a:t>fault</a:t>
            </a:r>
          </a:p>
        </p:txBody>
      </p:sp>
      <p:sp>
        <p:nvSpPr>
          <p:cNvPr id="14" name="level-cell-1-5">
            <a:extLst xmlns:a="http://schemas.openxmlformats.org/drawingml/2006/main">
              <a:ext uri="{FF2B5EF4-FFF2-40B4-BE49-F238E27FC236}">
                <a16:creationId xmlns:a16="http://schemas.microsoft.com/office/drawing/2014/main" id="{7B4846BE-1B2E-4114-BEC8-7FA214C75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600200"/>
            <a:ext cx="1219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8872D"/>
            </a:solidFill>
            <a:prstDash val="dash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E8872D"/>
                </a:solidFill>
              </a:defRPr>
            </a:pPr>
            <a:r>
              <a:rPr sz="1600" b="1">
                <a:solidFill>
                  <a:srgbClr val="E8872D"/>
                </a:solidFill>
              </a:rPr>
              <a:t>fault</a:t>
            </a:r>
          </a:p>
        </p:txBody>
      </p:sp>
      <p:sp>
        <p:nvSpPr>
          <p:cNvPr id="15" name="level-bar-2">
            <a:extLst xmlns:a="http://schemas.openxmlformats.org/drawingml/2006/main">
              <a:ext uri="{FF2B5EF4-FFF2-40B4-BE49-F238E27FC236}">
                <a16:creationId xmlns:a16="http://schemas.microsoft.com/office/drawing/2014/main" id="{7829C580-FDC1-49D5-8AC5-21775B7FB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2841" y="2133600"/>
            <a:ext cx="181259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B2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6" name="level-bar-label-2">
            <a:extLst xmlns:a="http://schemas.openxmlformats.org/drawingml/2006/main">
              <a:ext uri="{FF2B5EF4-FFF2-40B4-BE49-F238E27FC236}">
                <a16:creationId xmlns:a16="http://schemas.microsoft.com/office/drawing/2014/main" id="{30594951-B641-4090-B7FA-E2407A4DD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33600"/>
            <a:ext cx="1495141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L7  30</a:t>
            </a:r>
          </a:p>
        </p:txBody>
      </p:sp>
      <p:sp>
        <p:nvSpPr>
          <p:cNvPr id="17" name="level-cell-2-1">
            <a:extLst xmlns:a="http://schemas.openxmlformats.org/drawingml/2006/main">
              <a:ext uri="{FF2B5EF4-FFF2-40B4-BE49-F238E27FC236}">
                <a16:creationId xmlns:a16="http://schemas.microsoft.com/office/drawing/2014/main" id="{45F0A16F-9327-48B5-BE24-A1465590F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076450"/>
            <a:ext cx="1219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5715">
            <a:solidFill>
              <a:srgbClr val="E8872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E8872D"/>
                </a:solidFill>
              </a:defRPr>
            </a:pPr>
            <a:r>
              <a:rPr sz="1600" b="1">
                <a:solidFill>
                  <a:srgbClr val="E8872D"/>
                </a:solidFill>
              </a:rPr>
              <a:t>18｜38million</a:t>
            </a:r>
          </a:p>
          <a:p xmlns:a="http://schemas.openxmlformats.org/drawingml/2006/main">
            <a:pPr algn="ctr">
              <a:defRPr sz="1600" b="1">
                <a:solidFill>
                  <a:srgbClr val="E8872D"/>
                </a:solidFill>
              </a:defRPr>
            </a:pPr>
            <a:r>
              <a:rPr sz="1600" b="1">
                <a:solidFill>
                  <a:srgbClr val="E8872D"/>
                </a:solidFill>
              </a:rPr>
              <a:t>8.2years old</a:t>
            </a:r>
          </a:p>
        </p:txBody>
      </p:sp>
      <p:sp>
        <p:nvSpPr>
          <p:cNvPr id="18" name="level-cell-2-2">
            <a:extLst xmlns:a="http://schemas.openxmlformats.org/drawingml/2006/main">
              <a:ext uri="{FF2B5EF4-FFF2-40B4-BE49-F238E27FC236}">
                <a16:creationId xmlns:a16="http://schemas.microsoft.com/office/drawing/2014/main" id="{D52FBE12-5E8C-4DA6-A0D5-571817A00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076450"/>
            <a:ext cx="1219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571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12｜37million</a:t>
            </a:r>
          </a:p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8.4years old</a:t>
            </a:r>
          </a:p>
        </p:txBody>
      </p:sp>
      <p:sp>
        <p:nvSpPr>
          <p:cNvPr id="19" name="level-cell-2-3">
            <a:extLst xmlns:a="http://schemas.openxmlformats.org/drawingml/2006/main">
              <a:ext uri="{FF2B5EF4-FFF2-40B4-BE49-F238E27FC236}">
                <a16:creationId xmlns:a16="http://schemas.microsoft.com/office/drawing/2014/main" id="{4C206213-8BF8-4FA2-8143-9EDC45B2C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076450"/>
            <a:ext cx="1219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8872D"/>
            </a:solidFill>
            <a:prstDash val="dash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E8872D"/>
                </a:solidFill>
              </a:defRPr>
            </a:pPr>
            <a:r>
              <a:rPr sz="1600" b="1">
                <a:solidFill>
                  <a:srgbClr val="E8872D"/>
                </a:solidFill>
              </a:rPr>
              <a:t>fault</a:t>
            </a:r>
          </a:p>
        </p:txBody>
      </p:sp>
      <p:sp>
        <p:nvSpPr>
          <p:cNvPr id="20" name="level-cell-2-4">
            <a:extLst xmlns:a="http://schemas.openxmlformats.org/drawingml/2006/main">
              <a:ext uri="{FF2B5EF4-FFF2-40B4-BE49-F238E27FC236}">
                <a16:creationId xmlns:a16="http://schemas.microsoft.com/office/drawing/2014/main" id="{E63D363C-09B0-435F-A24A-AB7C5713F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076450"/>
            <a:ext cx="1219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8872D"/>
            </a:solidFill>
            <a:prstDash val="dash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E8872D"/>
                </a:solidFill>
              </a:defRPr>
            </a:pPr>
            <a:r>
              <a:rPr sz="1600" b="1">
                <a:solidFill>
                  <a:srgbClr val="E8872D"/>
                </a:solidFill>
              </a:rPr>
              <a:t>fault</a:t>
            </a:r>
          </a:p>
        </p:txBody>
      </p:sp>
      <p:sp>
        <p:nvSpPr>
          <p:cNvPr id="21" name="level-cell-2-5">
            <a:extLst xmlns:a="http://schemas.openxmlformats.org/drawingml/2006/main">
              <a:ext uri="{FF2B5EF4-FFF2-40B4-BE49-F238E27FC236}">
                <a16:creationId xmlns:a16="http://schemas.microsoft.com/office/drawing/2014/main" id="{09EAE3D4-6367-495B-8C6E-B1636EF1C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076450"/>
            <a:ext cx="1219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8872D"/>
            </a:solidFill>
            <a:prstDash val="dash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E8872D"/>
                </a:solidFill>
              </a:defRPr>
            </a:pPr>
            <a:r>
              <a:rPr sz="1600" b="1">
                <a:solidFill>
                  <a:srgbClr val="E8872D"/>
                </a:solidFill>
              </a:rPr>
              <a:t>fault</a:t>
            </a:r>
          </a:p>
        </p:txBody>
      </p:sp>
      <p:sp>
        <p:nvSpPr>
          <p:cNvPr id="22" name="level-bar-3">
            <a:extLst xmlns:a="http://schemas.openxmlformats.org/drawingml/2006/main">
              <a:ext uri="{FF2B5EF4-FFF2-40B4-BE49-F238E27FC236}">
                <a16:creationId xmlns:a16="http://schemas.microsoft.com/office/drawing/2014/main" id="{B6FED03E-4E2A-4F5E-88C6-30FF64441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2001" y="2609850"/>
            <a:ext cx="302099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B2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3" name="level-bar-label-3">
            <a:extLst xmlns:a="http://schemas.openxmlformats.org/drawingml/2006/main">
              <a:ext uri="{FF2B5EF4-FFF2-40B4-BE49-F238E27FC236}">
                <a16:creationId xmlns:a16="http://schemas.microsoft.com/office/drawing/2014/main" id="{2CB80617-92E5-498B-B033-B0F1D51BA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09850"/>
            <a:ext cx="1374301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L6  50</a:t>
            </a:r>
          </a:p>
        </p:txBody>
      </p:sp>
      <p:sp>
        <p:nvSpPr>
          <p:cNvPr id="24" name="level-cell-3-1">
            <a:extLst xmlns:a="http://schemas.openxmlformats.org/drawingml/2006/main">
              <a:ext uri="{FF2B5EF4-FFF2-40B4-BE49-F238E27FC236}">
                <a16:creationId xmlns:a16="http://schemas.microsoft.com/office/drawing/2014/main" id="{BAA7C3EE-2FD6-44D8-87AE-3BE5457F9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552700"/>
            <a:ext cx="1219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5715">
            <a:solidFill>
              <a:srgbClr val="E8872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E8872D"/>
                </a:solidFill>
              </a:defRPr>
            </a:pPr>
            <a:r>
              <a:rPr sz="1600" b="1">
                <a:solidFill>
                  <a:srgbClr val="E8872D"/>
                </a:solidFill>
              </a:rPr>
              <a:t>26｜34million</a:t>
            </a:r>
          </a:p>
          <a:p xmlns:a="http://schemas.openxmlformats.org/drawingml/2006/main">
            <a:pPr algn="ctr">
              <a:defRPr sz="1600" b="1">
                <a:solidFill>
                  <a:srgbClr val="E8872D"/>
                </a:solidFill>
              </a:defRPr>
            </a:pPr>
            <a:r>
              <a:rPr sz="1600" b="1">
                <a:solidFill>
                  <a:srgbClr val="E8872D"/>
                </a:solidFill>
              </a:rPr>
              <a:t>7.4years old</a:t>
            </a:r>
          </a:p>
        </p:txBody>
      </p:sp>
      <p:sp>
        <p:nvSpPr>
          <p:cNvPr id="25" name="level-cell-3-2">
            <a:extLst xmlns:a="http://schemas.openxmlformats.org/drawingml/2006/main">
              <a:ext uri="{FF2B5EF4-FFF2-40B4-BE49-F238E27FC236}">
                <a16:creationId xmlns:a16="http://schemas.microsoft.com/office/drawing/2014/main" id="{4749A449-DAF1-4B3A-9A26-02B6E7B24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552700"/>
            <a:ext cx="1219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571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18｜33million</a:t>
            </a:r>
          </a:p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7.6years old</a:t>
            </a:r>
          </a:p>
        </p:txBody>
      </p:sp>
      <p:sp>
        <p:nvSpPr>
          <p:cNvPr id="26" name="level-cell-3-3">
            <a:extLst xmlns:a="http://schemas.openxmlformats.org/drawingml/2006/main">
              <a:ext uri="{FF2B5EF4-FFF2-40B4-BE49-F238E27FC236}">
                <a16:creationId xmlns:a16="http://schemas.microsoft.com/office/drawing/2014/main" id="{A36B384F-F12A-4E67-844B-C2F60F0DB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552700"/>
            <a:ext cx="1219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571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4｜32million</a:t>
            </a:r>
          </a:p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7.8years old</a:t>
            </a:r>
          </a:p>
        </p:txBody>
      </p:sp>
      <p:sp>
        <p:nvSpPr>
          <p:cNvPr id="27" name="level-cell-3-4">
            <a:extLst xmlns:a="http://schemas.openxmlformats.org/drawingml/2006/main">
              <a:ext uri="{FF2B5EF4-FFF2-40B4-BE49-F238E27FC236}">
                <a16:creationId xmlns:a16="http://schemas.microsoft.com/office/drawing/2014/main" id="{9921BECF-2898-48D4-96E0-07D41E88E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52700"/>
            <a:ext cx="1219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571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2｜31million</a:t>
            </a:r>
          </a:p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8years old</a:t>
            </a:r>
          </a:p>
        </p:txBody>
      </p:sp>
      <p:sp>
        <p:nvSpPr>
          <p:cNvPr id="28" name="level-cell-3-5">
            <a:extLst xmlns:a="http://schemas.openxmlformats.org/drawingml/2006/main">
              <a:ext uri="{FF2B5EF4-FFF2-40B4-BE49-F238E27FC236}">
                <a16:creationId xmlns:a16="http://schemas.microsoft.com/office/drawing/2014/main" id="{AA5CA46D-1B93-40D5-BE26-2A18B04D8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552700"/>
            <a:ext cx="1219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8872D"/>
            </a:solidFill>
            <a:prstDash val="dash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E8872D"/>
                </a:solidFill>
              </a:defRPr>
            </a:pPr>
            <a:r>
              <a:rPr sz="1600" b="1">
                <a:solidFill>
                  <a:srgbClr val="E8872D"/>
                </a:solidFill>
              </a:rPr>
              <a:t>fault</a:t>
            </a:r>
          </a:p>
        </p:txBody>
      </p:sp>
      <p:sp>
        <p:nvSpPr>
          <p:cNvPr id="29" name="level-bar-4">
            <a:extLst xmlns:a="http://schemas.openxmlformats.org/drawingml/2006/main">
              <a:ext uri="{FF2B5EF4-FFF2-40B4-BE49-F238E27FC236}">
                <a16:creationId xmlns:a16="http://schemas.microsoft.com/office/drawing/2014/main" id="{BB40CF0C-945F-4A0E-BD1A-347F3AEE1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8238" y="3086100"/>
            <a:ext cx="555862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B2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0" name="level-bar-label-4">
            <a:extLst xmlns:a="http://schemas.openxmlformats.org/drawingml/2006/main">
              <a:ext uri="{FF2B5EF4-FFF2-40B4-BE49-F238E27FC236}">
                <a16:creationId xmlns:a16="http://schemas.microsoft.com/office/drawing/2014/main" id="{B7A377D5-1AB9-4D5E-B160-AF02AD25E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86100"/>
            <a:ext cx="112053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L5  92</a:t>
            </a:r>
          </a:p>
        </p:txBody>
      </p:sp>
      <p:sp>
        <p:nvSpPr>
          <p:cNvPr id="31" name="level-cell-4-1">
            <a:extLst xmlns:a="http://schemas.openxmlformats.org/drawingml/2006/main">
              <a:ext uri="{FF2B5EF4-FFF2-40B4-BE49-F238E27FC236}">
                <a16:creationId xmlns:a16="http://schemas.microsoft.com/office/drawing/2014/main" id="{7844F76E-B180-4B47-81DB-ABA654EB3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028950"/>
            <a:ext cx="1219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A"/>
          </a:solidFill>
          <a:ln xmlns:a="http://schemas.openxmlformats.org/drawingml/2006/main" w="571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38｜30million</a:t>
            </a:r>
          </a:p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6.6years old</a:t>
            </a:r>
          </a:p>
        </p:txBody>
      </p:sp>
      <p:sp>
        <p:nvSpPr>
          <p:cNvPr id="32" name="level-cell-4-2">
            <a:extLst xmlns:a="http://schemas.openxmlformats.org/drawingml/2006/main">
              <a:ext uri="{FF2B5EF4-FFF2-40B4-BE49-F238E27FC236}">
                <a16:creationId xmlns:a16="http://schemas.microsoft.com/office/drawing/2014/main" id="{844E0A8C-4C63-44DC-AE3E-00B1F168A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028950"/>
            <a:ext cx="1219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A"/>
          </a:solidFill>
          <a:ln xmlns:a="http://schemas.openxmlformats.org/drawingml/2006/main" w="571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40｜29million</a:t>
            </a:r>
          </a:p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6.8years old</a:t>
            </a:r>
          </a:p>
        </p:txBody>
      </p:sp>
      <p:sp>
        <p:nvSpPr>
          <p:cNvPr id="33" name="level-cell-4-3">
            <a:extLst xmlns:a="http://schemas.openxmlformats.org/drawingml/2006/main">
              <a:ext uri="{FF2B5EF4-FFF2-40B4-BE49-F238E27FC236}">
                <a16:creationId xmlns:a16="http://schemas.microsoft.com/office/drawing/2014/main" id="{8FABC60D-E452-4B39-B4AE-26445A055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028950"/>
            <a:ext cx="1219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571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8｜28million</a:t>
            </a:r>
          </a:p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7years old</a:t>
            </a:r>
          </a:p>
        </p:txBody>
      </p:sp>
      <p:sp>
        <p:nvSpPr>
          <p:cNvPr id="34" name="level-cell-4-4">
            <a:extLst xmlns:a="http://schemas.openxmlformats.org/drawingml/2006/main">
              <a:ext uri="{FF2B5EF4-FFF2-40B4-BE49-F238E27FC236}">
                <a16:creationId xmlns:a16="http://schemas.microsoft.com/office/drawing/2014/main" id="{3EFBDBF2-B1F2-4BE9-8719-A94228B80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028950"/>
            <a:ext cx="1219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571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6｜27million</a:t>
            </a:r>
          </a:p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7.2years old</a:t>
            </a:r>
          </a:p>
        </p:txBody>
      </p:sp>
      <p:sp>
        <p:nvSpPr>
          <p:cNvPr id="35" name="level-cell-4-5">
            <a:extLst xmlns:a="http://schemas.openxmlformats.org/drawingml/2006/main">
              <a:ext uri="{FF2B5EF4-FFF2-40B4-BE49-F238E27FC236}">
                <a16:creationId xmlns:a16="http://schemas.microsoft.com/office/drawing/2014/main" id="{18C8B5B3-2C04-45B4-997B-3E6767FF1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028950"/>
            <a:ext cx="1219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8872D"/>
            </a:solidFill>
            <a:prstDash val="dash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E8872D"/>
                </a:solidFill>
              </a:defRPr>
            </a:pPr>
            <a:r>
              <a:rPr sz="1600" b="1">
                <a:solidFill>
                  <a:srgbClr val="E8872D"/>
                </a:solidFill>
              </a:rPr>
              <a:t>fault</a:t>
            </a:r>
          </a:p>
        </p:txBody>
      </p:sp>
      <p:sp>
        <p:nvSpPr>
          <p:cNvPr id="36" name="level-bar-5">
            <a:extLst xmlns:a="http://schemas.openxmlformats.org/drawingml/2006/main">
              <a:ext uri="{FF2B5EF4-FFF2-40B4-BE49-F238E27FC236}">
                <a16:creationId xmlns:a16="http://schemas.microsoft.com/office/drawing/2014/main" id="{297A901F-AFCC-43EB-95D4-41315D756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9677" y="3562350"/>
            <a:ext cx="924423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75F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L4  153</a:t>
            </a:r>
          </a:p>
        </p:txBody>
      </p:sp>
      <p:sp>
        <p:nvSpPr>
          <p:cNvPr id="37" name="level-cell-5-1">
            <a:extLst xmlns:a="http://schemas.openxmlformats.org/drawingml/2006/main">
              <a:ext uri="{FF2B5EF4-FFF2-40B4-BE49-F238E27FC236}">
                <a16:creationId xmlns:a16="http://schemas.microsoft.com/office/drawing/2014/main" id="{FB88436F-9AFB-49C1-B9B8-A07204F86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505200"/>
            <a:ext cx="1219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A"/>
          </a:solidFill>
          <a:ln xmlns:a="http://schemas.openxmlformats.org/drawingml/2006/main" w="571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50｜26million</a:t>
            </a:r>
          </a:p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5.8years old</a:t>
            </a:r>
          </a:p>
        </p:txBody>
      </p:sp>
      <p:sp>
        <p:nvSpPr>
          <p:cNvPr id="38" name="level-cell-5-2">
            <a:extLst xmlns:a="http://schemas.openxmlformats.org/drawingml/2006/main">
              <a:ext uri="{FF2B5EF4-FFF2-40B4-BE49-F238E27FC236}">
                <a16:creationId xmlns:a16="http://schemas.microsoft.com/office/drawing/2014/main" id="{6BBC184C-7B8C-42D5-B043-3A9177561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505200"/>
            <a:ext cx="1219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A"/>
          </a:solidFill>
          <a:ln xmlns:a="http://schemas.openxmlformats.org/drawingml/2006/main" w="571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68｜25million</a:t>
            </a:r>
          </a:p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6years old</a:t>
            </a:r>
          </a:p>
        </p:txBody>
      </p:sp>
      <p:sp>
        <p:nvSpPr>
          <p:cNvPr id="39" name="level-cell-5-3">
            <a:extLst xmlns:a="http://schemas.openxmlformats.org/drawingml/2006/main">
              <a:ext uri="{FF2B5EF4-FFF2-40B4-BE49-F238E27FC236}">
                <a16:creationId xmlns:a16="http://schemas.microsoft.com/office/drawing/2014/main" id="{E3DAA87F-E2AC-4D85-9820-44940FF62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505200"/>
            <a:ext cx="1219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571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15｜24million</a:t>
            </a:r>
          </a:p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6.2years old</a:t>
            </a:r>
          </a:p>
        </p:txBody>
      </p:sp>
      <p:sp>
        <p:nvSpPr>
          <p:cNvPr id="40" name="level-cell-5-4">
            <a:extLst xmlns:a="http://schemas.openxmlformats.org/drawingml/2006/main">
              <a:ext uri="{FF2B5EF4-FFF2-40B4-BE49-F238E27FC236}">
                <a16:creationId xmlns:a16="http://schemas.microsoft.com/office/drawing/2014/main" id="{2854CCA7-0B7B-48B3-835B-92F1E7E35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505200"/>
            <a:ext cx="1219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571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12｜23million</a:t>
            </a:r>
          </a:p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6.4years old</a:t>
            </a:r>
          </a:p>
        </p:txBody>
      </p:sp>
      <p:sp>
        <p:nvSpPr>
          <p:cNvPr id="41" name="level-cell-5-5">
            <a:extLst xmlns:a="http://schemas.openxmlformats.org/drawingml/2006/main">
              <a:ext uri="{FF2B5EF4-FFF2-40B4-BE49-F238E27FC236}">
                <a16:creationId xmlns:a16="http://schemas.microsoft.com/office/drawing/2014/main" id="{7209FDF5-5B22-4633-8B3E-254C7A586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505200"/>
            <a:ext cx="1219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571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8｜22million</a:t>
            </a:r>
          </a:p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6.6years old</a:t>
            </a:r>
          </a:p>
        </p:txBody>
      </p:sp>
      <p:sp>
        <p:nvSpPr>
          <p:cNvPr id="42" name="level-bar-6">
            <a:extLst xmlns:a="http://schemas.openxmlformats.org/drawingml/2006/main">
              <a:ext uri="{FF2B5EF4-FFF2-40B4-BE49-F238E27FC236}">
                <a16:creationId xmlns:a16="http://schemas.microsoft.com/office/drawing/2014/main" id="{B695A369-CB66-45A1-9F46-D1F82C6F8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621" y="4038600"/>
            <a:ext cx="1220479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75F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L3  202</a:t>
            </a:r>
          </a:p>
        </p:txBody>
      </p:sp>
      <p:sp>
        <p:nvSpPr>
          <p:cNvPr id="43" name="level-cell-6-1">
            <a:extLst xmlns:a="http://schemas.openxmlformats.org/drawingml/2006/main">
              <a:ext uri="{FF2B5EF4-FFF2-40B4-BE49-F238E27FC236}">
                <a16:creationId xmlns:a16="http://schemas.microsoft.com/office/drawing/2014/main" id="{B8CA0DC6-BA0C-4909-A42D-6B9E666A0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981450"/>
            <a:ext cx="1219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571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36｜22million</a:t>
            </a:r>
          </a:p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5years old</a:t>
            </a:r>
          </a:p>
        </p:txBody>
      </p:sp>
      <p:sp>
        <p:nvSpPr>
          <p:cNvPr id="44" name="level-cell-6-2">
            <a:extLst xmlns:a="http://schemas.openxmlformats.org/drawingml/2006/main">
              <a:ext uri="{FF2B5EF4-FFF2-40B4-BE49-F238E27FC236}">
                <a16:creationId xmlns:a16="http://schemas.microsoft.com/office/drawing/2014/main" id="{F0999849-9BBB-4ACB-813A-82F2A8DE8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981450"/>
            <a:ext cx="1219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B2"/>
          </a:solidFill>
          <a:ln xmlns:a="http://schemas.openxmlformats.org/drawingml/2006/main" w="571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96｜21million</a:t>
            </a:r>
          </a:p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5.2years old</a:t>
            </a:r>
          </a:p>
        </p:txBody>
      </p:sp>
      <p:sp>
        <p:nvSpPr>
          <p:cNvPr id="45" name="level-cell-6-3">
            <a:extLst xmlns:a="http://schemas.openxmlformats.org/drawingml/2006/main">
              <a:ext uri="{FF2B5EF4-FFF2-40B4-BE49-F238E27FC236}">
                <a16:creationId xmlns:a16="http://schemas.microsoft.com/office/drawing/2014/main" id="{3D8BE19E-AC12-4235-AA29-4EDDAEE25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981450"/>
            <a:ext cx="1219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571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26｜20million</a:t>
            </a:r>
          </a:p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5.4years old</a:t>
            </a:r>
          </a:p>
        </p:txBody>
      </p:sp>
      <p:sp>
        <p:nvSpPr>
          <p:cNvPr id="46" name="level-cell-6-4">
            <a:extLst xmlns:a="http://schemas.openxmlformats.org/drawingml/2006/main">
              <a:ext uri="{FF2B5EF4-FFF2-40B4-BE49-F238E27FC236}">
                <a16:creationId xmlns:a16="http://schemas.microsoft.com/office/drawing/2014/main" id="{8C273895-559A-4855-AEB2-13430446C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981450"/>
            <a:ext cx="1219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571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24｜19million</a:t>
            </a:r>
          </a:p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5.6years old</a:t>
            </a:r>
          </a:p>
        </p:txBody>
      </p:sp>
      <p:sp>
        <p:nvSpPr>
          <p:cNvPr id="47" name="level-cell-6-5">
            <a:extLst xmlns:a="http://schemas.openxmlformats.org/drawingml/2006/main">
              <a:ext uri="{FF2B5EF4-FFF2-40B4-BE49-F238E27FC236}">
                <a16:creationId xmlns:a16="http://schemas.microsoft.com/office/drawing/2014/main" id="{3810DDC5-4E89-4528-9510-1EBB009E9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981450"/>
            <a:ext cx="1219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571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20｜18million</a:t>
            </a:r>
          </a:p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5.8years old</a:t>
            </a:r>
          </a:p>
        </p:txBody>
      </p:sp>
      <p:sp>
        <p:nvSpPr>
          <p:cNvPr id="48" name="level-bar-7">
            <a:extLst xmlns:a="http://schemas.openxmlformats.org/drawingml/2006/main">
              <a:ext uri="{FF2B5EF4-FFF2-40B4-BE49-F238E27FC236}">
                <a16:creationId xmlns:a16="http://schemas.microsoft.com/office/drawing/2014/main" id="{82F1DAB0-A948-4063-8871-8CA79E0EA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1485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75F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L2  268</a:t>
            </a:r>
          </a:p>
        </p:txBody>
      </p:sp>
      <p:sp>
        <p:nvSpPr>
          <p:cNvPr id="49" name="level-cell-7-1">
            <a:extLst xmlns:a="http://schemas.openxmlformats.org/drawingml/2006/main">
              <a:ext uri="{FF2B5EF4-FFF2-40B4-BE49-F238E27FC236}">
                <a16:creationId xmlns:a16="http://schemas.microsoft.com/office/drawing/2014/main" id="{F3A3E7F1-F092-41A5-902F-49A93D503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457700"/>
            <a:ext cx="1219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571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18｜18million</a:t>
            </a:r>
          </a:p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4.2years old</a:t>
            </a:r>
          </a:p>
        </p:txBody>
      </p:sp>
      <p:sp>
        <p:nvSpPr>
          <p:cNvPr id="50" name="level-cell-7-2">
            <a:extLst xmlns:a="http://schemas.openxmlformats.org/drawingml/2006/main">
              <a:ext uri="{FF2B5EF4-FFF2-40B4-BE49-F238E27FC236}">
                <a16:creationId xmlns:a16="http://schemas.microsoft.com/office/drawing/2014/main" id="{43DEF69C-AE53-4F81-A15D-6DBEC4620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457700"/>
            <a:ext cx="1219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B2"/>
          </a:solidFill>
          <a:ln xmlns:a="http://schemas.openxmlformats.org/drawingml/2006/main" w="571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124｜17million</a:t>
            </a:r>
          </a:p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4.4years old</a:t>
            </a:r>
          </a:p>
        </p:txBody>
      </p:sp>
      <p:sp>
        <p:nvSpPr>
          <p:cNvPr id="51" name="level-cell-7-3">
            <a:extLst xmlns:a="http://schemas.openxmlformats.org/drawingml/2006/main">
              <a:ext uri="{FF2B5EF4-FFF2-40B4-BE49-F238E27FC236}">
                <a16:creationId xmlns:a16="http://schemas.microsoft.com/office/drawing/2014/main" id="{F1438D4C-725B-4E43-85A7-FC19323A4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457700"/>
            <a:ext cx="1219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A"/>
          </a:solidFill>
          <a:ln xmlns:a="http://schemas.openxmlformats.org/drawingml/2006/main" w="571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42｜16million</a:t>
            </a:r>
          </a:p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4.6years old</a:t>
            </a:r>
          </a:p>
        </p:txBody>
      </p:sp>
      <p:sp>
        <p:nvSpPr>
          <p:cNvPr id="52" name="level-cell-7-4">
            <a:extLst xmlns:a="http://schemas.openxmlformats.org/drawingml/2006/main">
              <a:ext uri="{FF2B5EF4-FFF2-40B4-BE49-F238E27FC236}">
                <a16:creationId xmlns:a16="http://schemas.microsoft.com/office/drawing/2014/main" id="{C36E5BB9-EF7F-410F-BB4D-7F40C171A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457700"/>
            <a:ext cx="1219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571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36｜15million</a:t>
            </a:r>
          </a:p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4.8years old</a:t>
            </a:r>
          </a:p>
        </p:txBody>
      </p:sp>
      <p:sp>
        <p:nvSpPr>
          <p:cNvPr id="53" name="level-cell-7-5">
            <a:extLst xmlns:a="http://schemas.openxmlformats.org/drawingml/2006/main">
              <a:ext uri="{FF2B5EF4-FFF2-40B4-BE49-F238E27FC236}">
                <a16:creationId xmlns:a16="http://schemas.microsoft.com/office/drawing/2014/main" id="{2D640AD6-4B1B-4D7A-946E-A5B44257C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457700"/>
            <a:ext cx="1219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A"/>
          </a:solidFill>
          <a:ln xmlns:a="http://schemas.openxmlformats.org/drawingml/2006/main" w="571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48｜14million</a:t>
            </a:r>
          </a:p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5years old</a:t>
            </a:r>
          </a:p>
        </p:txBody>
      </p:sp>
      <p:sp>
        <p:nvSpPr>
          <p:cNvPr id="54" name="level-bar-8">
            <a:extLst xmlns:a="http://schemas.openxmlformats.org/drawingml/2006/main">
              <a:ext uri="{FF2B5EF4-FFF2-40B4-BE49-F238E27FC236}">
                <a16:creationId xmlns:a16="http://schemas.microsoft.com/office/drawing/2014/main" id="{AD39A1DF-07A5-4CBB-A4AA-0A7F7082C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201" y="4991100"/>
            <a:ext cx="1280899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75F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L1  212</a:t>
            </a:r>
          </a:p>
        </p:txBody>
      </p:sp>
      <p:sp>
        <p:nvSpPr>
          <p:cNvPr id="55" name="level-cell-8-1">
            <a:extLst xmlns:a="http://schemas.openxmlformats.org/drawingml/2006/main">
              <a:ext uri="{FF2B5EF4-FFF2-40B4-BE49-F238E27FC236}">
                <a16:creationId xmlns:a16="http://schemas.microsoft.com/office/drawing/2014/main" id="{A2B67C71-AB9D-403F-9220-96AB5A9FE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933950"/>
            <a:ext cx="1219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571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4｜14million</a:t>
            </a:r>
          </a:p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3.4years old</a:t>
            </a:r>
          </a:p>
        </p:txBody>
      </p:sp>
      <p:sp>
        <p:nvSpPr>
          <p:cNvPr id="56" name="level-cell-8-2">
            <a:extLst xmlns:a="http://schemas.openxmlformats.org/drawingml/2006/main">
              <a:ext uri="{FF2B5EF4-FFF2-40B4-BE49-F238E27FC236}">
                <a16:creationId xmlns:a16="http://schemas.microsoft.com/office/drawing/2014/main" id="{874D16B6-A64A-4098-9CD4-D5BE72AEB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933950"/>
            <a:ext cx="1219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A"/>
          </a:solidFill>
          <a:ln xmlns:a="http://schemas.openxmlformats.org/drawingml/2006/main" w="571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62｜13million</a:t>
            </a:r>
          </a:p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3.6years old</a:t>
            </a:r>
          </a:p>
        </p:txBody>
      </p:sp>
      <p:sp>
        <p:nvSpPr>
          <p:cNvPr id="57" name="level-cell-8-3">
            <a:extLst xmlns:a="http://schemas.openxmlformats.org/drawingml/2006/main">
              <a:ext uri="{FF2B5EF4-FFF2-40B4-BE49-F238E27FC236}">
                <a16:creationId xmlns:a16="http://schemas.microsoft.com/office/drawing/2014/main" id="{78512671-5D46-4F37-A4ED-D2B1DF479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933950"/>
            <a:ext cx="1219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571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35｜12million</a:t>
            </a:r>
          </a:p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3.8years old</a:t>
            </a:r>
          </a:p>
        </p:txBody>
      </p:sp>
      <p:sp>
        <p:nvSpPr>
          <p:cNvPr id="58" name="level-cell-8-4">
            <a:extLst xmlns:a="http://schemas.openxmlformats.org/drawingml/2006/main">
              <a:ext uri="{FF2B5EF4-FFF2-40B4-BE49-F238E27FC236}">
                <a16:creationId xmlns:a16="http://schemas.microsoft.com/office/drawing/2014/main" id="{DC7C7074-BB73-4586-AA02-E20B5D6D3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933950"/>
            <a:ext cx="1219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A"/>
          </a:solidFill>
          <a:ln xmlns:a="http://schemas.openxmlformats.org/drawingml/2006/main" w="571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41｜11million</a:t>
            </a:r>
          </a:p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4years old</a:t>
            </a:r>
          </a:p>
        </p:txBody>
      </p:sp>
      <p:sp>
        <p:nvSpPr>
          <p:cNvPr id="59" name="level-cell-8-5">
            <a:extLst xmlns:a="http://schemas.openxmlformats.org/drawingml/2006/main">
              <a:ext uri="{FF2B5EF4-FFF2-40B4-BE49-F238E27FC236}">
                <a16:creationId xmlns:a16="http://schemas.microsoft.com/office/drawing/2014/main" id="{37729ACE-E084-4B2C-93D7-DB5A4ACCE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933950"/>
            <a:ext cx="1219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A"/>
          </a:solidFill>
          <a:ln xmlns:a="http://schemas.openxmlformats.org/drawingml/2006/main" w="571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70｜10million</a:t>
            </a:r>
          </a:p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4.2years old</a:t>
            </a:r>
          </a:p>
        </p:txBody>
      </p:sp>
      <p:sp>
        <p:nvSpPr>
          <p:cNvPr id="60" name="management insights-rail">
            <a:extLst xmlns:a="http://schemas.openxmlformats.org/drawingml/2006/main">
              <a:ext uri="{FF2B5EF4-FFF2-40B4-BE49-F238E27FC236}">
                <a16:creationId xmlns:a16="http://schemas.microsoft.com/office/drawing/2014/main" id="{70AC6704-1823-45E6-92BC-6136C8069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200150"/>
            <a:ext cx="2533650" cy="4457700"/>
          </a:xfrm>
          <a:prstGeom xmlns:a="http://schemas.openxmlformats.org/drawingml/2006/main" prst="roundRect">
            <a:avLst>
              <a:gd name="adj" fmla="val 3008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10478">
            <a:solidFill>
              <a:srgbClr val="D7DEE8"/>
            </a:solidFill>
            <a:prstDash val="solid"/>
          </a:ln>
        </p:spPr>
      </p:sp>
      <p:sp>
        <p:nvSpPr>
          <p:cNvPr id="61" name="management insights-title">
            <a:extLst xmlns:a="http://schemas.openxmlformats.org/drawingml/2006/main">
              <a:ext uri="{FF2B5EF4-FFF2-40B4-BE49-F238E27FC236}">
                <a16:creationId xmlns:a16="http://schemas.microsoft.com/office/drawing/2014/main" id="{DBAA4A59-9864-4EAB-A02B-4EE0C71F0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333500"/>
            <a:ext cx="2228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management insights</a:t>
            </a:r>
          </a:p>
        </p:txBody>
      </p:sp>
      <p:sp>
        <p:nvSpPr>
          <p:cNvPr id="62" name="management insights-1">
            <a:extLst xmlns:a="http://schemas.openxmlformats.org/drawingml/2006/main">
              <a:ext uri="{FF2B5EF4-FFF2-40B4-BE49-F238E27FC236}">
                <a16:creationId xmlns:a16="http://schemas.microsoft.com/office/drawing/2014/main" id="{38F315FA-02C4-43BB-BC22-1012225DA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752600"/>
            <a:ext cx="22669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8872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172033"/>
                </a:solidFill>
              </a:defRPr>
            </a:pPr>
            <a:r>
              <a:rPr sz="1600" b="1">
                <a:solidFill>
                  <a:srgbClr val="172033"/>
                </a:solidFill>
              </a:rPr>
              <a:t>1  The eight-story structure has two more floors than its peers.</a:t>
            </a:r>
          </a:p>
        </p:txBody>
      </p:sp>
      <p:sp>
        <p:nvSpPr>
          <p:cNvPr id="63" name="management insights-2">
            <a:extLst xmlns:a="http://schemas.openxmlformats.org/drawingml/2006/main">
              <a:ext uri="{FF2B5EF4-FFF2-40B4-BE49-F238E27FC236}">
                <a16:creationId xmlns:a16="http://schemas.microsoft.com/office/drawing/2014/main" id="{35078D25-AC96-4A92-8CD3-BB26972B4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933700"/>
            <a:ext cx="22669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2  Middle management span is less than 4 People, there is hierarchical redundancy</a:t>
            </a:r>
          </a:p>
        </p:txBody>
      </p:sp>
      <p:sp>
        <p:nvSpPr>
          <p:cNvPr id="64" name="management insights-3">
            <a:extLst xmlns:a="http://schemas.openxmlformats.org/drawingml/2006/main">
              <a:ext uri="{FF2B5EF4-FFF2-40B4-BE49-F238E27FC236}">
                <a16:creationId xmlns:a16="http://schemas.microsoft.com/office/drawing/2014/main" id="{70A01B3F-67EC-433B-8591-D70C41C53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114800"/>
            <a:ext cx="22669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3  There is a gap in the technical sequence at the middle and high levels</a:t>
            </a:r>
          </a:p>
        </p:txBody>
      </p:sp>
      <p:sp>
        <p:nvSpPr>
          <p:cNvPr id="65" name="bottom">
            <a:extLst xmlns:a="http://schemas.openxmlformats.org/drawingml/2006/main">
              <a:ext uri="{FF2B5EF4-FFF2-40B4-BE49-F238E27FC236}">
                <a16:creationId xmlns:a16="http://schemas.microsoft.com/office/drawing/2014/main" id="{BACDDFDB-8A50-4338-9C7C-EA8BEEC68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24550"/>
            <a:ext cx="111633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0E2"/>
          </a:solidFill>
          <a:ln xmlns:a="http://schemas.openxmlformats.org/drawingml/2006/main" w="11430">
            <a:solidFill>
              <a:srgbClr val="E8872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Compressed to 6 The proportion of senior and management positions has dropped to 10%, technical sequence addendum 36 people</a:t>
            </a:r>
          </a:p>
        </p:txBody>
      </p:sp>
    </p:spTree>
    <p:extLst>
      <p:ext uri="{BB962C8B-B14F-4D97-AF65-F5344CB8AC3E}">
        <p14:creationId xmlns:p14="http://schemas.microsoft.com/office/powerpoint/2010/main" val="2362411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2026-07-31T20:27:02.6950000Z</dcterms:created>
  <dcterms:modified xsi:type="dcterms:W3CDTF">2026-07-31T20:27:02.6950000Z</dcterms:modified>
</coreProperties>
</file>