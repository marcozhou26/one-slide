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5d378c26bf450d" /><Relationship Type="http://schemas.openxmlformats.org/officeDocument/2006/relationships/extended-properties" Target="/docProps/app.xml" Id="R7a903e1b3a544cb1" /><Relationship Type="http://schemas.openxmlformats.org/officeDocument/2006/relationships/officeDocument" Target="/ppt/presentation.xml" Id="R1199d787650241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ca49b1300a4196"/>
  </p:sldMasterIdLst>
  <p:notesMasterIdLst>
    <p:notesMasterId xmlns:r="http://schemas.openxmlformats.org/officeDocument/2006/relationships" r:id="R12c22271467148ac"/>
  </p:notesMasterIdLst>
  <p:sldIdLst>
    <p:sldId xmlns:r="http://schemas.openxmlformats.org/officeDocument/2006/relationships" id="256" r:id="Rb45bf6d632a44c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b23855c7144d9a" /><Relationship Type="http://schemas.openxmlformats.org/officeDocument/2006/relationships/slideMaster" Target="/ppt/slideMasters/slideMaster1.xml" Id="R77ca49b1300a4196" /><Relationship Type="http://schemas.openxmlformats.org/officeDocument/2006/relationships/notesMaster" Target="/ppt/notesMasters/notesMaster1.xml" Id="R12c22271467148ac" /><Relationship Type="http://schemas.openxmlformats.org/officeDocument/2006/relationships/presProps" Target="/ppt/presProps.xml" Id="Rcd69ce2ca0524963" /><Relationship Type="http://schemas.openxmlformats.org/officeDocument/2006/relationships/tableStyles" Target="/ppt/tableStyles.xml" Id="R6a5ca9d8cc5847f1" /><Relationship Type="http://schemas.openxmlformats.org/officeDocument/2006/relationships/slide" Target="/ppt/slides/slide1.xml" Id="Rb45bf6d632a44c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a54fbd3fa64e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846571a1cc433c" /><Relationship Type="http://schemas.openxmlformats.org/officeDocument/2006/relationships/notesMaster" Target="/ppt/notesMasters/notesMaster1.xml" Id="R3bf1a2b669b44c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7c30762d954f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17f33635d54277" /><Relationship Type="http://schemas.openxmlformats.org/officeDocument/2006/relationships/slideLayout" Target="/ppt/slideLayouts/slideLayout1.xml" Id="R4728296db2d044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28296db2d044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e5695be4f4c39" /><Relationship Type="http://schemas.openxmlformats.org/officeDocument/2006/relationships/notesSlide" Target="/ppt/notesSlides/notesSlide1.xml" Id="Rf09b97d9b8434c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1" name=""/>
          <p:cNvCxnSpPr>
            <a:stCxn xmlns:a="http://schemas.openxmlformats.org/drawingml/2006/main" id="5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3565525" y="2447925"/>
            <a:ext cx="6795295" cy="4095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22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834438" y="18192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23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91226" y="1819275"/>
            <a:ext cx="209549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24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148013" y="18192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F6FB2"/>
            </a:solidFill>
            <a:prstDash val="solid"/>
            <a:tailEnd type="triangle" w="med" len="med"/>
          </a:ln>
        </p:spPr>
      </p:cxnSp>
      <p:sp>
        <p:nvSpPr>
          <p:cNvPr id="25" name="page-title">
            <a:extLst xmlns:a="http://schemas.openxmlformats.org/drawingml/2006/main">
              <a:ext uri="{FF2B5EF4-FFF2-40B4-BE49-F238E27FC236}">
                <a16:creationId xmlns:a16="http://schemas.microsoft.com/office/drawing/2014/main" id="{679AEFDC-29FA-47D2-A315-5B095E0D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分三阶段推进，可在 12 个月内完成 HR 数字化转型</a:t>
            </a:r>
          </a:p>
        </p:txBody>
      </p:sp>
      <p:sp>
        <p:nvSpPr>
          <p:cNvPr id="2" name="scqa-1">
            <a:extLst xmlns:a="http://schemas.openxmlformats.org/drawingml/2006/main">
              <a:ext uri="{FF2B5EF4-FFF2-40B4-BE49-F238E27FC236}">
                <a16:creationId xmlns:a16="http://schemas.microsoft.com/office/drawing/2014/main" id="{04904B7F-841D-43C0-8DB5-6CD765B0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90625"/>
            <a:ext cx="26336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238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S 情境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现有系统分散，数据口径不统一</a:t>
            </a:r>
          </a:p>
        </p:txBody>
      </p:sp>
      <p:sp>
        <p:nvSpPr>
          <p:cNvPr id="3" name="scqa-2">
            <a:extLst xmlns:a="http://schemas.openxmlformats.org/drawingml/2006/main">
              <a:ext uri="{FF2B5EF4-FFF2-40B4-BE49-F238E27FC236}">
                <a16:creationId xmlns:a16="http://schemas.microsoft.com/office/drawing/2014/main" id="{2E39F356-076D-4B93-9978-EEC7A224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190625"/>
            <a:ext cx="26336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C 冲突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业务需求增长快，但交付能力不足</a:t>
            </a:r>
          </a:p>
        </p:txBody>
      </p:sp>
      <p:sp>
        <p:nvSpPr>
          <p:cNvPr id="4" name="scqa-3">
            <a:extLst xmlns:a="http://schemas.openxmlformats.org/drawingml/2006/main">
              <a:ext uri="{FF2B5EF4-FFF2-40B4-BE49-F238E27FC236}">
                <a16:creationId xmlns:a16="http://schemas.microsoft.com/office/drawing/2014/main" id="{91709CD8-5F60-4B6B-BA04-8BD15B61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190625"/>
            <a:ext cx="26336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238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Q 问题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如何在不中断业务的前提下完成转型</a:t>
            </a:r>
          </a:p>
        </p:txBody>
      </p:sp>
      <p:sp>
        <p:nvSpPr>
          <p:cNvPr id="5" name="scqa-4">
            <a:extLst xmlns:a="http://schemas.openxmlformats.org/drawingml/2006/main">
              <a:ext uri="{FF2B5EF4-FFF2-40B4-BE49-F238E27FC236}">
                <a16:creationId xmlns:a16="http://schemas.microsoft.com/office/drawing/2014/main" id="{82358893-C0C9-4A16-AE3A-85D0AD05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190625"/>
            <a:ext cx="2633663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375F"/>
          </a:solidFill>
          <a:ln xmlns:a="http://schemas.openxmlformats.org/drawingml/2006/main" w="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A 答案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采用试点、复制、固化三阶段路径</a:t>
            </a:r>
          </a:p>
        </p:txBody>
      </p:sp>
      <p:sp>
        <p:nvSpPr>
          <p:cNvPr id="9" name="stage-1-header">
            <a:extLst xmlns:a="http://schemas.openxmlformats.org/drawingml/2006/main">
              <a:ext uri="{FF2B5EF4-FFF2-40B4-BE49-F238E27FC236}">
                <a16:creationId xmlns:a16="http://schemas.microsoft.com/office/drawing/2014/main" id="{B64162D0-B79C-43E6-A577-9F657AB2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857500"/>
            <a:ext cx="3244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0–3 月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◆ 试点验收通过</a:t>
            </a:r>
          </a:p>
        </p:txBody>
      </p:sp>
      <p:sp>
        <p:nvSpPr>
          <p:cNvPr id="10" name="lane-label-1">
            <a:extLst xmlns:a="http://schemas.openxmlformats.org/drawingml/2006/main">
              <a:ext uri="{FF2B5EF4-FFF2-40B4-BE49-F238E27FC236}">
                <a16:creationId xmlns:a16="http://schemas.microsoft.com/office/drawing/2014/main" id="{6BF66F75-6498-4725-862F-E1AD77CC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71850"/>
            <a:ext cx="14287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组织与流程</a:t>
            </a:r>
          </a:p>
        </p:txBody>
      </p:sp>
      <p:sp>
        <p:nvSpPr>
          <p:cNvPr id="11" name="stage-1-lane-1">
            <a:extLst xmlns:a="http://schemas.openxmlformats.org/drawingml/2006/main">
              <a:ext uri="{FF2B5EF4-FFF2-40B4-BE49-F238E27FC236}">
                <a16:creationId xmlns:a16="http://schemas.microsoft.com/office/drawing/2014/main" id="{C12C8422-47F5-4E97-A5F5-A0D72E66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71850"/>
            <a:ext cx="3244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完成流程梳理</a:t>
            </a:r>
          </a:p>
        </p:txBody>
      </p:sp>
      <p:sp>
        <p:nvSpPr>
          <p:cNvPr id="12" name="lane-label-2">
            <a:extLst xmlns:a="http://schemas.openxmlformats.org/drawingml/2006/main">
              <a:ext uri="{FF2B5EF4-FFF2-40B4-BE49-F238E27FC236}">
                <a16:creationId xmlns:a16="http://schemas.microsoft.com/office/drawing/2014/main" id="{50FEA97C-74C1-49CB-883E-B8C64F54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14287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技术与工具</a:t>
            </a:r>
          </a:p>
        </p:txBody>
      </p:sp>
      <p:sp>
        <p:nvSpPr>
          <p:cNvPr id="13" name="stage-1-lane-2">
            <a:extLst xmlns:a="http://schemas.openxmlformats.org/drawingml/2006/main">
              <a:ext uri="{FF2B5EF4-FFF2-40B4-BE49-F238E27FC236}">
                <a16:creationId xmlns:a16="http://schemas.microsoft.com/office/drawing/2014/main" id="{63EADA2C-408C-452E-A961-14E099B4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86300"/>
            <a:ext cx="3244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上线最小可用版本</a:t>
            </a:r>
          </a:p>
        </p:txBody>
      </p:sp>
      <p:sp>
        <p:nvSpPr>
          <p:cNvPr id="14" name="stage-2-header">
            <a:extLst xmlns:a="http://schemas.openxmlformats.org/drawingml/2006/main">
              <a:ext uri="{FF2B5EF4-FFF2-40B4-BE49-F238E27FC236}">
                <a16:creationId xmlns:a16="http://schemas.microsoft.com/office/drawing/2014/main" id="{F1B090B4-24BE-45D6-8738-7AC0F8EF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857500"/>
            <a:ext cx="3244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4–8 月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◆ 覆盖率达到 60%</a:t>
            </a:r>
          </a:p>
        </p:txBody>
      </p:sp>
      <p:sp>
        <p:nvSpPr>
          <p:cNvPr id="15" name="stage-2-lane-1">
            <a:extLst xmlns:a="http://schemas.openxmlformats.org/drawingml/2006/main">
              <a:ext uri="{FF2B5EF4-FFF2-40B4-BE49-F238E27FC236}">
                <a16:creationId xmlns:a16="http://schemas.microsoft.com/office/drawing/2014/main" id="{A4875AC3-7BCF-4809-9287-852DC6C4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371850"/>
            <a:ext cx="3244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复制标准流程</a:t>
            </a:r>
          </a:p>
        </p:txBody>
      </p:sp>
      <p:sp>
        <p:nvSpPr>
          <p:cNvPr id="16" name="stage-2-lane-2">
            <a:extLst xmlns:a="http://schemas.openxmlformats.org/drawingml/2006/main">
              <a:ext uri="{FF2B5EF4-FFF2-40B4-BE49-F238E27FC236}">
                <a16:creationId xmlns:a16="http://schemas.microsoft.com/office/drawing/2014/main" id="{EE0BB40D-380D-4B7B-8F33-EBB46AF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4686300"/>
            <a:ext cx="3244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扩展核心接口</a:t>
            </a:r>
          </a:p>
        </p:txBody>
      </p:sp>
      <p:sp>
        <p:nvSpPr>
          <p:cNvPr id="17" name="stage-3-header">
            <a:extLst xmlns:a="http://schemas.openxmlformats.org/drawingml/2006/main">
              <a:ext uri="{FF2B5EF4-FFF2-40B4-BE49-F238E27FC236}">
                <a16:creationId xmlns:a16="http://schemas.microsoft.com/office/drawing/2014/main" id="{B666F043-C9D9-4AAE-8460-56A356A6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2857500"/>
            <a:ext cx="3244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9–12 月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◆ 运营指标达标</a:t>
            </a:r>
          </a:p>
        </p:txBody>
      </p:sp>
      <p:sp>
        <p:nvSpPr>
          <p:cNvPr id="18" name="stage-3-lane-1">
            <a:extLst xmlns:a="http://schemas.openxmlformats.org/drawingml/2006/main">
              <a:ext uri="{FF2B5EF4-FFF2-40B4-BE49-F238E27FC236}">
                <a16:creationId xmlns:a16="http://schemas.microsoft.com/office/drawing/2014/main" id="{0DC3B75C-EC5F-4155-95FD-827C8C66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3371850"/>
            <a:ext cx="3244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固化治理机制</a:t>
            </a:r>
          </a:p>
        </p:txBody>
      </p:sp>
      <p:sp>
        <p:nvSpPr>
          <p:cNvPr id="19" name="stage-3-lane-2">
            <a:extLst xmlns:a="http://schemas.openxmlformats.org/drawingml/2006/main">
              <a:ext uri="{FF2B5EF4-FFF2-40B4-BE49-F238E27FC236}">
                <a16:creationId xmlns:a16="http://schemas.microsoft.com/office/drawing/2014/main" id="{90C9E604-E446-48B2-865F-771C70B8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686300"/>
            <a:ext cx="3244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建立持续运营</a:t>
            </a:r>
          </a:p>
        </p:txBody>
      </p:sp>
    </p:spTree>
    <p:extLst>
      <p:ext uri="{BB962C8B-B14F-4D97-AF65-F5344CB8AC3E}">
        <p14:creationId xmlns:p14="http://schemas.microsoft.com/office/powerpoint/2010/main" val="31827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2026-07-31T20:14:57.4590000Z</dcterms:created>
  <dcterms:modified xsi:type="dcterms:W3CDTF">2026-07-31T20:14:57.4590000Z</dcterms:modified>
</coreProperties>
</file>