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5d378c26bf450d" /><Relationship Type="http://schemas.openxmlformats.org/officeDocument/2006/relationships/extended-properties" Target="/docProps/app.xml" Id="R7a903e1b3a544cb1" /><Relationship Type="http://schemas.openxmlformats.org/officeDocument/2006/relationships/officeDocument" Target="/ppt/presentation.xml" Id="R1199d787650241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ca49b1300a4196"/>
  </p:sldMasterIdLst>
  <p:notesMasterIdLst>
    <p:notesMasterId xmlns:r="http://schemas.openxmlformats.org/officeDocument/2006/relationships" r:id="R12c22271467148ac"/>
  </p:notesMasterIdLst>
  <p:sldIdLst>
    <p:sldId xmlns:r="http://schemas.openxmlformats.org/officeDocument/2006/relationships" id="256" r:id="Rb45bf6d632a44c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b23855c7144d9a" /><Relationship Type="http://schemas.openxmlformats.org/officeDocument/2006/relationships/slideMaster" Target="/ppt/slideMasters/slideMaster1.xml" Id="R77ca49b1300a4196" /><Relationship Type="http://schemas.openxmlformats.org/officeDocument/2006/relationships/notesMaster" Target="/ppt/notesMasters/notesMaster1.xml" Id="R12c22271467148ac" /><Relationship Type="http://schemas.openxmlformats.org/officeDocument/2006/relationships/presProps" Target="/ppt/presProps.xml" Id="Rcd69ce2ca0524963" /><Relationship Type="http://schemas.openxmlformats.org/officeDocument/2006/relationships/tableStyles" Target="/ppt/tableStyles.xml" Id="R6a5ca9d8cc5847f1" /><Relationship Type="http://schemas.openxmlformats.org/officeDocument/2006/relationships/slide" Target="/ppt/slides/slide1.xml" Id="Rb45bf6d632a44c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a54fbd3fa6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846571a1cc433c" /><Relationship Type="http://schemas.openxmlformats.org/officeDocument/2006/relationships/notesMaster" Target="/ppt/notesMasters/notesMaster1.xml" Id="R3bf1a2b669b44c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c30762d954f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17f33635d54277" /><Relationship Type="http://schemas.openxmlformats.org/officeDocument/2006/relationships/slideLayout" Target="/ppt/slideLayouts/slideLayout1.xml" Id="R4728296db2d044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28296db2d044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e5695be4f4c39" /><Relationship Type="http://schemas.openxmlformats.org/officeDocument/2006/relationships/notesSlide" Target="/ppt/notesSlides/notesSlide1.xml" Id="Rf09b97d9b8434c44" /></Relationships>
</file>

<file path=ppt/slides/slide1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cxnSp><p:nvCxnSpPr><p:cNvPr id="21" name="" /><p:cNvCxnSpPr><a:stCxn id="5" idx="2" xmlns:a="http://schemas.openxmlformats.org/drawingml/2006/main" /><a:endCxn id="9" idx="0" xmlns:a="http://schemas.openxmlformats.org/drawingml/2006/main" /></p:cNvCxnSpPr><p:nvPr /></p:nvCxnSpPr><p:spPr><a:xfrm flipH="1" xmlns:a="http://schemas.openxmlformats.org/drawingml/2006/main"><a:off x="3565525" y="2447925" /><a:ext cx="6795295" cy="409575" /></a:xfrm><a:prstGeom prst="bentConnector4" xmlns:a="http://schemas.openxmlformats.org/drawingml/2006/main"><a:avLst><a:gd name="adj1" fmla="val 0" /><a:gd name="adj2" fmla="val 50000" /></a:avLst></a:prstGeom><a:ln w="14288" xmlns:a="http://schemas.openxmlformats.org/drawingml/2006/main"><a:solidFill><a:srgbClr val="2F6FB2" /></a:solidFill><a:prstDash val="solid" /><a:tailEnd type="triangle" w="med" len="med" /></a:ln></p:spPr></p:cxnSp><p:cxnSp><p:nvCxnSpPr><p:cNvPr id="22" name="" /><p:cNvCxnSpPr><a:stCxn id="4" idx="3" xmlns:a="http://schemas.openxmlformats.org/drawingml/2006/main" /><a:endCxn id="5" idx="1" xmlns:a="http://schemas.openxmlformats.org/drawingml/2006/main" /></p:cNvCxnSpPr><p:nvPr /></p:nvCxnSpPr><p:spPr><a:xfrm xmlns:a="http://schemas.openxmlformats.org/drawingml/2006/main"><a:off x="8834438" y="1819275" /><a:ext cx="209550" cy="0" /></a:xfrm><a:prstGeom prst="straightConnector1" xmlns:a="http://schemas.openxmlformats.org/drawingml/2006/main"><a:avLst /></a:prstGeom><a:ln w="17145" xmlns:a="http://schemas.openxmlformats.org/drawingml/2006/main"><a:solidFill><a:srgbClr val="2F6FB2" /></a:solidFill><a:prstDash val="solid" /><a:tailEnd type="triangle" w="med" len="med" /></a:ln></p:spPr></p:cxnSp><p:cxnSp><p:nvCxnSpPr><p:cNvPr id="23" name="" /><p:cNvCxnSpPr><a:stCxn id="3" idx="3" xmlns:a="http://schemas.openxmlformats.org/drawingml/2006/main" /><a:endCxn id="4" idx="1" xmlns:a="http://schemas.openxmlformats.org/drawingml/2006/main" /></p:cNvCxnSpPr><p:nvPr /></p:nvCxnSpPr><p:spPr><a:xfrm xmlns:a="http://schemas.openxmlformats.org/drawingml/2006/main"><a:off x="5991226" y="1819275" /><a:ext cx="209549" cy="0" /></a:xfrm><a:prstGeom prst="straightConnector1" xmlns:a="http://schemas.openxmlformats.org/drawingml/2006/main"><a:avLst /></a:prstGeom><a:ln w="17145" xmlns:a="http://schemas.openxmlformats.org/drawingml/2006/main"><a:solidFill><a:srgbClr val="2F6FB2" /></a:solidFill><a:prstDash val="solid" /><a:tailEnd type="triangle" w="med" len="med" /></a:ln></p:spPr></p:cxnSp><p:cxnSp><p:nvCxnSpPr><p:cNvPr id="24" name="" /><p:cNvCxnSpPr><a:stCxn id="2" idx="3" xmlns:a="http://schemas.openxmlformats.org/drawingml/2006/main" /><a:endCxn id="3" idx="1" xmlns:a="http://schemas.openxmlformats.org/drawingml/2006/main" /></p:cNvCxnSpPr><p:nvPr /></p:nvCxnSpPr><p:spPr><a:xfrm xmlns:a="http://schemas.openxmlformats.org/drawingml/2006/main"><a:off x="3148013" y="1819275" /><a:ext cx="209550" cy="0" /></a:xfrm><a:prstGeom prst="straightConnector1" xmlns:a="http://schemas.openxmlformats.org/drawingml/2006/main"><a:avLst /></a:prstGeom><a:ln w="17145" xmlns:a="http://schemas.openxmlformats.org/drawingml/2006/main"><a:solidFill><a:srgbClr val="2F6FB2" /></a:solidFill><a:prstDash val="solid" /><a:tailEnd type="triangle" w="med" len="med" /></a:ln></p:spPr></p:cxnSp><p:sp><p:nvSpPr><p:cNvPr id="25" name="page-title"><a:extLst xmlns:a="http://schemas.openxmlformats.org/drawingml/2006/main"><a:ext uri="{FF2B5EF4-FFF2-40B4-BE49-F238E27FC236}"><a16:creationId id="{679AEFDC-29FA-47D2-A315-5B095E0D1B4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4350" y="266700" /><a:ext cx="11163300" cy="4953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2550" b="1"><a:solidFill><a:srgbClr val="15375F" /></a:solidFill></a:defRPr></a:pPr><a:r><a:rPr sz="2550" b="1"><a:solidFill><a:srgbClr val="15375F" /></a:solidFill></a:rPr><a:t>It will be promoted in three stages, which can be 12 Completed within a month HR digital transformation</a:t></a:r></a:p></p:txBody></p:sp><p:sp><p:nvSpPr><p:cNvPr id="2" name="scqa-1"><a:extLst xmlns:a="http://schemas.openxmlformats.org/drawingml/2006/main"><a:ext uri="{FF2B5EF4-FFF2-40B4-BE49-F238E27FC236}"><a16:creationId id="{04904B7F-841D-43C0-8DB5-6CD765B0AAB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4350" y="1190625" /><a:ext cx="2633663" cy="1257300" /></a:xfrm><a:prstGeom prst="roundRect" xmlns:a="http://schemas.openxmlformats.org/drawingml/2006/main"><a:avLst><a:gd name="adj" fmla="val 6061" /></a:avLst></a:prstGeom><a:solidFill xmlns:a="http://schemas.openxmlformats.org/drawingml/2006/main"><a:srgbClr val="F4F6F8" /></a:solidFill><a:ln w="12383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S situation</a:t></a:r></a:p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The existing system is scattered and the data caliber is not uniform.</a:t></a:r></a:p></p:txBody></p:sp><p:sp><p:nvSpPr><p:cNvPr id="3" name="scqa-2"><a:extLst xmlns:a="http://schemas.openxmlformats.org/drawingml/2006/main"><a:ext uri="{FF2B5EF4-FFF2-40B4-BE49-F238E27FC236}"><a16:creationId id="{2E39F356-076D-4B93-9978-EEC7A224120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357563" y="1190625" /><a:ext cx="2633663" cy="1257300" /></a:xfrm><a:prstGeom prst="roundRect" xmlns:a="http://schemas.openxmlformats.org/drawingml/2006/main"><a:avLst><a:gd name="adj" fmla="val 6061" /></a:avLst></a:prstGeom><a:solidFill xmlns:a="http://schemas.openxmlformats.org/drawingml/2006/main"><a:srgbClr val="FFF0E2" /></a:solidFill><a:ln w="12383" xmlns:a="http://schemas.openxmlformats.org/drawingml/2006/main"><a:solidFill><a:srgbClr val="E8872D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C conflict</a:t></a:r></a:p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Business demand is growing rapidly, but delivery capabilities are insufficient</a:t></a:r></a:p></p:txBody></p:sp><p:sp><p:nvSpPr><p:cNvPr id="4" name="scqa-3"><a:extLst xmlns:a="http://schemas.openxmlformats.org/drawingml/2006/main"><a:ext uri="{FF2B5EF4-FFF2-40B4-BE49-F238E27FC236}"><a16:creationId id="{91709CD8-5F60-4B6B-BA04-8BD15B613ED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200775" y="1190625" /><a:ext cx="2633663" cy="1257300" /></a:xfrm><a:prstGeom prst="roundRect" xmlns:a="http://schemas.openxmlformats.org/drawingml/2006/main"><a:avLst><a:gd name="adj" fmla="val 6061" /></a:avLst></a:prstGeom><a:solidFill xmlns:a="http://schemas.openxmlformats.org/drawingml/2006/main"><a:srgbClr val="F4F6F8" /></a:solidFill><a:ln w="12383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Q question</a:t></a:r></a:p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How to transform without disrupting your business</a:t></a:r></a:p></p:txBody></p:sp><p:sp><p:nvSpPr><p:cNvPr id="5" name="scqa-4"><a:extLst xmlns:a="http://schemas.openxmlformats.org/drawingml/2006/main"><a:ext uri="{FF2B5EF4-FFF2-40B4-BE49-F238E27FC236}"><a16:creationId id="{82358893-C0C9-4A16-AE3A-85D0AD052D3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043988" y="1190625" /><a:ext cx="2633663" cy="1257300" /></a:xfrm><a:prstGeom prst="roundRect" xmlns:a="http://schemas.openxmlformats.org/drawingml/2006/main"><a:avLst><a:gd name="adj" fmla="val 6061" /></a:avLst></a:prstGeom><a:solidFill xmlns:a="http://schemas.openxmlformats.org/drawingml/2006/main"><a:srgbClr val="15375F" /></a:solidFill><a:ln w="0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A answer</a:t></a:r></a:p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Adopt a three-stage path of pilot, replication and solidification</a:t></a:r></a:p></p:txBody></p:sp><p:sp><p:nvSpPr><p:cNvPr id="9" name="stage-1-header"><a:extLst xmlns:a="http://schemas.openxmlformats.org/drawingml/2006/main"><a:ext uri="{FF2B5EF4-FFF2-40B4-BE49-F238E27FC236}"><a16:creationId id="{B64162D0-B79C-43E6-A577-9F657AB2A4C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943100" y="2857500" /><a:ext cx="3244850" cy="514350" /></a:xfrm><a:prstGeom prst="rect" xmlns:a="http://schemas.openxmlformats.org/drawingml/2006/main"><a:avLst /></a:prstGeom><a:solidFill xmlns:a="http://schemas.openxmlformats.org/drawingml/2006/main"><a:srgbClr val="E9F1FA" /></a:solidFill><a:ln w="952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0–3 month</a:t></a:r></a:p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◆ Pilot acceptance passed</a:t></a:r></a:p></p:txBody></p:sp><p:sp><p:nvSpPr><p:cNvPr id="10" name="lane-label-1"><a:extLst xmlns:a="http://schemas.openxmlformats.org/drawingml/2006/main"><a:ext uri="{FF2B5EF4-FFF2-40B4-BE49-F238E27FC236}"><a16:creationId id="{6BF66F75-6498-4725-862F-E1AD77CCE42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4350" y="3371850" /><a:ext cx="1428750" cy="1314450" /></a:xfrm><a:prstGeom prst="rect" xmlns:a="http://schemas.openxmlformats.org/drawingml/2006/main"><a:avLst /></a:prstGeom><a:solidFill xmlns:a="http://schemas.openxmlformats.org/drawingml/2006/main"><a:srgbClr val="F4F6F8" /></a:solidFill><a:ln w="952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Organization and Process</a:t></a:r></a:p></p:txBody></p:sp><p:sp><p:nvSpPr><p:cNvPr id="11" name="stage-1-lane-1"><a:extLst xmlns:a="http://schemas.openxmlformats.org/drawingml/2006/main"><a:ext uri="{FF2B5EF4-FFF2-40B4-BE49-F238E27FC236}"><a16:creationId id="{C12C8422-47F5-4E97-A5F5-A0D72E667D6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943100" y="3371850" /><a:ext cx="3244850" cy="1314450" /></a:xfrm><a:prstGeom prst="rect" xmlns:a="http://schemas.openxmlformats.org/drawingml/2006/main"><a:avLst /></a:prstGeom><a:solidFill xmlns:a="http://schemas.openxmlformats.org/drawingml/2006/main"><a:srgbClr val="FFFFFF" /></a:solidFill><a:ln w="952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Complete process sorting</a:t></a:r></a:p></p:txBody></p:sp><p:sp><p:nvSpPr><p:cNvPr id="12" name="lane-label-2"><a:extLst xmlns:a="http://schemas.openxmlformats.org/drawingml/2006/main"><a:ext uri="{FF2B5EF4-FFF2-40B4-BE49-F238E27FC236}"><a16:creationId id="{50FEA97C-74C1-49CB-883E-B8C64F54D4C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4350" y="4686300" /><a:ext cx="1428750" cy="1314450" /></a:xfrm><a:prstGeom prst="rect" xmlns:a="http://schemas.openxmlformats.org/drawingml/2006/main"><a:avLst /></a:prstGeom><a:solidFill xmlns:a="http://schemas.openxmlformats.org/drawingml/2006/main"><a:srgbClr val="F4F6F8" /></a:solidFill><a:ln w="952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Technology & Tools</a:t></a:r></a:p></p:txBody></p:sp><p:sp><p:nvSpPr><p:cNvPr id="13" name="stage-1-lane-2"><a:extLst xmlns:a="http://schemas.openxmlformats.org/drawingml/2006/main"><a:ext uri="{FF2B5EF4-FFF2-40B4-BE49-F238E27FC236}"><a16:creationId id="{63EADA2C-408C-452E-A961-14E099B4B99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943100" y="4686300" /><a:ext cx="3244850" cy="1314450" /></a:xfrm><a:prstGeom prst="rect" xmlns:a="http://schemas.openxmlformats.org/drawingml/2006/main"><a:avLst /></a:prstGeom><a:solidFill xmlns:a="http://schemas.openxmlformats.org/drawingml/2006/main"><a:srgbClr val="FFFFFF" /></a:solidFill><a:ln w="952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Launch the minimum available version</a:t></a:r></a:p></p:txBody></p:sp><p:sp><p:nvSpPr><p:cNvPr id="14" name="stage-2-header"><a:extLst xmlns:a="http://schemas.openxmlformats.org/drawingml/2006/main"><a:ext uri="{FF2B5EF4-FFF2-40B4-BE49-F238E27FC236}"><a16:creationId id="{F1B090B4-24BE-45D6-8738-7AC0F8EF6C0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87950" y="2857500" /><a:ext cx="3244850" cy="514350" /></a:xfrm><a:prstGeom prst="rect" xmlns:a="http://schemas.openxmlformats.org/drawingml/2006/main"><a:avLst /></a:prstGeom><a:solidFill xmlns:a="http://schemas.openxmlformats.org/drawingml/2006/main"><a:srgbClr val="F4F6F8" /></a:solidFill><a:ln w="952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4–8 month</a:t></a:r></a:p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◆ Coverage reaches 60%</a:t></a:r></a:p></p:txBody></p:sp><p:sp><p:nvSpPr><p:cNvPr id="15" name="stage-2-lane-1"><a:extLst xmlns:a="http://schemas.openxmlformats.org/drawingml/2006/main"><a:ext uri="{FF2B5EF4-FFF2-40B4-BE49-F238E27FC236}"><a16:creationId id="{A4875AC3-7BCF-4809-9287-852DC6C4F67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87950" y="3371850" /><a:ext cx="3244850" cy="1314450" /></a:xfrm><a:prstGeom prst="rect" xmlns:a="http://schemas.openxmlformats.org/drawingml/2006/main"><a:avLst /></a:prstGeom><a:solidFill xmlns:a="http://schemas.openxmlformats.org/drawingml/2006/main"><a:srgbClr val="FFFFFF" /></a:solidFill><a:ln w="952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Copy standard process</a:t></a:r></a:p></p:txBody></p:sp><p:sp><p:nvSpPr><p:cNvPr id="16" name="stage-2-lane-2"><a:extLst xmlns:a="http://schemas.openxmlformats.org/drawingml/2006/main"><a:ext uri="{FF2B5EF4-FFF2-40B4-BE49-F238E27FC236}"><a16:creationId id="{EE0BB40D-380D-4B7B-8F33-EBB46AF8F34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87950" y="4686300" /><a:ext cx="3244850" cy="1314450" /></a:xfrm><a:prstGeom prst="rect" xmlns:a="http://schemas.openxmlformats.org/drawingml/2006/main"><a:avLst /></a:prstGeom><a:solidFill xmlns:a="http://schemas.openxmlformats.org/drawingml/2006/main"><a:srgbClr val="FFFFFF" /></a:solidFill><a:ln w="952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Extend core interface</a:t></a:r></a:p></p:txBody></p:sp><p:sp><p:nvSpPr><p:cNvPr id="17" name="stage-3-header"><a:extLst xmlns:a="http://schemas.openxmlformats.org/drawingml/2006/main"><a:ext uri="{FF2B5EF4-FFF2-40B4-BE49-F238E27FC236}"><a16:creationId id="{B666F043-C9D9-4AAE-8460-56A356A6A82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432800" y="2857500" /><a:ext cx="3244850" cy="514350" /></a:xfrm><a:prstGeom prst="rect" xmlns:a="http://schemas.openxmlformats.org/drawingml/2006/main"><a:avLst /></a:prstGeom><a:solidFill xmlns:a="http://schemas.openxmlformats.org/drawingml/2006/main"><a:srgbClr val="E9F1FA" /></a:solidFill><a:ln w="952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9–12 month</a:t></a:r></a:p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◆ Operational indicators meet standards</a:t></a:r></a:p></p:txBody></p:sp><p:sp><p:nvSpPr><p:cNvPr id="18" name="stage-3-lane-1"><a:extLst xmlns:a="http://schemas.openxmlformats.org/drawingml/2006/main"><a:ext uri="{FF2B5EF4-FFF2-40B4-BE49-F238E27FC236}"><a16:creationId id="{0DC3B75C-EC5F-4155-95FD-827C8C665D6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432800" y="3371850" /><a:ext cx="3244850" cy="1314450" /></a:xfrm><a:prstGeom prst="rect" xmlns:a="http://schemas.openxmlformats.org/drawingml/2006/main"><a:avLst /></a:prstGeom><a:solidFill xmlns:a="http://schemas.openxmlformats.org/drawingml/2006/main"><a:srgbClr val="FFFFFF" /></a:solidFill><a:ln w="952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Solid governance mechanism</a:t></a:r></a:p></p:txBody></p:sp><p:sp><p:nvSpPr><p:cNvPr id="19" name="stage-3-lane-2"><a:extLst xmlns:a="http://schemas.openxmlformats.org/drawingml/2006/main"><a:ext uri="{FF2B5EF4-FFF2-40B4-BE49-F238E27FC236}"><a16:creationId id="{90C9E604-E446-48B2-865F-771C70B8DFE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432800" y="4686300" /><a:ext cx="3244850" cy="1314450" /></a:xfrm><a:prstGeom prst="rect" xmlns:a="http://schemas.openxmlformats.org/drawingml/2006/main"><a:avLst /></a:prstGeom><a:solidFill xmlns:a="http://schemas.openxmlformats.org/drawingml/2006/main"><a:srgbClr val="FFFFFF" /></a:solidFill><a:ln w="952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Establish ongoing operations</a:t></a:r></a:p></p:txBody></p:sp></p:spTree><p:extLst><p:ext uri="{BB962C8B-B14F-4D97-AF65-F5344CB8AC3E}"><p14:creationId val="3182791" xmlns:p14="http://schemas.microsoft.com/office/powerpoint/2010/main" /></p:ext></p:extLst></p:cSld>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2026-07-31T20:14:57.4590000Z</dcterms:created>
  <dcterms:modified xsi:type="dcterms:W3CDTF">2026-07-31T20:14:57.4590000Z</dcterms:modified>
</coreProperties>
</file>