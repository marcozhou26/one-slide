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e1f8a82055942a7" /><Relationship Type="http://schemas.openxmlformats.org/officeDocument/2006/relationships/extended-properties" Target="/docProps/app.xml" Id="R5b8993045d864d52" /><Relationship Type="http://schemas.openxmlformats.org/officeDocument/2006/relationships/officeDocument" Target="/ppt/presentation.xml" Id="Rfe2073d9e4764ab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388a23f159c4a6a"/>
  </p:sldMasterIdLst>
  <p:notesMasterIdLst>
    <p:notesMasterId xmlns:r="http://schemas.openxmlformats.org/officeDocument/2006/relationships" r:id="Rb3e1efb056e54290"/>
  </p:notesMasterIdLst>
  <p:sldIdLst>
    <p:sldId xmlns:r="http://schemas.openxmlformats.org/officeDocument/2006/relationships" id="256" r:id="R60f198955bf7426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601b342f5224d76" /><Relationship Type="http://schemas.openxmlformats.org/officeDocument/2006/relationships/slideMaster" Target="/ppt/slideMasters/slideMaster1.xml" Id="Re388a23f159c4a6a" /><Relationship Type="http://schemas.openxmlformats.org/officeDocument/2006/relationships/notesMaster" Target="/ppt/notesMasters/notesMaster1.xml" Id="Rb3e1efb056e54290" /><Relationship Type="http://schemas.openxmlformats.org/officeDocument/2006/relationships/presProps" Target="/ppt/presProps.xml" Id="Rf23efb7b6ea94f73" /><Relationship Type="http://schemas.openxmlformats.org/officeDocument/2006/relationships/tableStyles" Target="/ppt/tableStyles.xml" Id="R6311063be7044972" /><Relationship Type="http://schemas.openxmlformats.org/officeDocument/2006/relationships/slide" Target="/ppt/slides/slide1.xml" Id="R60f198955bf7426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392acb8c68444f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bdad03dd69d4dc1" /><Relationship Type="http://schemas.openxmlformats.org/officeDocument/2006/relationships/notesMaster" Target="/ppt/notesMasters/notesMaster1.xml" Id="R18d03d02e3b3400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8237b600554ca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aa093036c944821" /><Relationship Type="http://schemas.openxmlformats.org/officeDocument/2006/relationships/slideLayout" Target="/ppt/slideLayouts/slideLayout1.xml" Id="Rf2613d5f11de487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2613d5f11de487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e9c0d985824a69" /><Relationship Type="http://schemas.openxmlformats.org/officeDocument/2006/relationships/notesSlide" Target="/ppt/notesSlides/notesSlide1.xml" Id="R4a7815885a8b44f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8" name="page-title">
            <a:extLst xmlns:a="http://schemas.openxmlformats.org/drawingml/2006/main">
              <a:ext uri="{FF2B5EF4-FFF2-40B4-BE49-F238E27FC236}">
                <a16:creationId xmlns:a16="http://schemas.microsoft.com/office/drawing/2014/main" id="{8882A740-1E86-4338-A2CB-4033FA936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1116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375F"/>
                </a:solidFill>
              </a:defRPr>
            </a:pPr>
            <a:r>
              <a:rPr sz="2550" b="1">
                <a:solidFill>
                  <a:srgbClr val="15375F"/>
                </a:solidFill>
              </a:rPr>
              <a:t>36–45 Proportion of age groups 41%, forming waist blockage and bottom fault, in the next three years 68 Positions facing experience shortage</a:t>
            </a:r>
          </a:p>
        </p:txBody>
      </p:sp>
      <p:sp>
        <p:nvSpPr>
          <p:cNvPr id="2" name="age-frame">
            <a:extLst xmlns:a="http://schemas.openxmlformats.org/drawingml/2006/main">
              <a:ext uri="{FF2B5EF4-FFF2-40B4-BE49-F238E27FC236}">
                <a16:creationId xmlns:a16="http://schemas.microsoft.com/office/drawing/2014/main" id="{2836DDC4-5948-4810-8A62-8417B6FB5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00150"/>
            <a:ext cx="8382000" cy="4457700"/>
          </a:xfrm>
          <a:prstGeom xmlns:a="http://schemas.openxmlformats.org/drawingml/2006/main" prst="roundRect">
            <a:avLst>
              <a:gd name="adj" fmla="val 17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  <a:prstDash val="solid"/>
          </a:ln>
        </p:spPr>
      </p:sp>
      <p:sp>
        <p:nvSpPr>
          <p:cNvPr id="3" name="male-head">
            <a:extLst xmlns:a="http://schemas.openxmlformats.org/drawingml/2006/main">
              <a:ext uri="{FF2B5EF4-FFF2-40B4-BE49-F238E27FC236}">
                <a16:creationId xmlns:a16="http://schemas.microsoft.com/office/drawing/2014/main" id="{34E5A070-4281-462C-BF12-47C017C53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2954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male｜398 people</a:t>
            </a:r>
          </a:p>
        </p:txBody>
      </p:sp>
      <p:sp>
        <p:nvSpPr>
          <p:cNvPr id="4" name="age-head">
            <a:extLst xmlns:a="http://schemas.openxmlformats.org/drawingml/2006/main">
              <a:ext uri="{FF2B5EF4-FFF2-40B4-BE49-F238E27FC236}">
                <a16:creationId xmlns:a16="http://schemas.microsoft.com/office/drawing/2014/main" id="{F90F1A8D-B4B7-4A23-AE4A-AF5F1F745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295400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697386"/>
                </a:solidFill>
              </a:defRPr>
            </a:pPr>
            <a:r>
              <a:rPr sz="1600" b="1">
                <a:solidFill>
                  <a:srgbClr val="697386"/>
                </a:solidFill>
              </a:rPr>
              <a:t>age group</a:t>
            </a:r>
          </a:p>
        </p:txBody>
      </p:sp>
      <p:sp>
        <p:nvSpPr>
          <p:cNvPr id="5" name="female-head">
            <a:extLst xmlns:a="http://schemas.openxmlformats.org/drawingml/2006/main">
              <a:ext uri="{FF2B5EF4-FFF2-40B4-BE49-F238E27FC236}">
                <a16:creationId xmlns:a16="http://schemas.microsoft.com/office/drawing/2014/main" id="{B2EEBD6C-41D6-4E72-BE38-D3DA8339F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2954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E8872D"/>
                </a:solidFill>
              </a:defRPr>
            </a:pPr>
            <a:r>
              <a:rPr sz="1600" b="1">
                <a:solidFill>
                  <a:srgbClr val="E8872D"/>
                </a:solidFill>
              </a:rPr>
              <a:t>women｜402 people</a:t>
            </a:r>
          </a:p>
        </p:txBody>
      </p:sp>
      <p:sp>
        <p:nvSpPr>
          <p:cNvPr id="6" name="age-metric-head-1">
            <a:extLst xmlns:a="http://schemas.openxmlformats.org/drawingml/2006/main">
              <a:ext uri="{FF2B5EF4-FFF2-40B4-BE49-F238E27FC236}">
                <a16:creationId xmlns:a16="http://schemas.microsoft.com/office/drawing/2014/main" id="{F01E71B4-3302-48D7-9A51-E57E6BDF6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295400"/>
            <a:ext cx="633413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697386"/>
                </a:solidFill>
              </a:defRPr>
            </a:pPr>
            <a:r>
              <a:rPr sz="1600" b="1">
                <a:solidFill>
                  <a:srgbClr val="697386"/>
                </a:solidFill>
              </a:rPr>
              <a:t>Si Ling</a:t>
            </a:r>
          </a:p>
        </p:txBody>
      </p:sp>
      <p:sp>
        <p:nvSpPr>
          <p:cNvPr id="7" name="age-metric-head-2">
            <a:extLst xmlns:a="http://schemas.openxmlformats.org/drawingml/2006/main">
              <a:ext uri="{FF2B5EF4-FFF2-40B4-BE49-F238E27FC236}">
                <a16:creationId xmlns:a16="http://schemas.microsoft.com/office/drawing/2014/main" id="{570D3386-0746-4E34-B025-5F4616D25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6563" y="1295400"/>
            <a:ext cx="633413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697386"/>
                </a:solidFill>
              </a:defRPr>
            </a:pPr>
            <a:r>
              <a:rPr sz="1600" b="1">
                <a:solidFill>
                  <a:srgbClr val="697386"/>
                </a:solidFill>
              </a:rPr>
              <a:t>Salary</a:t>
            </a:r>
          </a:p>
        </p:txBody>
      </p:sp>
      <p:sp>
        <p:nvSpPr>
          <p:cNvPr id="8" name="age-metric-head-3">
            <a:extLst xmlns:a="http://schemas.openxmlformats.org/drawingml/2006/main">
              <a:ext uri="{FF2B5EF4-FFF2-40B4-BE49-F238E27FC236}">
                <a16:creationId xmlns:a16="http://schemas.microsoft.com/office/drawing/2014/main" id="{79BDA97D-D2EC-4327-9705-505F6A1D5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1295400"/>
            <a:ext cx="633413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697386"/>
                </a:solidFill>
              </a:defRPr>
            </a:pPr>
            <a:r>
              <a:rPr sz="1600" b="1">
                <a:solidFill>
                  <a:srgbClr val="697386"/>
                </a:solidFill>
              </a:rPr>
              <a:t>Resign</a:t>
            </a:r>
          </a:p>
        </p:txBody>
      </p:sp>
      <p:sp>
        <p:nvSpPr>
          <p:cNvPr id="9" name="age-metric-head-4">
            <a:extLst xmlns:a="http://schemas.openxmlformats.org/drawingml/2006/main">
              <a:ext uri="{FF2B5EF4-FFF2-40B4-BE49-F238E27FC236}">
                <a16:creationId xmlns:a16="http://schemas.microsoft.com/office/drawing/2014/main" id="{4C1845A7-027B-4A4F-B316-A95727A6C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1488" y="1295400"/>
            <a:ext cx="633413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697386"/>
                </a:solidFill>
              </a:defRPr>
            </a:pPr>
            <a:r>
              <a:rPr sz="1600" b="1">
                <a:solidFill>
                  <a:srgbClr val="697386"/>
                </a:solidFill>
              </a:rPr>
              <a:t>management</a:t>
            </a:r>
          </a:p>
        </p:txBody>
      </p:sp>
      <p:sp>
        <p:nvSpPr>
          <p:cNvPr id="10" name="age-band-bg-1">
            <a:extLst xmlns:a="http://schemas.openxmlformats.org/drawingml/2006/main">
              <a:ext uri="{FF2B5EF4-FFF2-40B4-BE49-F238E27FC236}">
                <a16:creationId xmlns:a16="http://schemas.microsoft.com/office/drawing/2014/main" id="{01B74AB1-1D85-4BEF-8CAC-FBD99F297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8191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" name="male-benchmark-1">
            <a:extLst xmlns:a="http://schemas.openxmlformats.org/drawingml/2006/main">
              <a:ext uri="{FF2B5EF4-FFF2-40B4-BE49-F238E27FC236}">
                <a16:creationId xmlns:a16="http://schemas.microsoft.com/office/drawing/2014/main" id="{DB125FF6-EC7A-4C0B-B01F-ABFA4E68B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4475" y="1714500"/>
            <a:ext cx="396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97386"/>
            </a:solidFill>
            <a:prstDash val="dash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" name="female-benchmark-1">
            <a:extLst xmlns:a="http://schemas.openxmlformats.org/drawingml/2006/main">
              <a:ext uri="{FF2B5EF4-FFF2-40B4-BE49-F238E27FC236}">
                <a16:creationId xmlns:a16="http://schemas.microsoft.com/office/drawing/2014/main" id="{F5C7F9CA-0B6D-4A5A-862E-49CECC9C3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1714500"/>
            <a:ext cx="357188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97386"/>
            </a:solidFill>
            <a:prstDash val="dash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male-1">
            <a:extLst xmlns:a="http://schemas.openxmlformats.org/drawingml/2006/main">
              <a:ext uri="{FF2B5EF4-FFF2-40B4-BE49-F238E27FC236}">
                <a16:creationId xmlns:a16="http://schemas.microsoft.com/office/drawing/2014/main" id="{64BB20A3-1956-4528-9559-ADD20B3D5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8225" y="1733550"/>
            <a:ext cx="8731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75F"/>
          </a:solidFill>
          <a:ln xmlns:a="http://schemas.openxmlformats.org/drawingml/2006/main" w="9525">
            <a:solidFill>
              <a:srgbClr val="15375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FFFFFF"/>
                </a:solidFill>
              </a:defRPr>
            </a:pPr>
            <a:r>
              <a:rPr sz="1600" b="1">
                <a:solidFill>
                  <a:srgbClr val="FFFFFF"/>
                </a:solidFill>
              </a:rPr>
              <a:t>44</a:t>
            </a:r>
          </a:p>
        </p:txBody>
      </p:sp>
      <p:sp>
        <p:nvSpPr>
          <p:cNvPr id="14" name="female-1">
            <a:extLst xmlns:a="http://schemas.openxmlformats.org/drawingml/2006/main">
              <a:ext uri="{FF2B5EF4-FFF2-40B4-BE49-F238E27FC236}">
                <a16:creationId xmlns:a16="http://schemas.microsoft.com/office/drawing/2014/main" id="{5DA56267-D301-49E0-8F5C-A68834668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1733550"/>
            <a:ext cx="515938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872D"/>
          </a:solidFill>
          <a:ln xmlns:a="http://schemas.openxmlformats.org/drawingml/2006/main" w="9525">
            <a:solidFill>
              <a:srgbClr val="E8872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FFFFFF"/>
                </a:solidFill>
              </a:defRPr>
            </a:pPr>
            <a:r>
              <a:rPr sz="1600" b="1">
                <a:solidFill>
                  <a:srgbClr val="FFFFFF"/>
                </a:solidFill>
              </a:rPr>
              <a:t>26</a:t>
            </a:r>
          </a:p>
        </p:txBody>
      </p:sp>
      <p:sp>
        <p:nvSpPr>
          <p:cNvPr id="15" name="age-label-1">
            <a:extLst xmlns:a="http://schemas.openxmlformats.org/drawingml/2006/main">
              <a:ext uri="{FF2B5EF4-FFF2-40B4-BE49-F238E27FC236}">
                <a16:creationId xmlns:a16="http://schemas.microsoft.com/office/drawing/2014/main" id="{8837FC25-4C7A-4FBF-980D-757D4F3B5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1714500"/>
            <a:ext cx="85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51 years and above</a:t>
            </a:r>
          </a:p>
        </p:txBody>
      </p:sp>
      <p:sp>
        <p:nvSpPr>
          <p:cNvPr id="16" name="age-metric-1-1">
            <a:extLst xmlns:a="http://schemas.openxmlformats.org/drawingml/2006/main">
              <a:ext uri="{FF2B5EF4-FFF2-40B4-BE49-F238E27FC236}">
                <a16:creationId xmlns:a16="http://schemas.microsoft.com/office/drawing/2014/main" id="{8315C9B6-0A7B-408F-B131-BD766A249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714500"/>
            <a:ext cx="633413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12.8year</a:t>
            </a:r>
          </a:p>
        </p:txBody>
      </p:sp>
      <p:sp>
        <p:nvSpPr>
          <p:cNvPr id="17" name="age-metric-1-2">
            <a:extLst xmlns:a="http://schemas.openxmlformats.org/drawingml/2006/main">
              <a:ext uri="{FF2B5EF4-FFF2-40B4-BE49-F238E27FC236}">
                <a16:creationId xmlns:a16="http://schemas.microsoft.com/office/drawing/2014/main" id="{91754B70-6AC0-46C3-9064-F43318143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6563" y="1714500"/>
            <a:ext cx="633413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29.4million</a:t>
            </a:r>
          </a:p>
        </p:txBody>
      </p:sp>
      <p:sp>
        <p:nvSpPr>
          <p:cNvPr id="18" name="age-metric-1-3">
            <a:extLst xmlns:a="http://schemas.openxmlformats.org/drawingml/2006/main">
              <a:ext uri="{FF2B5EF4-FFF2-40B4-BE49-F238E27FC236}">
                <a16:creationId xmlns:a16="http://schemas.microsoft.com/office/drawing/2014/main" id="{9400C4DC-5A99-4D9A-9CCC-5D8DEC5C5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1714500"/>
            <a:ext cx="633413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6.0%</a:t>
            </a:r>
          </a:p>
        </p:txBody>
      </p:sp>
      <p:sp>
        <p:nvSpPr>
          <p:cNvPr id="19" name="age-metric-1-4">
            <a:extLst xmlns:a="http://schemas.openxmlformats.org/drawingml/2006/main">
              <a:ext uri="{FF2B5EF4-FFF2-40B4-BE49-F238E27FC236}">
                <a16:creationId xmlns:a16="http://schemas.microsoft.com/office/drawing/2014/main" id="{351121E9-D27E-4213-8E71-82731E682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1488" y="1714500"/>
            <a:ext cx="633413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38%</a:t>
            </a:r>
          </a:p>
        </p:txBody>
      </p:sp>
      <p:sp>
        <p:nvSpPr>
          <p:cNvPr id="20" name="age-band-bg-2">
            <a:extLst xmlns:a="http://schemas.openxmlformats.org/drawingml/2006/main">
              <a:ext uri="{FF2B5EF4-FFF2-40B4-BE49-F238E27FC236}">
                <a16:creationId xmlns:a16="http://schemas.microsoft.com/office/drawing/2014/main" id="{96CCD260-E74D-4BBF-BE9F-99863E939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8191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1" name="male-benchmark-2">
            <a:extLst xmlns:a="http://schemas.openxmlformats.org/drawingml/2006/main">
              <a:ext uri="{FF2B5EF4-FFF2-40B4-BE49-F238E27FC236}">
                <a16:creationId xmlns:a16="http://schemas.microsoft.com/office/drawing/2014/main" id="{84B53418-E1E3-4E4A-B095-C0192D944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6662" y="2228850"/>
            <a:ext cx="674688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97386"/>
            </a:solidFill>
            <a:prstDash val="dash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2" name="female-benchmark-2">
            <a:extLst xmlns:a="http://schemas.openxmlformats.org/drawingml/2006/main">
              <a:ext uri="{FF2B5EF4-FFF2-40B4-BE49-F238E27FC236}">
                <a16:creationId xmlns:a16="http://schemas.microsoft.com/office/drawing/2014/main" id="{7FB51D89-4637-4C1C-8F0A-9A47FACA8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228850"/>
            <a:ext cx="63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97386"/>
            </a:solidFill>
            <a:prstDash val="dash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3" name="male-2">
            <a:extLst xmlns:a="http://schemas.openxmlformats.org/drawingml/2006/main">
              <a:ext uri="{FF2B5EF4-FFF2-40B4-BE49-F238E27FC236}">
                <a16:creationId xmlns:a16="http://schemas.microsoft.com/office/drawing/2014/main" id="{96040694-F205-427B-A834-2CDDC8C4A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2247900"/>
            <a:ext cx="11906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75F"/>
          </a:solidFill>
          <a:ln xmlns:a="http://schemas.openxmlformats.org/drawingml/2006/main" w="9525">
            <a:solidFill>
              <a:srgbClr val="15375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FFFFFF"/>
                </a:solidFill>
              </a:defRPr>
            </a:pPr>
            <a:r>
              <a:rPr sz="1600" b="1">
                <a:solidFill>
                  <a:srgbClr val="FFFFFF"/>
                </a:solidFill>
              </a:rPr>
              <a:t>60</a:t>
            </a:r>
          </a:p>
        </p:txBody>
      </p:sp>
      <p:sp>
        <p:nvSpPr>
          <p:cNvPr id="24" name="female-2">
            <a:extLst xmlns:a="http://schemas.openxmlformats.org/drawingml/2006/main">
              <a:ext uri="{FF2B5EF4-FFF2-40B4-BE49-F238E27FC236}">
                <a16:creationId xmlns:a16="http://schemas.microsoft.com/office/drawing/2014/main" id="{19A13956-EF06-4F9A-A5B5-E5FDF1F7E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247900"/>
            <a:ext cx="1111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872D"/>
          </a:solidFill>
          <a:ln xmlns:a="http://schemas.openxmlformats.org/drawingml/2006/main" w="9525">
            <a:solidFill>
              <a:srgbClr val="E8872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FFFFFF"/>
                </a:solidFill>
              </a:defRPr>
            </a:pPr>
            <a:r>
              <a:rPr sz="1600" b="1">
                <a:solidFill>
                  <a:srgbClr val="FFFFFF"/>
                </a:solidFill>
              </a:rPr>
              <a:t>56</a:t>
            </a:r>
          </a:p>
        </p:txBody>
      </p:sp>
      <p:sp>
        <p:nvSpPr>
          <p:cNvPr id="25" name="age-label-2">
            <a:extLst xmlns:a="http://schemas.openxmlformats.org/drawingml/2006/main">
              <a:ext uri="{FF2B5EF4-FFF2-40B4-BE49-F238E27FC236}">
                <a16:creationId xmlns:a16="http://schemas.microsoft.com/office/drawing/2014/main" id="{71096C7D-2A82-41EB-9370-A48855CAD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2228850"/>
            <a:ext cx="85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46–50</a:t>
            </a:r>
          </a:p>
        </p:txBody>
      </p:sp>
      <p:sp>
        <p:nvSpPr>
          <p:cNvPr id="26" name="age-metric-2-1">
            <a:extLst xmlns:a="http://schemas.openxmlformats.org/drawingml/2006/main">
              <a:ext uri="{FF2B5EF4-FFF2-40B4-BE49-F238E27FC236}">
                <a16:creationId xmlns:a16="http://schemas.microsoft.com/office/drawing/2014/main" id="{2AC4A060-2A12-4F8A-A113-3E355A24A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228850"/>
            <a:ext cx="633413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11.2year</a:t>
            </a:r>
          </a:p>
        </p:txBody>
      </p:sp>
      <p:sp>
        <p:nvSpPr>
          <p:cNvPr id="27" name="age-metric-2-2">
            <a:extLst xmlns:a="http://schemas.openxmlformats.org/drawingml/2006/main">
              <a:ext uri="{FF2B5EF4-FFF2-40B4-BE49-F238E27FC236}">
                <a16:creationId xmlns:a16="http://schemas.microsoft.com/office/drawing/2014/main" id="{F5911EBC-C2CD-425A-BD82-AD7A1387F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6563" y="2228850"/>
            <a:ext cx="633413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27.8million</a:t>
            </a:r>
          </a:p>
        </p:txBody>
      </p:sp>
      <p:sp>
        <p:nvSpPr>
          <p:cNvPr id="28" name="age-metric-2-3">
            <a:extLst xmlns:a="http://schemas.openxmlformats.org/drawingml/2006/main">
              <a:ext uri="{FF2B5EF4-FFF2-40B4-BE49-F238E27FC236}">
                <a16:creationId xmlns:a16="http://schemas.microsoft.com/office/drawing/2014/main" id="{4EF8C425-AAA9-4CB4-A892-BBC536A97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2228850"/>
            <a:ext cx="633413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7.8%</a:t>
            </a:r>
          </a:p>
        </p:txBody>
      </p:sp>
      <p:sp>
        <p:nvSpPr>
          <p:cNvPr id="29" name="age-metric-2-4">
            <a:extLst xmlns:a="http://schemas.openxmlformats.org/drawingml/2006/main">
              <a:ext uri="{FF2B5EF4-FFF2-40B4-BE49-F238E27FC236}">
                <a16:creationId xmlns:a16="http://schemas.microsoft.com/office/drawing/2014/main" id="{F42829C5-8300-4224-96C5-3CC6D6710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1488" y="2228850"/>
            <a:ext cx="633413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32%</a:t>
            </a:r>
          </a:p>
        </p:txBody>
      </p:sp>
      <p:sp>
        <p:nvSpPr>
          <p:cNvPr id="30" name="age-band-bg-3">
            <a:extLst xmlns:a="http://schemas.openxmlformats.org/drawingml/2006/main">
              <a:ext uri="{FF2B5EF4-FFF2-40B4-BE49-F238E27FC236}">
                <a16:creationId xmlns:a16="http://schemas.microsoft.com/office/drawing/2014/main" id="{62614ADB-1A7F-4C9D-8A6B-CFDB3DDF5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8191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1FA"/>
          </a:solidFill>
          <a:ln xmlns:a="http://schemas.openxmlformats.org/drawingml/2006/main" w="0">
            <a:solidFill>
              <a:srgbClr val="E9F1F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1" name="male-benchmark-3">
            <a:extLst xmlns:a="http://schemas.openxmlformats.org/drawingml/2006/main">
              <a:ext uri="{FF2B5EF4-FFF2-40B4-BE49-F238E27FC236}">
                <a16:creationId xmlns:a16="http://schemas.microsoft.com/office/drawing/2014/main" id="{426FB93C-ADBB-4CD1-845B-6A13FAD13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9475" y="2743200"/>
            <a:ext cx="1031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97386"/>
            </a:solidFill>
            <a:prstDash val="dash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2" name="female-benchmark-3">
            <a:extLst xmlns:a="http://schemas.openxmlformats.org/drawingml/2006/main">
              <a:ext uri="{FF2B5EF4-FFF2-40B4-BE49-F238E27FC236}">
                <a16:creationId xmlns:a16="http://schemas.microsoft.com/office/drawing/2014/main" id="{AF5BBDB4-83CD-44E8-A7CF-77BC798FF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743200"/>
            <a:ext cx="992188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97386"/>
            </a:solidFill>
            <a:prstDash val="dash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3" name="male-3">
            <a:extLst xmlns:a="http://schemas.openxmlformats.org/drawingml/2006/main">
              <a:ext uri="{FF2B5EF4-FFF2-40B4-BE49-F238E27FC236}">
                <a16:creationId xmlns:a16="http://schemas.microsoft.com/office/drawing/2014/main" id="{F00A322A-E675-434D-BB1A-131D4CC4B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2912" y="2762250"/>
            <a:ext cx="1468438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75F"/>
          </a:solidFill>
          <a:ln xmlns:a="http://schemas.openxmlformats.org/drawingml/2006/main" w="9525">
            <a:solidFill>
              <a:srgbClr val="15375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FFFFFF"/>
                </a:solidFill>
              </a:defRPr>
            </a:pPr>
            <a:r>
              <a:rPr sz="1600" b="1">
                <a:solidFill>
                  <a:srgbClr val="FFFFFF"/>
                </a:solidFill>
              </a:rPr>
              <a:t>74</a:t>
            </a:r>
          </a:p>
        </p:txBody>
      </p:sp>
      <p:sp>
        <p:nvSpPr>
          <p:cNvPr id="34" name="female-3">
            <a:extLst xmlns:a="http://schemas.openxmlformats.org/drawingml/2006/main">
              <a:ext uri="{FF2B5EF4-FFF2-40B4-BE49-F238E27FC236}">
                <a16:creationId xmlns:a16="http://schemas.microsoft.com/office/drawing/2014/main" id="{CEADA03D-CA05-4B69-937C-F908646F0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762250"/>
            <a:ext cx="158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872D"/>
          </a:solidFill>
          <a:ln xmlns:a="http://schemas.openxmlformats.org/drawingml/2006/main" w="9525">
            <a:solidFill>
              <a:srgbClr val="E8872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FFFFFF"/>
                </a:solidFill>
              </a:defRPr>
            </a:pPr>
            <a:r>
              <a:rPr sz="1600" b="1">
                <a:solidFill>
                  <a:srgbClr val="FFFFFF"/>
                </a:solidFill>
              </a:rPr>
              <a:t>80</a:t>
            </a:r>
          </a:p>
        </p:txBody>
      </p:sp>
      <p:sp>
        <p:nvSpPr>
          <p:cNvPr id="35" name="age-label-3">
            <a:extLst xmlns:a="http://schemas.openxmlformats.org/drawingml/2006/main">
              <a:ext uri="{FF2B5EF4-FFF2-40B4-BE49-F238E27FC236}">
                <a16:creationId xmlns:a16="http://schemas.microsoft.com/office/drawing/2014/main" id="{FB50C269-7503-46E0-8514-450ED6E7A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2743200"/>
            <a:ext cx="85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41–45</a:t>
            </a:r>
          </a:p>
        </p:txBody>
      </p:sp>
      <p:sp>
        <p:nvSpPr>
          <p:cNvPr id="36" name="age-metric-3-1">
            <a:extLst xmlns:a="http://schemas.openxmlformats.org/drawingml/2006/main">
              <a:ext uri="{FF2B5EF4-FFF2-40B4-BE49-F238E27FC236}">
                <a16:creationId xmlns:a16="http://schemas.microsoft.com/office/drawing/2014/main" id="{6A622264-D9C1-4C0C-BA2D-9AC94DD28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743200"/>
            <a:ext cx="633413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9.4year</a:t>
            </a:r>
          </a:p>
        </p:txBody>
      </p:sp>
      <p:sp>
        <p:nvSpPr>
          <p:cNvPr id="37" name="age-metric-3-2">
            <a:extLst xmlns:a="http://schemas.openxmlformats.org/drawingml/2006/main">
              <a:ext uri="{FF2B5EF4-FFF2-40B4-BE49-F238E27FC236}">
                <a16:creationId xmlns:a16="http://schemas.microsoft.com/office/drawing/2014/main" id="{B3A90EEE-1DAF-4551-8CC8-B036D048F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6563" y="2743200"/>
            <a:ext cx="633413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25.6million</a:t>
            </a:r>
          </a:p>
        </p:txBody>
      </p:sp>
      <p:sp>
        <p:nvSpPr>
          <p:cNvPr id="38" name="age-metric-3-3">
            <a:extLst xmlns:a="http://schemas.openxmlformats.org/drawingml/2006/main">
              <a:ext uri="{FF2B5EF4-FFF2-40B4-BE49-F238E27FC236}">
                <a16:creationId xmlns:a16="http://schemas.microsoft.com/office/drawing/2014/main" id="{B20932B8-117F-420A-97D1-8A4CA66C2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2743200"/>
            <a:ext cx="633413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6.5%</a:t>
            </a:r>
          </a:p>
        </p:txBody>
      </p:sp>
      <p:sp>
        <p:nvSpPr>
          <p:cNvPr id="39" name="age-metric-3-4">
            <a:extLst xmlns:a="http://schemas.openxmlformats.org/drawingml/2006/main">
              <a:ext uri="{FF2B5EF4-FFF2-40B4-BE49-F238E27FC236}">
                <a16:creationId xmlns:a16="http://schemas.microsoft.com/office/drawing/2014/main" id="{3362945D-4077-40E6-999E-BC2D05193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1488" y="2743200"/>
            <a:ext cx="633413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29%</a:t>
            </a:r>
          </a:p>
        </p:txBody>
      </p:sp>
      <p:sp>
        <p:nvSpPr>
          <p:cNvPr id="40" name="age-band-bg-4">
            <a:extLst xmlns:a="http://schemas.openxmlformats.org/drawingml/2006/main">
              <a:ext uri="{FF2B5EF4-FFF2-40B4-BE49-F238E27FC236}">
                <a16:creationId xmlns:a16="http://schemas.microsoft.com/office/drawing/2014/main" id="{C0F1C78B-FDC6-461A-855E-1A0741669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81350"/>
            <a:ext cx="8191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1FA"/>
          </a:solidFill>
          <a:ln xmlns:a="http://schemas.openxmlformats.org/drawingml/2006/main" w="0">
            <a:solidFill>
              <a:srgbClr val="E9F1F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1" name="male-benchmark-4">
            <a:extLst xmlns:a="http://schemas.openxmlformats.org/drawingml/2006/main">
              <a:ext uri="{FF2B5EF4-FFF2-40B4-BE49-F238E27FC236}">
                <a16:creationId xmlns:a16="http://schemas.microsoft.com/office/drawing/2014/main" id="{806B9D72-B911-49B6-ABF6-81CB2C30E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1350" y="3257550"/>
            <a:ext cx="127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97386"/>
            </a:solidFill>
            <a:prstDash val="dash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2" name="female-benchmark-4">
            <a:extLst xmlns:a="http://schemas.openxmlformats.org/drawingml/2006/main">
              <a:ext uri="{FF2B5EF4-FFF2-40B4-BE49-F238E27FC236}">
                <a16:creationId xmlns:a16="http://schemas.microsoft.com/office/drawing/2014/main" id="{ACA39A6F-DECB-414C-A97B-6EEC3D343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257550"/>
            <a:ext cx="1230313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97386"/>
            </a:solidFill>
            <a:prstDash val="dash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3" name="male-4">
            <a:extLst xmlns:a="http://schemas.openxmlformats.org/drawingml/2006/main">
              <a:ext uri="{FF2B5EF4-FFF2-40B4-BE49-F238E27FC236}">
                <a16:creationId xmlns:a16="http://schemas.microsoft.com/office/drawing/2014/main" id="{C6E7B01A-BFA0-4B31-81DF-92F69355B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3276600"/>
            <a:ext cx="16668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75F"/>
          </a:solidFill>
          <a:ln xmlns:a="http://schemas.openxmlformats.org/drawingml/2006/main" w="9525">
            <a:solidFill>
              <a:srgbClr val="15375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FFFFFF"/>
                </a:solidFill>
              </a:defRPr>
            </a:pPr>
            <a:r>
              <a:rPr sz="1600" b="1">
                <a:solidFill>
                  <a:srgbClr val="FFFFFF"/>
                </a:solidFill>
              </a:rPr>
              <a:t>84</a:t>
            </a:r>
          </a:p>
        </p:txBody>
      </p:sp>
      <p:sp>
        <p:nvSpPr>
          <p:cNvPr id="44" name="female-4">
            <a:extLst xmlns:a="http://schemas.openxmlformats.org/drawingml/2006/main">
              <a:ext uri="{FF2B5EF4-FFF2-40B4-BE49-F238E27FC236}">
                <a16:creationId xmlns:a16="http://schemas.microsoft.com/office/drawing/2014/main" id="{C9833B9A-7A0D-4A4B-83B2-7ABBD9AC4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276600"/>
            <a:ext cx="1785938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872D"/>
          </a:solidFill>
          <a:ln xmlns:a="http://schemas.openxmlformats.org/drawingml/2006/main" w="9525">
            <a:solidFill>
              <a:srgbClr val="E8872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FFFFFF"/>
                </a:solidFill>
              </a:defRPr>
            </a:pPr>
            <a:r>
              <a:rPr sz="1600" b="1">
                <a:solidFill>
                  <a:srgbClr val="FFFFFF"/>
                </a:solidFill>
              </a:rPr>
              <a:t>90</a:t>
            </a:r>
          </a:p>
        </p:txBody>
      </p:sp>
      <p:sp>
        <p:nvSpPr>
          <p:cNvPr id="45" name="age-label-4">
            <a:extLst xmlns:a="http://schemas.openxmlformats.org/drawingml/2006/main">
              <a:ext uri="{FF2B5EF4-FFF2-40B4-BE49-F238E27FC236}">
                <a16:creationId xmlns:a16="http://schemas.microsoft.com/office/drawing/2014/main" id="{F8DEF681-DB2F-4C90-91BE-CEA3E4987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3257550"/>
            <a:ext cx="85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36–40</a:t>
            </a:r>
          </a:p>
        </p:txBody>
      </p:sp>
      <p:sp>
        <p:nvSpPr>
          <p:cNvPr id="46" name="age-metric-4-1">
            <a:extLst xmlns:a="http://schemas.openxmlformats.org/drawingml/2006/main">
              <a:ext uri="{FF2B5EF4-FFF2-40B4-BE49-F238E27FC236}">
                <a16:creationId xmlns:a16="http://schemas.microsoft.com/office/drawing/2014/main" id="{2CF20C7E-32E1-4F3C-AF66-B5C09B6D1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257550"/>
            <a:ext cx="633413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7.1year</a:t>
            </a:r>
          </a:p>
        </p:txBody>
      </p:sp>
      <p:sp>
        <p:nvSpPr>
          <p:cNvPr id="47" name="age-metric-4-2">
            <a:extLst xmlns:a="http://schemas.openxmlformats.org/drawingml/2006/main">
              <a:ext uri="{FF2B5EF4-FFF2-40B4-BE49-F238E27FC236}">
                <a16:creationId xmlns:a16="http://schemas.microsoft.com/office/drawing/2014/main" id="{4A29A17C-4052-4D4B-893D-AA1556D7A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6563" y="3257550"/>
            <a:ext cx="633413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22.8million</a:t>
            </a:r>
          </a:p>
        </p:txBody>
      </p:sp>
      <p:sp>
        <p:nvSpPr>
          <p:cNvPr id="48" name="age-metric-4-3">
            <a:extLst xmlns:a="http://schemas.openxmlformats.org/drawingml/2006/main">
              <a:ext uri="{FF2B5EF4-FFF2-40B4-BE49-F238E27FC236}">
                <a16:creationId xmlns:a16="http://schemas.microsoft.com/office/drawing/2014/main" id="{9AAE6F5D-04B4-403C-A256-6D28969C1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3257550"/>
            <a:ext cx="633413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8.2%</a:t>
            </a:r>
          </a:p>
        </p:txBody>
      </p:sp>
      <p:sp>
        <p:nvSpPr>
          <p:cNvPr id="49" name="age-metric-4-4">
            <a:extLst xmlns:a="http://schemas.openxmlformats.org/drawingml/2006/main">
              <a:ext uri="{FF2B5EF4-FFF2-40B4-BE49-F238E27FC236}">
                <a16:creationId xmlns:a16="http://schemas.microsoft.com/office/drawing/2014/main" id="{1375091B-EDC4-460C-8E82-FFA76CFD2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1488" y="3257550"/>
            <a:ext cx="633413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24%</a:t>
            </a:r>
          </a:p>
        </p:txBody>
      </p:sp>
      <p:sp>
        <p:nvSpPr>
          <p:cNvPr id="50" name="age-band-bg-5">
            <a:extLst xmlns:a="http://schemas.openxmlformats.org/drawingml/2006/main">
              <a:ext uri="{FF2B5EF4-FFF2-40B4-BE49-F238E27FC236}">
                <a16:creationId xmlns:a16="http://schemas.microsoft.com/office/drawing/2014/main" id="{8AE37BF0-1C2E-4030-9D5C-EDE2371BE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95700"/>
            <a:ext cx="8191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1" name="male-benchmark-5">
            <a:extLst xmlns:a="http://schemas.openxmlformats.org/drawingml/2006/main">
              <a:ext uri="{FF2B5EF4-FFF2-40B4-BE49-F238E27FC236}">
                <a16:creationId xmlns:a16="http://schemas.microsoft.com/office/drawing/2014/main" id="{7B092811-C3E2-4065-8385-CAA9493CA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3225" y="3771900"/>
            <a:ext cx="1508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97386"/>
            </a:solidFill>
            <a:prstDash val="dash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2" name="female-benchmark-5">
            <a:extLst xmlns:a="http://schemas.openxmlformats.org/drawingml/2006/main">
              <a:ext uri="{FF2B5EF4-FFF2-40B4-BE49-F238E27FC236}">
                <a16:creationId xmlns:a16="http://schemas.microsoft.com/office/drawing/2014/main" id="{AE2502C8-2900-4B8E-B920-963B48F5F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771900"/>
            <a:ext cx="1468438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97386"/>
            </a:solidFill>
            <a:prstDash val="dash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3" name="male-5">
            <a:extLst xmlns:a="http://schemas.openxmlformats.org/drawingml/2006/main">
              <a:ext uri="{FF2B5EF4-FFF2-40B4-BE49-F238E27FC236}">
                <a16:creationId xmlns:a16="http://schemas.microsoft.com/office/drawing/2014/main" id="{7BF2226F-50D6-4CAD-9894-055AA3458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3225" y="3790950"/>
            <a:ext cx="15081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75F"/>
          </a:solidFill>
          <a:ln xmlns:a="http://schemas.openxmlformats.org/drawingml/2006/main" w="9525">
            <a:solidFill>
              <a:srgbClr val="15375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FFFFFF"/>
                </a:solidFill>
              </a:defRPr>
            </a:pPr>
            <a:r>
              <a:rPr sz="1600" b="1">
                <a:solidFill>
                  <a:srgbClr val="FFFFFF"/>
                </a:solidFill>
              </a:rPr>
              <a:t>76</a:t>
            </a:r>
          </a:p>
        </p:txBody>
      </p:sp>
      <p:sp>
        <p:nvSpPr>
          <p:cNvPr id="54" name="female-5">
            <a:extLst xmlns:a="http://schemas.openxmlformats.org/drawingml/2006/main">
              <a:ext uri="{FF2B5EF4-FFF2-40B4-BE49-F238E27FC236}">
                <a16:creationId xmlns:a16="http://schemas.microsoft.com/office/drawing/2014/main" id="{06C08F18-521E-419B-9945-91B7C7E64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790950"/>
            <a:ext cx="1627188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872D"/>
          </a:solidFill>
          <a:ln xmlns:a="http://schemas.openxmlformats.org/drawingml/2006/main" w="9525">
            <a:solidFill>
              <a:srgbClr val="E8872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FFFFFF"/>
                </a:solidFill>
              </a:defRPr>
            </a:pPr>
            <a:r>
              <a:rPr sz="1600" b="1">
                <a:solidFill>
                  <a:srgbClr val="FFFFFF"/>
                </a:solidFill>
              </a:rPr>
              <a:t>82</a:t>
            </a:r>
          </a:p>
        </p:txBody>
      </p:sp>
      <p:sp>
        <p:nvSpPr>
          <p:cNvPr id="55" name="age-label-5">
            <a:extLst xmlns:a="http://schemas.openxmlformats.org/drawingml/2006/main">
              <a:ext uri="{FF2B5EF4-FFF2-40B4-BE49-F238E27FC236}">
                <a16:creationId xmlns:a16="http://schemas.microsoft.com/office/drawing/2014/main" id="{FB4F4368-C3CC-4C27-8425-3313C596B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3771900"/>
            <a:ext cx="85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31–35</a:t>
            </a:r>
          </a:p>
        </p:txBody>
      </p:sp>
      <p:sp>
        <p:nvSpPr>
          <p:cNvPr id="56" name="age-metric-5-1">
            <a:extLst xmlns:a="http://schemas.openxmlformats.org/drawingml/2006/main">
              <a:ext uri="{FF2B5EF4-FFF2-40B4-BE49-F238E27FC236}">
                <a16:creationId xmlns:a16="http://schemas.microsoft.com/office/drawing/2014/main" id="{2A79E500-2CDB-4EE5-AC7C-EBB26FFCD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771900"/>
            <a:ext cx="633413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4.8year</a:t>
            </a:r>
          </a:p>
        </p:txBody>
      </p:sp>
      <p:sp>
        <p:nvSpPr>
          <p:cNvPr id="57" name="age-metric-5-2">
            <a:extLst xmlns:a="http://schemas.openxmlformats.org/drawingml/2006/main">
              <a:ext uri="{FF2B5EF4-FFF2-40B4-BE49-F238E27FC236}">
                <a16:creationId xmlns:a16="http://schemas.microsoft.com/office/drawing/2014/main" id="{462F6D80-FB1A-4E7F-97B9-F380D3C1E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6563" y="3771900"/>
            <a:ext cx="633413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18.6million</a:t>
            </a:r>
          </a:p>
        </p:txBody>
      </p:sp>
      <p:sp>
        <p:nvSpPr>
          <p:cNvPr id="58" name="age-metric-5-3">
            <a:extLst xmlns:a="http://schemas.openxmlformats.org/drawingml/2006/main">
              <a:ext uri="{FF2B5EF4-FFF2-40B4-BE49-F238E27FC236}">
                <a16:creationId xmlns:a16="http://schemas.microsoft.com/office/drawing/2014/main" id="{04392170-2341-4F0D-9BB5-FB8B5B7B9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3771900"/>
            <a:ext cx="633413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11.5%</a:t>
            </a:r>
          </a:p>
        </p:txBody>
      </p:sp>
      <p:sp>
        <p:nvSpPr>
          <p:cNvPr id="59" name="age-metric-5-4">
            <a:extLst xmlns:a="http://schemas.openxmlformats.org/drawingml/2006/main">
              <a:ext uri="{FF2B5EF4-FFF2-40B4-BE49-F238E27FC236}">
                <a16:creationId xmlns:a16="http://schemas.microsoft.com/office/drawing/2014/main" id="{BA7F696C-BF05-4AD8-97BB-28A038D24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1488" y="3771900"/>
            <a:ext cx="633413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15%</a:t>
            </a:r>
          </a:p>
        </p:txBody>
      </p:sp>
      <p:sp>
        <p:nvSpPr>
          <p:cNvPr id="60" name="age-band-bg-6">
            <a:extLst xmlns:a="http://schemas.openxmlformats.org/drawingml/2006/main">
              <a:ext uri="{FF2B5EF4-FFF2-40B4-BE49-F238E27FC236}">
                <a16:creationId xmlns:a16="http://schemas.microsoft.com/office/drawing/2014/main" id="{B18FDF12-256F-4BA4-9E4B-F014596D9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0050"/>
            <a:ext cx="8191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2"/>
          </a:solidFill>
          <a:ln xmlns:a="http://schemas.openxmlformats.org/drawingml/2006/main" w="0">
            <a:solidFill>
              <a:srgbClr val="FFF0E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1" name="male-benchmark-6">
            <a:extLst xmlns:a="http://schemas.openxmlformats.org/drawingml/2006/main">
              <a:ext uri="{FF2B5EF4-FFF2-40B4-BE49-F238E27FC236}">
                <a16:creationId xmlns:a16="http://schemas.microsoft.com/office/drawing/2014/main" id="{B03D184A-F554-4CCB-82F7-B0E53607D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5100" y="4286250"/>
            <a:ext cx="174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97386"/>
            </a:solidFill>
            <a:prstDash val="dash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2" name="female-benchmark-6">
            <a:extLst xmlns:a="http://schemas.openxmlformats.org/drawingml/2006/main">
              <a:ext uri="{FF2B5EF4-FFF2-40B4-BE49-F238E27FC236}">
                <a16:creationId xmlns:a16="http://schemas.microsoft.com/office/drawing/2014/main" id="{7B12E801-365F-4B47-A495-AD2774312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286250"/>
            <a:ext cx="1666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97386"/>
            </a:solidFill>
            <a:prstDash val="dash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3" name="male-6">
            <a:extLst xmlns:a="http://schemas.openxmlformats.org/drawingml/2006/main">
              <a:ext uri="{FF2B5EF4-FFF2-40B4-BE49-F238E27FC236}">
                <a16:creationId xmlns:a16="http://schemas.microsoft.com/office/drawing/2014/main" id="{B28E6630-425D-42D4-849F-91D33F702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7913" y="4305300"/>
            <a:ext cx="833438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75F"/>
          </a:solidFill>
          <a:ln xmlns:a="http://schemas.openxmlformats.org/drawingml/2006/main" w="9525">
            <a:solidFill>
              <a:srgbClr val="15375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FFFFFF"/>
                </a:solidFill>
              </a:defRPr>
            </a:pPr>
            <a:r>
              <a:rPr sz="1600" b="1">
                <a:solidFill>
                  <a:srgbClr val="FFFFFF"/>
                </a:solidFill>
              </a:rPr>
              <a:t>42</a:t>
            </a:r>
          </a:p>
        </p:txBody>
      </p:sp>
      <p:sp>
        <p:nvSpPr>
          <p:cNvPr id="64" name="female-6">
            <a:extLst xmlns:a="http://schemas.openxmlformats.org/drawingml/2006/main">
              <a:ext uri="{FF2B5EF4-FFF2-40B4-BE49-F238E27FC236}">
                <a16:creationId xmlns:a16="http://schemas.microsoft.com/office/drawing/2014/main" id="{3C5E55A5-7F94-4B86-977B-227577646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305300"/>
            <a:ext cx="912813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872D"/>
          </a:solidFill>
          <a:ln xmlns:a="http://schemas.openxmlformats.org/drawingml/2006/main" w="9525">
            <a:solidFill>
              <a:srgbClr val="E8872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FFFFFF"/>
                </a:solidFill>
              </a:defRPr>
            </a:pPr>
            <a:r>
              <a:rPr sz="1600" b="1">
                <a:solidFill>
                  <a:srgbClr val="FFFFFF"/>
                </a:solidFill>
              </a:rPr>
              <a:t>46</a:t>
            </a:r>
          </a:p>
        </p:txBody>
      </p:sp>
      <p:sp>
        <p:nvSpPr>
          <p:cNvPr id="65" name="age-label-6">
            <a:extLst xmlns:a="http://schemas.openxmlformats.org/drawingml/2006/main">
              <a:ext uri="{FF2B5EF4-FFF2-40B4-BE49-F238E27FC236}">
                <a16:creationId xmlns:a16="http://schemas.microsoft.com/office/drawing/2014/main" id="{98D675E5-2B3E-4F1A-A7A4-CF31A433C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4286250"/>
            <a:ext cx="85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26–30</a:t>
            </a:r>
          </a:p>
        </p:txBody>
      </p:sp>
      <p:sp>
        <p:nvSpPr>
          <p:cNvPr id="66" name="age-metric-6-1">
            <a:extLst xmlns:a="http://schemas.openxmlformats.org/drawingml/2006/main">
              <a:ext uri="{FF2B5EF4-FFF2-40B4-BE49-F238E27FC236}">
                <a16:creationId xmlns:a16="http://schemas.microsoft.com/office/drawing/2014/main" id="{1D59CD14-EA62-4F5C-8ED0-EA8543924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286250"/>
            <a:ext cx="633413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2.6year</a:t>
            </a:r>
          </a:p>
        </p:txBody>
      </p:sp>
      <p:sp>
        <p:nvSpPr>
          <p:cNvPr id="67" name="age-metric-6-2">
            <a:extLst xmlns:a="http://schemas.openxmlformats.org/drawingml/2006/main">
              <a:ext uri="{FF2B5EF4-FFF2-40B4-BE49-F238E27FC236}">
                <a16:creationId xmlns:a16="http://schemas.microsoft.com/office/drawing/2014/main" id="{9F9D6C9E-5AF7-4F64-B26F-5B2232798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6563" y="4286250"/>
            <a:ext cx="633413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13.8million</a:t>
            </a:r>
          </a:p>
        </p:txBody>
      </p:sp>
      <p:sp>
        <p:nvSpPr>
          <p:cNvPr id="68" name="age-metric-6-3">
            <a:extLst xmlns:a="http://schemas.openxmlformats.org/drawingml/2006/main">
              <a:ext uri="{FF2B5EF4-FFF2-40B4-BE49-F238E27FC236}">
                <a16:creationId xmlns:a16="http://schemas.microsoft.com/office/drawing/2014/main" id="{5B7DBB7A-8181-4CDD-BCE3-21D4ECF1D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4286250"/>
            <a:ext cx="633413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18.2%</a:t>
            </a:r>
          </a:p>
        </p:txBody>
      </p:sp>
      <p:sp>
        <p:nvSpPr>
          <p:cNvPr id="69" name="age-metric-6-4">
            <a:extLst xmlns:a="http://schemas.openxmlformats.org/drawingml/2006/main">
              <a:ext uri="{FF2B5EF4-FFF2-40B4-BE49-F238E27FC236}">
                <a16:creationId xmlns:a16="http://schemas.microsoft.com/office/drawing/2014/main" id="{8483E8EA-17C7-4F28-AB76-9069FF490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1488" y="4286250"/>
            <a:ext cx="633413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6%</a:t>
            </a:r>
          </a:p>
        </p:txBody>
      </p:sp>
      <p:sp>
        <p:nvSpPr>
          <p:cNvPr id="70" name="age-band-bg-7">
            <a:extLst xmlns:a="http://schemas.openxmlformats.org/drawingml/2006/main">
              <a:ext uri="{FF2B5EF4-FFF2-40B4-BE49-F238E27FC236}">
                <a16:creationId xmlns:a16="http://schemas.microsoft.com/office/drawing/2014/main" id="{CB8BAD5B-4436-45A0-8D82-43F1AE7E7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24400"/>
            <a:ext cx="8191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2"/>
          </a:solidFill>
          <a:ln xmlns:a="http://schemas.openxmlformats.org/drawingml/2006/main" w="0">
            <a:solidFill>
              <a:srgbClr val="FFF0E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1" name="male-benchmark-7">
            <a:extLst xmlns:a="http://schemas.openxmlformats.org/drawingml/2006/main">
              <a:ext uri="{FF2B5EF4-FFF2-40B4-BE49-F238E27FC236}">
                <a16:creationId xmlns:a16="http://schemas.microsoft.com/office/drawing/2014/main" id="{669B2158-4789-4B5D-AC47-1E5BEF0F9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80060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97386"/>
            </a:solidFill>
            <a:prstDash val="dash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2" name="female-benchmark-7">
            <a:extLst xmlns:a="http://schemas.openxmlformats.org/drawingml/2006/main">
              <a:ext uri="{FF2B5EF4-FFF2-40B4-BE49-F238E27FC236}">
                <a16:creationId xmlns:a16="http://schemas.microsoft.com/office/drawing/2014/main" id="{E60C57C1-1FE8-4804-BC59-848483B20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800600"/>
            <a:ext cx="1825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97386"/>
            </a:solidFill>
            <a:prstDash val="dash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3" name="male-7">
            <a:extLst xmlns:a="http://schemas.openxmlformats.org/drawingml/2006/main">
              <a:ext uri="{FF2B5EF4-FFF2-40B4-BE49-F238E27FC236}">
                <a16:creationId xmlns:a16="http://schemas.microsoft.com/office/drawing/2014/main" id="{2C2A0D1F-10F6-49C5-AB41-E0D770F94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4163" y="4819650"/>
            <a:ext cx="357188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75F"/>
          </a:solidFill>
          <a:ln xmlns:a="http://schemas.openxmlformats.org/drawingml/2006/main" w="9525">
            <a:solidFill>
              <a:srgbClr val="15375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4" name="male-external-7">
            <a:extLst xmlns:a="http://schemas.openxmlformats.org/drawingml/2006/main">
              <a:ext uri="{FF2B5EF4-FFF2-40B4-BE49-F238E27FC236}">
                <a16:creationId xmlns:a16="http://schemas.microsoft.com/office/drawing/2014/main" id="{21A4FC42-BC0A-443D-9E88-D116ED8CD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4563" y="48196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18</a:t>
            </a:r>
          </a:p>
        </p:txBody>
      </p:sp>
      <p:sp>
        <p:nvSpPr>
          <p:cNvPr id="75" name="female-7">
            <a:extLst xmlns:a="http://schemas.openxmlformats.org/drawingml/2006/main">
              <a:ext uri="{FF2B5EF4-FFF2-40B4-BE49-F238E27FC236}">
                <a16:creationId xmlns:a16="http://schemas.microsoft.com/office/drawing/2014/main" id="{336B98FB-79DC-4B9B-A49C-623A11A57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819650"/>
            <a:ext cx="436563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872D"/>
          </a:solidFill>
          <a:ln xmlns:a="http://schemas.openxmlformats.org/drawingml/2006/main" w="9525">
            <a:solidFill>
              <a:srgbClr val="E8872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6" name="female-external-7">
            <a:extLst xmlns:a="http://schemas.openxmlformats.org/drawingml/2006/main">
              <a:ext uri="{FF2B5EF4-FFF2-40B4-BE49-F238E27FC236}">
                <a16:creationId xmlns:a16="http://schemas.microsoft.com/office/drawing/2014/main" id="{0BE85D2F-DA27-4654-AA95-4EC4FAE24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7563" y="48196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E8872D"/>
                </a:solidFill>
              </a:defRPr>
            </a:pPr>
            <a:r>
              <a:rPr sz="1600" b="1">
                <a:solidFill>
                  <a:srgbClr val="E8872D"/>
                </a:solidFill>
              </a:rPr>
              <a:t>22</a:t>
            </a:r>
          </a:p>
        </p:txBody>
      </p:sp>
      <p:sp>
        <p:nvSpPr>
          <p:cNvPr id="77" name="age-label-7">
            <a:extLst xmlns:a="http://schemas.openxmlformats.org/drawingml/2006/main">
              <a:ext uri="{FF2B5EF4-FFF2-40B4-BE49-F238E27FC236}">
                <a16:creationId xmlns:a16="http://schemas.microsoft.com/office/drawing/2014/main" id="{DD025A9B-9D16-4D48-9C91-4377B90DA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4800600"/>
            <a:ext cx="85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18–25</a:t>
            </a:r>
          </a:p>
        </p:txBody>
      </p:sp>
      <p:sp>
        <p:nvSpPr>
          <p:cNvPr id="78" name="age-metric-7-1">
            <a:extLst xmlns:a="http://schemas.openxmlformats.org/drawingml/2006/main">
              <a:ext uri="{FF2B5EF4-FFF2-40B4-BE49-F238E27FC236}">
                <a16:creationId xmlns:a16="http://schemas.microsoft.com/office/drawing/2014/main" id="{720C2055-2358-47D3-84F9-5C6221A88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800600"/>
            <a:ext cx="633413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0.9year</a:t>
            </a:r>
          </a:p>
        </p:txBody>
      </p:sp>
      <p:sp>
        <p:nvSpPr>
          <p:cNvPr id="79" name="age-metric-7-2">
            <a:extLst xmlns:a="http://schemas.openxmlformats.org/drawingml/2006/main">
              <a:ext uri="{FF2B5EF4-FFF2-40B4-BE49-F238E27FC236}">
                <a16:creationId xmlns:a16="http://schemas.microsoft.com/office/drawing/2014/main" id="{231B1F22-8847-4E08-B778-86C01A584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6563" y="4800600"/>
            <a:ext cx="633413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9.6million</a:t>
            </a:r>
          </a:p>
        </p:txBody>
      </p:sp>
      <p:sp>
        <p:nvSpPr>
          <p:cNvPr id="80" name="age-metric-7-3">
            <a:extLst xmlns:a="http://schemas.openxmlformats.org/drawingml/2006/main">
              <a:ext uri="{FF2B5EF4-FFF2-40B4-BE49-F238E27FC236}">
                <a16:creationId xmlns:a16="http://schemas.microsoft.com/office/drawing/2014/main" id="{B9725018-41A7-4BAA-B1E3-033BCF2BB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4800600"/>
            <a:ext cx="633413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25.0%</a:t>
            </a:r>
          </a:p>
        </p:txBody>
      </p:sp>
      <p:sp>
        <p:nvSpPr>
          <p:cNvPr id="81" name="age-metric-7-4">
            <a:extLst xmlns:a="http://schemas.openxmlformats.org/drawingml/2006/main">
              <a:ext uri="{FF2B5EF4-FFF2-40B4-BE49-F238E27FC236}">
                <a16:creationId xmlns:a16="http://schemas.microsoft.com/office/drawing/2014/main" id="{3248EFB6-03DB-4E7E-9401-A97D4D836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1488" y="4800600"/>
            <a:ext cx="633413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1%</a:t>
            </a:r>
          </a:p>
        </p:txBody>
      </p:sp>
      <p:sp>
        <p:nvSpPr>
          <p:cNvPr id="82" name="management insights-rail">
            <a:extLst xmlns:a="http://schemas.openxmlformats.org/drawingml/2006/main">
              <a:ext uri="{FF2B5EF4-FFF2-40B4-BE49-F238E27FC236}">
                <a16:creationId xmlns:a16="http://schemas.microsoft.com/office/drawing/2014/main" id="{7D5DD5FD-1774-427A-B215-303E5C589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200150"/>
            <a:ext cx="2533650" cy="4457700"/>
          </a:xfrm>
          <a:prstGeom xmlns:a="http://schemas.openxmlformats.org/drawingml/2006/main" prst="roundRect">
            <a:avLst>
              <a:gd name="adj" fmla="val 3008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10478">
            <a:solidFill>
              <a:srgbClr val="D7DEE8"/>
            </a:solidFill>
            <a:prstDash val="solid"/>
          </a:ln>
        </p:spPr>
      </p:sp>
      <p:sp>
        <p:nvSpPr>
          <p:cNvPr id="83" name="management insights-title">
            <a:extLst xmlns:a="http://schemas.openxmlformats.org/drawingml/2006/main">
              <a:ext uri="{FF2B5EF4-FFF2-40B4-BE49-F238E27FC236}">
                <a16:creationId xmlns:a16="http://schemas.microsoft.com/office/drawing/2014/main" id="{12189742-5623-487B-9222-093061090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333500"/>
            <a:ext cx="2228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management insights</a:t>
            </a:r>
          </a:p>
        </p:txBody>
      </p:sp>
      <p:sp>
        <p:nvSpPr>
          <p:cNvPr id="84" name="management insights-1">
            <a:extLst xmlns:a="http://schemas.openxmlformats.org/drawingml/2006/main">
              <a:ext uri="{FF2B5EF4-FFF2-40B4-BE49-F238E27FC236}">
                <a16:creationId xmlns:a16="http://schemas.microsoft.com/office/drawing/2014/main" id="{D673D0C5-8323-4F61-969C-6505405F0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1752600"/>
            <a:ext cx="22669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8872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172033"/>
                </a:solidFill>
              </a:defRPr>
            </a:pPr>
            <a:r>
              <a:rPr sz="1600" b="1">
                <a:solidFill>
                  <a:srgbClr val="172033"/>
                </a:solidFill>
              </a:rPr>
              <a:t>1  The proportion of waist-level employees is too high and promotion channels are congested</a:t>
            </a:r>
          </a:p>
        </p:txBody>
      </p:sp>
      <p:sp>
        <p:nvSpPr>
          <p:cNvPr id="85" name="management insights-2">
            <a:extLst xmlns:a="http://schemas.openxmlformats.org/drawingml/2006/main">
              <a:ext uri="{FF2B5EF4-FFF2-40B4-BE49-F238E27FC236}">
                <a16:creationId xmlns:a16="http://schemas.microsoft.com/office/drawing/2014/main" id="{49F2393B-F01B-4680-9380-588F30F24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933700"/>
            <a:ext cx="22669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2  30 The proportion of under-year-olds is low and the reserve force is insufficient.</a:t>
            </a:r>
          </a:p>
        </p:txBody>
      </p:sp>
      <p:sp>
        <p:nvSpPr>
          <p:cNvPr id="86" name="management insights-3">
            <a:extLst xmlns:a="http://schemas.openxmlformats.org/drawingml/2006/main">
              <a:ext uri="{FF2B5EF4-FFF2-40B4-BE49-F238E27FC236}">
                <a16:creationId xmlns:a16="http://schemas.microsoft.com/office/drawing/2014/main" id="{05ADE7D5-7F5B-4D64-8F64-FABC79C4C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4114800"/>
            <a:ext cx="22669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3  Key positions for the elderly need to complete knowledge transfer in advance</a:t>
            </a:r>
          </a:p>
        </p:txBody>
      </p:sp>
      <p:sp>
        <p:nvSpPr>
          <p:cNvPr id="87" name="bottom">
            <a:extLst xmlns:a="http://schemas.openxmlformats.org/drawingml/2006/main">
              <a:ext uri="{FF2B5EF4-FFF2-40B4-BE49-F238E27FC236}">
                <a16:creationId xmlns:a16="http://schemas.microsoft.com/office/drawing/2014/main" id="{D4DB3EED-1D3A-49C3-87ED-74A966F49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24550"/>
            <a:ext cx="111633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0E2"/>
          </a:solidFill>
          <a:ln xmlns:a="http://schemas.openxmlformats.org/drawingml/2006/main" w="11430">
            <a:solidFill>
              <a:srgbClr val="E8872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Supplementary school recruitment 60 People, internal promotion 36 person, complete 68 knowledge transfer to key positions</a:t>
            </a:r>
          </a:p>
        </p:txBody>
      </p:sp>
    </p:spTree>
    <p:extLst>
      <p:ext uri="{BB962C8B-B14F-4D97-AF65-F5344CB8AC3E}">
        <p14:creationId xmlns:p14="http://schemas.microsoft.com/office/powerpoint/2010/main" val="119157238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2026-07-31T20:43:47.0060000Z</dcterms:created>
  <dcterms:modified xsi:type="dcterms:W3CDTF">2026-07-31T20:43:47.0060000Z</dcterms:modified>
</coreProperties>
</file>