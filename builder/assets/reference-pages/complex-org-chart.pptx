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rg-rel-rel-team-brand-a">
            <a:extLst>
              <a:ext uri="{FF2B5EF4-FFF2-40B4-BE49-F238E27FC236}">
                <a16:creationId xmlns:a16="http://schemas.microsoft.com/office/drawing/2014/main" id="{FBB37615-8F98-4AE4-8250-65389037F6DC}"/>
              </a:ext>
            </a:extLst>
          </p:cNvPr>
          <p:cNvSpPr>
            <a:spLocks noGrp="1"/>
          </p:cNvSpPr>
          <p:nvPr/>
        </p:nvSpPr>
        <p:spPr>
          <a:xfrm>
            <a:off x="4095750" y="4381500"/>
            <a:ext cx="0" cy="466725"/>
          </a:xfrm>
          <a:prstGeom prst="line">
            <a:avLst/>
          </a:prstGeom>
          <a:noFill/>
          <a:ln w="17145">
            <a:solidFill>
              <a:srgbClr val="E8872D"/>
            </a:solidFill>
            <a:prstDash val="dash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73" name="org-rel-rel-brand-functional-c">
            <a:extLst>
              <a:ext uri="{FF2B5EF4-FFF2-40B4-BE49-F238E27FC236}">
                <a16:creationId xmlns:a16="http://schemas.microsoft.com/office/drawing/2014/main" id="{B140F496-2A95-418A-BE89-564D5A0C03A9}"/>
              </a:ext>
            </a:extLst>
          </p:cNvPr>
          <p:cNvSpPr>
            <a:spLocks noGrp="1"/>
          </p:cNvSpPr>
          <p:nvPr/>
        </p:nvSpPr>
        <p:spPr>
          <a:xfrm>
            <a:off x="4810125" y="4610100"/>
            <a:ext cx="1381125" cy="0"/>
          </a:xfrm>
          <a:prstGeom prst="line">
            <a:avLst/>
          </a:prstGeom>
          <a:noFill/>
          <a:ln w="17145">
            <a:solidFill>
              <a:srgbClr val="2F6FB2"/>
            </a:solidFill>
            <a:prstDash val="dash"/>
          </a:ln>
        </p:spPr>
        <p:txBody>
          <a:bodyPr/>
          <a:lstStyle/>
          <a:p>
            <a:endParaRPr lang="zh-CN" altLang="en-US" sz="1400"/>
          </a:p>
        </p:txBody>
      </p:sp>
      <p:cxnSp>
        <p:nvCxnSpPr>
          <p:cNvPr id="97" name="org-rel-rel-north-sales-manager"/>
          <p:cNvCxnSpPr>
            <a:stCxn id="10" idx="3"/>
            <a:endCxn id="23" idx="1"/>
          </p:cNvCxnSpPr>
          <p:nvPr/>
        </p:nvCxnSpPr>
        <p:spPr>
          <a:xfrm>
            <a:off x="1751571" y="3276600"/>
            <a:ext cx="153429" cy="2314575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98" name="org-rel-rel-south-sales-manager"/>
          <p:cNvCxnSpPr>
            <a:stCxn id="9" idx="3"/>
            <a:endCxn id="22" idx="1"/>
          </p:cNvCxnSpPr>
          <p:nvPr/>
        </p:nvCxnSpPr>
        <p:spPr>
          <a:xfrm>
            <a:off x="1751571" y="2752725"/>
            <a:ext cx="153429" cy="2381250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99" name="org-rel-rel-hr-manager"/>
          <p:cNvCxnSpPr>
            <a:cxnSpLocks/>
            <a:stCxn id="7" idx="2"/>
            <a:endCxn id="29" idx="0"/>
          </p:cNvCxnSpPr>
          <p:nvPr/>
        </p:nvCxnSpPr>
        <p:spPr>
          <a:xfrm rot="5400000">
            <a:off x="11091864" y="1995487"/>
            <a:ext cx="390525" cy="1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00" name="org-rel-rel-finance-manager"/>
          <p:cNvCxnSpPr>
            <a:stCxn id="6" idx="2"/>
            <a:endCxn id="28" idx="0"/>
          </p:cNvCxnSpPr>
          <p:nvPr/>
        </p:nvCxnSpPr>
        <p:spPr>
          <a:xfrm rot="16200000" flipH="1">
            <a:off x="9686926" y="1995487"/>
            <a:ext cx="390525" cy="0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01" name="org-rel-rel-supply-buyer"/>
          <p:cNvCxnSpPr>
            <a:cxnSpLocks/>
            <a:stCxn id="26" idx="2"/>
            <a:endCxn id="27" idx="0"/>
          </p:cNvCxnSpPr>
          <p:nvPr/>
        </p:nvCxnSpPr>
        <p:spPr>
          <a:xfrm rot="5400000">
            <a:off x="8450263" y="2640012"/>
            <a:ext cx="161925" cy="0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03" name="org-rel-rel-brand-strategy"/>
          <p:cNvCxnSpPr>
            <a:stCxn id="24" idx="2"/>
            <a:endCxn id="25" idx="0"/>
          </p:cNvCxnSpPr>
          <p:nvPr/>
        </p:nvCxnSpPr>
        <p:spPr>
          <a:xfrm rot="5400000">
            <a:off x="7069138" y="2640012"/>
            <a:ext cx="161925" cy="0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04" name="org-rel-rel-brand-director"/>
          <p:cNvCxnSpPr>
            <a:stCxn id="4" idx="2"/>
            <a:endCxn id="24" idx="0"/>
          </p:cNvCxnSpPr>
          <p:nvPr/>
        </p:nvCxnSpPr>
        <p:spPr>
          <a:xfrm rot="16200000" flipH="1">
            <a:off x="6924676" y="1995487"/>
            <a:ext cx="390525" cy="0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05" name="org-rel-rel-east-brand-specialist"/>
          <p:cNvCxnSpPr>
            <a:stCxn id="20" idx="3"/>
            <a:endCxn id="21" idx="1"/>
          </p:cNvCxnSpPr>
          <p:nvPr/>
        </p:nvCxnSpPr>
        <p:spPr>
          <a:xfrm>
            <a:off x="4810125" y="4610100"/>
            <a:ext cx="47625" cy="0"/>
          </a:xfrm>
          <a:prstGeom prst="straightConnector1">
            <a:avLst/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06" name="org-rel-rel-regional-brand-manager"/>
          <p:cNvCxnSpPr>
            <a:stCxn id="19" idx="3"/>
            <a:endCxn id="20" idx="1"/>
          </p:cNvCxnSpPr>
          <p:nvPr/>
        </p:nvCxnSpPr>
        <p:spPr>
          <a:xfrm>
            <a:off x="3333750" y="4610100"/>
            <a:ext cx="47625" cy="0"/>
          </a:xfrm>
          <a:prstGeom prst="straightConnector1">
            <a:avLst/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07" name="org-rel-rel-east-sales-person"/>
          <p:cNvCxnSpPr>
            <a:stCxn id="14" idx="3"/>
            <a:endCxn id="17" idx="1"/>
          </p:cNvCxnSpPr>
          <p:nvPr/>
        </p:nvCxnSpPr>
        <p:spPr>
          <a:xfrm>
            <a:off x="4810125" y="2286000"/>
            <a:ext cx="47625" cy="1181100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08" name="org-rel-rel-east-sales-rep"/>
          <p:cNvCxnSpPr>
            <a:stCxn id="15" idx="2"/>
            <a:endCxn id="16" idx="0"/>
          </p:cNvCxnSpPr>
          <p:nvPr/>
        </p:nvCxnSpPr>
        <p:spPr>
          <a:xfrm>
            <a:off x="5572125" y="2524125"/>
            <a:ext cx="0" cy="114300"/>
          </a:xfrm>
          <a:prstGeom prst="straightConnector1">
            <a:avLst/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09" name="org-rel-rel-east-sales-supervisor"/>
          <p:cNvCxnSpPr>
            <a:stCxn id="14" idx="3"/>
            <a:endCxn id="15" idx="1"/>
          </p:cNvCxnSpPr>
          <p:nvPr/>
        </p:nvCxnSpPr>
        <p:spPr>
          <a:xfrm>
            <a:off x="4810125" y="2286000"/>
            <a:ext cx="47625" cy="0"/>
          </a:xfrm>
          <a:prstGeom prst="straightConnector1">
            <a:avLst/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10" name="org-rel-rel-east-sales-manager"/>
          <p:cNvCxnSpPr>
            <a:stCxn id="13" idx="3"/>
            <a:endCxn id="14" idx="1"/>
          </p:cNvCxnSpPr>
          <p:nvPr/>
        </p:nvCxnSpPr>
        <p:spPr>
          <a:xfrm>
            <a:off x="3333750" y="2286000"/>
            <a:ext cx="47625" cy="0"/>
          </a:xfrm>
          <a:prstGeom prst="straightConnector1">
            <a:avLst/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11" name="org-rel-rel-east-brand-unit"/>
          <p:cNvCxnSpPr>
            <a:stCxn id="8" idx="3"/>
            <a:endCxn id="19" idx="1"/>
          </p:cNvCxnSpPr>
          <p:nvPr/>
        </p:nvCxnSpPr>
        <p:spPr>
          <a:xfrm>
            <a:off x="1751571" y="2228850"/>
            <a:ext cx="153429" cy="2381250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12" name="org-rel-rel-east-ka-unit"/>
          <p:cNvCxnSpPr>
            <a:stCxn id="8" idx="3"/>
            <a:endCxn id="18" idx="1"/>
          </p:cNvCxnSpPr>
          <p:nvPr/>
        </p:nvCxnSpPr>
        <p:spPr>
          <a:xfrm>
            <a:off x="1751571" y="2228850"/>
            <a:ext cx="153429" cy="1809750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13" name="org-rel-rel-east-sales-unit"/>
          <p:cNvCxnSpPr>
            <a:stCxn id="8" idx="3"/>
            <a:endCxn id="13" idx="1"/>
          </p:cNvCxnSpPr>
          <p:nvPr/>
        </p:nvCxnSpPr>
        <p:spPr>
          <a:xfrm>
            <a:off x="1751571" y="2228850"/>
            <a:ext cx="153429" cy="57150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sp>
        <p:nvSpPr>
          <p:cNvPr id="53" name="org-rel-rel-sales-central-c">
            <a:extLst>
              <a:ext uri="{FF2B5EF4-FFF2-40B4-BE49-F238E27FC236}">
                <a16:creationId xmlns:a16="http://schemas.microsoft.com/office/drawing/2014/main" id="{9CA37F4A-A1D0-4AA3-8797-43E55B90A044}"/>
              </a:ext>
            </a:extLst>
          </p:cNvPr>
          <p:cNvSpPr>
            <a:spLocks noGrp="1"/>
          </p:cNvSpPr>
          <p:nvPr/>
        </p:nvSpPr>
        <p:spPr>
          <a:xfrm>
            <a:off x="303771" y="4324350"/>
            <a:ext cx="114300" cy="0"/>
          </a:xfrm>
          <a:prstGeom prst="line">
            <a:avLst/>
          </a:prstGeom>
          <a:noFill/>
          <a:ln w="14288">
            <a:solidFill>
              <a:srgbClr val="AEB8C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52" name="org-rel-rel-sales-central-b">
            <a:extLst>
              <a:ext uri="{FF2B5EF4-FFF2-40B4-BE49-F238E27FC236}">
                <a16:creationId xmlns:a16="http://schemas.microsoft.com/office/drawing/2014/main" id="{4E3F216C-2D00-4388-B009-C07B17B02B93}"/>
              </a:ext>
            </a:extLst>
          </p:cNvPr>
          <p:cNvSpPr>
            <a:spLocks noGrp="1"/>
          </p:cNvSpPr>
          <p:nvPr/>
        </p:nvSpPr>
        <p:spPr>
          <a:xfrm>
            <a:off x="303771" y="1800225"/>
            <a:ext cx="0" cy="2524125"/>
          </a:xfrm>
          <a:prstGeom prst="line">
            <a:avLst/>
          </a:prstGeom>
          <a:noFill/>
          <a:ln w="14288">
            <a:solidFill>
              <a:srgbClr val="AEB8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org-rel-rel-sales-west-c">
            <a:extLst>
              <a:ext uri="{FF2B5EF4-FFF2-40B4-BE49-F238E27FC236}">
                <a16:creationId xmlns:a16="http://schemas.microsoft.com/office/drawing/2014/main" id="{287168E3-689F-4617-8313-7A51D5E92501}"/>
              </a:ext>
            </a:extLst>
          </p:cNvPr>
          <p:cNvSpPr>
            <a:spLocks noGrp="1"/>
          </p:cNvSpPr>
          <p:nvPr/>
        </p:nvSpPr>
        <p:spPr>
          <a:xfrm>
            <a:off x="303771" y="3800475"/>
            <a:ext cx="114300" cy="0"/>
          </a:xfrm>
          <a:prstGeom prst="line">
            <a:avLst/>
          </a:prstGeom>
          <a:noFill/>
          <a:ln w="14288">
            <a:solidFill>
              <a:srgbClr val="AEB8C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49" name="org-rel-rel-sales-west-b">
            <a:extLst>
              <a:ext uri="{FF2B5EF4-FFF2-40B4-BE49-F238E27FC236}">
                <a16:creationId xmlns:a16="http://schemas.microsoft.com/office/drawing/2014/main" id="{30169F0A-45DC-4E3C-95B7-B96CE4F69C08}"/>
              </a:ext>
            </a:extLst>
          </p:cNvPr>
          <p:cNvSpPr>
            <a:spLocks noGrp="1"/>
          </p:cNvSpPr>
          <p:nvPr/>
        </p:nvSpPr>
        <p:spPr>
          <a:xfrm>
            <a:off x="303771" y="1800225"/>
            <a:ext cx="0" cy="2000250"/>
          </a:xfrm>
          <a:prstGeom prst="line">
            <a:avLst/>
          </a:prstGeom>
          <a:noFill/>
          <a:ln w="14288">
            <a:solidFill>
              <a:srgbClr val="AEB8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org-rel-rel-sales-north-c">
            <a:extLst>
              <a:ext uri="{FF2B5EF4-FFF2-40B4-BE49-F238E27FC236}">
                <a16:creationId xmlns:a16="http://schemas.microsoft.com/office/drawing/2014/main" id="{E8C03C9F-2143-43EB-8E7E-06A247D422B3}"/>
              </a:ext>
            </a:extLst>
          </p:cNvPr>
          <p:cNvSpPr>
            <a:spLocks noGrp="1"/>
          </p:cNvSpPr>
          <p:nvPr/>
        </p:nvSpPr>
        <p:spPr>
          <a:xfrm>
            <a:off x="303771" y="3276600"/>
            <a:ext cx="114300" cy="0"/>
          </a:xfrm>
          <a:prstGeom prst="line">
            <a:avLst/>
          </a:prstGeom>
          <a:noFill/>
          <a:ln w="14288">
            <a:solidFill>
              <a:srgbClr val="AEB8C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46" name="org-rel-rel-sales-north-b">
            <a:extLst>
              <a:ext uri="{FF2B5EF4-FFF2-40B4-BE49-F238E27FC236}">
                <a16:creationId xmlns:a16="http://schemas.microsoft.com/office/drawing/2014/main" id="{26F6A1B4-882D-4747-9D47-58ACA2D3B626}"/>
              </a:ext>
            </a:extLst>
          </p:cNvPr>
          <p:cNvSpPr>
            <a:spLocks noGrp="1"/>
          </p:cNvSpPr>
          <p:nvPr/>
        </p:nvSpPr>
        <p:spPr>
          <a:xfrm>
            <a:off x="303771" y="1800225"/>
            <a:ext cx="0" cy="1476375"/>
          </a:xfrm>
          <a:prstGeom prst="line">
            <a:avLst/>
          </a:prstGeom>
          <a:noFill/>
          <a:ln w="14288">
            <a:solidFill>
              <a:srgbClr val="AEB8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org-rel-rel-sales-south-c">
            <a:extLst>
              <a:ext uri="{FF2B5EF4-FFF2-40B4-BE49-F238E27FC236}">
                <a16:creationId xmlns:a16="http://schemas.microsoft.com/office/drawing/2014/main" id="{FFF6BBF8-667A-4F30-BCB5-960915693E8F}"/>
              </a:ext>
            </a:extLst>
          </p:cNvPr>
          <p:cNvSpPr>
            <a:spLocks noGrp="1"/>
          </p:cNvSpPr>
          <p:nvPr/>
        </p:nvSpPr>
        <p:spPr>
          <a:xfrm>
            <a:off x="303771" y="2752725"/>
            <a:ext cx="114300" cy="0"/>
          </a:xfrm>
          <a:prstGeom prst="line">
            <a:avLst/>
          </a:prstGeom>
          <a:noFill/>
          <a:ln w="14288">
            <a:solidFill>
              <a:srgbClr val="AEB8C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43" name="org-rel-rel-sales-south-b">
            <a:extLst>
              <a:ext uri="{FF2B5EF4-FFF2-40B4-BE49-F238E27FC236}">
                <a16:creationId xmlns:a16="http://schemas.microsoft.com/office/drawing/2014/main" id="{AEF9196C-60AB-4F1D-85E2-F3354DFA1F5C}"/>
              </a:ext>
            </a:extLst>
          </p:cNvPr>
          <p:cNvSpPr>
            <a:spLocks noGrp="1"/>
          </p:cNvSpPr>
          <p:nvPr/>
        </p:nvSpPr>
        <p:spPr>
          <a:xfrm>
            <a:off x="303771" y="1800225"/>
            <a:ext cx="0" cy="952500"/>
          </a:xfrm>
          <a:prstGeom prst="line">
            <a:avLst/>
          </a:prstGeom>
          <a:noFill/>
          <a:ln w="14288">
            <a:solidFill>
              <a:srgbClr val="AEB8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org-rel-rel-sales-east-c">
            <a:extLst>
              <a:ext uri="{FF2B5EF4-FFF2-40B4-BE49-F238E27FC236}">
                <a16:creationId xmlns:a16="http://schemas.microsoft.com/office/drawing/2014/main" id="{CCC52184-CD38-4C9C-942D-1741D08D3E1B}"/>
              </a:ext>
            </a:extLst>
          </p:cNvPr>
          <p:cNvSpPr>
            <a:spLocks noGrp="1"/>
          </p:cNvSpPr>
          <p:nvPr/>
        </p:nvSpPr>
        <p:spPr>
          <a:xfrm>
            <a:off x="303771" y="2228850"/>
            <a:ext cx="114300" cy="0"/>
          </a:xfrm>
          <a:prstGeom prst="line">
            <a:avLst/>
          </a:prstGeom>
          <a:noFill/>
          <a:ln w="14288">
            <a:solidFill>
              <a:srgbClr val="AEB8C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40" name="org-rel-rel-sales-east-b">
            <a:extLst>
              <a:ext uri="{FF2B5EF4-FFF2-40B4-BE49-F238E27FC236}">
                <a16:creationId xmlns:a16="http://schemas.microsoft.com/office/drawing/2014/main" id="{B82FA9B6-0064-48C0-9E04-F3A7D7AEA40D}"/>
              </a:ext>
            </a:extLst>
          </p:cNvPr>
          <p:cNvSpPr>
            <a:spLocks noGrp="1"/>
          </p:cNvSpPr>
          <p:nvPr/>
        </p:nvSpPr>
        <p:spPr>
          <a:xfrm>
            <a:off x="303771" y="1800225"/>
            <a:ext cx="0" cy="428625"/>
          </a:xfrm>
          <a:prstGeom prst="line">
            <a:avLst/>
          </a:prstGeom>
          <a:noFill/>
          <a:ln w="14288">
            <a:solidFill>
              <a:srgbClr val="AEB8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9" name="org-rel-rel-gm-hr"/>
          <p:cNvCxnSpPr>
            <a:cxnSpLocks/>
            <a:stCxn id="2" idx="2"/>
            <a:endCxn id="7" idx="0"/>
          </p:cNvCxnSpPr>
          <p:nvPr/>
        </p:nvCxnSpPr>
        <p:spPr>
          <a:xfrm rot="16200000" flipH="1">
            <a:off x="8496301" y="-1409701"/>
            <a:ext cx="200025" cy="5381626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30" name="org-rel-rel-gm-finance"/>
          <p:cNvCxnSpPr>
            <a:cxnSpLocks/>
            <a:stCxn id="2" idx="2"/>
            <a:endCxn id="6" idx="0"/>
          </p:cNvCxnSpPr>
          <p:nvPr/>
        </p:nvCxnSpPr>
        <p:spPr>
          <a:xfrm rot="16200000" flipH="1">
            <a:off x="7793832" y="-707232"/>
            <a:ext cx="200025" cy="3976688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31" name="org-rel-rel-gm-supply"/>
          <p:cNvCxnSpPr>
            <a:cxnSpLocks/>
            <a:stCxn id="2" idx="2"/>
            <a:endCxn id="5" idx="0"/>
          </p:cNvCxnSpPr>
          <p:nvPr/>
        </p:nvCxnSpPr>
        <p:spPr>
          <a:xfrm rot="16200000" flipH="1">
            <a:off x="7103269" y="-16670"/>
            <a:ext cx="200025" cy="2595563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32" name="org-rel-rel-gm-brand"/>
          <p:cNvCxnSpPr>
            <a:cxnSpLocks/>
            <a:stCxn id="2" idx="2"/>
            <a:endCxn id="4" idx="0"/>
          </p:cNvCxnSpPr>
          <p:nvPr/>
        </p:nvCxnSpPr>
        <p:spPr>
          <a:xfrm rot="16200000" flipH="1">
            <a:off x="6412707" y="673893"/>
            <a:ext cx="200025" cy="1214438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cxnSp>
        <p:nvCxnSpPr>
          <p:cNvPr id="133" name="org-rel-rel-gm-sales"/>
          <p:cNvCxnSpPr>
            <a:cxnSpLocks/>
            <a:stCxn id="2" idx="2"/>
            <a:endCxn id="3" idx="0"/>
          </p:cNvCxnSpPr>
          <p:nvPr/>
        </p:nvCxnSpPr>
        <p:spPr>
          <a:xfrm rot="5400000">
            <a:off x="3340702" y="-1183674"/>
            <a:ext cx="200025" cy="4929572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  <p:sp>
        <p:nvSpPr>
          <p:cNvPr id="134" name="page-title">
            <a:extLst>
              <a:ext uri="{FF2B5EF4-FFF2-40B4-BE49-F238E27FC236}">
                <a16:creationId xmlns:a16="http://schemas.microsoft.com/office/drawing/2014/main" id="{E82FDF22-ABF5-4ED5-885C-8B2A78C1D4BA}"/>
              </a:ext>
            </a:extLst>
          </p:cNvPr>
          <p:cNvSpPr>
            <a:spLocks noGrp="1"/>
          </p:cNvSpPr>
          <p:nvPr/>
        </p:nvSpPr>
        <p:spPr>
          <a:xfrm>
            <a:off x="381000" y="228600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500" b="1">
                <a:solidFill>
                  <a:srgbClr val="172033"/>
                </a:solidFill>
              </a:defRPr>
            </a:pPr>
            <a:r>
              <a:rPr sz="3500" b="1">
                <a:solidFill>
                  <a:srgbClr val="172033"/>
                </a:solidFill>
              </a:rPr>
              <a:t>公司组织架构</a:t>
            </a:r>
          </a:p>
        </p:txBody>
      </p:sp>
      <p:sp>
        <p:nvSpPr>
          <p:cNvPr id="2" name="org-node-role-general-manager">
            <a:extLst>
              <a:ext uri="{FF2B5EF4-FFF2-40B4-BE49-F238E27FC236}">
                <a16:creationId xmlns:a16="http://schemas.microsoft.com/office/drawing/2014/main" id="{EAF64AA0-CE54-4A18-AD24-AA479DE9F148}"/>
              </a:ext>
            </a:extLst>
          </p:cNvPr>
          <p:cNvSpPr>
            <a:spLocks noGrp="1"/>
          </p:cNvSpPr>
          <p:nvPr/>
        </p:nvSpPr>
        <p:spPr>
          <a:xfrm>
            <a:off x="4953000" y="781050"/>
            <a:ext cx="1905000" cy="400050"/>
          </a:xfrm>
          <a:prstGeom prst="rect">
            <a:avLst/>
          </a:prstGeom>
          <a:solidFill>
            <a:srgbClr val="E9F1FA"/>
          </a:solidFill>
          <a:ln w="19050">
            <a:solidFill>
              <a:srgbClr val="2F6FB2"/>
            </a:solidFill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总经理</a:t>
            </a:r>
          </a:p>
        </p:txBody>
      </p:sp>
      <p:sp>
        <p:nvSpPr>
          <p:cNvPr id="3" name="org-node-dept-sales">
            <a:extLst>
              <a:ext uri="{FF2B5EF4-FFF2-40B4-BE49-F238E27FC236}">
                <a16:creationId xmlns:a16="http://schemas.microsoft.com/office/drawing/2014/main" id="{3618343A-7AE1-409C-B988-4B4A178871BA}"/>
              </a:ext>
            </a:extLst>
          </p:cNvPr>
          <p:cNvSpPr>
            <a:spLocks noGrp="1"/>
          </p:cNvSpPr>
          <p:nvPr/>
        </p:nvSpPr>
        <p:spPr>
          <a:xfrm>
            <a:off x="166303" y="1381125"/>
            <a:ext cx="1619250" cy="419100"/>
          </a:xfrm>
          <a:prstGeom prst="rect">
            <a:avLst/>
          </a:prstGeom>
          <a:solidFill>
            <a:srgbClr val="E9F1FA"/>
          </a:solidFill>
          <a:ln w="19050">
            <a:solidFill>
              <a:srgbClr val="2F6FB2"/>
            </a:solidFill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销售部</a:t>
            </a:r>
          </a:p>
        </p:txBody>
      </p:sp>
      <p:sp>
        <p:nvSpPr>
          <p:cNvPr id="4" name="org-node-dept-brand">
            <a:extLst>
              <a:ext uri="{FF2B5EF4-FFF2-40B4-BE49-F238E27FC236}">
                <a16:creationId xmlns:a16="http://schemas.microsoft.com/office/drawing/2014/main" id="{15ECA7C6-2770-4A98-95FE-132677C2E51C}"/>
              </a:ext>
            </a:extLst>
          </p:cNvPr>
          <p:cNvSpPr>
            <a:spLocks noGrp="1"/>
          </p:cNvSpPr>
          <p:nvPr/>
        </p:nvSpPr>
        <p:spPr>
          <a:xfrm>
            <a:off x="6477000" y="1381125"/>
            <a:ext cx="1285875" cy="419100"/>
          </a:xfrm>
          <a:prstGeom prst="rect">
            <a:avLst/>
          </a:prstGeom>
          <a:solidFill>
            <a:srgbClr val="E9F1FA"/>
          </a:solidFill>
          <a:ln w="19050">
            <a:solidFill>
              <a:srgbClr val="2F6FB2"/>
            </a:solidFill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品牌部</a:t>
            </a:r>
          </a:p>
        </p:txBody>
      </p:sp>
      <p:sp>
        <p:nvSpPr>
          <p:cNvPr id="5" name="org-node-dept-supply-chain">
            <a:extLst>
              <a:ext uri="{FF2B5EF4-FFF2-40B4-BE49-F238E27FC236}">
                <a16:creationId xmlns:a16="http://schemas.microsoft.com/office/drawing/2014/main" id="{67C4A0A9-1351-40F5-8953-D1E578213F26}"/>
              </a:ext>
            </a:extLst>
          </p:cNvPr>
          <p:cNvSpPr>
            <a:spLocks noGrp="1"/>
          </p:cNvSpPr>
          <p:nvPr/>
        </p:nvSpPr>
        <p:spPr>
          <a:xfrm>
            <a:off x="7858125" y="1381125"/>
            <a:ext cx="1285875" cy="419100"/>
          </a:xfrm>
          <a:prstGeom prst="rect">
            <a:avLst/>
          </a:prstGeom>
          <a:solidFill>
            <a:srgbClr val="E9F1FA"/>
          </a:solidFill>
          <a:ln w="19050">
            <a:solidFill>
              <a:srgbClr val="2F6FB2"/>
            </a:solidFill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供应链部</a:t>
            </a:r>
          </a:p>
        </p:txBody>
      </p:sp>
      <p:sp>
        <p:nvSpPr>
          <p:cNvPr id="6" name="org-node-dept-finance">
            <a:extLst>
              <a:ext uri="{FF2B5EF4-FFF2-40B4-BE49-F238E27FC236}">
                <a16:creationId xmlns:a16="http://schemas.microsoft.com/office/drawing/2014/main" id="{E9A092EA-842A-4578-971F-B5D1CBF5B93E}"/>
              </a:ext>
            </a:extLst>
          </p:cNvPr>
          <p:cNvSpPr>
            <a:spLocks noGrp="1"/>
          </p:cNvSpPr>
          <p:nvPr/>
        </p:nvSpPr>
        <p:spPr>
          <a:xfrm>
            <a:off x="9239250" y="1381125"/>
            <a:ext cx="1285875" cy="419100"/>
          </a:xfrm>
          <a:prstGeom prst="rect">
            <a:avLst/>
          </a:prstGeom>
          <a:solidFill>
            <a:srgbClr val="E9F1FA"/>
          </a:solidFill>
          <a:ln w="19050">
            <a:solidFill>
              <a:srgbClr val="2F6FB2"/>
            </a:solidFill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财务部</a:t>
            </a:r>
          </a:p>
        </p:txBody>
      </p:sp>
      <p:sp>
        <p:nvSpPr>
          <p:cNvPr id="7" name="org-node-dept-hr">
            <a:extLst>
              <a:ext uri="{FF2B5EF4-FFF2-40B4-BE49-F238E27FC236}">
                <a16:creationId xmlns:a16="http://schemas.microsoft.com/office/drawing/2014/main" id="{DBCA4332-9366-4F4A-89B3-5648340A7D66}"/>
              </a:ext>
            </a:extLst>
          </p:cNvPr>
          <p:cNvSpPr>
            <a:spLocks noGrp="1"/>
          </p:cNvSpPr>
          <p:nvPr/>
        </p:nvSpPr>
        <p:spPr>
          <a:xfrm>
            <a:off x="10644188" y="1381125"/>
            <a:ext cx="1285875" cy="419100"/>
          </a:xfrm>
          <a:prstGeom prst="rect">
            <a:avLst/>
          </a:prstGeom>
          <a:solidFill>
            <a:srgbClr val="E9F1FA"/>
          </a:solidFill>
          <a:ln w="19050">
            <a:solidFill>
              <a:srgbClr val="2F6FB2"/>
            </a:solidFill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600" b="1" dirty="0" err="1">
                <a:solidFill>
                  <a:srgbClr val="172033"/>
                </a:solidFill>
              </a:rPr>
              <a:t>人力资源部</a:t>
            </a:r>
            <a:endParaRPr sz="1600" b="1" dirty="0">
              <a:solidFill>
                <a:srgbClr val="172033"/>
              </a:solidFill>
            </a:endParaRPr>
          </a:p>
        </p:txBody>
      </p:sp>
      <p:sp>
        <p:nvSpPr>
          <p:cNvPr id="8" name="org-node-region-east">
            <a:extLst>
              <a:ext uri="{FF2B5EF4-FFF2-40B4-BE49-F238E27FC236}">
                <a16:creationId xmlns:a16="http://schemas.microsoft.com/office/drawing/2014/main" id="{E9D518B1-9787-480D-A495-D1135F9898A1}"/>
              </a:ext>
            </a:extLst>
          </p:cNvPr>
          <p:cNvSpPr>
            <a:spLocks noGrp="1"/>
          </p:cNvSpPr>
          <p:nvPr/>
        </p:nvSpPr>
        <p:spPr>
          <a:xfrm>
            <a:off x="418071" y="2047875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华东大区</a:t>
            </a:r>
          </a:p>
        </p:txBody>
      </p:sp>
      <p:sp>
        <p:nvSpPr>
          <p:cNvPr id="9" name="org-node-region-south">
            <a:extLst>
              <a:ext uri="{FF2B5EF4-FFF2-40B4-BE49-F238E27FC236}">
                <a16:creationId xmlns:a16="http://schemas.microsoft.com/office/drawing/2014/main" id="{71C7CDD4-1B32-4AEB-BD32-28AAB4AA8547}"/>
              </a:ext>
            </a:extLst>
          </p:cNvPr>
          <p:cNvSpPr>
            <a:spLocks noGrp="1"/>
          </p:cNvSpPr>
          <p:nvPr/>
        </p:nvSpPr>
        <p:spPr>
          <a:xfrm>
            <a:off x="418071" y="2571750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华南大区</a:t>
            </a:r>
          </a:p>
        </p:txBody>
      </p:sp>
      <p:sp>
        <p:nvSpPr>
          <p:cNvPr id="10" name="org-node-region-north">
            <a:extLst>
              <a:ext uri="{FF2B5EF4-FFF2-40B4-BE49-F238E27FC236}">
                <a16:creationId xmlns:a16="http://schemas.microsoft.com/office/drawing/2014/main" id="{BD189FC7-A23C-4AD3-BBAB-864FB4B91988}"/>
              </a:ext>
            </a:extLst>
          </p:cNvPr>
          <p:cNvSpPr>
            <a:spLocks noGrp="1"/>
          </p:cNvSpPr>
          <p:nvPr/>
        </p:nvSpPr>
        <p:spPr>
          <a:xfrm>
            <a:off x="418071" y="3095625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华北大区</a:t>
            </a:r>
          </a:p>
        </p:txBody>
      </p:sp>
      <p:sp>
        <p:nvSpPr>
          <p:cNvPr id="11" name="org-node-region-west">
            <a:extLst>
              <a:ext uri="{FF2B5EF4-FFF2-40B4-BE49-F238E27FC236}">
                <a16:creationId xmlns:a16="http://schemas.microsoft.com/office/drawing/2014/main" id="{B8406BE5-144E-4861-BB1D-4A5995877D42}"/>
              </a:ext>
            </a:extLst>
          </p:cNvPr>
          <p:cNvSpPr>
            <a:spLocks noGrp="1"/>
          </p:cNvSpPr>
          <p:nvPr/>
        </p:nvSpPr>
        <p:spPr>
          <a:xfrm>
            <a:off x="418071" y="3619500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西部大区</a:t>
            </a:r>
          </a:p>
        </p:txBody>
      </p:sp>
      <p:sp>
        <p:nvSpPr>
          <p:cNvPr id="12" name="org-node-region-central">
            <a:extLst>
              <a:ext uri="{FF2B5EF4-FFF2-40B4-BE49-F238E27FC236}">
                <a16:creationId xmlns:a16="http://schemas.microsoft.com/office/drawing/2014/main" id="{C37B9EC8-5098-40E1-A3CD-8CE56F540EDD}"/>
              </a:ext>
            </a:extLst>
          </p:cNvPr>
          <p:cNvSpPr>
            <a:spLocks noGrp="1"/>
          </p:cNvSpPr>
          <p:nvPr/>
        </p:nvSpPr>
        <p:spPr>
          <a:xfrm>
            <a:off x="418071" y="4143375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中部大区</a:t>
            </a:r>
          </a:p>
        </p:txBody>
      </p:sp>
      <p:sp>
        <p:nvSpPr>
          <p:cNvPr id="13" name="org-node-unit-east-sales">
            <a:extLst>
              <a:ext uri="{FF2B5EF4-FFF2-40B4-BE49-F238E27FC236}">
                <a16:creationId xmlns:a16="http://schemas.microsoft.com/office/drawing/2014/main" id="{46643D19-D6C6-4602-BABC-33C247107E80}"/>
              </a:ext>
            </a:extLst>
          </p:cNvPr>
          <p:cNvSpPr>
            <a:spLocks noGrp="1"/>
          </p:cNvSpPr>
          <p:nvPr/>
        </p:nvSpPr>
        <p:spPr>
          <a:xfrm>
            <a:off x="1905000" y="2047875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华东销售管理部</a:t>
            </a:r>
          </a:p>
        </p:txBody>
      </p:sp>
      <p:sp>
        <p:nvSpPr>
          <p:cNvPr id="14" name="org-node-role-east-sales-manager">
            <a:extLst>
              <a:ext uri="{FF2B5EF4-FFF2-40B4-BE49-F238E27FC236}">
                <a16:creationId xmlns:a16="http://schemas.microsoft.com/office/drawing/2014/main" id="{6F087525-7B89-4A5C-9FD8-869766A3CA23}"/>
              </a:ext>
            </a:extLst>
          </p:cNvPr>
          <p:cNvSpPr>
            <a:spLocks noGrp="1"/>
          </p:cNvSpPr>
          <p:nvPr/>
        </p:nvSpPr>
        <p:spPr>
          <a:xfrm>
            <a:off x="3381375" y="2047875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华东销售经理</a:t>
            </a:r>
          </a:p>
        </p:txBody>
      </p:sp>
      <p:sp>
        <p:nvSpPr>
          <p:cNvPr id="15" name="org-node-role-east-sales-supervisor">
            <a:extLst>
              <a:ext uri="{FF2B5EF4-FFF2-40B4-BE49-F238E27FC236}">
                <a16:creationId xmlns:a16="http://schemas.microsoft.com/office/drawing/2014/main" id="{FADCEEFD-5C41-44E1-A1DB-BE6F941C8BCA}"/>
              </a:ext>
            </a:extLst>
          </p:cNvPr>
          <p:cNvSpPr>
            <a:spLocks noGrp="1"/>
          </p:cNvSpPr>
          <p:nvPr/>
        </p:nvSpPr>
        <p:spPr>
          <a:xfrm>
            <a:off x="4857750" y="2047875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华东销售主管</a:t>
            </a:r>
          </a:p>
        </p:txBody>
      </p:sp>
      <p:sp>
        <p:nvSpPr>
          <p:cNvPr id="16" name="org-node-role-east-sales-rep">
            <a:extLst>
              <a:ext uri="{FF2B5EF4-FFF2-40B4-BE49-F238E27FC236}">
                <a16:creationId xmlns:a16="http://schemas.microsoft.com/office/drawing/2014/main" id="{3F7F41C3-FB40-4B38-A7DB-E2710E181684}"/>
              </a:ext>
            </a:extLst>
          </p:cNvPr>
          <p:cNvSpPr>
            <a:spLocks noGrp="1"/>
          </p:cNvSpPr>
          <p:nvPr/>
        </p:nvSpPr>
        <p:spPr>
          <a:xfrm>
            <a:off x="4857750" y="2638425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华东销售代表</a:t>
            </a:r>
          </a:p>
        </p:txBody>
      </p:sp>
      <p:sp>
        <p:nvSpPr>
          <p:cNvPr id="17" name="org-node-person-east-sales-lead">
            <a:extLst>
              <a:ext uri="{FF2B5EF4-FFF2-40B4-BE49-F238E27FC236}">
                <a16:creationId xmlns:a16="http://schemas.microsoft.com/office/drawing/2014/main" id="{06025F85-D65E-45AB-9FA6-CB85B7E985A7}"/>
              </a:ext>
            </a:extLst>
          </p:cNvPr>
          <p:cNvSpPr>
            <a:spLocks noGrp="1"/>
          </p:cNvSpPr>
          <p:nvPr/>
        </p:nvSpPr>
        <p:spPr>
          <a:xfrm>
            <a:off x="4857750" y="3228975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华东销售负责人（在岗）</a:t>
            </a:r>
          </a:p>
        </p:txBody>
      </p:sp>
      <p:sp>
        <p:nvSpPr>
          <p:cNvPr id="18" name="org-node-unit-east-key-account">
            <a:extLst>
              <a:ext uri="{FF2B5EF4-FFF2-40B4-BE49-F238E27FC236}">
                <a16:creationId xmlns:a16="http://schemas.microsoft.com/office/drawing/2014/main" id="{82847559-95C6-4183-B708-D456C611029A}"/>
              </a:ext>
            </a:extLst>
          </p:cNvPr>
          <p:cNvSpPr>
            <a:spLocks noGrp="1"/>
          </p:cNvSpPr>
          <p:nvPr/>
        </p:nvSpPr>
        <p:spPr>
          <a:xfrm>
            <a:off x="1905000" y="3800475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华东大客户部</a:t>
            </a:r>
          </a:p>
        </p:txBody>
      </p:sp>
      <p:sp>
        <p:nvSpPr>
          <p:cNvPr id="19" name="org-node-unit-east-brand">
            <a:extLst>
              <a:ext uri="{FF2B5EF4-FFF2-40B4-BE49-F238E27FC236}">
                <a16:creationId xmlns:a16="http://schemas.microsoft.com/office/drawing/2014/main" id="{F837A868-3423-4E77-ABB0-B0A83688EA7E}"/>
              </a:ext>
            </a:extLst>
          </p:cNvPr>
          <p:cNvSpPr>
            <a:spLocks noGrp="1"/>
          </p:cNvSpPr>
          <p:nvPr/>
        </p:nvSpPr>
        <p:spPr>
          <a:xfrm>
            <a:off x="1905000" y="4371975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华东品牌组</a:t>
            </a:r>
          </a:p>
        </p:txBody>
      </p:sp>
      <p:sp>
        <p:nvSpPr>
          <p:cNvPr id="20" name="org-node-role-regional-brand-manager">
            <a:extLst>
              <a:ext uri="{FF2B5EF4-FFF2-40B4-BE49-F238E27FC236}">
                <a16:creationId xmlns:a16="http://schemas.microsoft.com/office/drawing/2014/main" id="{83E52652-8C48-4E91-A109-8B9D357E9971}"/>
              </a:ext>
            </a:extLst>
          </p:cNvPr>
          <p:cNvSpPr>
            <a:spLocks noGrp="1"/>
          </p:cNvSpPr>
          <p:nvPr/>
        </p:nvSpPr>
        <p:spPr>
          <a:xfrm>
            <a:off x="3381375" y="4371975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区域品牌经理</a:t>
            </a:r>
          </a:p>
        </p:txBody>
      </p:sp>
      <p:sp>
        <p:nvSpPr>
          <p:cNvPr id="21" name="org-node-role-east-brand-specialist">
            <a:extLst>
              <a:ext uri="{FF2B5EF4-FFF2-40B4-BE49-F238E27FC236}">
                <a16:creationId xmlns:a16="http://schemas.microsoft.com/office/drawing/2014/main" id="{C3130802-EA08-4890-8A6B-9ECDD76D00E3}"/>
              </a:ext>
            </a:extLst>
          </p:cNvPr>
          <p:cNvSpPr>
            <a:spLocks noGrp="1"/>
          </p:cNvSpPr>
          <p:nvPr/>
        </p:nvSpPr>
        <p:spPr>
          <a:xfrm>
            <a:off x="4857750" y="4371975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华东品牌专员</a:t>
            </a:r>
          </a:p>
        </p:txBody>
      </p:sp>
      <p:sp>
        <p:nvSpPr>
          <p:cNvPr id="22" name="org-node-role-south-sales-manager">
            <a:extLst>
              <a:ext uri="{FF2B5EF4-FFF2-40B4-BE49-F238E27FC236}">
                <a16:creationId xmlns:a16="http://schemas.microsoft.com/office/drawing/2014/main" id="{840C0E7B-EABE-42C8-B285-662CA19859A7}"/>
              </a:ext>
            </a:extLst>
          </p:cNvPr>
          <p:cNvSpPr>
            <a:spLocks noGrp="1"/>
          </p:cNvSpPr>
          <p:nvPr/>
        </p:nvSpPr>
        <p:spPr>
          <a:xfrm>
            <a:off x="1905000" y="4953000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华南销售经理</a:t>
            </a:r>
          </a:p>
        </p:txBody>
      </p:sp>
      <p:sp>
        <p:nvSpPr>
          <p:cNvPr id="23" name="org-node-role-north-sales-manager">
            <a:extLst>
              <a:ext uri="{FF2B5EF4-FFF2-40B4-BE49-F238E27FC236}">
                <a16:creationId xmlns:a16="http://schemas.microsoft.com/office/drawing/2014/main" id="{F38D711F-D244-401F-8A24-F805EF9386EA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华北销售经理</a:t>
            </a:r>
          </a:p>
        </p:txBody>
      </p:sp>
      <p:sp>
        <p:nvSpPr>
          <p:cNvPr id="24" name="org-node-role-hq-brand-director">
            <a:extLst>
              <a:ext uri="{FF2B5EF4-FFF2-40B4-BE49-F238E27FC236}">
                <a16:creationId xmlns:a16="http://schemas.microsoft.com/office/drawing/2014/main" id="{1743838F-CC03-4655-843C-6C9E83097396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品牌总监</a:t>
            </a:r>
          </a:p>
        </p:txBody>
      </p:sp>
      <p:sp>
        <p:nvSpPr>
          <p:cNvPr id="25" name="org-node-role-hq-brand-strategy-manager">
            <a:extLst>
              <a:ext uri="{FF2B5EF4-FFF2-40B4-BE49-F238E27FC236}">
                <a16:creationId xmlns:a16="http://schemas.microsoft.com/office/drawing/2014/main" id="{E55B4836-91FE-4939-BF97-34A8F7600BC8}"/>
              </a:ext>
            </a:extLst>
          </p:cNvPr>
          <p:cNvSpPr>
            <a:spLocks noGrp="1"/>
          </p:cNvSpPr>
          <p:nvPr/>
        </p:nvSpPr>
        <p:spPr>
          <a:xfrm>
            <a:off x="6477000" y="2714625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 dirty="0" err="1">
                <a:solidFill>
                  <a:srgbClr val="172033"/>
                </a:solidFill>
              </a:rPr>
              <a:t>品牌策略经理</a:t>
            </a:r>
            <a:endParaRPr sz="1400" b="0" dirty="0">
              <a:solidFill>
                <a:srgbClr val="172033"/>
              </a:solidFill>
            </a:endParaRPr>
          </a:p>
        </p:txBody>
      </p:sp>
      <p:sp>
        <p:nvSpPr>
          <p:cNvPr id="26" name="org-node-role-supply-planning-manager">
            <a:extLst>
              <a:ext uri="{FF2B5EF4-FFF2-40B4-BE49-F238E27FC236}">
                <a16:creationId xmlns:a16="http://schemas.microsoft.com/office/drawing/2014/main" id="{288A1846-A615-41C7-B801-9497CD1C184B}"/>
              </a:ext>
            </a:extLst>
          </p:cNvPr>
          <p:cNvSpPr>
            <a:spLocks noGrp="1"/>
          </p:cNvSpPr>
          <p:nvPr/>
        </p:nvSpPr>
        <p:spPr>
          <a:xfrm>
            <a:off x="7858125" y="2190750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 dirty="0" err="1">
                <a:solidFill>
                  <a:srgbClr val="172033"/>
                </a:solidFill>
              </a:rPr>
              <a:t>供应计划经理</a:t>
            </a:r>
            <a:endParaRPr sz="1400" b="0" dirty="0">
              <a:solidFill>
                <a:srgbClr val="172033"/>
              </a:solidFill>
            </a:endParaRPr>
          </a:p>
        </p:txBody>
      </p:sp>
      <p:sp>
        <p:nvSpPr>
          <p:cNvPr id="27" name="org-node-role-supply-buyer">
            <a:extLst>
              <a:ext uri="{FF2B5EF4-FFF2-40B4-BE49-F238E27FC236}">
                <a16:creationId xmlns:a16="http://schemas.microsoft.com/office/drawing/2014/main" id="{FB9BDEE6-9875-4874-ADE4-BA23928EB3CD}"/>
              </a:ext>
            </a:extLst>
          </p:cNvPr>
          <p:cNvSpPr>
            <a:spLocks noGrp="1"/>
          </p:cNvSpPr>
          <p:nvPr/>
        </p:nvSpPr>
        <p:spPr>
          <a:xfrm>
            <a:off x="7858125" y="2714625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采购经理</a:t>
            </a:r>
          </a:p>
        </p:txBody>
      </p:sp>
      <p:sp>
        <p:nvSpPr>
          <p:cNvPr id="28" name="org-node-role-finance-manager">
            <a:extLst>
              <a:ext uri="{FF2B5EF4-FFF2-40B4-BE49-F238E27FC236}">
                <a16:creationId xmlns:a16="http://schemas.microsoft.com/office/drawing/2014/main" id="{373BAAC6-8A7E-4DF1-912C-5845F7C7FD34}"/>
              </a:ext>
            </a:extLst>
          </p:cNvPr>
          <p:cNvSpPr>
            <a:spLocks noGrp="1"/>
          </p:cNvSpPr>
          <p:nvPr/>
        </p:nvSpPr>
        <p:spPr>
          <a:xfrm>
            <a:off x="9239250" y="2190750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财务经理</a:t>
            </a:r>
          </a:p>
        </p:txBody>
      </p:sp>
      <p:sp>
        <p:nvSpPr>
          <p:cNvPr id="29" name="org-node-role-hr-manager">
            <a:extLst>
              <a:ext uri="{FF2B5EF4-FFF2-40B4-BE49-F238E27FC236}">
                <a16:creationId xmlns:a16="http://schemas.microsoft.com/office/drawing/2014/main" id="{CD891B2F-F95A-4720-B6E9-B9737FD34942}"/>
              </a:ext>
            </a:extLst>
          </p:cNvPr>
          <p:cNvSpPr>
            <a:spLocks noGrp="1"/>
          </p:cNvSpPr>
          <p:nvPr/>
        </p:nvSpPr>
        <p:spPr>
          <a:xfrm>
            <a:off x="10620375" y="2190750"/>
            <a:ext cx="1333500" cy="3619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 dirty="0" err="1">
                <a:solidFill>
                  <a:srgbClr val="172033"/>
                </a:solidFill>
              </a:rPr>
              <a:t>人力资源经理</a:t>
            </a:r>
            <a:endParaRPr sz="1400" b="0" dirty="0">
              <a:solidFill>
                <a:srgbClr val="172033"/>
              </a:solidFill>
            </a:endParaRPr>
          </a:p>
        </p:txBody>
      </p:sp>
      <p:sp>
        <p:nvSpPr>
          <p:cNvPr id="30" name="org-team-team-launch">
            <a:extLst>
              <a:ext uri="{FF2B5EF4-FFF2-40B4-BE49-F238E27FC236}">
                <a16:creationId xmlns:a16="http://schemas.microsoft.com/office/drawing/2014/main" id="{05A7F838-B36F-4447-B877-BBEC92E8B1E9}"/>
              </a:ext>
            </a:extLst>
          </p:cNvPr>
          <p:cNvSpPr>
            <a:spLocks noGrp="1"/>
          </p:cNvSpPr>
          <p:nvPr/>
        </p:nvSpPr>
        <p:spPr>
          <a:xfrm>
            <a:off x="6631462" y="4562475"/>
            <a:ext cx="5143500" cy="1428750"/>
          </a:xfrm>
          <a:prstGeom prst="rect">
            <a:avLst/>
          </a:prstGeom>
          <a:solidFill>
            <a:srgbClr val="FFF0E2"/>
          </a:solidFill>
          <a:ln w="14288">
            <a:solidFill>
              <a:srgbClr val="E8872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org-team-team-launch-role-east-sales-manager">
            <a:extLst>
              <a:ext uri="{FF2B5EF4-FFF2-40B4-BE49-F238E27FC236}">
                <a16:creationId xmlns:a16="http://schemas.microsoft.com/office/drawing/2014/main" id="{F7E48100-137F-49B2-BB06-009E798B9831}"/>
              </a:ext>
            </a:extLst>
          </p:cNvPr>
          <p:cNvSpPr>
            <a:spLocks noGrp="1"/>
          </p:cNvSpPr>
          <p:nvPr/>
        </p:nvSpPr>
        <p:spPr>
          <a:xfrm>
            <a:off x="6902280" y="5191125"/>
            <a:ext cx="1428750" cy="400050"/>
          </a:xfrm>
          <a:prstGeom prst="rect">
            <a:avLst/>
          </a:prstGeom>
          <a:solidFill>
            <a:srgbClr val="FFFFFF"/>
          </a:solidFill>
          <a:ln w="14288">
            <a:solidFill>
              <a:srgbClr val="E8872D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华东销售经理</a:t>
            </a:r>
          </a:p>
        </p:txBody>
      </p:sp>
      <p:sp>
        <p:nvSpPr>
          <p:cNvPr id="32" name="org-team-team-launch-role-regional-brand-manager">
            <a:extLst>
              <a:ext uri="{FF2B5EF4-FFF2-40B4-BE49-F238E27FC236}">
                <a16:creationId xmlns:a16="http://schemas.microsoft.com/office/drawing/2014/main" id="{171766B8-31FE-4EAA-85CA-8225E7A33600}"/>
              </a:ext>
            </a:extLst>
          </p:cNvPr>
          <p:cNvSpPr>
            <a:spLocks noGrp="1"/>
          </p:cNvSpPr>
          <p:nvPr/>
        </p:nvSpPr>
        <p:spPr>
          <a:xfrm>
            <a:off x="8473905" y="5191125"/>
            <a:ext cx="1428750" cy="400050"/>
          </a:xfrm>
          <a:prstGeom prst="rect">
            <a:avLst/>
          </a:prstGeom>
          <a:solidFill>
            <a:srgbClr val="FFFFFF"/>
          </a:solidFill>
          <a:ln w="14288">
            <a:solidFill>
              <a:srgbClr val="E8872D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 dirty="0" err="1">
                <a:solidFill>
                  <a:srgbClr val="172033"/>
                </a:solidFill>
              </a:rPr>
              <a:t>区域品牌经理</a:t>
            </a:r>
            <a:endParaRPr sz="1400" b="0" dirty="0">
              <a:solidFill>
                <a:srgbClr val="172033"/>
              </a:solidFill>
            </a:endParaRPr>
          </a:p>
        </p:txBody>
      </p:sp>
      <p:sp>
        <p:nvSpPr>
          <p:cNvPr id="33" name="org-team-team-launch-role-supply-planning-manager">
            <a:extLst>
              <a:ext uri="{FF2B5EF4-FFF2-40B4-BE49-F238E27FC236}">
                <a16:creationId xmlns:a16="http://schemas.microsoft.com/office/drawing/2014/main" id="{F47B51E5-F401-4062-A596-3AB91E771FC3}"/>
              </a:ext>
            </a:extLst>
          </p:cNvPr>
          <p:cNvSpPr>
            <a:spLocks noGrp="1"/>
          </p:cNvSpPr>
          <p:nvPr/>
        </p:nvSpPr>
        <p:spPr>
          <a:xfrm>
            <a:off x="10045530" y="5191125"/>
            <a:ext cx="1428750" cy="400050"/>
          </a:xfrm>
          <a:prstGeom prst="rect">
            <a:avLst/>
          </a:prstGeom>
          <a:solidFill>
            <a:srgbClr val="FFFFFF"/>
          </a:solidFill>
          <a:ln w="14288">
            <a:solidFill>
              <a:srgbClr val="E8872D"/>
            </a:solidFill>
            <a:prstDash val="solid"/>
          </a:ln>
        </p:spPr>
        <p:txBody>
          <a:bodyPr anchor="ctr"/>
          <a:lstStyle/>
          <a:p>
            <a:pPr algn="ctr">
              <a:defRPr sz="16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供应计划经理</a:t>
            </a:r>
          </a:p>
        </p:txBody>
      </p:sp>
      <p:sp>
        <p:nvSpPr>
          <p:cNvPr id="83" name="org-label-team-launch">
            <a:extLst>
              <a:ext uri="{FF2B5EF4-FFF2-40B4-BE49-F238E27FC236}">
                <a16:creationId xmlns:a16="http://schemas.microsoft.com/office/drawing/2014/main" id="{2498D791-01F7-4B9D-8106-21FD5F580C26}"/>
              </a:ext>
            </a:extLst>
          </p:cNvPr>
          <p:cNvSpPr>
            <a:spLocks noGrp="1"/>
          </p:cNvSpPr>
          <p:nvPr/>
        </p:nvSpPr>
        <p:spPr>
          <a:xfrm>
            <a:off x="6883230" y="4638674"/>
            <a:ext cx="4800600" cy="4000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E8872D"/>
                </a:solidFill>
              </a:defRPr>
            </a:pPr>
            <a:r>
              <a:rPr sz="1600" b="1" dirty="0" err="1">
                <a:solidFill>
                  <a:srgbClr val="E8872D"/>
                </a:solidFill>
              </a:rPr>
              <a:t>新品上市项目组</a:t>
            </a:r>
            <a:endParaRPr sz="1600" b="1" dirty="0">
              <a:solidFill>
                <a:srgbClr val="E8872D"/>
              </a:solidFill>
            </a:endParaRPr>
          </a:p>
          <a:p>
            <a:pPr algn="l">
              <a:defRPr sz="1800" b="1">
                <a:solidFill>
                  <a:srgbClr val="E8872D"/>
                </a:solidFill>
              </a:defRPr>
            </a:pPr>
            <a:r>
              <a:rPr sz="1600" b="1" dirty="0">
                <a:solidFill>
                  <a:srgbClr val="E8872D"/>
                </a:solidFill>
              </a:rPr>
              <a:t>2026-09—2027-03</a:t>
            </a:r>
          </a:p>
        </p:txBody>
      </p:sp>
      <p:sp>
        <p:nvSpPr>
          <p:cNvPr id="84" name="org-label-legend">
            <a:extLst>
              <a:ext uri="{FF2B5EF4-FFF2-40B4-BE49-F238E27FC236}">
                <a16:creationId xmlns:a16="http://schemas.microsoft.com/office/drawing/2014/main" id="{A2694858-8205-495C-9F69-A85294262075}"/>
              </a:ext>
            </a:extLst>
          </p:cNvPr>
          <p:cNvSpPr>
            <a:spLocks noGrp="1"/>
          </p:cNvSpPr>
          <p:nvPr/>
        </p:nvSpPr>
        <p:spPr>
          <a:xfrm>
            <a:off x="381000" y="61912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00" b="0">
                <a:solidFill>
                  <a:srgbClr val="697386"/>
                </a:solidFill>
              </a:defRPr>
            </a:pPr>
            <a:r>
              <a:rPr sz="1200" b="0" dirty="0" err="1">
                <a:solidFill>
                  <a:srgbClr val="697386"/>
                </a:solidFill>
              </a:rPr>
              <a:t>实线：直接汇报</a:t>
            </a:r>
            <a:r>
              <a:rPr sz="1200" b="0" dirty="0">
                <a:solidFill>
                  <a:srgbClr val="697386"/>
                </a:solidFill>
              </a:rPr>
              <a:t>    </a:t>
            </a:r>
            <a:r>
              <a:rPr sz="1200" b="0" dirty="0" err="1">
                <a:solidFill>
                  <a:srgbClr val="697386"/>
                </a:solidFill>
              </a:rPr>
              <a:t>虚线：职能管理</a:t>
            </a:r>
            <a:r>
              <a:rPr sz="1200" b="0" dirty="0">
                <a:solidFill>
                  <a:srgbClr val="697386"/>
                </a:solidFill>
              </a:rPr>
              <a:t> / </a:t>
            </a:r>
            <a:r>
              <a:rPr sz="1200" b="0" dirty="0" err="1">
                <a:solidFill>
                  <a:srgbClr val="697386"/>
                </a:solidFill>
              </a:rPr>
              <a:t>临时项目成员</a:t>
            </a:r>
            <a:endParaRPr sz="1200" b="0" dirty="0">
              <a:solidFill>
                <a:srgbClr val="697386"/>
              </a:solidFill>
            </a:endParaRPr>
          </a:p>
        </p:txBody>
      </p:sp>
      <p:cxnSp>
        <p:nvCxnSpPr>
          <p:cNvPr id="86" name="org-rel-rel-brand-director">
            <a:extLst>
              <a:ext uri="{FF2B5EF4-FFF2-40B4-BE49-F238E27FC236}">
                <a16:creationId xmlns:a16="http://schemas.microsoft.com/office/drawing/2014/main" id="{8B76EAEF-6F01-D233-B430-D2D96F7A9E96}"/>
              </a:ext>
            </a:extLst>
          </p:cNvPr>
          <p:cNvCxnSpPr>
            <a:cxnSpLocks/>
            <a:stCxn id="32" idx="0"/>
            <a:endCxn id="25" idx="2"/>
          </p:cNvCxnSpPr>
          <p:nvPr/>
        </p:nvCxnSpPr>
        <p:spPr>
          <a:xfrm rot="16200000" flipV="1">
            <a:off x="7108740" y="3111585"/>
            <a:ext cx="2114550" cy="2044530"/>
          </a:xfrm>
          <a:prstGeom prst="bentConnector3">
            <a:avLst>
              <a:gd name="adj1" fmla="val 83893"/>
            </a:avLst>
          </a:prstGeom>
          <a:noFill/>
          <a:ln w="17145">
            <a:solidFill>
              <a:srgbClr val="E8872D"/>
            </a:solidFill>
            <a:prstDash val="dash"/>
          </a:ln>
        </p:spPr>
      </p:cxnSp>
      <p:cxnSp>
        <p:nvCxnSpPr>
          <p:cNvPr id="90" name="org-rel-rel-brand-director">
            <a:extLst>
              <a:ext uri="{FF2B5EF4-FFF2-40B4-BE49-F238E27FC236}">
                <a16:creationId xmlns:a16="http://schemas.microsoft.com/office/drawing/2014/main" id="{DEB6C76F-8468-6D99-C9E2-6D863C3DC28D}"/>
              </a:ext>
            </a:extLst>
          </p:cNvPr>
          <p:cNvCxnSpPr>
            <a:cxnSpLocks/>
            <a:stCxn id="31" idx="0"/>
            <a:endCxn id="14" idx="2"/>
          </p:cNvCxnSpPr>
          <p:nvPr/>
        </p:nvCxnSpPr>
        <p:spPr>
          <a:xfrm rot="16200000" flipV="1">
            <a:off x="4522703" y="2097172"/>
            <a:ext cx="2667000" cy="3520905"/>
          </a:xfrm>
          <a:prstGeom prst="bentConnector3">
            <a:avLst>
              <a:gd name="adj1" fmla="val 42123"/>
            </a:avLst>
          </a:prstGeom>
          <a:noFill/>
          <a:ln w="17145">
            <a:solidFill>
              <a:srgbClr val="E8872D"/>
            </a:solidFill>
            <a:prstDash val="dash"/>
          </a:ln>
        </p:spPr>
      </p:cxnSp>
      <p:cxnSp>
        <p:nvCxnSpPr>
          <p:cNvPr id="94" name="org-rel-rel-brand-director">
            <a:extLst>
              <a:ext uri="{FF2B5EF4-FFF2-40B4-BE49-F238E27FC236}">
                <a16:creationId xmlns:a16="http://schemas.microsoft.com/office/drawing/2014/main" id="{8D8058B7-8F7D-13C3-4629-95D172B2054C}"/>
              </a:ext>
            </a:extLst>
          </p:cNvPr>
          <p:cNvCxnSpPr>
            <a:cxnSpLocks/>
            <a:stCxn id="4" idx="1"/>
            <a:endCxn id="21" idx="3"/>
          </p:cNvCxnSpPr>
          <p:nvPr/>
        </p:nvCxnSpPr>
        <p:spPr>
          <a:xfrm rot="10800000" flipV="1">
            <a:off x="6286500" y="1590674"/>
            <a:ext cx="190500" cy="3019425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2F6FB2"/>
            </a:solidFill>
            <a:prstDash val="dash"/>
          </a:ln>
        </p:spPr>
      </p:cxnSp>
      <p:cxnSp>
        <p:nvCxnSpPr>
          <p:cNvPr id="119" name="org-rel-rel-brand-director">
            <a:extLst>
              <a:ext uri="{FF2B5EF4-FFF2-40B4-BE49-F238E27FC236}">
                <a16:creationId xmlns:a16="http://schemas.microsoft.com/office/drawing/2014/main" id="{F585882A-2CA9-258B-1C37-820E7263EE65}"/>
              </a:ext>
            </a:extLst>
          </p:cNvPr>
          <p:cNvCxnSpPr>
            <a:cxnSpLocks/>
            <a:stCxn id="33" idx="0"/>
            <a:endCxn id="26" idx="2"/>
          </p:cNvCxnSpPr>
          <p:nvPr/>
        </p:nvCxnSpPr>
        <p:spPr>
          <a:xfrm rot="16200000" flipV="1">
            <a:off x="8323178" y="2754398"/>
            <a:ext cx="2638425" cy="2235030"/>
          </a:xfrm>
          <a:prstGeom prst="bentConnector3">
            <a:avLst>
              <a:gd name="adj1" fmla="val 96366"/>
            </a:avLst>
          </a:prstGeom>
          <a:noFill/>
          <a:ln w="17145">
            <a:solidFill>
              <a:srgbClr val="E8872D"/>
            </a:solidFill>
            <a:prstDash val="dash"/>
          </a:ln>
        </p:spPr>
      </p:cxnSp>
      <p:cxnSp>
        <p:nvCxnSpPr>
          <p:cNvPr id="145" name="org-rel-rel-brand-director">
            <a:extLst>
              <a:ext uri="{FF2B5EF4-FFF2-40B4-BE49-F238E27FC236}">
                <a16:creationId xmlns:a16="http://schemas.microsoft.com/office/drawing/2014/main" id="{30B590AA-E6AF-A784-F17E-919104F7ECA1}"/>
              </a:ext>
            </a:extLst>
          </p:cNvPr>
          <p:cNvCxnSpPr>
            <a:cxnSpLocks/>
            <a:stCxn id="5" idx="2"/>
            <a:endCxn id="26" idx="0"/>
          </p:cNvCxnSpPr>
          <p:nvPr/>
        </p:nvCxnSpPr>
        <p:spPr>
          <a:xfrm rot="16200000" flipH="1">
            <a:off x="8305801" y="1995487"/>
            <a:ext cx="390525" cy="0"/>
          </a:xfrm>
          <a:prstGeom prst="bentConnector3">
            <a:avLst>
              <a:gd name="adj1" fmla="val 50000"/>
            </a:avLst>
          </a:prstGeom>
          <a:ln w="14288">
            <a:solidFill>
              <a:srgbClr val="AEB8C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0923894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Macintosh PowerPoint</Application>
  <DocSecurity>0</DocSecurity>
  <PresentationFormat>宽屏</PresentationFormat>
  <Paragraphs>35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revision>2</cp:revision>
  <dcterms:created xsi:type="dcterms:W3CDTF">2026-08-05T05:01:46Z</dcterms:created>
  <dcterms:modified xsi:type="dcterms:W3CDTF">2026-08-05T05:53:14Z</dcterms:modified>
</cp:coreProperties>
</file>