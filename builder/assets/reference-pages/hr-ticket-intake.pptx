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a6f1533d5d4cb4" /><Relationship Type="http://schemas.openxmlformats.org/officeDocument/2006/relationships/extended-properties" Target="/docProps/app.xml" Id="Re90521bd371b40a6" /><Relationship Type="http://schemas.openxmlformats.org/officeDocument/2006/relationships/officeDocument" Target="/ppt/presentation.xml" Id="R64853518aa8e40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540e38a4264745"/>
  </p:sldMasterIdLst>
  <p:notesMasterIdLst>
    <p:notesMasterId xmlns:r="http://schemas.openxmlformats.org/officeDocument/2006/relationships" r:id="Rec486e0b44c2408b"/>
  </p:notesMasterIdLst>
  <p:sldIdLst>
    <p:sldId xmlns:r="http://schemas.openxmlformats.org/officeDocument/2006/relationships" id="256" r:id="Raab9f7be17574b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769c1197fe4dc2" /><Relationship Type="http://schemas.openxmlformats.org/officeDocument/2006/relationships/slideMaster" Target="/ppt/slideMasters/slideMaster1.xml" Id="Re1540e38a4264745" /><Relationship Type="http://schemas.openxmlformats.org/officeDocument/2006/relationships/notesMaster" Target="/ppt/notesMasters/notesMaster1.xml" Id="Rec486e0b44c2408b" /><Relationship Type="http://schemas.openxmlformats.org/officeDocument/2006/relationships/presProps" Target="/ppt/presProps.xml" Id="R35fae559d3e645ad" /><Relationship Type="http://schemas.openxmlformats.org/officeDocument/2006/relationships/tableStyles" Target="/ppt/tableStyles.xml" Id="R7cfbda659206460c" /><Relationship Type="http://schemas.openxmlformats.org/officeDocument/2006/relationships/slide" Target="/ppt/slides/slide1.xml" Id="Raab9f7be17574b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8ddd598b6346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3afb95507c4a6b" /><Relationship Type="http://schemas.openxmlformats.org/officeDocument/2006/relationships/notesMaster" Target="/ppt/notesMasters/notesMaster1.xml" Id="R103899da053f4f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9ce16876c41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0d2965254b4b8c" /><Relationship Type="http://schemas.openxmlformats.org/officeDocument/2006/relationships/slideLayout" Target="/ppt/slideLayouts/slideLayout1.xml" Id="R8ce72a1f7f6442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e72a1f7f6442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b8ee71b964c39" /><Relationship Type="http://schemas.openxmlformats.org/officeDocument/2006/relationships/notesSlide" Target="/ppt/notesSlides/notesSlide1.xml" Id="Rdb520e40a11646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ge-title">
            <a:extLst xmlns:a="http://schemas.openxmlformats.org/drawingml/2006/main">
              <a:ext uri="{FF2B5EF4-FFF2-40B4-BE49-F238E27FC236}">
                <a16:creationId xmlns:a16="http://schemas.microsoft.com/office/drawing/2014/main" id="{E7C4A4D9-E9A8-46D4-9B03-F7032175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one hit rate 78.4%, transfer labor rate 14.8%, the proof and change entrance still allow employees to find their way again.</a:t>
            </a:r>
          </a:p>
        </p:txBody>
      </p:sp>
      <p:sp>
        <p:nvSpPr>
          <p:cNvPr id="2" name="metric-1">
            <a:extLst xmlns:a="http://schemas.openxmlformats.org/drawingml/2006/main">
              <a:ext uri="{FF2B5EF4-FFF2-40B4-BE49-F238E27FC236}">
                <a16:creationId xmlns:a16="http://schemas.microsoft.com/office/drawing/2014/main" id="{9466DBF1-BE1D-4D4D-B70D-8FEB6EAF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2673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one hit rate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78.4%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target 85%</a:t>
            </a:r>
          </a:p>
        </p:txBody>
      </p:sp>
      <p:sp>
        <p:nvSpPr>
          <p:cNvPr id="3" name="metric-2">
            <a:extLst xmlns:a="http://schemas.openxmlformats.org/drawingml/2006/main">
              <a:ext uri="{FF2B5EF4-FFF2-40B4-BE49-F238E27FC236}">
                <a16:creationId xmlns:a16="http://schemas.microsoft.com/office/drawing/2014/main" id="{22F9B77A-2925-4F99-B647-08B2CB94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1200150"/>
            <a:ext cx="2673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Transfer labor rate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14.8%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target &lt;10%</a:t>
            </a:r>
          </a:p>
        </p:txBody>
      </p:sp>
      <p:sp>
        <p:nvSpPr>
          <p:cNvPr id="4" name="metric-3">
            <a:extLst xmlns:a="http://schemas.openxmlformats.org/drawingml/2006/main">
              <a:ext uri="{FF2B5EF4-FFF2-40B4-BE49-F238E27FC236}">
                <a16:creationId xmlns:a16="http://schemas.microsoft.com/office/drawing/2014/main" id="{A88A1D75-D4FE-4A07-A13E-0DBB02C6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650" y="1200150"/>
            <a:ext cx="2673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directory completeness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82%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target 90%</a:t>
            </a:r>
          </a:p>
        </p:txBody>
      </p:sp>
      <p:sp>
        <p:nvSpPr>
          <p:cNvPr id="5" name="intake-table">
            <a:extLst xmlns:a="http://schemas.openxmlformats.org/drawingml/2006/main">
              <a:ext uri="{FF2B5EF4-FFF2-40B4-BE49-F238E27FC236}">
                <a16:creationId xmlns:a16="http://schemas.microsoft.com/office/drawing/2014/main" id="{41CD7CDF-8269-4382-909A-6E269C29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82486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6" name="intent-1">
            <a:extLst xmlns:a="http://schemas.openxmlformats.org/drawingml/2006/main">
              <a:ext uri="{FF2B5EF4-FFF2-40B4-BE49-F238E27FC236}">
                <a16:creationId xmlns:a16="http://schemas.microsoft.com/office/drawing/2014/main" id="{3BADFB7D-B264-443A-8301-036226E1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66950"/>
            <a:ext cx="170973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one hit</a:t>
            </a:r>
          </a:p>
        </p:txBody>
      </p:sp>
      <p:sp>
        <p:nvSpPr>
          <p:cNvPr id="7" name="intent-2">
            <a:extLst xmlns:a="http://schemas.openxmlformats.org/drawingml/2006/main">
              <a:ext uri="{FF2B5EF4-FFF2-40B4-BE49-F238E27FC236}">
                <a16:creationId xmlns:a16="http://schemas.microsoft.com/office/drawing/2014/main" id="{1C5E3155-F0E3-4F03-8B79-13E12DAC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66950"/>
            <a:ext cx="170973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Second clarification</a:t>
            </a:r>
          </a:p>
        </p:txBody>
      </p:sp>
      <p:sp>
        <p:nvSpPr>
          <p:cNvPr id="8" name="intent-3">
            <a:extLst xmlns:a="http://schemas.openxmlformats.org/drawingml/2006/main">
              <a:ext uri="{FF2B5EF4-FFF2-40B4-BE49-F238E27FC236}">
                <a16:creationId xmlns:a16="http://schemas.microsoft.com/office/drawing/2014/main" id="{B59F7062-9947-4596-8CED-B6E04FD4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66950"/>
            <a:ext cx="170973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Switch to manual</a:t>
            </a:r>
          </a:p>
        </p:txBody>
      </p:sp>
      <p:sp>
        <p:nvSpPr>
          <p:cNvPr id="9" name="intent-4">
            <a:extLst xmlns:a="http://schemas.openxmlformats.org/drawingml/2006/main">
              <a:ext uri="{FF2B5EF4-FFF2-40B4-BE49-F238E27FC236}">
                <a16:creationId xmlns:a16="http://schemas.microsoft.com/office/drawing/2014/main" id="{AD58BBBF-BF30-4C8B-A906-F0296FD7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713" y="2266950"/>
            <a:ext cx="170973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Others</a:t>
            </a:r>
          </a:p>
        </p:txBody>
      </p:sp>
      <p:sp>
        <p:nvSpPr>
          <p:cNvPr id="10" name="intake-service-1">
            <a:extLst xmlns:a="http://schemas.openxmlformats.org/drawingml/2006/main">
              <a:ext uri="{FF2B5EF4-FFF2-40B4-BE49-F238E27FC236}">
                <a16:creationId xmlns:a16="http://schemas.microsoft.com/office/drawing/2014/main" id="{0FF66F86-F5BA-449A-B4E8-A23A689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salary</a:t>
            </a:r>
          </a:p>
        </p:txBody>
      </p:sp>
      <p:sp>
        <p:nvSpPr>
          <p:cNvPr id="11" name="intake-1-1">
            <a:extLst xmlns:a="http://schemas.openxmlformats.org/drawingml/2006/main">
              <a:ext uri="{FF2B5EF4-FFF2-40B4-BE49-F238E27FC236}">
                <a16:creationId xmlns:a16="http://schemas.microsoft.com/office/drawing/2014/main" id="{0518EAFA-3501-4F87-B26F-4250E855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6700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820</a:t>
            </a:r>
          </a:p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hit 89%</a:t>
            </a:r>
          </a:p>
        </p:txBody>
      </p:sp>
      <p:sp>
        <p:nvSpPr>
          <p:cNvPr id="12" name="intake-1-2">
            <a:extLst xmlns:a="http://schemas.openxmlformats.org/drawingml/2006/main">
              <a:ext uri="{FF2B5EF4-FFF2-40B4-BE49-F238E27FC236}">
                <a16:creationId xmlns:a16="http://schemas.microsoft.com/office/drawing/2014/main" id="{3627E7EC-BA35-4E27-88D3-CE400891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66700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80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hit 62%</a:t>
            </a:r>
          </a:p>
        </p:txBody>
      </p:sp>
      <p:sp>
        <p:nvSpPr>
          <p:cNvPr id="13" name="intake-1-3">
            <a:extLst xmlns:a="http://schemas.openxmlformats.org/drawingml/2006/main">
              <a:ext uri="{FF2B5EF4-FFF2-40B4-BE49-F238E27FC236}">
                <a16:creationId xmlns:a16="http://schemas.microsoft.com/office/drawing/2014/main" id="{62B36B7D-55A0-4474-B04D-EA4A47CC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66700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100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hit 54%</a:t>
            </a:r>
          </a:p>
        </p:txBody>
      </p:sp>
      <p:sp>
        <p:nvSpPr>
          <p:cNvPr id="14" name="intake-1-4">
            <a:extLst xmlns:a="http://schemas.openxmlformats.org/drawingml/2006/main">
              <a:ext uri="{FF2B5EF4-FFF2-40B4-BE49-F238E27FC236}">
                <a16:creationId xmlns:a16="http://schemas.microsoft.com/office/drawing/2014/main" id="{C65A1AA5-FCE2-4910-B2F6-E336D843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713" y="266700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20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hit 46%</a:t>
            </a:r>
          </a:p>
        </p:txBody>
      </p:sp>
      <p:sp>
        <p:nvSpPr>
          <p:cNvPr id="15" name="intake-service-2">
            <a:extLst xmlns:a="http://schemas.openxmlformats.org/drawingml/2006/main">
              <a:ext uri="{FF2B5EF4-FFF2-40B4-BE49-F238E27FC236}">
                <a16:creationId xmlns:a16="http://schemas.microsoft.com/office/drawing/2014/main" id="{54A20322-FBA0-47CB-B9AE-8E1C490E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welfare</a:t>
            </a:r>
          </a:p>
        </p:txBody>
      </p:sp>
      <p:sp>
        <p:nvSpPr>
          <p:cNvPr id="16" name="intake-2-1">
            <a:extLst xmlns:a="http://schemas.openxmlformats.org/drawingml/2006/main">
              <a:ext uri="{FF2B5EF4-FFF2-40B4-BE49-F238E27FC236}">
                <a16:creationId xmlns:a16="http://schemas.microsoft.com/office/drawing/2014/main" id="{86D0DB63-0DD3-42B6-91BD-176DB997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1945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840</a:t>
            </a:r>
          </a:p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hit 89%</a:t>
            </a:r>
          </a:p>
        </p:txBody>
      </p:sp>
      <p:sp>
        <p:nvSpPr>
          <p:cNvPr id="17" name="intake-2-2">
            <a:extLst xmlns:a="http://schemas.openxmlformats.org/drawingml/2006/main">
              <a:ext uri="{FF2B5EF4-FFF2-40B4-BE49-F238E27FC236}">
                <a16:creationId xmlns:a16="http://schemas.microsoft.com/office/drawing/2014/main" id="{7F038B01-3801-4CA5-84BC-00597C5F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321945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70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hit 62%</a:t>
            </a:r>
          </a:p>
        </p:txBody>
      </p:sp>
      <p:sp>
        <p:nvSpPr>
          <p:cNvPr id="18" name="intake-2-3">
            <a:extLst xmlns:a="http://schemas.openxmlformats.org/drawingml/2006/main">
              <a:ext uri="{FF2B5EF4-FFF2-40B4-BE49-F238E27FC236}">
                <a16:creationId xmlns:a16="http://schemas.microsoft.com/office/drawing/2014/main" id="{7AEB40E5-F85D-4EDE-B7E2-0E6979CA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21945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90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hit 54%</a:t>
            </a:r>
          </a:p>
        </p:txBody>
      </p:sp>
      <p:sp>
        <p:nvSpPr>
          <p:cNvPr id="19" name="intake-2-4">
            <a:extLst xmlns:a="http://schemas.openxmlformats.org/drawingml/2006/main">
              <a:ext uri="{FF2B5EF4-FFF2-40B4-BE49-F238E27FC236}">
                <a16:creationId xmlns:a16="http://schemas.microsoft.com/office/drawing/2014/main" id="{6F9A934A-64BC-4970-9FF3-EFB266CD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713" y="321945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20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hit 46%</a:t>
            </a:r>
          </a:p>
        </p:txBody>
      </p:sp>
      <p:sp>
        <p:nvSpPr>
          <p:cNvPr id="20" name="intake-service-3">
            <a:extLst xmlns:a="http://schemas.openxmlformats.org/drawingml/2006/main">
              <a:ext uri="{FF2B5EF4-FFF2-40B4-BE49-F238E27FC236}">
                <a16:creationId xmlns:a16="http://schemas.microsoft.com/office/drawing/2014/main" id="{8F594BC7-6282-4133-8854-18BB1DBC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vacation</a:t>
            </a:r>
          </a:p>
        </p:txBody>
      </p:sp>
      <p:sp>
        <p:nvSpPr>
          <p:cNvPr id="21" name="intake-3-1">
            <a:extLst xmlns:a="http://schemas.openxmlformats.org/drawingml/2006/main">
              <a:ext uri="{FF2B5EF4-FFF2-40B4-BE49-F238E27FC236}">
                <a16:creationId xmlns:a16="http://schemas.microsoft.com/office/drawing/2014/main" id="{128CA24D-001B-48AF-BA00-05251C59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7190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880</a:t>
            </a:r>
          </a:p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hit 90%</a:t>
            </a:r>
          </a:p>
        </p:txBody>
      </p:sp>
      <p:sp>
        <p:nvSpPr>
          <p:cNvPr id="22" name="intake-3-2">
            <a:extLst xmlns:a="http://schemas.openxmlformats.org/drawingml/2006/main">
              <a:ext uri="{FF2B5EF4-FFF2-40B4-BE49-F238E27FC236}">
                <a16:creationId xmlns:a16="http://schemas.microsoft.com/office/drawing/2014/main" id="{BAF0C61E-79B2-470F-87CD-D61DA6BA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377190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60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hit 62%</a:t>
            </a:r>
          </a:p>
        </p:txBody>
      </p:sp>
      <p:sp>
        <p:nvSpPr>
          <p:cNvPr id="23" name="intake-3-3">
            <a:extLst xmlns:a="http://schemas.openxmlformats.org/drawingml/2006/main">
              <a:ext uri="{FF2B5EF4-FFF2-40B4-BE49-F238E27FC236}">
                <a16:creationId xmlns:a16="http://schemas.microsoft.com/office/drawing/2014/main" id="{3E49CE38-DD59-44D0-9BAD-159E3E08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77190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60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hit 54%</a:t>
            </a:r>
          </a:p>
        </p:txBody>
      </p:sp>
      <p:sp>
        <p:nvSpPr>
          <p:cNvPr id="24" name="intake-3-4">
            <a:extLst xmlns:a="http://schemas.openxmlformats.org/drawingml/2006/main">
              <a:ext uri="{FF2B5EF4-FFF2-40B4-BE49-F238E27FC236}">
                <a16:creationId xmlns:a16="http://schemas.microsoft.com/office/drawing/2014/main" id="{FA99F849-F2D0-4BA5-BECE-00267D5E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713" y="377190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10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hit 46%</a:t>
            </a:r>
          </a:p>
        </p:txBody>
      </p:sp>
      <p:sp>
        <p:nvSpPr>
          <p:cNvPr id="25" name="intake-service-4">
            <a:extLst xmlns:a="http://schemas.openxmlformats.org/drawingml/2006/main">
              <a:ext uri="{FF2B5EF4-FFF2-40B4-BE49-F238E27FC236}">
                <a16:creationId xmlns:a16="http://schemas.microsoft.com/office/drawing/2014/main" id="{9FD5AECF-6B33-42D1-A30C-6E255E82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prove</a:t>
            </a:r>
          </a:p>
        </p:txBody>
      </p:sp>
      <p:sp>
        <p:nvSpPr>
          <p:cNvPr id="26" name="intake-4-1">
            <a:extLst xmlns:a="http://schemas.openxmlformats.org/drawingml/2006/main">
              <a:ext uri="{FF2B5EF4-FFF2-40B4-BE49-F238E27FC236}">
                <a16:creationId xmlns:a16="http://schemas.microsoft.com/office/drawing/2014/main" id="{FD124C75-2A81-42A6-837D-83521A85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720</a:t>
            </a:r>
          </a:p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hit 88%</a:t>
            </a:r>
          </a:p>
        </p:txBody>
      </p:sp>
      <p:sp>
        <p:nvSpPr>
          <p:cNvPr id="27" name="intake-4-2">
            <a:extLst xmlns:a="http://schemas.openxmlformats.org/drawingml/2006/main">
              <a:ext uri="{FF2B5EF4-FFF2-40B4-BE49-F238E27FC236}">
                <a16:creationId xmlns:a16="http://schemas.microsoft.com/office/drawing/2014/main" id="{B7261D48-CB5E-40FD-A7A4-9FAC132E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32435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100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hit 62%</a:t>
            </a:r>
          </a:p>
        </p:txBody>
      </p:sp>
      <p:sp>
        <p:nvSpPr>
          <p:cNvPr id="28" name="intake-4-3">
            <a:extLst xmlns:a="http://schemas.openxmlformats.org/drawingml/2006/main">
              <a:ext uri="{FF2B5EF4-FFF2-40B4-BE49-F238E27FC236}">
                <a16:creationId xmlns:a16="http://schemas.microsoft.com/office/drawing/2014/main" id="{0BBC38A6-FC72-49E2-9FDA-7D4AB2EA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32435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180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hit 54%</a:t>
            </a:r>
          </a:p>
        </p:txBody>
      </p:sp>
      <p:sp>
        <p:nvSpPr>
          <p:cNvPr id="29" name="intake-4-4">
            <a:extLst xmlns:a="http://schemas.openxmlformats.org/drawingml/2006/main">
              <a:ext uri="{FF2B5EF4-FFF2-40B4-BE49-F238E27FC236}">
                <a16:creationId xmlns:a16="http://schemas.microsoft.com/office/drawing/2014/main" id="{414AEE0F-6C02-4276-A64B-E7738B78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713" y="432435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30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hit 46%</a:t>
            </a:r>
          </a:p>
        </p:txBody>
      </p:sp>
      <p:sp>
        <p:nvSpPr>
          <p:cNvPr id="30" name="intake-service-5">
            <a:extLst xmlns:a="http://schemas.openxmlformats.org/drawingml/2006/main">
              <a:ext uri="{FF2B5EF4-FFF2-40B4-BE49-F238E27FC236}">
                <a16:creationId xmlns:a16="http://schemas.microsoft.com/office/drawing/2014/main" id="{0CD75600-1152-4B5A-8FC2-0ADB2D16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Others</a:t>
            </a:r>
          </a:p>
        </p:txBody>
      </p:sp>
      <p:sp>
        <p:nvSpPr>
          <p:cNvPr id="31" name="intake-5-1">
            <a:extLst xmlns:a="http://schemas.openxmlformats.org/drawingml/2006/main">
              <a:ext uri="{FF2B5EF4-FFF2-40B4-BE49-F238E27FC236}">
                <a16:creationId xmlns:a16="http://schemas.microsoft.com/office/drawing/2014/main" id="{EC6E9BA5-9A8F-47FA-BDA4-B43D8821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7680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690</a:t>
            </a:r>
          </a:p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hit 87%</a:t>
            </a:r>
          </a:p>
        </p:txBody>
      </p:sp>
      <p:sp>
        <p:nvSpPr>
          <p:cNvPr id="32" name="intake-5-2">
            <a:extLst xmlns:a="http://schemas.openxmlformats.org/drawingml/2006/main">
              <a:ext uri="{FF2B5EF4-FFF2-40B4-BE49-F238E27FC236}">
                <a16:creationId xmlns:a16="http://schemas.microsoft.com/office/drawing/2014/main" id="{8FCEE2AB-2569-4130-8EF1-8F828849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87680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120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hit 62%</a:t>
            </a:r>
          </a:p>
        </p:txBody>
      </p:sp>
      <p:sp>
        <p:nvSpPr>
          <p:cNvPr id="33" name="intake-5-3">
            <a:extLst xmlns:a="http://schemas.openxmlformats.org/drawingml/2006/main">
              <a:ext uri="{FF2B5EF4-FFF2-40B4-BE49-F238E27FC236}">
                <a16:creationId xmlns:a16="http://schemas.microsoft.com/office/drawing/2014/main" id="{0E0F6937-AA42-4714-88D0-4C533F05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87680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190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hit 54%</a:t>
            </a:r>
          </a:p>
        </p:txBody>
      </p:sp>
      <p:sp>
        <p:nvSpPr>
          <p:cNvPr id="34" name="intake-5-4">
            <a:extLst xmlns:a="http://schemas.openxmlformats.org/drawingml/2006/main">
              <a:ext uri="{FF2B5EF4-FFF2-40B4-BE49-F238E27FC236}">
                <a16:creationId xmlns:a16="http://schemas.microsoft.com/office/drawing/2014/main" id="{66BD40DB-BDF6-406A-862F-6C7995DE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713" y="4876800"/>
            <a:ext cx="170973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50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hit 46%</a:t>
            </a:r>
          </a:p>
        </p:txBody>
      </p:sp>
      <p:sp>
        <p:nvSpPr>
          <p:cNvPr id="35" name="discover／root cause／action-rail">
            <a:extLst xmlns:a="http://schemas.openxmlformats.org/drawingml/2006/main">
              <a:ext uri="{FF2B5EF4-FFF2-40B4-BE49-F238E27FC236}">
                <a16:creationId xmlns:a16="http://schemas.microsoft.com/office/drawing/2014/main" id="{4F106C5F-51EA-465F-A251-B94E6163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200150"/>
            <a:ext cx="2667000" cy="44577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6" name="discover／root cause／action-title">
            <a:extLst xmlns:a="http://schemas.openxmlformats.org/drawingml/2006/main">
              <a:ext uri="{FF2B5EF4-FFF2-40B4-BE49-F238E27FC236}">
                <a16:creationId xmlns:a16="http://schemas.microsoft.com/office/drawing/2014/main" id="{CCDC9F21-F519-437C-82D9-579F555A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333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discover／root cause／action</a:t>
            </a:r>
          </a:p>
        </p:txBody>
      </p:sp>
      <p:sp>
        <p:nvSpPr>
          <p:cNvPr id="37" name="discover／root cause／action-1">
            <a:extLst xmlns:a="http://schemas.openxmlformats.org/drawingml/2006/main">
              <a:ext uri="{FF2B5EF4-FFF2-40B4-BE49-F238E27FC236}">
                <a16:creationId xmlns:a16="http://schemas.microsoft.com/office/drawing/2014/main" id="{170DD9B4-3114-4213-B512-5F5301AE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2400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1  Proof and abnormality have the lowest one-hit rate</a:t>
            </a:r>
          </a:p>
        </p:txBody>
      </p:sp>
      <p:sp>
        <p:nvSpPr>
          <p:cNvPr id="38" name="discover／root cause／action-2">
            <a:extLst xmlns:a="http://schemas.openxmlformats.org/drawingml/2006/main">
              <a:ext uri="{FF2B5EF4-FFF2-40B4-BE49-F238E27FC236}">
                <a16:creationId xmlns:a16="http://schemas.microsoft.com/office/drawing/2014/main" id="{C17D08FD-4CFA-4B57-8259-2CD64F09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33700"/>
            <a:ext cx="2400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  Inconsistent directory naming causes secondary clarification</a:t>
            </a:r>
          </a:p>
        </p:txBody>
      </p:sp>
      <p:sp>
        <p:nvSpPr>
          <p:cNvPr id="39" name="discover／root cause／action-3">
            <a:extLst xmlns:a="http://schemas.openxmlformats.org/drawingml/2006/main">
              <a:ext uri="{FF2B5EF4-FFF2-40B4-BE49-F238E27FC236}">
                <a16:creationId xmlns:a16="http://schemas.microsoft.com/office/drawing/2014/main" id="{164FAA0D-7C08-4ABF-BDA6-4488738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14800"/>
            <a:ext cx="2400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  Merge the proof entrance and optimize the recommendation order</a:t>
            </a:r>
          </a:p>
        </p:txBody>
      </p:sp>
      <p:sp>
        <p:nvSpPr>
          <p:cNvPr id="40" name="bottom">
            <a:extLst xmlns:a="http://schemas.openxmlformats.org/drawingml/2006/main">
              <a:ext uri="{FF2B5EF4-FFF2-40B4-BE49-F238E27FC236}">
                <a16:creationId xmlns:a16="http://schemas.microsoft.com/office/drawing/2014/main" id="{D00AAE7E-5F81-4413-85CD-D89F8478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11163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143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Reduction per 10,000 entries 480 After one manual transfer, the target hit rate reaches 85%</a:t>
            </a:r>
          </a:p>
        </p:txBody>
      </p:sp>
    </p:spTree>
    <p:extLst>
      <p:ext uri="{BB962C8B-B14F-4D97-AF65-F5344CB8AC3E}">
        <p14:creationId xmlns:p14="http://schemas.microsoft.com/office/powerpoint/2010/main" val="1572125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2026-07-31T20:19:26.4260000Z</dcterms:created>
  <dcterms:modified xsi:type="dcterms:W3CDTF">2026-07-31T20:19:26.4260000Z</dcterms:modified>
</coreProperties>
</file>