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a3825c795347eb" /><Relationship Type="http://schemas.openxmlformats.org/officeDocument/2006/relationships/extended-properties" Target="/docProps/app.xml" Id="Rf5b60961d3564175" /><Relationship Type="http://schemas.openxmlformats.org/officeDocument/2006/relationships/officeDocument" Target="/ppt/presentation.xml" Id="R001de9f5256b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79e3c0620743e0"/>
  </p:sldMasterIdLst>
  <p:notesMasterIdLst>
    <p:notesMasterId xmlns:r="http://schemas.openxmlformats.org/officeDocument/2006/relationships" r:id="Rffb78376c2434d87"/>
  </p:notesMasterIdLst>
  <p:sldIdLst>
    <p:sldId xmlns:r="http://schemas.openxmlformats.org/officeDocument/2006/relationships" id="256" r:id="Rea27a0cd3ed248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e76076098b4044" /><Relationship Type="http://schemas.openxmlformats.org/officeDocument/2006/relationships/slideMaster" Target="/ppt/slideMasters/slideMaster1.xml" Id="R5479e3c0620743e0" /><Relationship Type="http://schemas.openxmlformats.org/officeDocument/2006/relationships/notesMaster" Target="/ppt/notesMasters/notesMaster1.xml" Id="Rffb78376c2434d87" /><Relationship Type="http://schemas.openxmlformats.org/officeDocument/2006/relationships/presProps" Target="/ppt/presProps.xml" Id="Rdd8c13a215c04ae5" /><Relationship Type="http://schemas.openxmlformats.org/officeDocument/2006/relationships/tableStyles" Target="/ppt/tableStyles.xml" Id="R392b8d7575a9465b" /><Relationship Type="http://schemas.openxmlformats.org/officeDocument/2006/relationships/slide" Target="/ppt/slides/slide1.xml" Id="Rea27a0cd3ed248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597d153a6a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898fa3a9044ff6" /><Relationship Type="http://schemas.openxmlformats.org/officeDocument/2006/relationships/notesMaster" Target="/ppt/notesMasters/notesMaster1.xml" Id="Rc4f992405d1245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91ab977aa4b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86a050ebbb45bf" /><Relationship Type="http://schemas.openxmlformats.org/officeDocument/2006/relationships/slideLayout" Target="/ppt/slideLayouts/slideLayout1.xml" Id="R9a26ebf4fd7446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6ebf4fd7446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c2e67d24d4421" /><Relationship Type="http://schemas.openxmlformats.org/officeDocument/2006/relationships/notesSlide" Target="/ppt/notesSlides/notesSlide1.xml" Id="R845bdb22da8d4f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title">
            <a:extLst xmlns:a="http://schemas.openxmlformats.org/drawingml/2006/main">
              <a:ext uri="{FF2B5EF4-FFF2-40B4-BE49-F238E27FC236}">
                <a16:creationId xmlns:a16="http://schemas.microsoft.com/office/drawing/2014/main" id="{18C18252-B1A1-4C87-BB5A-7D212B47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字段完整率 83%、无效工单率 7%，服务目录距 90% 与 5% 目标仍有差距</a:t>
            </a:r>
          </a:p>
        </p:txBody>
      </p:sp>
      <p:sp>
        <p:nvSpPr>
          <p:cNvPr id="2" name="metric-1">
            <a:extLst xmlns:a="http://schemas.openxmlformats.org/drawingml/2006/main">
              <a:ext uri="{FF2B5EF4-FFF2-40B4-BE49-F238E27FC236}">
                <a16:creationId xmlns:a16="http://schemas.microsoft.com/office/drawing/2014/main" id="{17D24FFC-29BB-425C-9107-68863244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字段完整率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83%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目标 90%</a:t>
            </a:r>
          </a:p>
        </p:txBody>
      </p:sp>
      <p:sp>
        <p:nvSpPr>
          <p:cNvPr id="3" name="metric-2">
            <a:extLst xmlns:a="http://schemas.openxmlformats.org/drawingml/2006/main">
              <a:ext uri="{FF2B5EF4-FFF2-40B4-BE49-F238E27FC236}">
                <a16:creationId xmlns:a16="http://schemas.microsoft.com/office/drawing/2014/main" id="{34034949-6EBE-42DE-BEEB-FD25DA41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无效工单率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7%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目标 &lt;5%</a:t>
            </a:r>
          </a:p>
        </p:txBody>
      </p:sp>
      <p:sp>
        <p:nvSpPr>
          <p:cNvPr id="4" name="metric-3">
            <a:extLst xmlns:a="http://schemas.openxmlformats.org/drawingml/2006/main">
              <a:ext uri="{FF2B5EF4-FFF2-40B4-BE49-F238E27FC236}">
                <a16:creationId xmlns:a16="http://schemas.microsoft.com/office/drawing/2014/main" id="{4BE27283-F05B-489C-B922-17E3695C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有效工单率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93%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目标 95%</a:t>
            </a:r>
          </a:p>
        </p:txBody>
      </p:sp>
      <p:sp>
        <p:nvSpPr>
          <p:cNvPr id="5" name="service-table">
            <a:extLst xmlns:a="http://schemas.openxmlformats.org/drawingml/2006/main">
              <a:ext uri="{FF2B5EF4-FFF2-40B4-BE49-F238E27FC236}">
                <a16:creationId xmlns:a16="http://schemas.microsoft.com/office/drawing/2014/main" id="{9DA0001A-AF23-4381-A400-28AF2BD3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82486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6" name="service-head">
            <a:extLst xmlns:a="http://schemas.openxmlformats.org/drawingml/2006/main">
              <a:ext uri="{FF2B5EF4-FFF2-40B4-BE49-F238E27FC236}">
                <a16:creationId xmlns:a16="http://schemas.microsoft.com/office/drawing/2014/main" id="{F4A3EC76-AAFD-49C8-9C51-8D2F1A27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94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服务目录｜需求量｜办理成功率｜自动化覆盖｜责任组</a:t>
            </a:r>
          </a:p>
        </p:txBody>
      </p:sp>
      <p:sp>
        <p:nvSpPr>
          <p:cNvPr id="7" name="service-name-1">
            <a:extLst xmlns:a="http://schemas.openxmlformats.org/drawingml/2006/main">
              <a:ext uri="{FF2B5EF4-FFF2-40B4-BE49-F238E27FC236}">
                <a16:creationId xmlns:a16="http://schemas.microsoft.com/office/drawing/2014/main" id="{71E2B9B9-39A6-4199-9F55-45C06D7C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薪资证明</a:t>
            </a:r>
          </a:p>
        </p:txBody>
      </p:sp>
      <p:sp>
        <p:nvSpPr>
          <p:cNvPr id="8" name="service-volume-1">
            <a:extLst xmlns:a="http://schemas.openxmlformats.org/drawingml/2006/main">
              <a:ext uri="{FF2B5EF4-FFF2-40B4-BE49-F238E27FC236}">
                <a16:creationId xmlns:a16="http://schemas.microsoft.com/office/drawing/2014/main" id="{73F359B5-CEE7-4879-A8EE-B0EEFC6B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19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7000</a:t>
            </a:r>
          </a:p>
        </p:txBody>
      </p:sp>
      <p:sp>
        <p:nvSpPr>
          <p:cNvPr id="9" name="service-success-1">
            <a:extLst xmlns:a="http://schemas.openxmlformats.org/drawingml/2006/main">
              <a:ext uri="{FF2B5EF4-FFF2-40B4-BE49-F238E27FC236}">
                <a16:creationId xmlns:a16="http://schemas.microsoft.com/office/drawing/2014/main" id="{AADF9540-2AA9-4DF7-9B85-9437C313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96%</a:t>
            </a:r>
          </a:p>
        </p:txBody>
      </p:sp>
      <p:sp>
        <p:nvSpPr>
          <p:cNvPr id="10" name="service-auto-1">
            <a:extLst xmlns:a="http://schemas.openxmlformats.org/drawingml/2006/main">
              <a:ext uri="{FF2B5EF4-FFF2-40B4-BE49-F238E27FC236}">
                <a16:creationId xmlns:a16="http://schemas.microsoft.com/office/drawing/2014/main" id="{74773FA0-FBB0-4EB5-A9D1-F3D0A7C5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43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88%</a:t>
            </a:r>
          </a:p>
        </p:txBody>
      </p:sp>
      <p:sp>
        <p:nvSpPr>
          <p:cNvPr id="11" name="service-owner-1">
            <a:extLst xmlns:a="http://schemas.openxmlformats.org/drawingml/2006/main">
              <a:ext uri="{FF2B5EF4-FFF2-40B4-BE49-F238E27FC236}">
                <a16:creationId xmlns:a16="http://schemas.microsoft.com/office/drawing/2014/main" id="{D25369DB-D92B-4F26-9EC8-84DC91C4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432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薪酬组</a:t>
            </a:r>
          </a:p>
        </p:txBody>
      </p:sp>
      <p:sp>
        <p:nvSpPr>
          <p:cNvPr id="12" name="service-name-2">
            <a:extLst xmlns:a="http://schemas.openxmlformats.org/drawingml/2006/main">
              <a:ext uri="{FF2B5EF4-FFF2-40B4-BE49-F238E27FC236}">
                <a16:creationId xmlns:a16="http://schemas.microsoft.com/office/drawing/2014/main" id="{AE2CDF81-60C1-4B11-B510-D03AE5B1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假期资格</a:t>
            </a:r>
          </a:p>
        </p:txBody>
      </p:sp>
      <p:sp>
        <p:nvSpPr>
          <p:cNvPr id="13" name="service-volume-2">
            <a:extLst xmlns:a="http://schemas.openxmlformats.org/drawingml/2006/main">
              <a:ext uri="{FF2B5EF4-FFF2-40B4-BE49-F238E27FC236}">
                <a16:creationId xmlns:a16="http://schemas.microsoft.com/office/drawing/2014/main" id="{752F6FC9-3E41-4BD7-B8DE-88C7B639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29000"/>
            <a:ext cx="163285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4800</a:t>
            </a:r>
          </a:p>
        </p:txBody>
      </p:sp>
      <p:sp>
        <p:nvSpPr>
          <p:cNvPr id="14" name="service-success-2">
            <a:extLst xmlns:a="http://schemas.openxmlformats.org/drawingml/2006/main">
              <a:ext uri="{FF2B5EF4-FFF2-40B4-BE49-F238E27FC236}">
                <a16:creationId xmlns:a16="http://schemas.microsoft.com/office/drawing/2014/main" id="{314B1B0E-AB52-4900-BA6E-391AD621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92%</a:t>
            </a:r>
          </a:p>
        </p:txBody>
      </p:sp>
      <p:sp>
        <p:nvSpPr>
          <p:cNvPr id="15" name="service-auto-2">
            <a:extLst xmlns:a="http://schemas.openxmlformats.org/drawingml/2006/main">
              <a:ext uri="{FF2B5EF4-FFF2-40B4-BE49-F238E27FC236}">
                <a16:creationId xmlns:a16="http://schemas.microsoft.com/office/drawing/2014/main" id="{E477A881-7637-430A-BC4C-2188AC1F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72%</a:t>
            </a:r>
          </a:p>
        </p:txBody>
      </p:sp>
      <p:sp>
        <p:nvSpPr>
          <p:cNvPr id="16" name="service-owner-2">
            <a:extLst xmlns:a="http://schemas.openxmlformats.org/drawingml/2006/main">
              <a:ext uri="{FF2B5EF4-FFF2-40B4-BE49-F238E27FC236}">
                <a16:creationId xmlns:a16="http://schemas.microsoft.com/office/drawing/2014/main" id="{04270307-C3D6-45FA-A544-F9B51FBD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528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员工服务</a:t>
            </a:r>
          </a:p>
        </p:txBody>
      </p:sp>
      <p:sp>
        <p:nvSpPr>
          <p:cNvPr id="17" name="service-name-3">
            <a:extLst xmlns:a="http://schemas.openxmlformats.org/drawingml/2006/main">
              <a:ext uri="{FF2B5EF4-FFF2-40B4-BE49-F238E27FC236}">
                <a16:creationId xmlns:a16="http://schemas.microsoft.com/office/drawing/2014/main" id="{CB1BB833-85D7-49A9-89B1-2F2E5400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异地政策</a:t>
            </a:r>
          </a:p>
        </p:txBody>
      </p:sp>
      <p:sp>
        <p:nvSpPr>
          <p:cNvPr id="18" name="service-volume-3">
            <a:extLst xmlns:a="http://schemas.openxmlformats.org/drawingml/2006/main">
              <a:ext uri="{FF2B5EF4-FFF2-40B4-BE49-F238E27FC236}">
                <a16:creationId xmlns:a16="http://schemas.microsoft.com/office/drawing/2014/main" id="{2FFFF168-715F-49DF-9B49-8A06086B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38600"/>
            <a:ext cx="10885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3200</a:t>
            </a:r>
          </a:p>
        </p:txBody>
      </p:sp>
      <p:sp>
        <p:nvSpPr>
          <p:cNvPr id="19" name="service-success-3">
            <a:extLst xmlns:a="http://schemas.openxmlformats.org/drawingml/2006/main">
              <a:ext uri="{FF2B5EF4-FFF2-40B4-BE49-F238E27FC236}">
                <a16:creationId xmlns:a16="http://schemas.microsoft.com/office/drawing/2014/main" id="{F2488153-D0E7-4AE8-926C-73D95B9C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76%</a:t>
            </a:r>
          </a:p>
        </p:txBody>
      </p:sp>
      <p:sp>
        <p:nvSpPr>
          <p:cNvPr id="20" name="service-auto-3">
            <a:extLst xmlns:a="http://schemas.openxmlformats.org/drawingml/2006/main">
              <a:ext uri="{FF2B5EF4-FFF2-40B4-BE49-F238E27FC236}">
                <a16:creationId xmlns:a16="http://schemas.microsoft.com/office/drawing/2014/main" id="{47C574E4-EDCB-47C4-865F-DD293BD1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624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45%</a:t>
            </a:r>
          </a:p>
        </p:txBody>
      </p:sp>
      <p:sp>
        <p:nvSpPr>
          <p:cNvPr id="21" name="service-owner-3">
            <a:extLst xmlns:a="http://schemas.openxmlformats.org/drawingml/2006/main">
              <a:ext uri="{FF2B5EF4-FFF2-40B4-BE49-F238E27FC236}">
                <a16:creationId xmlns:a16="http://schemas.microsoft.com/office/drawing/2014/main" id="{A1526FA6-3ABD-4C4F-A824-739A534A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政策组</a:t>
            </a:r>
          </a:p>
        </p:txBody>
      </p:sp>
      <p:sp>
        <p:nvSpPr>
          <p:cNvPr id="22" name="service-name-4">
            <a:extLst xmlns:a="http://schemas.openxmlformats.org/drawingml/2006/main">
              <a:ext uri="{FF2B5EF4-FFF2-40B4-BE49-F238E27FC236}">
                <a16:creationId xmlns:a16="http://schemas.microsoft.com/office/drawing/2014/main" id="{A3F210FC-423A-4807-A17D-A73CF5C5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福利变更</a:t>
            </a:r>
          </a:p>
        </p:txBody>
      </p:sp>
      <p:sp>
        <p:nvSpPr>
          <p:cNvPr id="23" name="service-volume-4">
            <a:extLst xmlns:a="http://schemas.openxmlformats.org/drawingml/2006/main">
              <a:ext uri="{FF2B5EF4-FFF2-40B4-BE49-F238E27FC236}">
                <a16:creationId xmlns:a16="http://schemas.microsoft.com/office/drawing/2014/main" id="{5549D006-6B7B-4E81-A32E-E05EEEEB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48200"/>
            <a:ext cx="8844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2600</a:t>
            </a:r>
          </a:p>
        </p:txBody>
      </p:sp>
      <p:sp>
        <p:nvSpPr>
          <p:cNvPr id="24" name="service-success-4">
            <a:extLst xmlns:a="http://schemas.openxmlformats.org/drawingml/2006/main">
              <a:ext uri="{FF2B5EF4-FFF2-40B4-BE49-F238E27FC236}">
                <a16:creationId xmlns:a16="http://schemas.microsoft.com/office/drawing/2014/main" id="{3C60EF93-D88F-4E92-AAFF-8C60F726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89%</a:t>
            </a:r>
          </a:p>
        </p:txBody>
      </p:sp>
      <p:sp>
        <p:nvSpPr>
          <p:cNvPr id="25" name="service-auto-4">
            <a:extLst xmlns:a="http://schemas.openxmlformats.org/drawingml/2006/main">
              <a:ext uri="{FF2B5EF4-FFF2-40B4-BE49-F238E27FC236}">
                <a16:creationId xmlns:a16="http://schemas.microsoft.com/office/drawing/2014/main" id="{D2198883-2DFE-434B-BB6B-9E3CA17C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720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68%</a:t>
            </a:r>
          </a:p>
        </p:txBody>
      </p:sp>
      <p:sp>
        <p:nvSpPr>
          <p:cNvPr id="26" name="service-owner-4">
            <a:extLst xmlns:a="http://schemas.openxmlformats.org/drawingml/2006/main">
              <a:ext uri="{FF2B5EF4-FFF2-40B4-BE49-F238E27FC236}">
                <a16:creationId xmlns:a16="http://schemas.microsoft.com/office/drawing/2014/main" id="{4BD30201-1236-4159-8483-0A60367A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福利组</a:t>
            </a:r>
          </a:p>
        </p:txBody>
      </p:sp>
      <p:sp>
        <p:nvSpPr>
          <p:cNvPr id="27" name="service-name-5">
            <a:extLst xmlns:a="http://schemas.openxmlformats.org/drawingml/2006/main">
              <a:ext uri="{FF2B5EF4-FFF2-40B4-BE49-F238E27FC236}">
                <a16:creationId xmlns:a16="http://schemas.microsoft.com/office/drawing/2014/main" id="{632DFC5F-2199-4545-A14F-BF0B110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培训报名</a:t>
            </a:r>
          </a:p>
        </p:txBody>
      </p:sp>
      <p:sp>
        <p:nvSpPr>
          <p:cNvPr id="28" name="service-volume-5">
            <a:extLst xmlns:a="http://schemas.openxmlformats.org/drawingml/2006/main">
              <a:ext uri="{FF2B5EF4-FFF2-40B4-BE49-F238E27FC236}">
                <a16:creationId xmlns:a16="http://schemas.microsoft.com/office/drawing/2014/main" id="{3141B8E7-461E-4F6C-8629-EEC8B440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57800"/>
            <a:ext cx="61232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service-volume-external-5">
            <a:extLst xmlns:a="http://schemas.openxmlformats.org/drawingml/2006/main">
              <a:ext uri="{FF2B5EF4-FFF2-40B4-BE49-F238E27FC236}">
                <a16:creationId xmlns:a16="http://schemas.microsoft.com/office/drawing/2014/main" id="{FE965163-2E9C-4C66-AA3F-DE3A49E8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321" y="52578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1800</a:t>
            </a:r>
          </a:p>
        </p:txBody>
      </p:sp>
      <p:sp>
        <p:nvSpPr>
          <p:cNvPr id="30" name="service-success-5">
            <a:extLst xmlns:a="http://schemas.openxmlformats.org/drawingml/2006/main">
              <a:ext uri="{FF2B5EF4-FFF2-40B4-BE49-F238E27FC236}">
                <a16:creationId xmlns:a16="http://schemas.microsoft.com/office/drawing/2014/main" id="{EA91CEA7-87E8-4047-A46A-C00B23F5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816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94%</a:t>
            </a:r>
          </a:p>
        </p:txBody>
      </p:sp>
      <p:sp>
        <p:nvSpPr>
          <p:cNvPr id="31" name="service-auto-5">
            <a:extLst xmlns:a="http://schemas.openxmlformats.org/drawingml/2006/main">
              <a:ext uri="{FF2B5EF4-FFF2-40B4-BE49-F238E27FC236}">
                <a16:creationId xmlns:a16="http://schemas.microsoft.com/office/drawing/2014/main" id="{9644AA81-2478-4107-8F6C-7F929644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816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80%</a:t>
            </a:r>
          </a:p>
        </p:txBody>
      </p:sp>
      <p:sp>
        <p:nvSpPr>
          <p:cNvPr id="32" name="service-owner-5">
            <a:extLst xmlns:a="http://schemas.openxmlformats.org/drawingml/2006/main">
              <a:ext uri="{FF2B5EF4-FFF2-40B4-BE49-F238E27FC236}">
                <a16:creationId xmlns:a16="http://schemas.microsoft.com/office/drawing/2014/main" id="{A778B376-8B39-4B47-919E-8306A47D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816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学习组</a:t>
            </a:r>
          </a:p>
        </p:txBody>
      </p:sp>
      <p:sp>
        <p:nvSpPr>
          <p:cNvPr id="33" name="发现／根因／动作-rail">
            <a:extLst xmlns:a="http://schemas.openxmlformats.org/drawingml/2006/main">
              <a:ext uri="{FF2B5EF4-FFF2-40B4-BE49-F238E27FC236}">
                <a16:creationId xmlns:a16="http://schemas.microsoft.com/office/drawing/2014/main" id="{E3AE46FE-58B8-429F-B42C-56474E6D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2667000" cy="44577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4" name="发现／根因／动作-title">
            <a:extLst xmlns:a="http://schemas.openxmlformats.org/drawingml/2006/main">
              <a:ext uri="{FF2B5EF4-FFF2-40B4-BE49-F238E27FC236}">
                <a16:creationId xmlns:a16="http://schemas.microsoft.com/office/drawing/2014/main" id="{6C9B0465-E283-497D-8205-0877159E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33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发现／根因／动作</a:t>
            </a:r>
          </a:p>
        </p:txBody>
      </p:sp>
      <p:sp>
        <p:nvSpPr>
          <p:cNvPr id="35" name="发现／根因／动作-1">
            <a:extLst xmlns:a="http://schemas.openxmlformats.org/drawingml/2006/main">
              <a:ext uri="{FF2B5EF4-FFF2-40B4-BE49-F238E27FC236}">
                <a16:creationId xmlns:a16="http://schemas.microsoft.com/office/drawing/2014/main" id="{34634D12-F2D6-422C-AE71-B4576502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  发起与字段受理是最大损失环节</a:t>
            </a:r>
          </a:p>
        </p:txBody>
      </p:sp>
      <p:sp>
        <p:nvSpPr>
          <p:cNvPr id="36" name="发现／根因／动作-2">
            <a:extLst xmlns:a="http://schemas.openxmlformats.org/drawingml/2006/main">
              <a:ext uri="{FF2B5EF4-FFF2-40B4-BE49-F238E27FC236}">
                <a16:creationId xmlns:a16="http://schemas.microsoft.com/office/drawing/2014/main" id="{98E64B9F-2EA6-4157-AE6D-D8A79494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  异地政策成功率和自动化率最低</a:t>
            </a:r>
          </a:p>
        </p:txBody>
      </p:sp>
      <p:sp>
        <p:nvSpPr>
          <p:cNvPr id="37" name="发现／根因／动作-3">
            <a:extLst xmlns:a="http://schemas.openxmlformats.org/drawingml/2006/main">
              <a:ext uri="{FF2B5EF4-FFF2-40B4-BE49-F238E27FC236}">
                <a16:creationId xmlns:a16="http://schemas.microsoft.com/office/drawing/2014/main" id="{38D0BB89-B19D-4C51-ACC4-4408C066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  先改目录字段，再扩自动化覆盖</a:t>
            </a:r>
          </a:p>
        </p:txBody>
      </p:sp>
      <p:sp>
        <p:nvSpPr>
          <p:cNvPr id="38" name="bottom">
            <a:extLst xmlns:a="http://schemas.openxmlformats.org/drawingml/2006/main">
              <a:ext uri="{FF2B5EF4-FFF2-40B4-BE49-F238E27FC236}">
                <a16:creationId xmlns:a16="http://schemas.microsoft.com/office/drawing/2014/main" id="{F33858B0-2428-4041-80F9-561834FF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每万次发起减少 700 件无效工单，目标字段完整率达到 90%</a:t>
            </a:r>
          </a:p>
        </p:txBody>
      </p:sp>
    </p:spTree>
    <p:extLst>
      <p:ext uri="{BB962C8B-B14F-4D97-AF65-F5344CB8AC3E}">
        <p14:creationId xmlns:p14="http://schemas.microsoft.com/office/powerpoint/2010/main" val="616998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2026-07-31T20:40:49.0540000Z</dcterms:created>
  <dcterms:modified xsi:type="dcterms:W3CDTF">2026-07-31T20:40:49.0540000Z</dcterms:modified>
</coreProperties>
</file>