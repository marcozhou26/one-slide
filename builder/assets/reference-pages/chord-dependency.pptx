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55bcf40b2da4571" /><Relationship Type="http://schemas.openxmlformats.org/officeDocument/2006/relationships/extended-properties" Target="/docProps/app.xml" Id="R3dad9c31a3514bf5" /><Relationship Type="http://schemas.openxmlformats.org/officeDocument/2006/relationships/officeDocument" Target="/ppt/presentation.xml" Id="R61f35e9844c34ed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d2df4b923f34e94"/>
  </p:sldMasterIdLst>
  <p:notesMasterIdLst>
    <p:notesMasterId xmlns:r="http://schemas.openxmlformats.org/officeDocument/2006/relationships" r:id="R54a2d2b8601d43ad"/>
  </p:notesMasterIdLst>
  <p:sldIdLst>
    <p:sldId xmlns:r="http://schemas.openxmlformats.org/officeDocument/2006/relationships" id="256" r:id="R4cfb8f8b79664f5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819555f2e9e4020" /><Relationship Type="http://schemas.openxmlformats.org/officeDocument/2006/relationships/slideMaster" Target="/ppt/slideMasters/slideMaster1.xml" Id="R9d2df4b923f34e94" /><Relationship Type="http://schemas.openxmlformats.org/officeDocument/2006/relationships/notesMaster" Target="/ppt/notesMasters/notesMaster1.xml" Id="R54a2d2b8601d43ad" /><Relationship Type="http://schemas.openxmlformats.org/officeDocument/2006/relationships/presProps" Target="/ppt/presProps.xml" Id="R4921d9bcdeb44102" /><Relationship Type="http://schemas.openxmlformats.org/officeDocument/2006/relationships/tableStyles" Target="/ppt/tableStyles.xml" Id="Re4e3eee81bf74bc1" /><Relationship Type="http://schemas.openxmlformats.org/officeDocument/2006/relationships/slide" Target="/ppt/slides/slide1.xml" Id="R4cfb8f8b79664f5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ad10dc447ba4f0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089ded8a8aa476e" /><Relationship Type="http://schemas.openxmlformats.org/officeDocument/2006/relationships/notesMaster" Target="/ppt/notesMasters/notesMaster1.xml" Id="R05b7a29b29b644d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86ac341e5647c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3eb3fb52fd346b6" /><Relationship Type="http://schemas.openxmlformats.org/officeDocument/2006/relationships/slideLayout" Target="/ppt/slideLayouts/slideLayout1.xml" Id="R3376bc1657c642d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376bc1657c642d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eebf3f25644385" /><Relationship Type="http://schemas.openxmlformats.org/officeDocument/2006/relationships/notesSlide" Target="/ppt/notesSlides/notesSlide1.xml" Id="R4230d8f6c5b849ac" /></Relationships>
</file>

<file path=ppt/slides/slide1.xml><?xml version="1.0" encoding="utf-8"?><p:sld xmlns:p="http://schemas.openxmlformats.org/presentationml/2006/main"><p:cSld><p:bg><p:bgPr><a:solidFill xmlns:a="http://schemas.openxmlformats.org/drawingml/2006/main"><a:srgbClr val="FFFFFF" /></a:solidFill></p:bgPr></p:bg><p:spTree><p:nvGrpSpPr><p:cNvPr id="1" name="" /><p:cNvGrpSpPr /><p:nvPr /></p:nvGrpSpPr><p:grpSpPr><a:xfrm xmlns:a="http://schemas.openxmlformats.org/drawingml/2006/main" /></p:grpSpPr><p:sp><p:nvSpPr><p:cNvPr id="41" name="page-title"><a:extLst xmlns:a="http://schemas.openxmlformats.org/drawingml/2006/main"><a:ext uri="{FF2B5EF4-FFF2-40B4-BE49-F238E27FC236}"><a16:creationId id="{0A0B0AE5-442B-490D-B4F4-747BD7267284}" xmlns:a16="http://schemas.microsoft.com/office/drawing/2014/main" /></a:ext></a:extLst></p:cNvPr><p:cNvSpPr><a:spLocks noGrp="1" xmlns:a="http://schemas.openxmlformats.org/drawingml/2006/main" /></p:cNvSpPr><p:nvPr /></p:nvSpPr><p:spPr><a:xfrm xmlns:a="http://schemas.openxmlformats.org/drawingml/2006/main"><a:off x="514350" y="266700" /><a:ext cx="11163300" cy="495300" /></a:xfrm><a:prstGeom prst="rect" xmlns:a="http://schemas.openxmlformats.org/drawingml/2006/main"><a:avLst /></a:prstGeom><a:noFill xmlns:a="http://schemas.openxmlformats.org/drawingml/2006/main" /><a:ln w="0" xmlns:a="http://schemas.openxmlformats.org/drawingml/2006/main"><a:noFill /><a:prstDash val="solid" /></a:ln></p:spPr><p:txBody><a:bodyPr anchor="ctr" xmlns:a="http://schemas.openxmlformats.org/drawingml/2006/main" /><a:lstStyle xmlns:a="http://schemas.openxmlformats.org/drawingml/2006/main" /><a:p xmlns:a="http://schemas.openxmlformats.org/drawingml/2006/main"><a:pPr algn="l"><a:defRPr sz="2550" b="1"><a:solidFill><a:srgbClr val="15375F" /></a:solidFill></a:defRPr></a:pPr><a:r><a:rPr sz="2550" b="1"><a:solidFill><a:srgbClr val="15375F" /></a:solidFill></a:rPr><a:t>eight departments 62% collaboration is concentrated on three links, two of which lack formal interfaces</a:t></a:r></a:p></p:txBody></p:sp><p:sp><p:nvSpPr><p:cNvPr id="2" name="chord-frame"><a:extLst xmlns:a="http://schemas.openxmlformats.org/drawingml/2006/main"><a:ext uri="{FF2B5EF4-FFF2-40B4-BE49-F238E27FC236}"><a16:creationId id="{9770B136-944A-4E0C-B458-AB5536234D07}" xmlns:a16="http://schemas.microsoft.com/office/drawing/2014/main" /></a:ext></a:extLst></p:cNvPr><p:cNvSpPr><a:spLocks noGrp="1" xmlns:a="http://schemas.openxmlformats.org/drawingml/2006/main" /></p:cNvSpPr><p:nvPr /></p:nvSpPr><p:spPr><a:xfrm xmlns:a="http://schemas.openxmlformats.org/drawingml/2006/main"><a:off x="514350" y="1257300" /><a:ext cx="8096250" cy="4286250" /></a:xfrm><a:prstGeom prst="roundRect" xmlns:a="http://schemas.openxmlformats.org/drawingml/2006/main"><a:avLst><a:gd name="adj" fmla="val 1778" /></a:avLst></a:prstGeom><a:solidFill xmlns:a="http://schemas.openxmlformats.org/drawingml/2006/main"><a:srgbClr val="FFFFFF" /></a:solidFill><a:ln w="10478" xmlns:a="http://schemas.openxmlformats.org/drawingml/2006/main"><a:solidFill><a:srgbClr val="D7DEE8" /></a:solidFill><a:prstDash val="solid" /></a:ln></p:spPr></p:sp><p:sp><p:nvSpPr><p:cNvPr id="3" name="chord-node-legend"><a:extLst xmlns:a="http://schemas.openxmlformats.org/drawingml/2006/main"><a:ext uri="{FF2B5EF4-FFF2-40B4-BE49-F238E27FC236}"><a16:creationId id="{4AC9F6F3-A1BA-4422-8F48-8298F36675C3}" xmlns:a16="http://schemas.microsoft.com/office/drawing/2014/main" /></a:ext></a:extLst></p:cNvPr><p:cNvSpPr><a:spLocks noGrp="1" xmlns:a="http://schemas.openxmlformats.org/drawingml/2006/main" /></p:cNvSpPr><p:nvPr /></p:nvSpPr><p:spPr><a:xfrm xmlns:a="http://schemas.openxmlformats.org/drawingml/2006/main"><a:off x="666750" y="1352550" /><a:ext cx="3143250" cy="228600" /></a:xfrm><a:prstGeom prst="rect" xmlns:a="http://schemas.openxmlformats.org/drawingml/2006/main"><a:avLst /></a:prstGeom><a:noFill xmlns:a="http://schemas.openxmlformats.org/drawingml/2006/main" /><a:ln w="0" xmlns:a="http://schemas.openxmlformats.org/drawingml/2006/main"><a:noFill /><a:prstDash val="solid" /></a:ln></p:spPr><p:txBody><a:bodyPr anchor="ctr" xmlns:a="http://schemas.openxmlformats.org/drawingml/2006/main" /><a:lstStyle xmlns:a="http://schemas.openxmlformats.org/drawingml/2006/main" /><a:p xmlns:a="http://schemas.openxmlformats.org/drawingml/2006/main"><a:pPr algn="l"><a:defRPr sz="1600" b="0"><a:solidFill><a:srgbClr val="697386" /></a:solidFill></a:defRPr></a:pPr><a:r><a:rPr sz="1600" b="0"><a:solidFill><a:srgbClr val="697386" /></a:solidFill></a:rPr><a:t>Outside the node: total amount｜net flow (＋enter／－out)</a:t></a:r></a:p></p:txBody></p:sp><p:sp><p:nvSpPr><p:cNvPr id="4" name="chord-node-n1"><a:extLst xmlns:a="http://schemas.openxmlformats.org/drawingml/2006/main"><a:ext uri="{FF2B5EF4-FFF2-40B4-BE49-F238E27FC236}"><a16:creationId id="{E49D279D-6B4E-4B23-92A4-ACFC03FAA0E6}" xmlns:a16="http://schemas.microsoft.com/office/drawing/2014/main" /></a:ext></a:extLst></p:cNvPr><p:cNvSpPr><a:spLocks noGrp="1" xmlns:a="http://schemas.openxmlformats.org/drawingml/2006/main" /></p:cNvSpPr><p:nvPr /></p:nvSpPr><p:spPr><a:xfrm xmlns:a="http://schemas.openxmlformats.org/drawingml/2006/main"><a:off x="4162425" y="1657350" /><a:ext cx="800100" cy="476250" /></a:xfrm><a:prstGeom prst="ellipse" xmlns:a="http://schemas.openxmlformats.org/drawingml/2006/main"><a:avLst /></a:prstGeom><a:solidFill xmlns:a="http://schemas.openxmlformats.org/drawingml/2006/main"><a:srgbClr val="E8872D" /></a:solidFill><a:ln w="11430" xmlns:a="http://schemas.openxmlformats.org/drawingml/2006/main"><a:solidFill><a:srgbClr val="FFFFFF" /></a:solidFill><a:prstDash val="solid" /></a:ln></p:spPr><p:txBody><a:bodyPr anchor="ctr" xmlns:a="http://schemas.openxmlformats.org/drawingml/2006/main" /><a:lstStyle xmlns:a="http://schemas.openxmlformats.org/drawingml/2006/main" /><a:p xmlns:a="http://schemas.openxmlformats.org/drawingml/2006/main"><a:pPr algn="ctr"><a:defRPr sz="1600" b="1"><a:solidFill><a:srgbClr val="FFFFFF" /></a:solidFill></a:defRPr></a:pPr><a:r><a:rPr sz="1600" b="1"><a:solidFill><a:srgbClr val="FFFFFF" /></a:solidFill></a:rPr><a:t>sales</a:t></a:r></a:p></p:txBody></p:sp><p:sp><p:nvSpPr><p:cNvPr id="5" name="chord-node-metric-n1"><a:extLst xmlns:a="http://schemas.openxmlformats.org/drawingml/2006/main"><a:ext uri="{FF2B5EF4-FFF2-40B4-BE49-F238E27FC236}"><a16:creationId id="{753D18FC-3108-4F3B-8F71-010ACD071F3A}" xmlns:a16="http://schemas.microsoft.com/office/drawing/2014/main" /></a:ext></a:extLst></p:cNvPr><p:cNvSpPr><a:spLocks noGrp="1" xmlns:a="http://schemas.openxmlformats.org/drawingml/2006/main" /></p:cNvSpPr><p:nvPr /></p:nvSpPr><p:spPr><a:xfrm xmlns:a="http://schemas.openxmlformats.org/drawingml/2006/main"><a:off x="3895725" y="1362075" /><a:ext cx="1333500" cy="228600" /></a:xfrm><a:prstGeom prst="rect" xmlns:a="http://schemas.openxmlformats.org/drawingml/2006/main"><a:avLst /></a:prstGeom><a:noFill xmlns:a="http://schemas.openxmlformats.org/drawingml/2006/main" /><a:ln w="0" xmlns:a="http://schemas.openxmlformats.org/drawingml/2006/main"><a:noFill /><a:prstDash val="solid" /></a:ln></p:spPr><p:txBody><a:bodyPr anchor="ctr" xmlns:a="http://schemas.openxmlformats.org/drawingml/2006/main" /><a:lstStyle xmlns:a="http://schemas.openxmlformats.org/drawingml/2006/main" /><a:p xmlns:a="http://schemas.openxmlformats.org/drawingml/2006/main"><a:pPr algn="ctr"><a:defRPr sz="1600" b="1"><a:solidFill><a:srgbClr val="15375F" /></a:solidFill></a:defRPr></a:pPr><a:r><a:rPr sz="1600" b="1"><a:solidFill><a:srgbClr val="15375F" /></a:solidFill></a:rPr><a:t>186｜−80</a:t></a:r></a:p></p:txBody></p:sp><p:sp><p:nvSpPr><p:cNvPr id="6" name="chord-node-n2"><a:extLst xmlns:a="http://schemas.openxmlformats.org/drawingml/2006/main"><a:ext uri="{FF2B5EF4-FFF2-40B4-BE49-F238E27FC236}"><a16:creationId id="{6F615EF5-98FA-4E23-B4BB-222ECAE864C5}" xmlns:a16="http://schemas.microsoft.com/office/drawing/2014/main" /></a:ext></a:extLst></p:cNvPr><p:cNvSpPr><a:spLocks noGrp="1" xmlns:a="http://schemas.openxmlformats.org/drawingml/2006/main" /></p:cNvSpPr><p:nvPr /></p:nvSpPr><p:spPr><a:xfrm xmlns:a="http://schemas.openxmlformats.org/drawingml/2006/main"><a:off x="5280467" y="2120458" /><a:ext cx="800100" cy="476250" /></a:xfrm><a:prstGeom prst="ellipse" xmlns:a="http://schemas.openxmlformats.org/drawingml/2006/main"><a:avLst /></a:prstGeom><a:solidFill xmlns:a="http://schemas.openxmlformats.org/drawingml/2006/main"><a:srgbClr val="2F6FB2" /></a:solidFill><a:ln w="11430" xmlns:a="http://schemas.openxmlformats.org/drawingml/2006/main"><a:solidFill><a:srgbClr val="FFFFFF" /></a:solidFill><a:prstDash val="solid" /></a:ln></p:spPr><p:txBody><a:bodyPr anchor="ctr" xmlns:a="http://schemas.openxmlformats.org/drawingml/2006/main" /><a:lstStyle xmlns:a="http://schemas.openxmlformats.org/drawingml/2006/main" /><a:p xmlns:a="http://schemas.openxmlformats.org/drawingml/2006/main"><a:pPr algn="ctr"><a:defRPr sz="1600" b="1"><a:solidFill><a:srgbClr val="FFFFFF" /></a:solidFill></a:defRPr></a:pPr><a:r><a:rPr sz="1600" b="1"><a:solidFill><a:srgbClr val="FFFFFF" /></a:solidFill></a:rPr><a:t>Delivery</a:t></a:r></a:p></p:txBody></p:sp><p:sp><p:nvSpPr><p:cNvPr id="7" name="chord-node-metric-n2"><a:extLst xmlns:a="http://schemas.openxmlformats.org/drawingml/2006/main"><a:ext uri="{FF2B5EF4-FFF2-40B4-BE49-F238E27FC236}"><a16:creationId id="{CBA01242-6D8C-42FD-AEDF-1114AEE36DFB}" xmlns:a16="http://schemas.microsoft.com/office/drawing/2014/main" /></a:ext></a:extLst></p:cNvPr><p:cNvSpPr><a:spLocks noGrp="1" xmlns:a="http://schemas.openxmlformats.org/drawingml/2006/main" /></p:cNvSpPr><p:nvPr /></p:nvSpPr><p:spPr><a:xfrm xmlns:a="http://schemas.openxmlformats.org/drawingml/2006/main"><a:off x="6137717" y="2244283" /><a:ext cx="1333500" cy="228600" /></a:xfrm><a:prstGeom prst="rect" xmlns:a="http://schemas.openxmlformats.org/drawingml/2006/main"><a:avLst /></a:prstGeom><a:noFill xmlns:a="http://schemas.openxmlformats.org/drawingml/2006/main" /><a:ln w="0" xmlns:a="http://schemas.openxmlformats.org/drawingml/2006/main"><a:noFill /><a:prstDash val="solid" /></a:ln></p:spPr><p:txBody><a:bodyPr anchor="ctr" xmlns:a="http://schemas.openxmlformats.org/drawingml/2006/main" /><a:lstStyle xmlns:a="http://schemas.openxmlformats.org/drawingml/2006/main" /><a:p xmlns:a="http://schemas.openxmlformats.org/drawingml/2006/main"><a:pPr algn="ctr"><a:defRPr sz="1600" b="1"><a:solidFill><a:srgbClr val="15375F" /></a:solidFill></a:defRPr></a:pPr><a:r><a:rPr sz="1600" b="1"><a:solidFill><a:srgbClr val="15375F" /></a:solidFill></a:rPr><a:t>173｜−26</a:t></a:r></a:p></p:txBody></p:sp><p:sp><p:nvSpPr><p:cNvPr id="8" name="chord-node-n3"><a:extLst xmlns:a="http://schemas.openxmlformats.org/drawingml/2006/main"><a:ext uri="{FF2B5EF4-FFF2-40B4-BE49-F238E27FC236}"><a16:creationId id="{57344E69-3068-4B15-A73D-CDC105C600A1}" xmlns:a16="http://schemas.microsoft.com/office/drawing/2014/main" /></a:ext></a:extLst></p:cNvPr><p:cNvSpPr><a:spLocks noGrp="1" xmlns:a="http://schemas.openxmlformats.org/drawingml/2006/main" /></p:cNvSpPr><p:nvPr /></p:nvSpPr><p:spPr><a:xfrm xmlns:a="http://schemas.openxmlformats.org/drawingml/2006/main"><a:off x="5743575" y="3238500" /><a:ext cx="800100" cy="476250" /></a:xfrm><a:prstGeom prst="ellipse" xmlns:a="http://schemas.openxmlformats.org/drawingml/2006/main"><a:avLst /></a:prstGeom><a:solidFill xmlns:a="http://schemas.openxmlformats.org/drawingml/2006/main"><a:srgbClr val="15375F" /></a:solidFill><a:ln w="11430" xmlns:a="http://schemas.openxmlformats.org/drawingml/2006/main"><a:solidFill><a:srgbClr val="FFFFFF" /></a:solidFill><a:prstDash val="solid" /></a:ln></p:spPr><p:txBody><a:bodyPr anchor="ctr" xmlns:a="http://schemas.openxmlformats.org/drawingml/2006/main" /><a:lstStyle xmlns:a="http://schemas.openxmlformats.org/drawingml/2006/main" /><a:p xmlns:a="http://schemas.openxmlformats.org/drawingml/2006/main"><a:pPr algn="ctr"><a:defRPr sz="1600" b="1"><a:solidFill><a:srgbClr val="FFFFFF" /></a:solidFill></a:defRPr></a:pPr><a:r><a:rPr sz="1600" b="1"><a:solidFill><a:srgbClr val="FFFFFF" /></a:solidFill></a:rPr><a:t>Products</a:t></a:r></a:p></p:txBody></p:sp><p:sp><p:nvSpPr><p:cNvPr id="9" name="chord-node-metric-n3"><a:extLst xmlns:a="http://schemas.openxmlformats.org/drawingml/2006/main"><a:ext uri="{FF2B5EF4-FFF2-40B4-BE49-F238E27FC236}"><a16:creationId id="{28389147-A09A-4146-854E-2AA8F2FE6F5C}" xmlns:a16="http://schemas.microsoft.com/office/drawing/2014/main" /></a:ext></a:extLst></p:cNvPr><p:cNvSpPr><a:spLocks noGrp="1" xmlns:a="http://schemas.openxmlformats.org/drawingml/2006/main" /></p:cNvSpPr><p:nvPr /></p:nvSpPr><p:spPr><a:xfrm xmlns:a="http://schemas.openxmlformats.org/drawingml/2006/main"><a:off x="6600825" y="3362325" /><a:ext cx="1333500" cy="228600" /></a:xfrm><a:prstGeom prst="rect" xmlns:a="http://schemas.openxmlformats.org/drawingml/2006/main"><a:avLst /></a:prstGeom><a:noFill xmlns:a="http://schemas.openxmlformats.org/drawingml/2006/main" /><a:ln w="0" xmlns:a="http://schemas.openxmlformats.org/drawingml/2006/main"><a:noFill /><a:prstDash val="solid" /></a:ln></p:spPr><p:txBody><a:bodyPr anchor="ctr" xmlns:a="http://schemas.openxmlformats.org/drawingml/2006/main" /><a:lstStyle xmlns:a="http://schemas.openxmlformats.org/drawingml/2006/main" /><a:p xmlns:a="http://schemas.openxmlformats.org/drawingml/2006/main"><a:pPr algn="ctr"><a:defRPr sz="1600" b="1"><a:solidFill><a:srgbClr val="15375F" /></a:solidFill></a:defRPr></a:pPr><a:r><a:rPr sz="1600" b="1"><a:solidFill><a:srgbClr val="15375F" /></a:solidFill></a:rPr><a:t>152｜+56</a:t></a:r></a:p></p:txBody></p:sp><p:sp><p:nvSpPr><p:cNvPr id="10" name="chord-node-n4"><a:extLst xmlns:a="http://schemas.openxmlformats.org/drawingml/2006/main"><a:ext uri="{FF2B5EF4-FFF2-40B4-BE49-F238E27FC236}"><a16:creationId id="{35143C0D-79E8-434E-A4EE-DE5F04ABDFD9}" xmlns:a16="http://schemas.microsoft.com/office/drawing/2014/main" /></a:ext></a:extLst></p:cNvPr><p:cNvSpPr><a:spLocks noGrp="1" xmlns:a="http://schemas.openxmlformats.org/drawingml/2006/main" /></p:cNvSpPr><p:nvPr /></p:nvSpPr><p:spPr><a:xfrm xmlns:a="http://schemas.openxmlformats.org/drawingml/2006/main"><a:off x="5280467" y="4356542" /><a:ext cx="800100" cy="476250" /></a:xfrm><a:prstGeom prst="ellipse" xmlns:a="http://schemas.openxmlformats.org/drawingml/2006/main"><a:avLst /></a:prstGeom><a:solidFill xmlns:a="http://schemas.openxmlformats.org/drawingml/2006/main"><a:srgbClr val="E8872D" /></a:solidFill><a:ln w="11430" xmlns:a="http://schemas.openxmlformats.org/drawingml/2006/main"><a:solidFill><a:srgbClr val="FFFFFF" /></a:solidFill><a:prstDash val="solid" /></a:ln></p:spPr><p:txBody><a:bodyPr anchor="ctr" xmlns:a="http://schemas.openxmlformats.org/drawingml/2006/main" /><a:lstStyle xmlns:a="http://schemas.openxmlformats.org/drawingml/2006/main" /><a:p xmlns:a="http://schemas.openxmlformats.org/drawingml/2006/main"><a:pPr algn="ctr"><a:defRPr sz="1600" b="1"><a:solidFill><a:srgbClr val="FFFFFF" /></a:solidFill></a:defRPr></a:pPr><a:r><a:rPr sz="1600" b="1"><a:solidFill><a:srgbClr val="FFFFFF" /></a:solidFill></a:rPr><a:t>R&D</a:t></a:r></a:p></p:txBody></p:sp><p:sp><p:nvSpPr><p:cNvPr id="11" name="chord-node-metric-n4"><a:extLst xmlns:a="http://schemas.openxmlformats.org/drawingml/2006/main"><a:ext uri="{FF2B5EF4-FFF2-40B4-BE49-F238E27FC236}"><a16:creationId id="{18671126-B154-464D-A071-7A071F3CD6B0}" xmlns:a16="http://schemas.microsoft.com/office/drawing/2014/main" /></a:ext></a:extLst></p:cNvPr><p:cNvSpPr><a:spLocks noGrp="1" xmlns:a="http://schemas.openxmlformats.org/drawingml/2006/main" /></p:cNvSpPr><p:nvPr /></p:nvSpPr><p:spPr><a:xfrm xmlns:a="http://schemas.openxmlformats.org/drawingml/2006/main"><a:off x="6137717" y="4480367" /><a:ext cx="1333500" cy="228600" /></a:xfrm><a:prstGeom prst="rect" xmlns:a="http://schemas.openxmlformats.org/drawingml/2006/main"><a:avLst /></a:prstGeom><a:noFill xmlns:a="http://schemas.openxmlformats.org/drawingml/2006/main" /><a:ln w="0" xmlns:a="http://schemas.openxmlformats.org/drawingml/2006/main"><a:noFill /><a:prstDash val="solid" /></a:ln></p:spPr><p:txBody><a:bodyPr anchor="ctr" xmlns:a="http://schemas.openxmlformats.org/drawingml/2006/main" /><a:lstStyle xmlns:a="http://schemas.openxmlformats.org/drawingml/2006/main" /><a:p xmlns:a="http://schemas.openxmlformats.org/drawingml/2006/main"><a:pPr algn="ctr"><a:defRPr sz="1600" b="1"><a:solidFill><a:srgbClr val="15375F" /></a:solidFill></a:defRPr></a:pPr><a:r><a:rPr sz="1600" b="1"><a:solidFill><a:srgbClr val="15375F" /></a:solidFill></a:rPr><a:t>146｜+18</a:t></a:r></a:p></p:txBody></p:sp><p:sp><p:nvSpPr><p:cNvPr id="12" name="chord-node-n5"><a:extLst xmlns:a="http://schemas.openxmlformats.org/drawingml/2006/main"><a:ext uri="{FF2B5EF4-FFF2-40B4-BE49-F238E27FC236}"><a16:creationId id="{6C707108-F781-49AF-A05F-ADEA4BBFA918}" xmlns:a16="http://schemas.microsoft.com/office/drawing/2014/main" /></a:ext></a:extLst></p:cNvPr><p:cNvSpPr><a:spLocks noGrp="1" xmlns:a="http://schemas.openxmlformats.org/drawingml/2006/main" /></p:cNvSpPr><p:nvPr /></p:nvSpPr><p:spPr><a:xfrm xmlns:a="http://schemas.openxmlformats.org/drawingml/2006/main"><a:off x="4162425" y="4819650" /><a:ext cx="800100" cy="476250" /></a:xfrm><a:prstGeom prst="ellipse" xmlns:a="http://schemas.openxmlformats.org/drawingml/2006/main"><a:avLst /></a:prstGeom><a:solidFill xmlns:a="http://schemas.openxmlformats.org/drawingml/2006/main"><a:srgbClr val="2F6FB2" /></a:solidFill><a:ln w="11430" xmlns:a="http://schemas.openxmlformats.org/drawingml/2006/main"><a:solidFill><a:srgbClr val="FFFFFF" /></a:solidFill><a:prstDash val="solid" /></a:ln></p:spPr><p:txBody><a:bodyPr anchor="ctr" xmlns:a="http://schemas.openxmlformats.org/drawingml/2006/main" /><a:lstStyle xmlns:a="http://schemas.openxmlformats.org/drawingml/2006/main" /><a:p xmlns:a="http://schemas.openxmlformats.org/drawingml/2006/main"><a:pPr algn="ctr"><a:defRPr sz="1600" b="1"><a:solidFill><a:srgbClr val="FFFFFF" /></a:solidFill></a:defRPr></a:pPr><a:r><a:rPr sz="1600" b="1"><a:solidFill><a:srgbClr val="FFFFFF" /></a:solidFill></a:rPr><a:t>Finance</a:t></a:r></a:p></p:txBody></p:sp><p:sp><p:nvSpPr><p:cNvPr id="13" name="chord-node-metric-n5"><a:extLst xmlns:a="http://schemas.openxmlformats.org/drawingml/2006/main"><a:ext uri="{FF2B5EF4-FFF2-40B4-BE49-F238E27FC236}"><a16:creationId id="{FDC0CD37-B0D4-4A2E-B250-71A34E4A84A2}" xmlns:a16="http://schemas.microsoft.com/office/drawing/2014/main" /></a:ext></a:extLst></p:cNvPr><p:cNvSpPr><a:spLocks noGrp="1" xmlns:a="http://schemas.openxmlformats.org/drawingml/2006/main" /></p:cNvSpPr><p:nvPr /></p:nvSpPr><p:spPr><a:xfrm xmlns:a="http://schemas.openxmlformats.org/drawingml/2006/main"><a:off x="3895725" y="5324475" /><a:ext cx="1333500" cy="228600" /></a:xfrm><a:prstGeom prst="rect" xmlns:a="http://schemas.openxmlformats.org/drawingml/2006/main"><a:avLst /></a:prstGeom><a:noFill xmlns:a="http://schemas.openxmlformats.org/drawingml/2006/main" /><a:ln w="0" xmlns:a="http://schemas.openxmlformats.org/drawingml/2006/main"><a:noFill /><a:prstDash val="solid" /></a:ln></p:spPr><p:txBody><a:bodyPr anchor="ctr" xmlns:a="http://schemas.openxmlformats.org/drawingml/2006/main" /><a:lstStyle xmlns:a="http://schemas.openxmlformats.org/drawingml/2006/main" /><a:p xmlns:a="http://schemas.openxmlformats.org/drawingml/2006/main"><a:pPr algn="ctr"><a:defRPr sz="1600" b="1"><a:solidFill><a:srgbClr val="15375F" /></a:solidFill></a:defRPr></a:pPr><a:r><a:rPr sz="1600" b="1"><a:solidFill><a:srgbClr val="15375F" /></a:solidFill></a:rPr><a:t>82｜+10</a:t></a:r></a:p></p:txBody></p:sp><p:sp><p:nvSpPr><p:cNvPr id="14" name="chord-node-n6"><a:extLst xmlns:a="http://schemas.openxmlformats.org/drawingml/2006/main"><a:ext uri="{FF2B5EF4-FFF2-40B4-BE49-F238E27FC236}"><a16:creationId id="{B67568D5-C302-4D09-8FEF-921F27DB704D}" xmlns:a16="http://schemas.microsoft.com/office/drawing/2014/main" /></a:ext></a:extLst></p:cNvPr><p:cNvSpPr><a:spLocks noGrp="1" xmlns:a="http://schemas.openxmlformats.org/drawingml/2006/main" /></p:cNvSpPr><p:nvPr /></p:nvSpPr><p:spPr><a:xfrm xmlns:a="http://schemas.openxmlformats.org/drawingml/2006/main"><a:off x="3044383" y="4356542" /><a:ext cx="800100" cy="476250" /></a:xfrm><a:prstGeom prst="ellipse" xmlns:a="http://schemas.openxmlformats.org/drawingml/2006/main"><a:avLst /></a:prstGeom><a:solidFill xmlns:a="http://schemas.openxmlformats.org/drawingml/2006/main"><a:srgbClr val="15375F" /></a:solidFill><a:ln w="11430" xmlns:a="http://schemas.openxmlformats.org/drawingml/2006/main"><a:solidFill><a:srgbClr val="FFFFFF" /></a:solidFill><a:prstDash val="solid" /></a:ln></p:spPr><p:txBody><a:bodyPr anchor="ctr" xmlns:a="http://schemas.openxmlformats.org/drawingml/2006/main" /><a:lstStyle xmlns:a="http://schemas.openxmlformats.org/drawingml/2006/main" /><a:p xmlns:a="http://schemas.openxmlformats.org/drawingml/2006/main"><a:pPr algn="ctr"><a:defRPr sz="1600" b="1"><a:solidFill><a:srgbClr val="FFFFFF" /></a:solidFill></a:defRPr></a:pPr><a:r><a:rPr sz="1600" b="1"><a:solidFill><a:srgbClr val="FFFFFF" /></a:solidFill></a:rPr><a:t>legal affairs</a:t></a:r></a:p></p:txBody></p:sp><p:sp><p:nvSpPr><p:cNvPr id="15" name="chord-node-metric-n6"><a:extLst xmlns:a="http://schemas.openxmlformats.org/drawingml/2006/main"><a:ext uri="{FF2B5EF4-FFF2-40B4-BE49-F238E27FC236}"><a16:creationId id="{6DC20DB7-CC20-4BBB-921C-510C24C19E5E}" xmlns:a16="http://schemas.microsoft.com/office/drawing/2014/main" /></a:ext></a:extLst></p:cNvPr><p:cNvSpPr><a:spLocks noGrp="1" xmlns:a="http://schemas.openxmlformats.org/drawingml/2006/main" /></p:cNvSpPr><p:nvPr /></p:nvSpPr><p:spPr><a:xfrm xmlns:a="http://schemas.openxmlformats.org/drawingml/2006/main"><a:off x="1653733" y="4480367" /><a:ext cx="1333500" cy="228600" /></a:xfrm><a:prstGeom prst="rect" xmlns:a="http://schemas.openxmlformats.org/drawingml/2006/main"><a:avLst /></a:prstGeom><a:noFill xmlns:a="http://schemas.openxmlformats.org/drawingml/2006/main" /><a:ln w="0" xmlns:a="http://schemas.openxmlformats.org/drawingml/2006/main"><a:noFill /><a:prstDash val="solid" /></a:ln></p:spPr><p:txBody><a:bodyPr anchor="ctr" xmlns:a="http://schemas.openxmlformats.org/drawingml/2006/main" /><a:lstStyle xmlns:a="http://schemas.openxmlformats.org/drawingml/2006/main" /><a:p xmlns:a="http://schemas.openxmlformats.org/drawingml/2006/main"><a:pPr algn="ctr"><a:defRPr sz="1600" b="1"><a:solidFill><a:srgbClr val="15375F" /></a:solidFill></a:defRPr></a:pPr><a:r><a:rPr sz="1600" b="1"><a:solidFill><a:srgbClr val="15375F" /></a:solidFill></a:rPr><a:t>65｜+8</a:t></a:r></a:p></p:txBody></p:sp><p:sp><p:nvSpPr><p:cNvPr id="16" name="chord-node-n7"><a:extLst xmlns:a="http://schemas.openxmlformats.org/drawingml/2006/main"><a:ext uri="{FF2B5EF4-FFF2-40B4-BE49-F238E27FC236}"><a16:creationId id="{DE7CE702-2FCE-40E5-88F3-46AC4D6DDB68}" xmlns:a16="http://schemas.microsoft.com/office/drawing/2014/main" /></a:ext></a:extLst></p:cNvPr><p:cNvSpPr><a:spLocks noGrp="1" xmlns:a="http://schemas.openxmlformats.org/drawingml/2006/main" /></p:cNvSpPr><p:nvPr /></p:nvSpPr><p:spPr><a:xfrm xmlns:a="http://schemas.openxmlformats.org/drawingml/2006/main"><a:off x="2581275" y="3238500" /><a:ext cx="800100" cy="476250" /></a:xfrm><a:prstGeom prst="ellipse" xmlns:a="http://schemas.openxmlformats.org/drawingml/2006/main"><a:avLst /></a:prstGeom><a:solidFill xmlns:a="http://schemas.openxmlformats.org/drawingml/2006/main"><a:srgbClr val="E8872D" /></a:solidFill><a:ln w="11430" xmlns:a="http://schemas.openxmlformats.org/drawingml/2006/main"><a:solidFill><a:srgbClr val="FFFFFF" /></a:solidFill><a:prstDash val="solid" /></a:ln></p:spPr><p:txBody><a:bodyPr anchor="ctr" xmlns:a="http://schemas.openxmlformats.org/drawingml/2006/main" /><a:lstStyle xmlns:a="http://schemas.openxmlformats.org/drawingml/2006/main" /><a:p xmlns:a="http://schemas.openxmlformats.org/drawingml/2006/main"><a:pPr algn="ctr"><a:defRPr sz="1600" b="1"><a:solidFill><a:srgbClr val="FFFFFF" /></a:solidFill></a:defRPr></a:pPr><a:r><a:rPr sz="1600" b="1"><a:solidFill><a:srgbClr val="FFFFFF" /></a:solidFill></a:rPr><a:t>manpower</a:t></a:r></a:p></p:txBody></p:sp><p:sp><p:nvSpPr><p:cNvPr id="17" name="chord-node-metric-n7"><a:extLst xmlns:a="http://schemas.openxmlformats.org/drawingml/2006/main"><a:ext uri="{FF2B5EF4-FFF2-40B4-BE49-F238E27FC236}"><a16:creationId id="{B9251159-6918-4C9C-A799-808903FF8057}" xmlns:a16="http://schemas.microsoft.com/office/drawing/2014/main" /></a:ext></a:extLst></p:cNvPr><p:cNvSpPr><a:spLocks noGrp="1" xmlns:a="http://schemas.openxmlformats.org/drawingml/2006/main" /></p:cNvSpPr><p:nvPr /></p:nvSpPr><p:spPr><a:xfrm xmlns:a="http://schemas.openxmlformats.org/drawingml/2006/main"><a:off x="1190625" y="3362325" /><a:ext cx="1333500" cy="228600" /></a:xfrm><a:prstGeom prst="rect" xmlns:a="http://schemas.openxmlformats.org/drawingml/2006/main"><a:avLst /></a:prstGeom><a:noFill xmlns:a="http://schemas.openxmlformats.org/drawingml/2006/main" /><a:ln w="0" xmlns:a="http://schemas.openxmlformats.org/drawingml/2006/main"><a:noFill /><a:prstDash val="solid" /></a:ln></p:spPr><p:txBody><a:bodyPr anchor="ctr" xmlns:a="http://schemas.openxmlformats.org/drawingml/2006/main" /><a:lstStyle xmlns:a="http://schemas.openxmlformats.org/drawingml/2006/main" /><a:p xmlns:a="http://schemas.openxmlformats.org/drawingml/2006/main"><a:pPr algn="ctr"><a:defRPr sz="1600" b="1"><a:solidFill><a:srgbClr val="15375F" /></a:solidFill></a:defRPr></a:pPr><a:r><a:rPr sz="1600" b="1"><a:solidFill><a:srgbClr val="15375F" /></a:solidFill></a:rPr><a:t>58｜−14</a:t></a:r></a:p></p:txBody></p:sp><p:sp><p:nvSpPr><p:cNvPr id="18" name="chord-node-n8"><a:extLst xmlns:a="http://schemas.openxmlformats.org/drawingml/2006/main"><a:ext uri="{FF2B5EF4-FFF2-40B4-BE49-F238E27FC236}"><a16:creationId id="{53CC4BE9-5414-4CFA-B01C-2549A0EAE259}" xmlns:a16="http://schemas.microsoft.com/office/drawing/2014/main" /></a:ext></a:extLst></p:cNvPr><p:cNvSpPr><a:spLocks noGrp="1" xmlns:a="http://schemas.openxmlformats.org/drawingml/2006/main" /></p:cNvSpPr><p:nvPr /></p:nvSpPr><p:spPr><a:xfrm xmlns:a="http://schemas.openxmlformats.org/drawingml/2006/main"><a:off x="3044383" y="2120458" /><a:ext cx="800100" cy="476250" /></a:xfrm><a:prstGeom prst="ellipse" xmlns:a="http://schemas.openxmlformats.org/drawingml/2006/main"><a:avLst /></a:prstGeom><a:solidFill xmlns:a="http://schemas.openxmlformats.org/drawingml/2006/main"><a:srgbClr val="2F6FB2" /></a:solidFill><a:ln w="11430" xmlns:a="http://schemas.openxmlformats.org/drawingml/2006/main"><a:solidFill><a:srgbClr val="FFFFFF" /></a:solidFill><a:prstDash val="solid" /></a:ln></p:spPr><p:txBody><a:bodyPr anchor="ctr" xmlns:a="http://schemas.openxmlformats.org/drawingml/2006/main" /><a:lstStyle xmlns:a="http://schemas.openxmlformats.org/drawingml/2006/main" /><a:p xmlns:a="http://schemas.openxmlformats.org/drawingml/2006/main"><a:pPr algn="ctr"><a:defRPr sz="1600" b="1"><a:solidFill><a:srgbClr val="FFFFFF" /></a:solidFill></a:defRPr></a:pPr><a:r><a:rPr sz="1600" b="1"><a:solidFill><a:srgbClr val="FFFFFF" /></a:solidFill></a:rPr><a:t>Procurement</a:t></a:r></a:p></p:txBody></p:sp><p:sp><p:nvSpPr><p:cNvPr id="19" name="chord-node-metric-n8"><a:extLst xmlns:a="http://schemas.openxmlformats.org/drawingml/2006/main"><a:ext uri="{FF2B5EF4-FFF2-40B4-BE49-F238E27FC236}"><a16:creationId id="{4CE3DCC5-E19A-43F5-A4E3-AFCDD9FB77C0}" xmlns:a16="http://schemas.microsoft.com/office/drawing/2014/main" /></a:ext></a:extLst></p:cNvPr><p:cNvSpPr><a:spLocks noGrp="1" xmlns:a="http://schemas.openxmlformats.org/drawingml/2006/main" /></p:cNvSpPr><p:nvPr /></p:nvSpPr><p:spPr><a:xfrm xmlns:a="http://schemas.openxmlformats.org/drawingml/2006/main"><a:off x="1653733" y="2244283" /><a:ext cx="1333500" cy="228600" /></a:xfrm><a:prstGeom prst="rect" xmlns:a="http://schemas.openxmlformats.org/drawingml/2006/main"><a:avLst /></a:prstGeom><a:noFill xmlns:a="http://schemas.openxmlformats.org/drawingml/2006/main" /><a:ln w="0" xmlns:a="http://schemas.openxmlformats.org/drawingml/2006/main"><a:noFill /><a:prstDash val="solid" /></a:ln></p:spPr><p:txBody><a:bodyPr anchor="ctr" xmlns:a="http://schemas.openxmlformats.org/drawingml/2006/main" /><a:lstStyle xmlns:a="http://schemas.openxmlformats.org/drawingml/2006/main" /><a:p xmlns:a="http://schemas.openxmlformats.org/drawingml/2006/main"><a:pPr algn="ctr"><a:defRPr sz="1600" b="1"><a:solidFill><a:srgbClr val="15375F" /></a:solidFill></a:defRPr></a:pPr><a:r><a:rPr sz="1600" b="1"><a:solidFill><a:srgbClr val="15375F" /></a:solidFill></a:rPr><a:t>51｜+28</a:t></a:r></a:p></p:txBody></p:sp><p:sp><p:nvSpPr><p:cNvPr id="32" name="key insights-rail"><a:extLst xmlns:a="http://schemas.openxmlformats.org/drawingml/2006/main"><a:ext uri="{FF2B5EF4-FFF2-40B4-BE49-F238E27FC236}"><a16:creationId id="{08A5C170-8C6D-42B9-B17B-C7E3BB3E2F42}" xmlns:a16="http://schemas.microsoft.com/office/drawing/2014/main" /></a:ext></a:extLst></p:cNvPr><p:cNvSpPr><a:spLocks noGrp="1" xmlns:a="http://schemas.openxmlformats.org/drawingml/2006/main" /></p:cNvSpPr><p:nvPr /></p:nvSpPr><p:spPr><a:xfrm xmlns:a="http://schemas.openxmlformats.org/drawingml/2006/main"><a:off x="8896350" y="1200150" /><a:ext cx="2781300" cy="4438650" /></a:xfrm><a:prstGeom prst="roundRect" xmlns:a="http://schemas.openxmlformats.org/drawingml/2006/main"><a:avLst><a:gd name="adj" fmla="val 2740" /></a:avLst></a:prstGeom><a:solidFill xmlns:a="http://schemas.openxmlformats.org/drawingml/2006/main"><a:srgbClr val="F4F6F8" /></a:solidFill><a:ln w="10478" xmlns:a="http://schemas.openxmlformats.org/drawingml/2006/main"><a:solidFill><a:srgbClr val="D7DEE8" /></a:solidFill><a:prstDash val="solid" /></a:ln></p:spPr></p:sp><p:sp><p:nvSpPr><p:cNvPr id="33" name="key insights-title"><a:extLst xmlns:a="http://schemas.openxmlformats.org/drawingml/2006/main"><a:ext uri="{FF2B5EF4-FFF2-40B4-BE49-F238E27FC236}"><a16:creationId id="{7DDFA1AF-54A0-4191-86E0-05326B521CA7}" xmlns:a16="http://schemas.microsoft.com/office/drawing/2014/main" /></a:ext></a:extLst></p:cNvPr><p:cNvSpPr><a:spLocks noGrp="1" xmlns:a="http://schemas.openxmlformats.org/drawingml/2006/main" /></p:cNvSpPr><p:nvPr /></p:nvSpPr><p:spPr><a:xfrm xmlns:a="http://schemas.openxmlformats.org/drawingml/2006/main"><a:off x="9067800" y="1333500" /><a:ext cx="2438400" cy="285750" /></a:xfrm><a:prstGeom prst="rect" xmlns:a="http://schemas.openxmlformats.org/drawingml/2006/main"><a:avLst /></a:prstGeom><a:noFill xmlns:a="http://schemas.openxmlformats.org/drawingml/2006/main" /><a:ln w="0" xmlns:a="http://schemas.openxmlformats.org/drawingml/2006/main"><a:noFill /><a:prstDash val="solid" /></a:ln></p:spPr><p:txBody><a:bodyPr anchor="ctr" xmlns:a="http://schemas.openxmlformats.org/drawingml/2006/main" /><a:lstStyle xmlns:a="http://schemas.openxmlformats.org/drawingml/2006/main" /><a:p xmlns:a="http://schemas.openxmlformats.org/drawingml/2006/main"><a:pPr algn="l"><a:defRPr sz="1600" b="1"><a:solidFill><a:srgbClr val="15375F" /></a:solidFill></a:defRPr></a:pPr><a:r><a:rPr sz="1600" b="1"><a:solidFill><a:srgbClr val="15375F" /></a:solidFill></a:rPr><a:t>key insights</a:t></a:r></a:p></p:txBody></p:sp><p:sp><p:nvSpPr><p:cNvPr id="34" name="key insights-1"><a:extLst xmlns:a="http://schemas.openxmlformats.org/drawingml/2006/main"><a:ext uri="{FF2B5EF4-FFF2-40B4-BE49-F238E27FC236}"><a16:creationId id="{219FC2DD-F179-4A6E-BBB4-2BDD4D24E8F4}" xmlns:a16="http://schemas.microsoft.com/office/drawing/2014/main" /></a:ext></a:extLst></p:cNvPr><p:cNvSpPr><a:spLocks noGrp="1" xmlns:a="http://schemas.openxmlformats.org/drawingml/2006/main" /></p:cNvSpPr><p:nvPr /></p:nvSpPr><p:spPr><a:xfrm xmlns:a="http://schemas.openxmlformats.org/drawingml/2006/main"><a:off x="9048750" y="1771650" /><a:ext cx="2476500" cy="914400" /></a:xfrm><a:prstGeom prst="roundRect" xmlns:a="http://schemas.openxmlformats.org/drawingml/2006/main"><a:avLst><a:gd name="adj" fmla="val 8333" /></a:avLst></a:prstGeom><a:solidFill xmlns:a="http://schemas.openxmlformats.org/drawingml/2006/main"><a:srgbClr val="FFFFFF" /></a:solidFill><a:ln w="16193" xmlns:a="http://schemas.openxmlformats.org/drawingml/2006/main"><a:solidFill><a:srgbClr val="E8872D" /></a:solidFill><a:prstDash val="solid" /></a:ln></p:spPr><p:txBody><a:bodyPr anchor="ctr" xmlns:a="http://schemas.openxmlformats.org/drawingml/2006/main" /><a:lstStyle xmlns:a="http://schemas.openxmlformats.org/drawingml/2006/main" /><a:p xmlns:a="http://schemas.openxmlformats.org/drawingml/2006/main"><a:pPr algn="l"><a:defRPr sz="1600" b="1"><a:solidFill><a:srgbClr val="172033" /></a:solidFill></a:defRPr></a:pPr><a:r><a:rPr sz="1600" b="1"><a:solidFill><a:srgbClr val="172033" /></a:solidFill></a:rPr><a:t>sales→Delivered as the highest frequency link:92 times/month</a:t></a:r></a:p></p:txBody></p:sp><p:sp><p:nvSpPr><p:cNvPr id="35" name="key insights-2"><a:extLst xmlns:a="http://schemas.openxmlformats.org/drawingml/2006/main"><a:ext uri="{FF2B5EF4-FFF2-40B4-BE49-F238E27FC236}"><a16:creationId id="{E36071C7-E740-4B61-8F7C-8A15725F1663}" xmlns:a16="http://schemas.microsoft.com/office/drawing/2014/main" /></a:ext></a:extLst></p:cNvPr><p:cNvSpPr><a:spLocks noGrp="1" xmlns:a="http://schemas.openxmlformats.org/drawingml/2006/main" /></p:cNvSpPr><p:nvPr /></p:nvSpPr><p:spPr><a:xfrm xmlns:a="http://schemas.openxmlformats.org/drawingml/2006/main"><a:off x="9048750" y="2933700" /><a:ext cx="2476500" cy="914400" /></a:xfrm><a:prstGeom prst="roundRect" xmlns:a="http://schemas.openxmlformats.org/drawingml/2006/main"><a:avLst><a:gd name="adj" fmla="val 8333" /></a:avLst></a:prstGeom><a:solidFill xmlns:a="http://schemas.openxmlformats.org/drawingml/2006/main"><a:srgbClr val="FFFFFF" /></a:solidFill><a:ln w="9525" xmlns:a="http://schemas.openxmlformats.org/drawingml/2006/main"><a:solidFill><a:srgbClr val="D7DEE8" /></a:solidFill><a:prstDash val="solid" /></a:ln></p:spPr><p:txBody><a:bodyPr anchor="ctr" xmlns:a="http://schemas.openxmlformats.org/drawingml/2006/main" /><a:lstStyle xmlns:a="http://schemas.openxmlformats.org/drawingml/2006/main" /><a:p xmlns:a="http://schemas.openxmlformats.org/drawingml/2006/main"><a:pPr algn="l"><a:defRPr sz="1600" b="0"><a:solidFill><a:srgbClr val="172033" /></a:solidFill></a:defRPr></a:pPr><a:r><a:rPr sz="1600" b="0"><a:solidFill><a:srgbClr val="172033" /></a:solidFill></a:rPr><a:t>Products→R&D one-way traffic is reversed 2.1 times</a:t></a:r></a:p></p:txBody></p:sp><p:sp><p:nvSpPr><p:cNvPr id="36" name="key insights-3"><a:extLst xmlns:a="http://schemas.openxmlformats.org/drawingml/2006/main"><a:ext uri="{FF2B5EF4-FFF2-40B4-BE49-F238E27FC236}"><a16:creationId id="{68E78F7A-8829-442F-B391-4276DB06C3EC}" xmlns:a16="http://schemas.microsoft.com/office/drawing/2014/main" /></a:ext></a:extLst></p:cNvPr><p:cNvSpPr><a:spLocks noGrp="1" xmlns:a="http://schemas.openxmlformats.org/drawingml/2006/main" /></p:cNvSpPr><p:nvPr /></p:nvSpPr><p:spPr><a:xfrm xmlns:a="http://schemas.openxmlformats.org/drawingml/2006/main"><a:off x="9048750" y="4095750" /><a:ext cx="2476500" cy="914400" /></a:xfrm><a:prstGeom prst="roundRect" xmlns:a="http://schemas.openxmlformats.org/drawingml/2006/main"><a:avLst><a:gd name="adj" fmla="val 8333" /></a:avLst></a:prstGeom><a:solidFill xmlns:a="http://schemas.openxmlformats.org/drawingml/2006/main"><a:srgbClr val="FFFFFF" /></a:solidFill><a:ln w="9525" xmlns:a="http://schemas.openxmlformats.org/drawingml/2006/main"><a:solidFill><a:srgbClr val="D7DEE8" /></a:solidFill><a:prstDash val="solid" /></a:ln></p:spPr><p:txBody><a:bodyPr anchor="ctr" xmlns:a="http://schemas.openxmlformats.org/drawingml/2006/main" /><a:lstStyle xmlns:a="http://schemas.openxmlformats.org/drawingml/2006/main" /><a:p xmlns:a="http://schemas.openxmlformats.org/drawingml/2006/main"><a:pPr algn="l"><a:defRPr sz="1600" b="0"><a:solidFill><a:srgbClr val="172033" /></a:solidFill></a:defRPr></a:pPr><a:r><a:rPr sz="1600" b="0"><a:solidFill><a:srgbClr val="172033" /></a:solidFill></a:rPr><a:t>Legal affairs and human resources are at the edge of the collaboration network</a:t></a:r></a:p></p:txBody></p:sp><p:sp><p:nvSpPr><p:cNvPr id="40" name="bottom"><a:extLst xmlns:a="http://schemas.openxmlformats.org/drawingml/2006/main"><a:ext uri="{FF2B5EF4-FFF2-40B4-BE49-F238E27FC236}"><a16:creationId id="{3ECC200C-15D9-4880-9AB9-697EF666CE75}" xmlns:a16="http://schemas.microsoft.com/office/drawing/2014/main" /></a:ext></a:extLst></p:cNvPr><p:cNvSpPr><a:spLocks noGrp="1" xmlns:a="http://schemas.openxmlformats.org/drawingml/2006/main" /></p:cNvSpPr><p:nvPr /></p:nvSpPr><p:spPr><a:xfrm xmlns:a="http://schemas.openxmlformats.org/drawingml/2006/main"><a:off x="514350" y="5905500" /><a:ext cx="11163300" cy="419100" /></a:xfrm><a:prstGeom prst="roundRect" xmlns:a="http://schemas.openxmlformats.org/drawingml/2006/main"><a:avLst><a:gd name="adj" fmla="val 18182" /></a:avLst></a:prstGeom><a:solidFill xmlns:a="http://schemas.openxmlformats.org/drawingml/2006/main"><a:srgbClr val="FFF0E2" /></a:solidFill><a:ln w="12383" xmlns:a="http://schemas.openxmlformats.org/drawingml/2006/main"><a:solidFill><a:srgbClr val="E8872D" /></a:solidFill><a:prstDash val="solid" /></a:ln></p:spPr><p:txBody><a:bodyPr anchor="ctr" xmlns:a="http://schemas.openxmlformats.org/drawingml/2006/main" /><a:lstStyle xmlns:a="http://schemas.openxmlformats.org/drawingml/2006/main" /><a:p xmlns:a="http://schemas.openxmlformats.org/drawingml/2006/main"><a:pPr algn="ctr"><a:defRPr sz="1600" b="1"><a:solidFill><a:srgbClr val="15375F" /></a:solidFill></a:defRPr></a:pPr><a:r><a:rPr sz="1600" b="1"><a:solidFill><a:srgbClr val="15375F" /></a:solidFill></a:rPr><a:t>Establish 2 cross-department interface positions, the target is reduced 25% Communication back and forth</a:t></a:r></a:p></p:txBody></p:sp><p:cxnSp><p:nvCxnSpPr><p:cNvPr id="66" name="" /><p:cNvCxnSpPr><a:stCxn id="14" idx="7" xmlns:a="http://schemas.openxmlformats.org/drawingml/2006/main" /><a:endCxn id="6" idx="3" xmlns:a="http://schemas.openxmlformats.org/drawingml/2006/main" /></p:cNvCxnSpPr><p:nvPr /></p:nvCxnSpPr><p:spPr><a:xfrm rot="5400000" xmlns:a="http://schemas.openxmlformats.org/drawingml/2006/main"><a:off x="3612813" y="2641461" /><a:ext cx="1899324" cy="1670328" /></a:xfrm><a:prstGeom prst="curvedConnector3" xmlns:a="http://schemas.openxmlformats.org/drawingml/2006/main"><a:avLst><a:gd name="adj1" fmla="val 50000" /></a:avLst></a:prstGeom><a:ln w="9525" xmlns:a="http://schemas.openxmlformats.org/drawingml/2006/main"><a:solidFill><a:srgbClr val="AEB8C6" /></a:solidFill><a:prstDash val="solid" /><a:tailEnd type="triangle" w="med" len="med" /></a:ln></p:spPr></p:cxnSp><p:cxnSp><p:nvCxnSpPr><p:cNvPr id="67" name="" /><p:cNvCxnSpPr><a:stCxn id="12" idx="1" xmlns:a="http://schemas.openxmlformats.org/drawingml/2006/main" /><a:endCxn id="18" idx="5" xmlns:a="http://schemas.openxmlformats.org/drawingml/2006/main" /></p:cNvCxnSpPr><p:nvPr /></p:nvCxnSpPr><p:spPr><a:xfrm rot="16200000" flipH="1" xmlns:a="http://schemas.openxmlformats.org/drawingml/2006/main"><a:off x="2822238" y="3432036" /><a:ext cx="2362432" cy="552286" /></a:xfrm><a:prstGeom prst="curvedConnector3" xmlns:a="http://schemas.openxmlformats.org/drawingml/2006/main"><a:avLst><a:gd name="adj1" fmla="val 50000" /></a:avLst></a:prstGeom><a:ln w="9939" xmlns:a="http://schemas.openxmlformats.org/drawingml/2006/main"><a:solidFill><a:srgbClr val="AEB8C6" /></a:solidFill><a:prstDash val="solid" /><a:tailEnd type="triangle" w="med" len="med" /></a:ln></p:spPr></p:cxnSp><p:cxnSp><p:nvCxnSpPr><p:cNvPr id="68" name="" /><p:cNvCxnSpPr><a:stCxn id="16" idx="7" xmlns:a="http://schemas.openxmlformats.org/drawingml/2006/main" /><a:endCxn id="4" idx="3" xmlns:a="http://schemas.openxmlformats.org/drawingml/2006/main" /></p:cNvCxnSpPr><p:nvPr /></p:nvCxnSpPr><p:spPr><a:xfrm rot="5400000" xmlns:a="http://schemas.openxmlformats.org/drawingml/2006/main"><a:off x="3149705" y="2178353" /><a:ext cx="1244390" cy="1015394" /></a:xfrm><a:prstGeom prst="curvedConnector3" xmlns:a="http://schemas.openxmlformats.org/drawingml/2006/main"><a:avLst><a:gd name="adj1" fmla="val 50000" /></a:avLst></a:prstGeom><a:ln w="11596" xmlns:a="http://schemas.openxmlformats.org/drawingml/2006/main"><a:solidFill><a:srgbClr val="AEB8C6" /></a:solidFill><a:prstDash val="solid" /><a:tailEnd type="triangle" w="med" len="med" /></a:ln></p:spPr></p:cxnSp><p:cxnSp><p:nvCxnSpPr><p:cNvPr id="69" name="" /><p:cNvCxnSpPr><a:stCxn id="10" idx="1" xmlns:a="http://schemas.openxmlformats.org/drawingml/2006/main" /><a:endCxn id="18" idx="5" xmlns:a="http://schemas.openxmlformats.org/drawingml/2006/main" /></p:cNvCxnSpPr><p:nvPr /></p:nvCxnSpPr><p:spPr><a:xfrm rot="16200000" flipH="1" xmlns:a="http://schemas.openxmlformats.org/drawingml/2006/main"><a:off x="3612813" y="2641461" /><a:ext cx="1899324" cy="1670328" /></a:xfrm><a:prstGeom prst="curvedConnector3" xmlns:a="http://schemas.openxmlformats.org/drawingml/2006/main"><a:avLst><a:gd name="adj1" fmla="val 50000" /></a:avLst></a:prstGeom><a:ln w="13252" xmlns:a="http://schemas.openxmlformats.org/drawingml/2006/main"><a:solidFill><a:srgbClr val="AEB8C6" /></a:solidFill><a:prstDash val="solid" /><a:tailEnd type="triangle" w="med" len="med" /></a:ln></p:spPr></p:cxnSp><p:cxnSp><p:nvCxnSpPr><p:cNvPr id="70" name="" /><p:cNvCxnSpPr><a:stCxn id="8" idx="3" xmlns:a="http://schemas.openxmlformats.org/drawingml/2006/main" /><a:endCxn id="14" idx="7" xmlns:a="http://schemas.openxmlformats.org/drawingml/2006/main" /></p:cNvCxnSpPr><p:nvPr /></p:nvCxnSpPr><p:spPr><a:xfrm rot="5400000" xmlns:a="http://schemas.openxmlformats.org/drawingml/2006/main"><a:off x="4403388" y="2968928" /><a:ext cx="781282" cy="2133436" /></a:xfrm><a:prstGeom prst="curvedConnector3" xmlns:a="http://schemas.openxmlformats.org/drawingml/2006/main"><a:avLst><a:gd name="adj1" fmla="val 50000" /></a:avLst></a:prstGeom><a:ln w="14909" xmlns:a="http://schemas.openxmlformats.org/drawingml/2006/main"><a:solidFill><a:srgbClr val="AEB8C6" /></a:solidFill><a:prstDash val="solid" /><a:tailEnd type="triangle" w="med" len="med" /></a:ln></p:spPr></p:cxnSp><p:cxnSp><p:nvCxnSpPr><p:cNvPr id="71" name="" /><p:cNvCxnSpPr><a:stCxn id="6" idx="3" xmlns:a="http://schemas.openxmlformats.org/drawingml/2006/main" /><a:endCxn id="12" idx="7" xmlns:a="http://schemas.openxmlformats.org/drawingml/2006/main" /></p:cNvCxnSpPr><p:nvPr /></p:nvCxnSpPr><p:spPr><a:xfrm rot="5400000" xmlns:a="http://schemas.openxmlformats.org/drawingml/2006/main"><a:off x="3940280" y="3432036" /><a:ext cx="2362432" cy="552286" /></a:xfrm><a:prstGeom prst="curvedConnector3" xmlns:a="http://schemas.openxmlformats.org/drawingml/2006/main"><a:avLst><a:gd name="adj1" fmla="val 50000" /></a:avLst></a:prstGeom><a:ln w="18222" xmlns:a="http://schemas.openxmlformats.org/drawingml/2006/main"><a:solidFill><a:srgbClr val="AEB8C6" /></a:solidFill><a:prstDash val="solid" /><a:tailEnd type="triangle" w="med" len="med" /></a:ln></p:spPr></p:cxnSp><p:cxnSp><p:nvCxnSpPr><p:cNvPr id="72" name="" /><p:cNvCxnSpPr><a:stCxn id="6" idx="1" xmlns:a="http://schemas.openxmlformats.org/drawingml/2006/main" /><a:endCxn id="4" idx="5" xmlns:a="http://schemas.openxmlformats.org/drawingml/2006/main" /></p:cNvCxnSpPr><p:nvPr /></p:nvCxnSpPr><p:spPr><a:xfrm rot="16200000" flipH="1" xmlns:a="http://schemas.openxmlformats.org/drawingml/2006/main"><a:off x="5058322" y="1850886" /><a:ext cx="126348" cy="552286" /></a:xfrm><a:prstGeom prst="curvedConnector3" xmlns:a="http://schemas.openxmlformats.org/drawingml/2006/main"><a:avLst><a:gd name="adj1" fmla="val 50000" /></a:avLst></a:prstGeom><a:ln w="23191" xmlns:a="http://schemas.openxmlformats.org/drawingml/2006/main"><a:solidFill><a:srgbClr val="AEB8C6" /></a:solidFill><a:prstDash val="solid" /><a:tailEnd type="triangle" w="med" len="med" /></a:ln></p:spPr></p:cxnSp><p:cxnSp><p:nvCxnSpPr><p:cNvPr id="73" name="" /><p:cNvCxnSpPr><a:stCxn id="4" idx="5" xmlns:a="http://schemas.openxmlformats.org/drawingml/2006/main" /><a:endCxn id="8" idx="1" xmlns:a="http://schemas.openxmlformats.org/drawingml/2006/main" /></p:cNvCxnSpPr><p:nvPr /></p:nvCxnSpPr><p:spPr><a:xfrm rot="16200000" flipH="1" xmlns:a="http://schemas.openxmlformats.org/drawingml/2006/main"><a:off x="4730855" y="2178353" /><a:ext cx="1244390" cy="1015394" /></a:xfrm><a:prstGeom prst="curvedConnector3" xmlns:a="http://schemas.openxmlformats.org/drawingml/2006/main"><a:avLst><a:gd name="adj1" fmla="val 50000" /></a:avLst></a:prstGeom><a:ln w="24848" xmlns:a="http://schemas.openxmlformats.org/drawingml/2006/main"><a:solidFill><a:srgbClr val="AEB8C6" /></a:solidFill><a:prstDash val="solid" /><a:tailEnd type="triangle" w="med" len="med" /></a:ln></p:spPr></p:cxnSp><p:cxnSp><p:nvCxnSpPr><p:cNvPr id="74" name="" /><p:cNvCxnSpPr><a:stCxn id="10" idx="7" xmlns:a="http://schemas.openxmlformats.org/drawingml/2006/main" /><a:endCxn id="8" idx="3" xmlns:a="http://schemas.openxmlformats.org/drawingml/2006/main" /></p:cNvCxnSpPr><p:nvPr /></p:nvCxnSpPr><p:spPr><a:xfrm rot="16200000" flipH="1" xmlns:a="http://schemas.openxmlformats.org/drawingml/2006/main"><a:off x="5521430" y="3984322" /><a:ext cx="781282" cy="102648" /></a:xfrm><a:prstGeom prst="curvedConnector3" xmlns:a="http://schemas.openxmlformats.org/drawingml/2006/main"><a:avLst><a:gd name="adj1" fmla="val 50000" /></a:avLst></a:prstGeom><a:ln w="26504" xmlns:a="http://schemas.openxmlformats.org/drawingml/2006/main"><a:solidFill><a:srgbClr val="AEB8C6" /></a:solidFill><a:prstDash val="solid" /><a:tailEnd type="triangle" w="med" len="med" /></a:ln></p:spPr></p:cxnSp><p:cxnSp><p:nvCxnSpPr><p:cNvPr id="75" name="" /><p:cNvCxnSpPr><a:stCxn id="8" idx="3" xmlns:a="http://schemas.openxmlformats.org/drawingml/2006/main" /><a:endCxn id="10" idx="7" xmlns:a="http://schemas.openxmlformats.org/drawingml/2006/main" /></p:cNvCxnSpPr><p:nvPr /></p:nvCxnSpPr><p:spPr><a:xfrm rot="16200000" flipH="1" xmlns:a="http://schemas.openxmlformats.org/drawingml/2006/main"><a:off x="5521430" y="3984322" /><a:ext cx="781282" cy="102648" /></a:xfrm><a:prstGeom prst="curvedConnector3" xmlns:a="http://schemas.openxmlformats.org/drawingml/2006/main"><a:avLst><a:gd name="adj1" fmla="val 50000" /></a:avLst></a:prstGeom><a:ln w="54665" xmlns:a="http://schemas.openxmlformats.org/drawingml/2006/main"><a:solidFill><a:srgbClr val="E8872D" /></a:solidFill><a:prstDash val="solid" /><a:tailEnd type="triangle" w="med" len="med" /></a:ln></p:spPr></p:cxnSp><p:cxnSp><p:nvCxnSpPr><p:cNvPr id="76" name="" /><p:cNvCxnSpPr><a:stCxn id="6" idx="5" xmlns:a="http://schemas.openxmlformats.org/drawingml/2006/main" /><a:endCxn id="8" idx="1" xmlns:a="http://schemas.openxmlformats.org/drawingml/2006/main" /></p:cNvCxnSpPr><p:nvPr /></p:nvCxnSpPr><p:spPr><a:xfrm rot="5400000" xmlns:a="http://schemas.openxmlformats.org/drawingml/2006/main"><a:off x="5521430" y="2866280" /><a:ext cx="781282" cy="102648" /></a:xfrm><a:prstGeom prst="curvedConnector3" xmlns:a="http://schemas.openxmlformats.org/drawingml/2006/main"><a:avLst><a:gd name="adj1" fmla="val 50000" /></a:avLst></a:prstGeom><a:ln w="64604" xmlns:a="http://schemas.openxmlformats.org/drawingml/2006/main"><a:solidFill><a:srgbClr val="E8872D" /></a:solidFill><a:prstDash val="solid" /><a:tailEnd type="triangle" w="med" len="med" /></a:ln></p:spPr></p:cxnSp><p:cxnSp><p:nvCxnSpPr><p:cNvPr id="77" name="" /><p:cNvCxnSpPr><a:stCxn id="4" idx="5" xmlns:a="http://schemas.openxmlformats.org/drawingml/2006/main" /><a:endCxn id="6" idx="1" xmlns:a="http://schemas.openxmlformats.org/drawingml/2006/main" /></p:cNvCxnSpPr><p:nvPr /></p:nvCxnSpPr><p:spPr><a:xfrm rot="16200000" flipH="1" xmlns:a="http://schemas.openxmlformats.org/drawingml/2006/main"><a:off x="5058322" y="1850886" /><a:ext cx="126348" cy="552286" /></a:xfrm><a:prstGeom prst="curvedConnector3" xmlns:a="http://schemas.openxmlformats.org/drawingml/2006/main"><a:avLst><a:gd name="adj1" fmla="val 50000" /></a:avLst></a:prstGeom><a:ln w="76200" xmlns:a="http://schemas.openxmlformats.org/drawingml/2006/main"><a:solidFill><a:srgbClr val="E8872D" /></a:solidFill><a:prstDash val="solid" /><a:tailEnd type="triangle" w="med" len="med" /></a:ln></p:spPr></p:cxnSp><p:cxnSp><p:nvCxnSpPr><p:cNvPr id="78" name="" /><p:cNvCxnSpPr><a:stCxn id="4" idx="6" xmlns:a="http://schemas.openxmlformats.org/drawingml/2006/main" /><a:endCxn id="34" idx="1" xmlns:a="http://schemas.openxmlformats.org/drawingml/2006/main" /></p:cNvCxnSpPr><p:nvPr /></p:nvCxnSpPr><p:spPr><a:xfrm xmlns:a="http://schemas.openxmlformats.org/drawingml/2006/main"><a:off x="4962525" y="1895475" /><a:ext cx="4086225" cy="333375" /></a:xfrm><a:prstGeom prst="bentConnector3" xmlns:a="http://schemas.openxmlformats.org/drawingml/2006/main"><a:avLst><a:gd name="adj1" fmla="val 50000" /></a:avLst></a:prstGeom><a:ln w="7620" xmlns:a="http://schemas.openxmlformats.org/drawingml/2006/main"><a:solidFill><a:srgbClr val="AEB8C6" /></a:solidFill><a:prstDash val="solid" /></a:ln></p:spPr></p:cxnSp><p:cxnSp><p:nvCxnSpPr><p:cNvPr id="79" name="" /><p:cNvCxnSpPr><a:stCxn id="8" idx="6" xmlns:a="http://schemas.openxmlformats.org/drawingml/2006/main" /><a:endCxn id="35" idx="1" xmlns:a="http://schemas.openxmlformats.org/drawingml/2006/main" /></p:cNvCxnSpPr><p:nvPr /></p:nvCxnSpPr><p:spPr><a:xfrm flipV="1" xmlns:a="http://schemas.openxmlformats.org/drawingml/2006/main"><a:off x="6543675" y="3390900" /><a:ext cx="2505075" cy="85725" /></a:xfrm><a:prstGeom prst="bentConnector3" xmlns:a="http://schemas.openxmlformats.org/drawingml/2006/main"><a:avLst><a:gd name="adj1" fmla="val 50000" /></a:avLst></a:prstGeom><a:ln w="7620" xmlns:a="http://schemas.openxmlformats.org/drawingml/2006/main"><a:solidFill><a:srgbClr val="AEB8C6" /></a:solidFill><a:prstDash val="solid" /></a:ln></p:spPr></p:cxnSp><p:cxnSp><p:nvCxnSpPr><p:cNvPr id="80" name="" /><p:cNvCxnSpPr><a:stCxn id="14" idx="6" xmlns:a="http://schemas.openxmlformats.org/drawingml/2006/main" /><a:endCxn id="36" idx="1" xmlns:a="http://schemas.openxmlformats.org/drawingml/2006/main" /></p:cNvCxnSpPr><p:nvPr /></p:nvCxnSpPr><p:spPr><a:xfrm flipV="1" xmlns:a="http://schemas.openxmlformats.org/drawingml/2006/main"><a:off x="3844483" y="4552950" /><a:ext cx="5204267" cy="41717" /></a:xfrm><a:prstGeom prst="bentConnector3" xmlns:a="http://schemas.openxmlformats.org/drawingml/2006/main"><a:avLst><a:gd name="adj1" fmla="val 50000" /></a:avLst></a:prstGeom><a:ln w="7620" xmlns:a="http://schemas.openxmlformats.org/drawingml/2006/main"><a:solidFill><a:srgbClr val="AEB8C6" /></a:solidFill><a:prstDash val="solid" /></a:ln></p:spPr></p:cxnSp></p:spTree><p:extLst><p:ext uri="{BB962C8B-B14F-4D97-AF65-F5344CB8AC3E}"><p14:creationId val="246843422" xmlns:p14="http://schemas.microsoft.com/office/powerpoint/2010/main" /></p:ext></p:extLst></p:cSld>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2026-07-31T20:58:00.9080000Z</dcterms:created>
  <dcterms:modified xsi:type="dcterms:W3CDTF">2026-07-31T20:58:00.9080000Z</dcterms:modified>
</coreProperties>
</file>