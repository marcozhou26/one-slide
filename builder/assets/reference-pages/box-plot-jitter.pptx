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cd830971504e1d" /><Relationship Type="http://schemas.openxmlformats.org/officeDocument/2006/relationships/extended-properties" Target="/docProps/app.xml" Id="Rb53c1d6b32b944f5" /><Relationship Type="http://schemas.openxmlformats.org/officeDocument/2006/relationships/officeDocument" Target="/ppt/presentation.xml" Id="Rab67f582ab5e48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10fff04bc643eb"/>
  </p:sldMasterIdLst>
  <p:notesMasterIdLst>
    <p:notesMasterId xmlns:r="http://schemas.openxmlformats.org/officeDocument/2006/relationships" r:id="R367514c18f0a4da5"/>
  </p:notesMasterIdLst>
  <p:sldIdLst>
    <p:sldId xmlns:r="http://schemas.openxmlformats.org/officeDocument/2006/relationships" id="256" r:id="R6673025c197d44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fbb8b37c854107" /><Relationship Type="http://schemas.openxmlformats.org/officeDocument/2006/relationships/slideMaster" Target="/ppt/slideMasters/slideMaster1.xml" Id="Ra910fff04bc643eb" /><Relationship Type="http://schemas.openxmlformats.org/officeDocument/2006/relationships/notesMaster" Target="/ppt/notesMasters/notesMaster1.xml" Id="R367514c18f0a4da5" /><Relationship Type="http://schemas.openxmlformats.org/officeDocument/2006/relationships/presProps" Target="/ppt/presProps.xml" Id="R4b2dea9487a74b88" /><Relationship Type="http://schemas.openxmlformats.org/officeDocument/2006/relationships/tableStyles" Target="/ppt/tableStyles.xml" Id="R51f9560d55b84371" /><Relationship Type="http://schemas.openxmlformats.org/officeDocument/2006/relationships/slide" Target="/ppt/slides/slide1.xml" Id="R6673025c197d44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8cb60107024c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abe07343b842a4" /><Relationship Type="http://schemas.openxmlformats.org/officeDocument/2006/relationships/notesMaster" Target="/ppt/notesMasters/notesMaster1.xml" Id="Rae12077103c34b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43c6e10ff249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9746303c36445c" /><Relationship Type="http://schemas.openxmlformats.org/officeDocument/2006/relationships/slideLayout" Target="/ppt/slideLayouts/slideLayout1.xml" Id="R64d7108175544a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d7108175544a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7151bb3a04125" /><Relationship Type="http://schemas.openxmlformats.org/officeDocument/2006/relationships/notesSlide" Target="/ppt/notesSlides/notesSlide1.xml" Id="Rf50992f0dc7e47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page-title">
            <a:extLst xmlns:a="http://schemas.openxmlformats.org/drawingml/2006/main">
              <a:ext uri="{FF2B5EF4-FFF2-40B4-BE49-F238E27FC236}">
                <a16:creationId xmlns:a16="http://schemas.microsoft.com/office/drawing/2014/main" id="{9ED32DBA-EF70-46D1-AD4F-F86B54CD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375F"/>
                </a:solidFill>
              </a:defRPr>
            </a:pPr>
            <a:r>
              <a:rPr sz="3000" b="1">
                <a:solidFill>
                  <a:srgbClr val="15375F"/>
                </a:solidFill>
              </a:rPr>
              <a:t>The typical processing times of the four teams are similar, but Group A and Group D each have a significantly higher value.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4EBC8988-4BFC-4B92-9A06-BCB47E56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2026Second quarter of the year; average monthly processing time per front-line employee; synthetic sample data, not real customer data</a:t>
            </a:r>
          </a:p>
        </p:txBody>
      </p:sp>
      <p:sp>
        <p:nvSpPr>
          <p:cNvPr id="3" name="distribution-frame">
            <a:extLst xmlns:a="http://schemas.openxmlformats.org/drawingml/2006/main">
              <a:ext uri="{FF2B5EF4-FFF2-40B4-BE49-F238E27FC236}">
                <a16:creationId xmlns:a16="http://schemas.microsoft.com/office/drawing/2014/main" id="{3F985E34-7D57-4397-B687-54347EBD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84582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4" name="distribution-grid-0">
            <a:extLst xmlns:a="http://schemas.openxmlformats.org/drawingml/2006/main">
              <a:ext uri="{FF2B5EF4-FFF2-40B4-BE49-F238E27FC236}">
                <a16:creationId xmlns:a16="http://schemas.microsoft.com/office/drawing/2014/main" id="{2153D88F-B3D0-45F1-B846-9D6E14FD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09750"/>
            <a:ext cx="733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5" name="distribution-tick-0">
            <a:extLst xmlns:a="http://schemas.openxmlformats.org/drawingml/2006/main">
              <a:ext uri="{FF2B5EF4-FFF2-40B4-BE49-F238E27FC236}">
                <a16:creationId xmlns:a16="http://schemas.microsoft.com/office/drawing/2014/main" id="{A772E362-020D-48B9-91D1-23E093FE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697386"/>
                </a:solidFill>
              </a:defRPr>
            </a:pPr>
            <a:r>
              <a:rPr sz="1400" b="0">
                <a:solidFill>
                  <a:srgbClr val="697386"/>
                </a:solidFill>
              </a:rPr>
              <a:t>76.4</a:t>
            </a:r>
          </a:p>
        </p:txBody>
      </p:sp>
      <p:sp>
        <p:nvSpPr>
          <p:cNvPr id="6" name="distribution-grid-1">
            <a:extLst xmlns:a="http://schemas.openxmlformats.org/drawingml/2006/main">
              <a:ext uri="{FF2B5EF4-FFF2-40B4-BE49-F238E27FC236}">
                <a16:creationId xmlns:a16="http://schemas.microsoft.com/office/drawing/2014/main" id="{175CBE75-DA42-4D96-9A54-024FEA1E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28888"/>
            <a:ext cx="733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7" name="distribution-tick-1">
            <a:extLst xmlns:a="http://schemas.openxmlformats.org/drawingml/2006/main">
              <a:ext uri="{FF2B5EF4-FFF2-40B4-BE49-F238E27FC236}">
                <a16:creationId xmlns:a16="http://schemas.microsoft.com/office/drawing/2014/main" id="{DD5DEDD6-1708-4A3D-B84A-4205867A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4588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697386"/>
                </a:solidFill>
              </a:defRPr>
            </a:pPr>
            <a:r>
              <a:rPr sz="1400" b="0">
                <a:solidFill>
                  <a:srgbClr val="697386"/>
                </a:solidFill>
              </a:rPr>
              <a:t>65.0</a:t>
            </a:r>
          </a:p>
        </p:txBody>
      </p:sp>
      <p:sp>
        <p:nvSpPr>
          <p:cNvPr id="8" name="distribution-grid-2">
            <a:extLst xmlns:a="http://schemas.openxmlformats.org/drawingml/2006/main">
              <a:ext uri="{FF2B5EF4-FFF2-40B4-BE49-F238E27FC236}">
                <a16:creationId xmlns:a16="http://schemas.microsoft.com/office/drawing/2014/main" id="{DDCF3E80-DD79-4949-B6BE-78E1A070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48025"/>
            <a:ext cx="733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9" name="distribution-tick-2">
            <a:extLst xmlns:a="http://schemas.openxmlformats.org/drawingml/2006/main">
              <a:ext uri="{FF2B5EF4-FFF2-40B4-BE49-F238E27FC236}">
                <a16:creationId xmlns:a16="http://schemas.microsoft.com/office/drawing/2014/main" id="{CB5EE302-F0DD-4610-84E1-E14A5059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697386"/>
                </a:solidFill>
              </a:defRPr>
            </a:pPr>
            <a:r>
              <a:rPr sz="1400" b="0">
                <a:solidFill>
                  <a:srgbClr val="697386"/>
                </a:solidFill>
              </a:rPr>
              <a:t>53.5</a:t>
            </a:r>
          </a:p>
        </p:txBody>
      </p:sp>
      <p:sp>
        <p:nvSpPr>
          <p:cNvPr id="10" name="distribution-grid-3">
            <a:extLst xmlns:a="http://schemas.openxmlformats.org/drawingml/2006/main">
              <a:ext uri="{FF2B5EF4-FFF2-40B4-BE49-F238E27FC236}">
                <a16:creationId xmlns:a16="http://schemas.microsoft.com/office/drawing/2014/main" id="{9FFF4A4D-3C1A-4E85-A8FF-422F202C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67163"/>
            <a:ext cx="733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11" name="distribution-tick-3">
            <a:extLst xmlns:a="http://schemas.openxmlformats.org/drawingml/2006/main">
              <a:ext uri="{FF2B5EF4-FFF2-40B4-BE49-F238E27FC236}">
                <a16:creationId xmlns:a16="http://schemas.microsoft.com/office/drawing/2014/main" id="{3E314271-EF25-4EE5-844D-728E08D1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2863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697386"/>
                </a:solidFill>
              </a:defRPr>
            </a:pPr>
            <a:r>
              <a:rPr sz="1400" b="0">
                <a:solidFill>
                  <a:srgbClr val="697386"/>
                </a:solidFill>
              </a:rPr>
              <a:t>42.0</a:t>
            </a:r>
          </a:p>
        </p:txBody>
      </p:sp>
      <p:sp>
        <p:nvSpPr>
          <p:cNvPr id="12" name="distribution-grid-4">
            <a:extLst xmlns:a="http://schemas.openxmlformats.org/drawingml/2006/main">
              <a:ext uri="{FF2B5EF4-FFF2-40B4-BE49-F238E27FC236}">
                <a16:creationId xmlns:a16="http://schemas.microsoft.com/office/drawing/2014/main" id="{4F4ACA27-4906-41D8-80CE-FFC99732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86300"/>
            <a:ext cx="733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13" name="distribution-tick-4">
            <a:extLst xmlns:a="http://schemas.openxmlformats.org/drawingml/2006/main">
              <a:ext uri="{FF2B5EF4-FFF2-40B4-BE49-F238E27FC236}">
                <a16:creationId xmlns:a16="http://schemas.microsoft.com/office/drawing/2014/main" id="{3DA9CB23-3022-4539-AFCC-ABCCF223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697386"/>
                </a:solidFill>
              </a:defRPr>
            </a:pPr>
            <a:r>
              <a:rPr sz="1400" b="0">
                <a:solidFill>
                  <a:srgbClr val="697386"/>
                </a:solidFill>
              </a:rPr>
              <a:t>30.6</a:t>
            </a:r>
          </a:p>
        </p:txBody>
      </p:sp>
      <p:sp>
        <p:nvSpPr>
          <p:cNvPr id="14" name="distribution-unit">
            <a:extLst xmlns:a="http://schemas.openxmlformats.org/drawingml/2006/main">
              <a:ext uri="{FF2B5EF4-FFF2-40B4-BE49-F238E27FC236}">
                <a16:creationId xmlns:a16="http://schemas.microsoft.com/office/drawing/2014/main" id="{CA1317C7-88EB-4F5B-BC87-7108A5C3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15375F"/>
                </a:solidFill>
              </a:defRPr>
            </a:pPr>
            <a:r>
              <a:rPr sz="1400" b="1">
                <a:solidFill>
                  <a:srgbClr val="15375F"/>
                </a:solidFill>
              </a:rPr>
              <a:t>minutes</a:t>
            </a:r>
          </a:p>
        </p:txBody>
      </p:sp>
      <p:sp>
        <p:nvSpPr>
          <p:cNvPr id="15" name="distribution-sample-definition">
            <a:extLst xmlns:a="http://schemas.openxmlformats.org/drawingml/2006/main">
              <a:ext uri="{FF2B5EF4-FFF2-40B4-BE49-F238E27FC236}">
                <a16:creationId xmlns:a16="http://schemas.microsoft.com/office/drawing/2014/main" id="{A1B77452-EC97-4B7C-9DCC-DBF49B06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428750"/>
            <a:ext cx="6800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697386"/>
                </a:solidFill>
              </a:defRPr>
            </a:pPr>
            <a:r>
              <a:rPr sz="1400" b="0">
                <a:solidFill>
                  <a:srgbClr val="697386"/>
                </a:solidFill>
              </a:rPr>
              <a:t>Sample: full on post60days and the valid work orders for the current quarter are no less than30employees</a:t>
            </a:r>
          </a:p>
        </p:txBody>
      </p:sp>
      <p:sp>
        <p:nvSpPr>
          <p:cNvPr id="16" name="distribution-whisker-1">
            <a:extLst xmlns:a="http://schemas.openxmlformats.org/drawingml/2006/main">
              <a:ext uri="{FF2B5EF4-FFF2-40B4-BE49-F238E27FC236}">
                <a16:creationId xmlns:a16="http://schemas.microsoft.com/office/drawing/2014/main" id="{C67957D1-E0B1-4AE9-983F-E8D61156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9331" y="2965887"/>
            <a:ext cx="0" cy="10031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17" name="distribution-cap-low-1">
            <a:extLst xmlns:a="http://schemas.openxmlformats.org/drawingml/2006/main">
              <a:ext uri="{FF2B5EF4-FFF2-40B4-BE49-F238E27FC236}">
                <a16:creationId xmlns:a16="http://schemas.microsoft.com/office/drawing/2014/main" id="{54FBE655-96D0-40D8-B8B9-F7C25BDA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498" y="3969043"/>
            <a:ext cx="37566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18" name="distribution-cap-high-1">
            <a:extLst xmlns:a="http://schemas.openxmlformats.org/drawingml/2006/main">
              <a:ext uri="{FF2B5EF4-FFF2-40B4-BE49-F238E27FC236}">
                <a16:creationId xmlns:a16="http://schemas.microsoft.com/office/drawing/2014/main" id="{8DB235AD-3C3D-4248-8DF1-914DF260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498" y="2965887"/>
            <a:ext cx="37566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19" name="distribution-box-1">
            <a:extLst xmlns:a="http://schemas.openxmlformats.org/drawingml/2006/main">
              <a:ext uri="{FF2B5EF4-FFF2-40B4-BE49-F238E27FC236}">
                <a16:creationId xmlns:a16="http://schemas.microsoft.com/office/drawing/2014/main" id="{FC4626DB-4D5A-42AC-9742-52384EDA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106" y="3279374"/>
            <a:ext cx="552450" cy="470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20" name="distribution-median-1">
            <a:extLst xmlns:a="http://schemas.openxmlformats.org/drawingml/2006/main">
              <a:ext uri="{FF2B5EF4-FFF2-40B4-BE49-F238E27FC236}">
                <a16:creationId xmlns:a16="http://schemas.microsoft.com/office/drawing/2014/main" id="{F2C633BE-BE2A-4F57-A3F3-93E0858E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106" y="3561511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E8872D"/>
            </a:solidFill>
            <a:prstDash val="solid"/>
          </a:ln>
        </p:spPr>
      </p:sp>
      <p:sp>
        <p:nvSpPr>
          <p:cNvPr id="21" name="distribution-point-1-1">
            <a:extLst xmlns:a="http://schemas.openxmlformats.org/drawingml/2006/main">
              <a:ext uri="{FF2B5EF4-FFF2-40B4-BE49-F238E27FC236}">
                <a16:creationId xmlns:a16="http://schemas.microsoft.com/office/drawing/2014/main" id="{1D1CD831-7F5E-4F20-90E8-F18E900F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101" y="3929038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22" name="distribution-point-1-2">
            <a:extLst xmlns:a="http://schemas.openxmlformats.org/drawingml/2006/main">
              <a:ext uri="{FF2B5EF4-FFF2-40B4-BE49-F238E27FC236}">
                <a16:creationId xmlns:a16="http://schemas.microsoft.com/office/drawing/2014/main" id="{EDFB6261-1769-4F86-8809-E71D7A7E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798" y="3803644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23" name="distribution-point-1-3">
            <a:extLst xmlns:a="http://schemas.openxmlformats.org/drawingml/2006/main">
              <a:ext uri="{FF2B5EF4-FFF2-40B4-BE49-F238E27FC236}">
                <a16:creationId xmlns:a16="http://schemas.microsoft.com/office/drawing/2014/main" id="{09A67EF7-CA71-49D3-9FD8-50427AE8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6495" y="3740947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24" name="distribution-point-1-4">
            <a:extLst xmlns:a="http://schemas.openxmlformats.org/drawingml/2006/main">
              <a:ext uri="{FF2B5EF4-FFF2-40B4-BE49-F238E27FC236}">
                <a16:creationId xmlns:a16="http://schemas.microsoft.com/office/drawing/2014/main" id="{0B98F171-EDFD-4D1E-925D-B5024356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1214" y="3678249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25" name="distribution-point-1-5">
            <a:extLst xmlns:a="http://schemas.openxmlformats.org/drawingml/2006/main">
              <a:ext uri="{FF2B5EF4-FFF2-40B4-BE49-F238E27FC236}">
                <a16:creationId xmlns:a16="http://schemas.microsoft.com/office/drawing/2014/main" id="{765DD8FE-F821-4E3A-A4B9-E65D8A6C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2911" y="3615552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26" name="distribution-point-1-6">
            <a:extLst xmlns:a="http://schemas.openxmlformats.org/drawingml/2006/main">
              <a:ext uri="{FF2B5EF4-FFF2-40B4-BE49-F238E27FC236}">
                <a16:creationId xmlns:a16="http://schemas.microsoft.com/office/drawing/2014/main" id="{893B7E13-8CFA-4FAF-A9AD-377F97A6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629" y="355285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27" name="distribution-point-1-7">
            <a:extLst xmlns:a="http://schemas.openxmlformats.org/drawingml/2006/main">
              <a:ext uri="{FF2B5EF4-FFF2-40B4-BE49-F238E27FC236}">
                <a16:creationId xmlns:a16="http://schemas.microsoft.com/office/drawing/2014/main" id="{1FEF9FF5-DF57-47DB-8B8E-D54469A4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326" y="3490158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28" name="distribution-point-1-8">
            <a:extLst xmlns:a="http://schemas.openxmlformats.org/drawingml/2006/main">
              <a:ext uri="{FF2B5EF4-FFF2-40B4-BE49-F238E27FC236}">
                <a16:creationId xmlns:a16="http://schemas.microsoft.com/office/drawing/2014/main" id="{983FC59F-DCD5-4271-B19A-E423272B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023" y="3427460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29" name="distribution-point-1-9">
            <a:extLst xmlns:a="http://schemas.openxmlformats.org/drawingml/2006/main">
              <a:ext uri="{FF2B5EF4-FFF2-40B4-BE49-F238E27FC236}">
                <a16:creationId xmlns:a16="http://schemas.microsoft.com/office/drawing/2014/main" id="{FE6AF69B-C3C7-4881-86A5-A0B9B781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742" y="3302066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30" name="distribution-point-1-10">
            <a:extLst xmlns:a="http://schemas.openxmlformats.org/drawingml/2006/main">
              <a:ext uri="{FF2B5EF4-FFF2-40B4-BE49-F238E27FC236}">
                <a16:creationId xmlns:a16="http://schemas.microsoft.com/office/drawing/2014/main" id="{D101ED36-5E74-49D0-839F-14CAD8AF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7439" y="3176671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31" name="distribution-point-1-11">
            <a:extLst xmlns:a="http://schemas.openxmlformats.org/drawingml/2006/main">
              <a:ext uri="{FF2B5EF4-FFF2-40B4-BE49-F238E27FC236}">
                <a16:creationId xmlns:a16="http://schemas.microsoft.com/office/drawing/2014/main" id="{17F2D80B-FBAD-42E9-B08B-4D850CA9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158" y="2925882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32" name="distribution-point-1-12">
            <a:extLst xmlns:a="http://schemas.openxmlformats.org/drawingml/2006/main">
              <a:ext uri="{FF2B5EF4-FFF2-40B4-BE49-F238E27FC236}">
                <a16:creationId xmlns:a16="http://schemas.microsoft.com/office/drawing/2014/main" id="{835D28C6-4D40-4728-A642-FCB1BA2F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1472" y="203573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33" name="distribution-group-1">
            <a:extLst xmlns:a="http://schemas.openxmlformats.org/drawingml/2006/main">
              <a:ext uri="{FF2B5EF4-FFF2-40B4-BE49-F238E27FC236}">
                <a16:creationId xmlns:a16="http://schemas.microsoft.com/office/drawing/2014/main" id="{AC693647-A265-4B4C-AEBB-D7A50765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235" y="4762500"/>
            <a:ext cx="154019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Group A</a:t>
            </a:r>
          </a:p>
        </p:txBody>
      </p:sp>
      <p:sp>
        <p:nvSpPr>
          <p:cNvPr id="34" name="distribution-n-1">
            <a:extLst xmlns:a="http://schemas.openxmlformats.org/drawingml/2006/main">
              <a:ext uri="{FF2B5EF4-FFF2-40B4-BE49-F238E27FC236}">
                <a16:creationId xmlns:a16="http://schemas.microsoft.com/office/drawing/2014/main" id="{800A22BB-F4F3-4AD6-A723-801CA01F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235" y="5010150"/>
            <a:ext cx="154019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697386"/>
                </a:solidFill>
              </a:defRPr>
            </a:pPr>
            <a:r>
              <a:rPr sz="1400" b="0">
                <a:solidFill>
                  <a:srgbClr val="697386"/>
                </a:solidFill>
              </a:rPr>
              <a:t>n=12</a:t>
            </a:r>
          </a:p>
        </p:txBody>
      </p:sp>
      <p:sp>
        <p:nvSpPr>
          <p:cNvPr id="35" name="distribution-whisker-2">
            <a:extLst xmlns:a="http://schemas.openxmlformats.org/drawingml/2006/main">
              <a:ext uri="{FF2B5EF4-FFF2-40B4-BE49-F238E27FC236}">
                <a16:creationId xmlns:a16="http://schemas.microsoft.com/office/drawing/2014/main" id="{AC19EA20-2777-4003-B27B-18FFA03B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894" y="3279374"/>
            <a:ext cx="0" cy="9404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36" name="distribution-cap-low-2">
            <a:extLst xmlns:a="http://schemas.openxmlformats.org/drawingml/2006/main">
              <a:ext uri="{FF2B5EF4-FFF2-40B4-BE49-F238E27FC236}">
                <a16:creationId xmlns:a16="http://schemas.microsoft.com/office/drawing/2014/main" id="{93FF517D-F1F1-4F7B-A9CE-13DD976E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061" y="4219832"/>
            <a:ext cx="37566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37" name="distribution-cap-high-2">
            <a:extLst xmlns:a="http://schemas.openxmlformats.org/drawingml/2006/main">
              <a:ext uri="{FF2B5EF4-FFF2-40B4-BE49-F238E27FC236}">
                <a16:creationId xmlns:a16="http://schemas.microsoft.com/office/drawing/2014/main" id="{8183B9B1-1802-46B9-82D6-CD0FD5DE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061" y="3279374"/>
            <a:ext cx="37566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38" name="distribution-box-2">
            <a:extLst xmlns:a="http://schemas.openxmlformats.org/drawingml/2006/main">
              <a:ext uri="{FF2B5EF4-FFF2-40B4-BE49-F238E27FC236}">
                <a16:creationId xmlns:a16="http://schemas.microsoft.com/office/drawing/2014/main" id="{2B574BE0-B637-4C9F-8D83-B11B4301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669" y="3592860"/>
            <a:ext cx="552450" cy="4075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39" name="distribution-median-2">
            <a:extLst xmlns:a="http://schemas.openxmlformats.org/drawingml/2006/main">
              <a:ext uri="{FF2B5EF4-FFF2-40B4-BE49-F238E27FC236}">
                <a16:creationId xmlns:a16="http://schemas.microsoft.com/office/drawing/2014/main" id="{2777E2CE-D1E6-42C5-9253-CD939D6A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669" y="38123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E8872D"/>
            </a:solidFill>
            <a:prstDash val="solid"/>
          </a:ln>
        </p:spPr>
      </p:sp>
      <p:sp>
        <p:nvSpPr>
          <p:cNvPr id="40" name="distribution-point-2-1">
            <a:extLst xmlns:a="http://schemas.openxmlformats.org/drawingml/2006/main">
              <a:ext uri="{FF2B5EF4-FFF2-40B4-BE49-F238E27FC236}">
                <a16:creationId xmlns:a16="http://schemas.microsoft.com/office/drawing/2014/main" id="{DCEBAA40-AB18-4A3B-B938-93CC6FE1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248" y="4179827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41" name="distribution-point-2-2">
            <a:extLst xmlns:a="http://schemas.openxmlformats.org/drawingml/2006/main">
              <a:ext uri="{FF2B5EF4-FFF2-40B4-BE49-F238E27FC236}">
                <a16:creationId xmlns:a16="http://schemas.microsoft.com/office/drawing/2014/main" id="{00710272-64FB-4E14-9C93-604457DA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945" y="4054433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42" name="distribution-point-2-3">
            <a:extLst xmlns:a="http://schemas.openxmlformats.org/drawingml/2006/main">
              <a:ext uri="{FF2B5EF4-FFF2-40B4-BE49-F238E27FC236}">
                <a16:creationId xmlns:a16="http://schemas.microsoft.com/office/drawing/2014/main" id="{4CBF217E-6A6B-42A0-AEAA-76B7D7C1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664" y="3991736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43" name="distribution-point-2-4">
            <a:extLst xmlns:a="http://schemas.openxmlformats.org/drawingml/2006/main">
              <a:ext uri="{FF2B5EF4-FFF2-40B4-BE49-F238E27FC236}">
                <a16:creationId xmlns:a16="http://schemas.microsoft.com/office/drawing/2014/main" id="{91ECCBF8-41E5-4037-8FF5-05C77B3E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8361" y="3929038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44" name="distribution-point-2-5">
            <a:extLst xmlns:a="http://schemas.openxmlformats.org/drawingml/2006/main">
              <a:ext uri="{FF2B5EF4-FFF2-40B4-BE49-F238E27FC236}">
                <a16:creationId xmlns:a16="http://schemas.microsoft.com/office/drawing/2014/main" id="{19592163-06FB-4ED6-94A9-8E3B0C02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058" y="3866341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45" name="distribution-point-2-6">
            <a:extLst xmlns:a="http://schemas.openxmlformats.org/drawingml/2006/main">
              <a:ext uri="{FF2B5EF4-FFF2-40B4-BE49-F238E27FC236}">
                <a16:creationId xmlns:a16="http://schemas.microsoft.com/office/drawing/2014/main" id="{B4ED00C7-9184-464D-9992-E24F91E1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776" y="3803644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46" name="distribution-point-2-7">
            <a:extLst xmlns:a="http://schemas.openxmlformats.org/drawingml/2006/main">
              <a:ext uri="{FF2B5EF4-FFF2-40B4-BE49-F238E27FC236}">
                <a16:creationId xmlns:a16="http://schemas.microsoft.com/office/drawing/2014/main" id="{64E62C06-158F-4074-B9E4-FD705704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6473" y="3740947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47" name="distribution-point-2-8">
            <a:extLst xmlns:a="http://schemas.openxmlformats.org/drawingml/2006/main">
              <a:ext uri="{FF2B5EF4-FFF2-40B4-BE49-F238E27FC236}">
                <a16:creationId xmlns:a16="http://schemas.microsoft.com/office/drawing/2014/main" id="{B2498AAF-DD01-477E-9CE3-1B06BBEF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192" y="3678249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48" name="distribution-point-2-9">
            <a:extLst xmlns:a="http://schemas.openxmlformats.org/drawingml/2006/main">
              <a:ext uri="{FF2B5EF4-FFF2-40B4-BE49-F238E27FC236}">
                <a16:creationId xmlns:a16="http://schemas.microsoft.com/office/drawing/2014/main" id="{944B803E-25BC-43EA-B969-B71E9BD3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889" y="3615552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49" name="distribution-point-2-10">
            <a:extLst xmlns:a="http://schemas.openxmlformats.org/drawingml/2006/main">
              <a:ext uri="{FF2B5EF4-FFF2-40B4-BE49-F238E27FC236}">
                <a16:creationId xmlns:a16="http://schemas.microsoft.com/office/drawing/2014/main" id="{898C2117-FADE-4B27-9B0E-BEB7E380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586" y="3490158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50" name="distribution-point-2-11">
            <a:extLst xmlns:a="http://schemas.openxmlformats.org/drawingml/2006/main">
              <a:ext uri="{FF2B5EF4-FFF2-40B4-BE49-F238E27FC236}">
                <a16:creationId xmlns:a16="http://schemas.microsoft.com/office/drawing/2014/main" id="{6F91F1AE-3003-43C7-B3F9-B6EB7AA5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04" y="3364763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51" name="distribution-point-2-12">
            <a:extLst xmlns:a="http://schemas.openxmlformats.org/drawingml/2006/main">
              <a:ext uri="{FF2B5EF4-FFF2-40B4-BE49-F238E27FC236}">
                <a16:creationId xmlns:a16="http://schemas.microsoft.com/office/drawing/2014/main" id="{B5DEFA26-46F5-4DDF-ADF8-EC66FD10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001" y="3239369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52" name="distribution-group-2">
            <a:extLst xmlns:a="http://schemas.openxmlformats.org/drawingml/2006/main">
              <a:ext uri="{FF2B5EF4-FFF2-40B4-BE49-F238E27FC236}">
                <a16:creationId xmlns:a16="http://schemas.microsoft.com/office/drawing/2014/main" id="{3A8263EA-69FF-410E-A395-F24C0245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798" y="4762500"/>
            <a:ext cx="154019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Group B</a:t>
            </a:r>
          </a:p>
        </p:txBody>
      </p:sp>
      <p:sp>
        <p:nvSpPr>
          <p:cNvPr id="53" name="distribution-n-2">
            <a:extLst xmlns:a="http://schemas.openxmlformats.org/drawingml/2006/main">
              <a:ext uri="{FF2B5EF4-FFF2-40B4-BE49-F238E27FC236}">
                <a16:creationId xmlns:a16="http://schemas.microsoft.com/office/drawing/2014/main" id="{E8C534AC-ED7E-4D99-A634-52D74AA0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798" y="5010150"/>
            <a:ext cx="154019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697386"/>
                </a:solidFill>
              </a:defRPr>
            </a:pPr>
            <a:r>
              <a:rPr sz="1400" b="0">
                <a:solidFill>
                  <a:srgbClr val="697386"/>
                </a:solidFill>
              </a:rPr>
              <a:t>n=12</a:t>
            </a:r>
          </a:p>
        </p:txBody>
      </p:sp>
      <p:sp>
        <p:nvSpPr>
          <p:cNvPr id="54" name="distribution-whisker-3">
            <a:extLst xmlns:a="http://schemas.openxmlformats.org/drawingml/2006/main">
              <a:ext uri="{FF2B5EF4-FFF2-40B4-BE49-F238E27FC236}">
                <a16:creationId xmlns:a16="http://schemas.microsoft.com/office/drawing/2014/main" id="{A5271AD9-F473-44F7-9415-7F70E072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456" y="2777796"/>
            <a:ext cx="0" cy="10031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55" name="distribution-cap-low-3">
            <a:extLst xmlns:a="http://schemas.openxmlformats.org/drawingml/2006/main">
              <a:ext uri="{FF2B5EF4-FFF2-40B4-BE49-F238E27FC236}">
                <a16:creationId xmlns:a16="http://schemas.microsoft.com/office/drawing/2014/main" id="{C2B9BC25-B5D5-4157-9693-04716CAB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8623" y="3780952"/>
            <a:ext cx="37566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56" name="distribution-cap-high-3">
            <a:extLst xmlns:a="http://schemas.openxmlformats.org/drawingml/2006/main">
              <a:ext uri="{FF2B5EF4-FFF2-40B4-BE49-F238E27FC236}">
                <a16:creationId xmlns:a16="http://schemas.microsoft.com/office/drawing/2014/main" id="{317908AC-1BCD-46F5-B177-D1ED96C1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8623" y="2777796"/>
            <a:ext cx="37566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57" name="distribution-box-3">
            <a:extLst xmlns:a="http://schemas.openxmlformats.org/drawingml/2006/main">
              <a:ext uri="{FF2B5EF4-FFF2-40B4-BE49-F238E27FC236}">
                <a16:creationId xmlns:a16="http://schemas.microsoft.com/office/drawing/2014/main" id="{726B24C3-C076-4FA3-8F4D-1862608D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231" y="3153979"/>
            <a:ext cx="552450" cy="470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58" name="distribution-median-3">
            <a:extLst xmlns:a="http://schemas.openxmlformats.org/drawingml/2006/main">
              <a:ext uri="{FF2B5EF4-FFF2-40B4-BE49-F238E27FC236}">
                <a16:creationId xmlns:a16="http://schemas.microsoft.com/office/drawing/2014/main" id="{13ABB2F6-9EF6-4ACF-9371-2F460A0F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231" y="3436117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E8872D"/>
            </a:solidFill>
            <a:prstDash val="solid"/>
          </a:ln>
        </p:spPr>
      </p:sp>
      <p:sp>
        <p:nvSpPr>
          <p:cNvPr id="59" name="distribution-point-3-1">
            <a:extLst xmlns:a="http://schemas.openxmlformats.org/drawingml/2006/main">
              <a:ext uri="{FF2B5EF4-FFF2-40B4-BE49-F238E27FC236}">
                <a16:creationId xmlns:a16="http://schemas.microsoft.com/office/drawing/2014/main" id="{0F4A1601-C4EC-4E37-A692-BA118477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7395" y="3740947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60" name="distribution-point-3-2">
            <a:extLst xmlns:a="http://schemas.openxmlformats.org/drawingml/2006/main">
              <a:ext uri="{FF2B5EF4-FFF2-40B4-BE49-F238E27FC236}">
                <a16:creationId xmlns:a16="http://schemas.microsoft.com/office/drawing/2014/main" id="{B108DDDC-F22D-43DF-9BEF-209216F5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9092" y="3678249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61" name="distribution-point-3-3">
            <a:extLst xmlns:a="http://schemas.openxmlformats.org/drawingml/2006/main">
              <a:ext uri="{FF2B5EF4-FFF2-40B4-BE49-F238E27FC236}">
                <a16:creationId xmlns:a16="http://schemas.microsoft.com/office/drawing/2014/main" id="{F70379E7-FB0D-45C2-A557-F5F99EE1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3811" y="3615552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62" name="distribution-point-3-4">
            <a:extLst xmlns:a="http://schemas.openxmlformats.org/drawingml/2006/main">
              <a:ext uri="{FF2B5EF4-FFF2-40B4-BE49-F238E27FC236}">
                <a16:creationId xmlns:a16="http://schemas.microsoft.com/office/drawing/2014/main" id="{0737D30F-F6E3-41C5-A864-202A9961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508" y="355285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63" name="distribution-point-3-5">
            <a:extLst xmlns:a="http://schemas.openxmlformats.org/drawingml/2006/main">
              <a:ext uri="{FF2B5EF4-FFF2-40B4-BE49-F238E27FC236}">
                <a16:creationId xmlns:a16="http://schemas.microsoft.com/office/drawing/2014/main" id="{3C6776CB-C313-49BC-ACBF-531377A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226" y="3490158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64" name="distribution-point-3-6">
            <a:extLst xmlns:a="http://schemas.openxmlformats.org/drawingml/2006/main">
              <a:ext uri="{FF2B5EF4-FFF2-40B4-BE49-F238E27FC236}">
                <a16:creationId xmlns:a16="http://schemas.microsoft.com/office/drawing/2014/main" id="{88153566-5B10-4680-8703-7099BC47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923" y="3427460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65" name="distribution-point-3-7">
            <a:extLst xmlns:a="http://schemas.openxmlformats.org/drawingml/2006/main">
              <a:ext uri="{FF2B5EF4-FFF2-40B4-BE49-F238E27FC236}">
                <a16:creationId xmlns:a16="http://schemas.microsoft.com/office/drawing/2014/main" id="{D7F1FDCD-A6EA-4568-9DCD-6269CC37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3620" y="3364763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66" name="distribution-point-3-8">
            <a:extLst xmlns:a="http://schemas.openxmlformats.org/drawingml/2006/main">
              <a:ext uri="{FF2B5EF4-FFF2-40B4-BE49-F238E27FC236}">
                <a16:creationId xmlns:a16="http://schemas.microsoft.com/office/drawing/2014/main" id="{968C5202-94BE-44F0-8CF2-92D6238E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8339" y="3302066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67" name="distribution-point-3-9">
            <a:extLst xmlns:a="http://schemas.openxmlformats.org/drawingml/2006/main">
              <a:ext uri="{FF2B5EF4-FFF2-40B4-BE49-F238E27FC236}">
                <a16:creationId xmlns:a16="http://schemas.microsoft.com/office/drawing/2014/main" id="{15094A09-628E-4FCE-B7E9-DC875F0C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036" y="3176671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68" name="distribution-point-3-10">
            <a:extLst xmlns:a="http://schemas.openxmlformats.org/drawingml/2006/main">
              <a:ext uri="{FF2B5EF4-FFF2-40B4-BE49-F238E27FC236}">
                <a16:creationId xmlns:a16="http://schemas.microsoft.com/office/drawing/2014/main" id="{8EDAB787-209A-4279-B74B-8C60B6A9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4754" y="3051277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69" name="distribution-point-3-11">
            <a:extLst xmlns:a="http://schemas.openxmlformats.org/drawingml/2006/main">
              <a:ext uri="{FF2B5EF4-FFF2-40B4-BE49-F238E27FC236}">
                <a16:creationId xmlns:a16="http://schemas.microsoft.com/office/drawing/2014/main" id="{3E58DD62-6B40-42A5-AC43-B9292EAB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451" y="286318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70" name="distribution-point-3-12">
            <a:extLst xmlns:a="http://schemas.openxmlformats.org/drawingml/2006/main">
              <a:ext uri="{FF2B5EF4-FFF2-40B4-BE49-F238E27FC236}">
                <a16:creationId xmlns:a16="http://schemas.microsoft.com/office/drawing/2014/main" id="{A5B15A66-E2D5-4EAF-AC86-33659790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148" y="2737791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71" name="distribution-group-3">
            <a:extLst xmlns:a="http://schemas.openxmlformats.org/drawingml/2006/main">
              <a:ext uri="{FF2B5EF4-FFF2-40B4-BE49-F238E27FC236}">
                <a16:creationId xmlns:a16="http://schemas.microsoft.com/office/drawing/2014/main" id="{1FCBCAD7-87CD-4725-8EE3-5ACEC7FB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4762500"/>
            <a:ext cx="154019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Group C</a:t>
            </a:r>
          </a:p>
        </p:txBody>
      </p:sp>
      <p:sp>
        <p:nvSpPr>
          <p:cNvPr id="72" name="distribution-n-3">
            <a:extLst xmlns:a="http://schemas.openxmlformats.org/drawingml/2006/main">
              <a:ext uri="{FF2B5EF4-FFF2-40B4-BE49-F238E27FC236}">
                <a16:creationId xmlns:a16="http://schemas.microsoft.com/office/drawing/2014/main" id="{CAEC3127-7A01-45CE-9D56-83029B3B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5010150"/>
            <a:ext cx="154019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697386"/>
                </a:solidFill>
              </a:defRPr>
            </a:pPr>
            <a:r>
              <a:rPr sz="1400" b="0">
                <a:solidFill>
                  <a:srgbClr val="697386"/>
                </a:solidFill>
              </a:rPr>
              <a:t>n=12</a:t>
            </a:r>
          </a:p>
        </p:txBody>
      </p:sp>
      <p:sp>
        <p:nvSpPr>
          <p:cNvPr id="73" name="distribution-whisker-4">
            <a:extLst xmlns:a="http://schemas.openxmlformats.org/drawingml/2006/main">
              <a:ext uri="{FF2B5EF4-FFF2-40B4-BE49-F238E27FC236}">
                <a16:creationId xmlns:a16="http://schemas.microsoft.com/office/drawing/2014/main" id="{91EDAD28-10F1-4004-AF3A-7EAF6517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0019" y="3467465"/>
            <a:ext cx="0" cy="9404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74" name="distribution-cap-low-4">
            <a:extLst xmlns:a="http://schemas.openxmlformats.org/drawingml/2006/main">
              <a:ext uri="{FF2B5EF4-FFF2-40B4-BE49-F238E27FC236}">
                <a16:creationId xmlns:a16="http://schemas.microsoft.com/office/drawing/2014/main" id="{DA4090B8-70BD-4841-BF12-219E1611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2186" y="4407924"/>
            <a:ext cx="37566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75" name="distribution-cap-high-4">
            <a:extLst xmlns:a="http://schemas.openxmlformats.org/drawingml/2006/main">
              <a:ext uri="{FF2B5EF4-FFF2-40B4-BE49-F238E27FC236}">
                <a16:creationId xmlns:a16="http://schemas.microsoft.com/office/drawing/2014/main" id="{5EC52D88-3953-4F75-965A-9D9D0BA7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2186" y="3467465"/>
            <a:ext cx="37566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76" name="distribution-box-4">
            <a:extLst xmlns:a="http://schemas.openxmlformats.org/drawingml/2006/main">
              <a:ext uri="{FF2B5EF4-FFF2-40B4-BE49-F238E27FC236}">
                <a16:creationId xmlns:a16="http://schemas.microsoft.com/office/drawing/2014/main" id="{7B9B9AD3-8752-4E3D-968F-2A5E0641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794" y="3655557"/>
            <a:ext cx="552450" cy="470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77" name="distribution-median-4">
            <a:extLst xmlns:a="http://schemas.openxmlformats.org/drawingml/2006/main">
              <a:ext uri="{FF2B5EF4-FFF2-40B4-BE49-F238E27FC236}">
                <a16:creationId xmlns:a16="http://schemas.microsoft.com/office/drawing/2014/main" id="{043F55D8-D5E5-47D7-B51B-CB15DB59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794" y="393769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E8872D"/>
            </a:solidFill>
            <a:prstDash val="solid"/>
          </a:ln>
        </p:spPr>
      </p:sp>
      <p:sp>
        <p:nvSpPr>
          <p:cNvPr id="78" name="distribution-point-4-1">
            <a:extLst xmlns:a="http://schemas.openxmlformats.org/drawingml/2006/main">
              <a:ext uri="{FF2B5EF4-FFF2-40B4-BE49-F238E27FC236}">
                <a16:creationId xmlns:a16="http://schemas.microsoft.com/office/drawing/2014/main" id="{5993327E-4E7B-4324-B33D-86E9AC60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4542" y="4367919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79" name="distribution-point-4-2">
            <a:extLst xmlns:a="http://schemas.openxmlformats.org/drawingml/2006/main">
              <a:ext uri="{FF2B5EF4-FFF2-40B4-BE49-F238E27FC236}">
                <a16:creationId xmlns:a16="http://schemas.microsoft.com/office/drawing/2014/main" id="{742AFF56-0C27-4B8E-9F00-0593A5BA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239" y="424252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80" name="distribution-point-4-3">
            <a:extLst xmlns:a="http://schemas.openxmlformats.org/drawingml/2006/main">
              <a:ext uri="{FF2B5EF4-FFF2-40B4-BE49-F238E27FC236}">
                <a16:creationId xmlns:a16="http://schemas.microsoft.com/office/drawing/2014/main" id="{9B7923E3-5636-4A08-ABA3-BB63645F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0958" y="4117130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81" name="distribution-point-4-4">
            <a:extLst xmlns:a="http://schemas.openxmlformats.org/drawingml/2006/main">
              <a:ext uri="{FF2B5EF4-FFF2-40B4-BE49-F238E27FC236}">
                <a16:creationId xmlns:a16="http://schemas.microsoft.com/office/drawing/2014/main" id="{2F09A40A-592B-4D2E-A5D0-F27620BB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2654" y="4054433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82" name="distribution-point-4-5">
            <a:extLst xmlns:a="http://schemas.openxmlformats.org/drawingml/2006/main">
              <a:ext uri="{FF2B5EF4-FFF2-40B4-BE49-F238E27FC236}">
                <a16:creationId xmlns:a16="http://schemas.microsoft.com/office/drawing/2014/main" id="{7AC79684-7882-41D5-8436-E5B36FB3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7373" y="3991736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83" name="distribution-point-4-6">
            <a:extLst xmlns:a="http://schemas.openxmlformats.org/drawingml/2006/main">
              <a:ext uri="{FF2B5EF4-FFF2-40B4-BE49-F238E27FC236}">
                <a16:creationId xmlns:a16="http://schemas.microsoft.com/office/drawing/2014/main" id="{4D7FF58C-4408-44FD-8CCC-CB899DD8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9070" y="3929038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84" name="distribution-point-4-7">
            <a:extLst xmlns:a="http://schemas.openxmlformats.org/drawingml/2006/main">
              <a:ext uri="{FF2B5EF4-FFF2-40B4-BE49-F238E27FC236}">
                <a16:creationId xmlns:a16="http://schemas.microsoft.com/office/drawing/2014/main" id="{339A3A88-D6CF-4C18-8E7D-C486AAF5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3789" y="3866341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85" name="distribution-point-4-8">
            <a:extLst xmlns:a="http://schemas.openxmlformats.org/drawingml/2006/main">
              <a:ext uri="{FF2B5EF4-FFF2-40B4-BE49-F238E27FC236}">
                <a16:creationId xmlns:a16="http://schemas.microsoft.com/office/drawing/2014/main" id="{A18E1060-58FC-4747-B309-49CC0AA2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5486" y="3803644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86" name="distribution-point-4-9">
            <a:extLst xmlns:a="http://schemas.openxmlformats.org/drawingml/2006/main">
              <a:ext uri="{FF2B5EF4-FFF2-40B4-BE49-F238E27FC236}">
                <a16:creationId xmlns:a16="http://schemas.microsoft.com/office/drawing/2014/main" id="{B313B876-8AFD-4DC7-A37A-2CD96683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7183" y="3678249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87" name="distribution-point-4-10">
            <a:extLst xmlns:a="http://schemas.openxmlformats.org/drawingml/2006/main">
              <a:ext uri="{FF2B5EF4-FFF2-40B4-BE49-F238E27FC236}">
                <a16:creationId xmlns:a16="http://schemas.microsoft.com/office/drawing/2014/main" id="{0E7A35FB-B158-4742-AE77-2413A16E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901" y="355285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88" name="distribution-point-4-11">
            <a:extLst xmlns:a="http://schemas.openxmlformats.org/drawingml/2006/main">
              <a:ext uri="{FF2B5EF4-FFF2-40B4-BE49-F238E27FC236}">
                <a16:creationId xmlns:a16="http://schemas.microsoft.com/office/drawing/2014/main" id="{290DAC7A-FD6A-4ED2-BAEF-4DD3121B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598" y="3427460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89" name="distribution-point-4-12">
            <a:extLst xmlns:a="http://schemas.openxmlformats.org/drawingml/2006/main">
              <a:ext uri="{FF2B5EF4-FFF2-40B4-BE49-F238E27FC236}">
                <a16:creationId xmlns:a16="http://schemas.microsoft.com/office/drawing/2014/main" id="{89C2C830-41C9-477B-8F2B-AD95B763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934" y="247461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90" name="distribution-group-4">
            <a:extLst xmlns:a="http://schemas.openxmlformats.org/drawingml/2006/main">
              <a:ext uri="{FF2B5EF4-FFF2-40B4-BE49-F238E27FC236}">
                <a16:creationId xmlns:a16="http://schemas.microsoft.com/office/drawing/2014/main" id="{98CB96A9-DA35-490C-9243-A5E05B63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9923" y="4762500"/>
            <a:ext cx="154019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Group D</a:t>
            </a:r>
          </a:p>
        </p:txBody>
      </p:sp>
      <p:sp>
        <p:nvSpPr>
          <p:cNvPr id="91" name="distribution-n-4">
            <a:extLst xmlns:a="http://schemas.openxmlformats.org/drawingml/2006/main">
              <a:ext uri="{FF2B5EF4-FFF2-40B4-BE49-F238E27FC236}">
                <a16:creationId xmlns:a16="http://schemas.microsoft.com/office/drawing/2014/main" id="{6EEE8239-2200-4573-A71A-AB97A410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9923" y="5010150"/>
            <a:ext cx="154019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697386"/>
                </a:solidFill>
              </a:defRPr>
            </a:pPr>
            <a:r>
              <a:rPr sz="1400" b="0">
                <a:solidFill>
                  <a:srgbClr val="697386"/>
                </a:solidFill>
              </a:rPr>
              <a:t>n=12</a:t>
            </a:r>
          </a:p>
        </p:txBody>
      </p:sp>
      <p:sp>
        <p:nvSpPr>
          <p:cNvPr id="92" name="distribution-statistics-note">
            <a:extLst xmlns:a="http://schemas.openxmlformats.org/drawingml/2006/main">
              <a:ext uri="{FF2B5EF4-FFF2-40B4-BE49-F238E27FC236}">
                <a16:creationId xmlns:a16="http://schemas.microsoft.com/office/drawing/2014/main" id="{8E07C646-0B20-4511-B446-E7940AFB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Cabinet:Q1–Q3;Midline: median; Must:1.5×IQRthe most distant observation within; outliers are marked individually</a:t>
            </a:r>
          </a:p>
        </p:txBody>
      </p:sp>
      <p:sp>
        <p:nvSpPr>
          <p:cNvPr id="93" name="distribution-jitter-note">
            <a:extLst xmlns:a="http://schemas.openxmlformats.org/drawingml/2006/main">
              <a:ext uri="{FF2B5EF4-FFF2-40B4-BE49-F238E27FC236}">
                <a16:creationId xmlns:a16="http://schemas.microsoft.com/office/drawing/2014/main" id="{B1881352-955E-4C59-8C37-5D81404A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25780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E8872D"/>
                </a:solidFill>
              </a:defRPr>
            </a:pPr>
            <a:r>
              <a:rPr sz="1200" b="1">
                <a:solidFill>
                  <a:srgbClr val="E8872D"/>
                </a:solidFill>
              </a:rPr>
              <a:t>Lateral jitter is only to avoid occlusion and does not change the observation value</a:t>
            </a:r>
          </a:p>
        </p:txBody>
      </p:sp>
      <p:sp>
        <p:nvSpPr>
          <p:cNvPr id="94" name="key insights-rail">
            <a:extLst xmlns:a="http://schemas.openxmlformats.org/drawingml/2006/main">
              <a:ext uri="{FF2B5EF4-FFF2-40B4-BE49-F238E27FC236}">
                <a16:creationId xmlns:a16="http://schemas.microsoft.com/office/drawing/2014/main" id="{C332A104-E7C4-47E2-A8AB-07D6FD21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219200"/>
            <a:ext cx="238125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95" name="key insights-title">
            <a:extLst xmlns:a="http://schemas.openxmlformats.org/drawingml/2006/main">
              <a:ext uri="{FF2B5EF4-FFF2-40B4-BE49-F238E27FC236}">
                <a16:creationId xmlns:a16="http://schemas.microsoft.com/office/drawing/2014/main" id="{F35D6C62-6089-4084-9A14-01B4B5AC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3525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75F"/>
                </a:solidFill>
              </a:defRPr>
            </a:pPr>
            <a:r>
              <a:rPr sz="1800" b="1">
                <a:solidFill>
                  <a:srgbClr val="15375F"/>
                </a:solidFill>
              </a:rPr>
              <a:t>key insights</a:t>
            </a:r>
          </a:p>
        </p:txBody>
      </p:sp>
      <p:sp>
        <p:nvSpPr>
          <p:cNvPr id="96" name="key insights-item-1">
            <a:extLst xmlns:a="http://schemas.openxmlformats.org/drawingml/2006/main">
              <a:ext uri="{FF2B5EF4-FFF2-40B4-BE49-F238E27FC236}">
                <a16:creationId xmlns:a16="http://schemas.microsoft.com/office/drawing/2014/main" id="{A8D7B8EA-D2D9-4BD8-A580-E7C55737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790700"/>
            <a:ext cx="2076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E8872D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Group A and Group D appear separately72minutes and65Minutes of high-value observation, need to check the specific work order situation</a:t>
            </a:r>
          </a:p>
        </p:txBody>
      </p:sp>
      <p:sp>
        <p:nvSpPr>
          <p:cNvPr id="97" name="key insights-item-2">
            <a:extLst xmlns:a="http://schemas.openxmlformats.org/drawingml/2006/main">
              <a:ext uri="{FF2B5EF4-FFF2-40B4-BE49-F238E27FC236}">
                <a16:creationId xmlns:a16="http://schemas.microsoft.com/office/drawing/2014/main" id="{4CAB0FFD-BB77-499D-9350-A8A29656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52750"/>
            <a:ext cx="2076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The observations in Group B are more concentrated, and the fluctuations within the group are smaller than those in Groups A and D.</a:t>
            </a:r>
          </a:p>
        </p:txBody>
      </p:sp>
      <p:sp>
        <p:nvSpPr>
          <p:cNvPr id="98" name="bottom-conclusion">
            <a:extLst xmlns:a="http://schemas.openxmlformats.org/drawingml/2006/main">
              <a:ext uri="{FF2B5EF4-FFF2-40B4-BE49-F238E27FC236}">
                <a16:creationId xmlns:a16="http://schemas.microsoft.com/office/drawing/2014/main" id="{BAE8912E-6E2B-4D99-88E7-252AFAAC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12383">
            <a:solidFill>
              <a:srgbClr val="E8872D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375F"/>
                </a:solidFill>
              </a:defRPr>
            </a:pPr>
            <a:r>
              <a:rPr sz="1800" b="1">
                <a:solidFill>
                  <a:srgbClr val="15375F"/>
                </a:solidFill>
              </a:rPr>
              <a:t>First review the high-value observations in Group A and Group D, and then determine whether the process needs to be adjusted.</a:t>
            </a:r>
          </a:p>
        </p:txBody>
      </p:sp>
    </p:spTree>
    <p:extLst>
      <p:ext uri="{BB962C8B-B14F-4D97-AF65-F5344CB8AC3E}">
        <p14:creationId xmlns:p14="http://schemas.microsoft.com/office/powerpoint/2010/main" val="6023797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2026-08-08T16:23:14.4400000Z</dcterms:created>
  <dcterms:modified xsi:type="dcterms:W3CDTF">2026-08-08T16:23:14.4400000Z</dcterms:modified>
</coreProperties>
</file>