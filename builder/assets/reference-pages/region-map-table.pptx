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81d80011e43c4" /><Relationship Type="http://schemas.openxmlformats.org/officeDocument/2006/relationships/extended-properties" Target="/docProps/app.xml" Id="Raed178f6b1084dc9" /><Relationship Type="http://schemas.openxmlformats.org/officeDocument/2006/relationships/officeDocument" Target="/ppt/presentation.xml" Id="Rc4aa88f0b10e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2bc492e1c749b2"/>
  </p:sldMasterIdLst>
  <p:notesMasterIdLst>
    <p:notesMasterId xmlns:r="http://schemas.openxmlformats.org/officeDocument/2006/relationships" r:id="R0b05bf4c750e45ff"/>
  </p:notesMasterIdLst>
  <p:sldIdLst>
    <p:sldId xmlns:r="http://schemas.openxmlformats.org/officeDocument/2006/relationships" id="256" r:id="Rc8b139e2c3ed46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15356fa9c24cfc" /><Relationship Type="http://schemas.openxmlformats.org/officeDocument/2006/relationships/slideMaster" Target="/ppt/slideMasters/slideMaster1.xml" Id="Rbe2bc492e1c749b2" /><Relationship Type="http://schemas.openxmlformats.org/officeDocument/2006/relationships/notesMaster" Target="/ppt/notesMasters/notesMaster1.xml" Id="R0b05bf4c750e45ff" /><Relationship Type="http://schemas.openxmlformats.org/officeDocument/2006/relationships/presProps" Target="/ppt/presProps.xml" Id="R1d12cf3bbb654282" /><Relationship Type="http://schemas.openxmlformats.org/officeDocument/2006/relationships/tableStyles" Target="/ppt/tableStyles.xml" Id="R92ed443be9d34fd8" /><Relationship Type="http://schemas.openxmlformats.org/officeDocument/2006/relationships/slide" Target="/ppt/slides/slide1.xml" Id="Rc8b139e2c3ed46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65a56cf24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c2d90543d44642" /><Relationship Type="http://schemas.openxmlformats.org/officeDocument/2006/relationships/notesMaster" Target="/ppt/notesMasters/notesMaster1.xml" Id="R0064148c668744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1a72f7a93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9dc7ed2f44735" /><Relationship Type="http://schemas.openxmlformats.org/officeDocument/2006/relationships/slideLayout" Target="/ppt/slideLayouts/slideLayout1.xml" Id="Rf6c692c13f3d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692c13f3d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beec8da8247eb" /><Relationship Type="http://schemas.openxmlformats.org/officeDocument/2006/relationships/notesSlide" Target="/ppt/notesSlides/notesSlide1.xml" Id="R3ca7bbeff8eb48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EA5BA4EC-3111-47C7-8A5F-3D536BB8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70% The labor costs are concentrated in three high-cost areas, but the output contribution only accounts for 49%</a:t>
            </a:r>
          </a:p>
        </p:txBody>
      </p:sp>
      <p:sp>
        <p:nvSpPr>
          <p:cNvPr id="2" name="region-frame">
            <a:extLst xmlns:a="http://schemas.openxmlformats.org/drawingml/2006/main">
              <a:ext uri="{FF2B5EF4-FFF2-40B4-BE49-F238E27FC236}">
                <a16:creationId xmlns:a16="http://schemas.microsoft.com/office/drawing/2014/main" id="{967DEA97-55F2-42D2-92CA-F9E6D6B7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096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region-map-outline">
            <a:extLst xmlns:a="http://schemas.openxmlformats.org/drawingml/2006/main">
              <a:ext uri="{FF2B5EF4-FFF2-40B4-BE49-F238E27FC236}">
                <a16:creationId xmlns:a16="http://schemas.microsoft.com/office/drawing/2014/main" id="{14CE93B1-1780-427B-8EFE-FF1587E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476750" cy="3143250"/>
          </a:xfrm>
          <a:custGeom xmlns:a="http://schemas.openxmlformats.org/drawingml/2006/main">
            <a:pathLst>
              <a:path w="952500" h="952500">
                <a:moveTo>
                  <a:pt x="76200" y="428625"/>
                </a:moveTo>
                <a:lnTo>
                  <a:pt x="171450" y="190500"/>
                </a:lnTo>
                <a:lnTo>
                  <a:pt x="333375" y="114300"/>
                </a:lnTo>
                <a:lnTo>
                  <a:pt x="457200" y="228600"/>
                </a:lnTo>
                <a:lnTo>
                  <a:pt x="590550" y="123825"/>
                </a:lnTo>
                <a:lnTo>
                  <a:pt x="762000" y="238125"/>
                </a:lnTo>
                <a:lnTo>
                  <a:pt x="876300" y="400050"/>
                </a:lnTo>
                <a:lnTo>
                  <a:pt x="781050" y="523875"/>
                </a:lnTo>
                <a:lnTo>
                  <a:pt x="838200" y="695325"/>
                </a:lnTo>
                <a:lnTo>
                  <a:pt x="666750" y="838200"/>
                </a:lnTo>
                <a:lnTo>
                  <a:pt x="476250" y="762000"/>
                </a:lnTo>
                <a:lnTo>
                  <a:pt x="361950" y="895350"/>
                </a:lnTo>
                <a:lnTo>
                  <a:pt x="219075" y="742950"/>
                </a:lnTo>
                <a:lnTo>
                  <a:pt x="95250" y="647700"/>
                </a:lnTo>
                <a:close/>
              </a:path>
            </a:pathLst>
          </a:cu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4" name="region-east">
            <a:extLst xmlns:a="http://schemas.openxmlformats.org/drawingml/2006/main">
              <a:ext uri="{FF2B5EF4-FFF2-40B4-BE49-F238E27FC236}">
                <a16:creationId xmlns:a16="http://schemas.microsoft.com/office/drawing/2014/main" id="{F999C496-6812-4EA4-852C-9C11C16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585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92</a:t>
            </a:r>
          </a:p>
        </p:txBody>
      </p:sp>
      <p:sp>
        <p:nvSpPr>
          <p:cNvPr id="5" name="region-label-east">
            <a:extLst xmlns:a="http://schemas.openxmlformats.org/drawingml/2006/main">
              <a:ext uri="{FF2B5EF4-FFF2-40B4-BE49-F238E27FC236}">
                <a16:creationId xmlns:a16="http://schemas.microsoft.com/office/drawing/2014/main" id="{C8B39377-317C-499A-A526-E18BE257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3543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East China</a:t>
            </a:r>
          </a:p>
        </p:txBody>
      </p:sp>
      <p:sp>
        <p:nvSpPr>
          <p:cNvPr id="6" name="region-north">
            <a:extLst xmlns:a="http://schemas.openxmlformats.org/drawingml/2006/main">
              <a:ext uri="{FF2B5EF4-FFF2-40B4-BE49-F238E27FC236}">
                <a16:creationId xmlns:a16="http://schemas.microsoft.com/office/drawing/2014/main" id="{95C470E4-AFA1-479F-9352-895F2CE6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207073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88</a:t>
            </a:r>
          </a:p>
        </p:txBody>
      </p:sp>
      <p:sp>
        <p:nvSpPr>
          <p:cNvPr id="7" name="region-label-north">
            <a:extLst xmlns:a="http://schemas.openxmlformats.org/drawingml/2006/main">
              <a:ext uri="{FF2B5EF4-FFF2-40B4-BE49-F238E27FC236}">
                <a16:creationId xmlns:a16="http://schemas.microsoft.com/office/drawing/2014/main" id="{857C487A-7440-4E1E-86E0-3293FD3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85178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North China</a:t>
            </a:r>
          </a:p>
        </p:txBody>
      </p:sp>
      <p:sp>
        <p:nvSpPr>
          <p:cNvPr id="8" name="region-south">
            <a:extLst xmlns:a="http://schemas.openxmlformats.org/drawingml/2006/main">
              <a:ext uri="{FF2B5EF4-FFF2-40B4-BE49-F238E27FC236}">
                <a16:creationId xmlns:a16="http://schemas.microsoft.com/office/drawing/2014/main" id="{5AE72FD8-87BD-4FA0-83D7-F8D9BFE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345376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96</a:t>
            </a:r>
          </a:p>
        </p:txBody>
      </p:sp>
      <p:sp>
        <p:nvSpPr>
          <p:cNvPr id="9" name="region-label-south">
            <a:extLst xmlns:a="http://schemas.openxmlformats.org/drawingml/2006/main">
              <a:ext uri="{FF2B5EF4-FFF2-40B4-BE49-F238E27FC236}">
                <a16:creationId xmlns:a16="http://schemas.microsoft.com/office/drawing/2014/main" id="{FA660C56-836E-47A8-BB71-BDA6D529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23481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South China</a:t>
            </a:r>
          </a:p>
        </p:txBody>
      </p:sp>
      <p:sp>
        <p:nvSpPr>
          <p:cNvPr id="10" name="region-central">
            <a:extLst xmlns:a="http://schemas.openxmlformats.org/drawingml/2006/main">
              <a:ext uri="{FF2B5EF4-FFF2-40B4-BE49-F238E27FC236}">
                <a16:creationId xmlns:a16="http://schemas.microsoft.com/office/drawing/2014/main" id="{A9FC0C2E-ED28-4929-98E5-C7B52A7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" y="301371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112</a:t>
            </a:r>
          </a:p>
        </p:txBody>
      </p:sp>
      <p:sp>
        <p:nvSpPr>
          <p:cNvPr id="11" name="region-label-central">
            <a:extLst xmlns:a="http://schemas.openxmlformats.org/drawingml/2006/main">
              <a:ext uri="{FF2B5EF4-FFF2-40B4-BE49-F238E27FC236}">
                <a16:creationId xmlns:a16="http://schemas.microsoft.com/office/drawing/2014/main" id="{E7974D06-5689-499A-8CC2-4842C0B5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79476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Central China</a:t>
            </a:r>
          </a:p>
        </p:txBody>
      </p:sp>
      <p:sp>
        <p:nvSpPr>
          <p:cNvPr id="12" name="region-west">
            <a:extLst xmlns:a="http://schemas.openxmlformats.org/drawingml/2006/main">
              <a:ext uri="{FF2B5EF4-FFF2-40B4-BE49-F238E27FC236}">
                <a16:creationId xmlns:a16="http://schemas.microsoft.com/office/drawing/2014/main" id="{532B258F-C2BE-46BE-ABAF-0B84DB90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982278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118</a:t>
            </a:r>
          </a:p>
        </p:txBody>
      </p:sp>
      <p:sp>
        <p:nvSpPr>
          <p:cNvPr id="13" name="region-label-west">
            <a:extLst xmlns:a="http://schemas.openxmlformats.org/drawingml/2006/main">
              <a:ext uri="{FF2B5EF4-FFF2-40B4-BE49-F238E27FC236}">
                <a16:creationId xmlns:a16="http://schemas.microsoft.com/office/drawing/2014/main" id="{3130416D-7FAA-4387-83EB-1C406D41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" y="3763328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west</a:t>
            </a:r>
          </a:p>
        </p:txBody>
      </p:sp>
      <p:sp>
        <p:nvSpPr>
          <p:cNvPr id="14" name="region-northeast">
            <a:extLst xmlns:a="http://schemas.openxmlformats.org/drawingml/2006/main">
              <a:ext uri="{FF2B5EF4-FFF2-40B4-BE49-F238E27FC236}">
                <a16:creationId xmlns:a16="http://schemas.microsoft.com/office/drawing/2014/main" id="{2885D85A-D9A0-4842-AEA1-6AB796B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" y="175641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101</a:t>
            </a:r>
          </a:p>
        </p:txBody>
      </p:sp>
      <p:sp>
        <p:nvSpPr>
          <p:cNvPr id="15" name="region-label-northeast">
            <a:extLst xmlns:a="http://schemas.openxmlformats.org/drawingml/2006/main">
              <a:ext uri="{FF2B5EF4-FFF2-40B4-BE49-F238E27FC236}">
                <a16:creationId xmlns:a16="http://schemas.microsoft.com/office/drawing/2014/main" id="{7F0281C2-81DB-4FD7-BEAC-DA63E161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255" y="253746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Northeast</a:t>
            </a:r>
          </a:p>
        </p:txBody>
      </p:sp>
      <p:sp>
        <p:nvSpPr>
          <p:cNvPr id="16" name="region-table-head">
            <a:extLst xmlns:a="http://schemas.openxmlformats.org/drawingml/2006/main">
              <a:ext uri="{FF2B5EF4-FFF2-40B4-BE49-F238E27FC236}">
                <a16:creationId xmlns:a16="http://schemas.microsoft.com/office/drawing/2014/main" id="{4A922006-9F2E-448B-97EC-00582CBF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811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area｜Number of people｜cost｜output｜Human efficiency</a:t>
            </a:r>
          </a:p>
        </p:txBody>
      </p:sp>
      <p:sp>
        <p:nvSpPr>
          <p:cNvPr id="17" name="region-row-1">
            <a:extLst xmlns:a="http://schemas.openxmlformats.org/drawingml/2006/main">
              <a:ext uri="{FF2B5EF4-FFF2-40B4-BE49-F238E27FC236}">
                <a16:creationId xmlns:a16="http://schemas.microsoft.com/office/drawing/2014/main" id="{1B323787-7162-4381-B3FC-5198DFB8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85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East China｜620｜28%｜20%｜92</a:t>
            </a:r>
          </a:p>
        </p:txBody>
      </p:sp>
      <p:sp>
        <p:nvSpPr>
          <p:cNvPr id="18" name="region-row-2">
            <a:extLst xmlns:a="http://schemas.openxmlformats.org/drawingml/2006/main">
              <a:ext uri="{FF2B5EF4-FFF2-40B4-BE49-F238E27FC236}">
                <a16:creationId xmlns:a16="http://schemas.microsoft.com/office/drawing/2014/main" id="{D67FADB5-4F75-450B-AFDF-31B570C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09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North China｜510｜24%｜17%｜88</a:t>
            </a:r>
          </a:p>
        </p:txBody>
      </p:sp>
      <p:sp>
        <p:nvSpPr>
          <p:cNvPr id="19" name="region-row-3">
            <a:extLst xmlns:a="http://schemas.openxmlformats.org/drawingml/2006/main">
              <a:ext uri="{FF2B5EF4-FFF2-40B4-BE49-F238E27FC236}">
                <a16:creationId xmlns:a16="http://schemas.microsoft.com/office/drawing/2014/main" id="{00F74ED3-C4EC-4579-A8A1-8C853E89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336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South China｜450｜18%｜12%｜96</a:t>
            </a:r>
          </a:p>
        </p:txBody>
      </p:sp>
      <p:sp>
        <p:nvSpPr>
          <p:cNvPr id="20" name="region-row-4">
            <a:extLst xmlns:a="http://schemas.openxmlformats.org/drawingml/2006/main">
              <a:ext uri="{FF2B5EF4-FFF2-40B4-BE49-F238E27FC236}">
                <a16:creationId xmlns:a16="http://schemas.microsoft.com/office/drawing/2014/main" id="{22B4F89B-2381-4591-BDF4-5BCF8CD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Central China｜260｜11%｜17%｜112</a:t>
            </a:r>
          </a:p>
        </p:txBody>
      </p:sp>
      <p:sp>
        <p:nvSpPr>
          <p:cNvPr id="21" name="region-row-5">
            <a:extLst xmlns:a="http://schemas.openxmlformats.org/drawingml/2006/main">
              <a:ext uri="{FF2B5EF4-FFF2-40B4-BE49-F238E27FC236}">
                <a16:creationId xmlns:a16="http://schemas.microsoft.com/office/drawing/2014/main" id="{ECED2855-50F8-434E-965E-473148D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81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west｜180｜9%｜14%｜118</a:t>
            </a:r>
          </a:p>
        </p:txBody>
      </p:sp>
      <p:sp>
        <p:nvSpPr>
          <p:cNvPr id="22" name="region-row-6">
            <a:extLst xmlns:a="http://schemas.openxmlformats.org/drawingml/2006/main">
              <a:ext uri="{FF2B5EF4-FFF2-40B4-BE49-F238E27FC236}">
                <a16:creationId xmlns:a16="http://schemas.microsoft.com/office/drawing/2014/main" id="{E8120579-332A-4698-BF92-64FC473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Northeast｜130｜6%｜8%｜101</a:t>
            </a:r>
          </a:p>
        </p:txBody>
      </p:sp>
      <p:sp>
        <p:nvSpPr>
          <p:cNvPr id="26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9D6366BF-37D4-433F-9099-E29E64AA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00150"/>
            <a:ext cx="2781300" cy="4438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27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8BFCCDE0-CE8A-4DCD-A5D7-97A4C439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335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28" name="key insights-1">
            <a:extLst xmlns:a="http://schemas.openxmlformats.org/drawingml/2006/main">
              <a:ext uri="{FF2B5EF4-FFF2-40B4-BE49-F238E27FC236}">
                <a16:creationId xmlns:a16="http://schemas.microsoft.com/office/drawing/2014/main" id="{967EC988-DF8C-46E2-9961-EE2868C3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Total cost proportion of East China, North China, and South China 70%</a:t>
            </a:r>
          </a:p>
        </p:txBody>
      </p:sp>
      <p:sp>
        <p:nvSpPr>
          <p:cNvPr id="29" name="key insights-2">
            <a:extLst xmlns:a="http://schemas.openxmlformats.org/drawingml/2006/main">
              <a:ext uri="{FF2B5EF4-FFF2-40B4-BE49-F238E27FC236}">
                <a16:creationId xmlns:a16="http://schemas.microsoft.com/office/drawing/2014/main" id="{DE8396A6-1ED5-4154-8964-A0CF3C50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human efficiency index of the three places is lower than the national average 100</a:t>
            </a:r>
          </a:p>
        </p:txBody>
      </p:sp>
      <p:sp>
        <p:nvSpPr>
          <p:cNvPr id="30" name="key insights-3">
            <a:extLst xmlns:a="http://schemas.openxmlformats.org/drawingml/2006/main">
              <a:ext uri="{FF2B5EF4-FFF2-40B4-BE49-F238E27FC236}">
                <a16:creationId xmlns:a16="http://schemas.microsoft.com/office/drawing/2014/main" id="{A77CF4DA-59D5-4B79-B935-0B28EEA3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central and western regions are highly efficient and there is still room for undertaking</a:t>
            </a:r>
          </a:p>
        </p:txBody>
      </p:sp>
      <p:sp>
        <p:nvSpPr>
          <p:cNvPr id="31" name="bottom">
            <a:extLst xmlns:a="http://schemas.openxmlformats.org/drawingml/2006/main">
              <a:ext uri="{FF2B5EF4-FFF2-40B4-BE49-F238E27FC236}">
                <a16:creationId xmlns:a16="http://schemas.microsoft.com/office/drawing/2014/main" id="{2A6F202F-764B-47EC-A86A-682B1C7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New production capacity will be given priority to central and western China, and structural control will be implemented in the three coastal areas.</a:t>
            </a:r>
          </a:p>
        </p:txBody>
      </p:sp>
      <p:cxnSp>
        <p:nvCxnSpPr>
          <p:cNvPr id="60" name=""/>
          <p:cNvCxnSpPr>
            <a:stCxn xmlns:a="http://schemas.openxmlformats.org/drawingml/2006/main" id="6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557588" y="2371725"/>
            <a:ext cx="1909762" cy="8953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  <p:cxnSp>
        <p:nvCxnSpPr>
          <p:cNvPr id="61" name=""/>
          <p:cNvCxnSpPr>
            <a:stCxn xmlns:a="http://schemas.openxmlformats.org/drawingml/2006/main" id="4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318635" y="2047875"/>
            <a:ext cx="1148715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  <p:cxnSp>
        <p:nvCxnSpPr>
          <p:cNvPr id="62" name=""/>
          <p:cNvCxnSpPr>
            <a:stCxn xmlns:a="http://schemas.openxmlformats.org/drawingml/2006/main" id="8" idx="6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870960" y="2695575"/>
            <a:ext cx="1596390" cy="114871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97744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2026-07-31T20:17:17.2000000Z</dcterms:created>
  <dcterms:modified xsi:type="dcterms:W3CDTF">2026-07-31T20:17:17.2000000Z</dcterms:modified>
</coreProperties>
</file>