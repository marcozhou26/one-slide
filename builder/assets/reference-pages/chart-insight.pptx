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d876f27d2d41e7" /><Relationship Type="http://schemas.openxmlformats.org/officeDocument/2006/relationships/extended-properties" Target="/docProps/app.xml" Id="R8e3e3babd43241fc" /><Relationship Type="http://schemas.openxmlformats.org/officeDocument/2006/relationships/officeDocument" Target="/ppt/presentation.xml" Id="R92be1d07173d42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05413e12594e9e"/>
  </p:sldMasterIdLst>
  <p:notesMasterIdLst>
    <p:notesMasterId xmlns:r="http://schemas.openxmlformats.org/officeDocument/2006/relationships" r:id="Rcf2f7886553f4d4b"/>
  </p:notesMasterIdLst>
  <p:sldIdLst>
    <p:sldId xmlns:r="http://schemas.openxmlformats.org/officeDocument/2006/relationships" id="256" r:id="R0c2033164a0548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4052da37fe40c3" /><Relationship Type="http://schemas.openxmlformats.org/officeDocument/2006/relationships/slideMaster" Target="/ppt/slideMasters/slideMaster1.xml" Id="Ra205413e12594e9e" /><Relationship Type="http://schemas.openxmlformats.org/officeDocument/2006/relationships/notesMaster" Target="/ppt/notesMasters/notesMaster1.xml" Id="Rcf2f7886553f4d4b" /><Relationship Type="http://schemas.openxmlformats.org/officeDocument/2006/relationships/presProps" Target="/ppt/presProps.xml" Id="Rac0794665beb4c1b" /><Relationship Type="http://schemas.openxmlformats.org/officeDocument/2006/relationships/tableStyles" Target="/ppt/tableStyles.xml" Id="R94cc9f96b644404e" /><Relationship Type="http://schemas.openxmlformats.org/officeDocument/2006/relationships/slide" Target="/ppt/slides/slide1.xml" Id="R0c2033164a0548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8fe8ee6237493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0a7ffc4b28454f" /><Relationship Type="http://schemas.openxmlformats.org/officeDocument/2006/relationships/notesMaster" Target="/ppt/notesMasters/notesMaster1.xml" Id="R283393f1631c4c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6247dda17349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61bde79bf34629" /><Relationship Type="http://schemas.openxmlformats.org/officeDocument/2006/relationships/slideLayout" Target="/ppt/slideLayouts/slideLayout1.xml" Id="R159b738d7a3c48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9b738d7a3c48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af5cf8a004af6" /><Relationship Type="http://schemas.openxmlformats.org/officeDocument/2006/relationships/notesSlide" Target="/ppt/notesSlides/notesSlide1.xml" Id="R09cd81002db244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page-title">
            <a:extLst xmlns:a="http://schemas.openxmlformats.org/drawingml/2006/main">
              <a:ext uri="{FF2B5EF4-FFF2-40B4-BE49-F238E27FC236}">
                <a16:creationId xmlns:a16="http://schemas.microsoft.com/office/drawing/2014/main" id="{A30ED9F9-0240-44DF-BB1B-B935CB5B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375F"/>
                </a:solidFill>
              </a:defRPr>
            </a:pPr>
            <a:r>
              <a:rPr sz="3000" b="1">
                <a:solidFill>
                  <a:srgbClr val="15375F"/>
                </a:solidFill>
              </a:rPr>
              <a:t>人力总成本五年上涨 42%，人均营收仅增 8%，剪刀差持续扩大</a:t>
            </a:r>
          </a:p>
        </p:txBody>
      </p:sp>
      <p:sp>
        <p:nvSpPr>
          <p:cNvPr id="2" name="chart-frame">
            <a:extLst xmlns:a="http://schemas.openxmlformats.org/drawingml/2006/main">
              <a:ext uri="{FF2B5EF4-FFF2-40B4-BE49-F238E27FC236}">
                <a16:creationId xmlns:a16="http://schemas.microsoft.com/office/drawing/2014/main" id="{8990AE91-D6C0-467C-B000-90450443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72390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8"/>
            </a:solidFill>
            <a:prstDash val="solid"/>
          </a:ln>
        </p:spPr>
      </p:sp>
      <p:sp>
        <p:nvSpPr>
          <p:cNvPr id="3" name="grid-0">
            <a:extLst xmlns:a="http://schemas.openxmlformats.org/drawingml/2006/main">
              <a:ext uri="{FF2B5EF4-FFF2-40B4-BE49-F238E27FC236}">
                <a16:creationId xmlns:a16="http://schemas.microsoft.com/office/drawing/2014/main" id="{08A01AD4-3146-45E0-A9D9-B4280E8B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641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4" name="grid-1">
            <a:extLst xmlns:a="http://schemas.openxmlformats.org/drawingml/2006/main">
              <a:ext uri="{FF2B5EF4-FFF2-40B4-BE49-F238E27FC236}">
                <a16:creationId xmlns:a16="http://schemas.microsoft.com/office/drawing/2014/main" id="{C2CAA7CD-D2F4-4AD1-8A72-D7AA2364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90800"/>
            <a:ext cx="641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5" name="grid-2">
            <a:extLst xmlns:a="http://schemas.openxmlformats.org/drawingml/2006/main">
              <a:ext uri="{FF2B5EF4-FFF2-40B4-BE49-F238E27FC236}">
                <a16:creationId xmlns:a16="http://schemas.microsoft.com/office/drawing/2014/main" id="{485C0A37-4062-431C-A7B9-EF43ECBF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641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6" name="grid-3">
            <a:extLst xmlns:a="http://schemas.openxmlformats.org/drawingml/2006/main">
              <a:ext uri="{FF2B5EF4-FFF2-40B4-BE49-F238E27FC236}">
                <a16:creationId xmlns:a16="http://schemas.microsoft.com/office/drawing/2014/main" id="{E019CA58-63EC-40F3-8FF5-BC932CAB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52900"/>
            <a:ext cx="641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7" name="grid-4">
            <a:extLst xmlns:a="http://schemas.openxmlformats.org/drawingml/2006/main">
              <a:ext uri="{FF2B5EF4-FFF2-40B4-BE49-F238E27FC236}">
                <a16:creationId xmlns:a16="http://schemas.microsoft.com/office/drawing/2014/main" id="{7C3B5CAC-59F8-454D-831B-BF2C51AD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33950"/>
            <a:ext cx="641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8" name="bar-1-1">
            <a:extLst xmlns:a="http://schemas.openxmlformats.org/drawingml/2006/main">
              <a:ext uri="{FF2B5EF4-FFF2-40B4-BE49-F238E27FC236}">
                <a16:creationId xmlns:a16="http://schemas.microsoft.com/office/drawing/2014/main" id="{6CBF61EE-7829-4185-8CD4-355E09BB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8913" y="3020784"/>
            <a:ext cx="209550" cy="19131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9" name="bar-label-1-1">
            <a:extLst xmlns:a="http://schemas.openxmlformats.org/drawingml/2006/main">
              <a:ext uri="{FF2B5EF4-FFF2-40B4-BE49-F238E27FC236}">
                <a16:creationId xmlns:a16="http://schemas.microsoft.com/office/drawing/2014/main" id="{C3274C8E-BC26-4BEE-B365-449C8EE6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7938" y="2782659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100</a:t>
            </a:r>
          </a:p>
        </p:txBody>
      </p:sp>
      <p:sp>
        <p:nvSpPr>
          <p:cNvPr id="10" name="bar-2-1">
            <a:extLst xmlns:a="http://schemas.openxmlformats.org/drawingml/2006/main">
              <a:ext uri="{FF2B5EF4-FFF2-40B4-BE49-F238E27FC236}">
                <a16:creationId xmlns:a16="http://schemas.microsoft.com/office/drawing/2014/main" id="{F18E023F-6E5E-46E6-A7C5-FF9FD2B4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613" y="3020784"/>
            <a:ext cx="209550" cy="19131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11" name="bar-label-2-1">
            <a:extLst xmlns:a="http://schemas.openxmlformats.org/drawingml/2006/main">
              <a:ext uri="{FF2B5EF4-FFF2-40B4-BE49-F238E27FC236}">
                <a16:creationId xmlns:a16="http://schemas.microsoft.com/office/drawing/2014/main" id="{67145317-B3FA-45E2-8D91-83AF37B8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638" y="2782659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100</a:t>
            </a:r>
          </a:p>
        </p:txBody>
      </p:sp>
      <p:sp>
        <p:nvSpPr>
          <p:cNvPr id="12" name="category-1">
            <a:extLst xmlns:a="http://schemas.openxmlformats.org/drawingml/2006/main">
              <a:ext uri="{FF2B5EF4-FFF2-40B4-BE49-F238E27FC236}">
                <a16:creationId xmlns:a16="http://schemas.microsoft.com/office/drawing/2014/main" id="{A2B8EB0A-A34E-48C2-97BA-472CAA15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1069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2021</a:t>
            </a:r>
          </a:p>
        </p:txBody>
      </p:sp>
      <p:sp>
        <p:nvSpPr>
          <p:cNvPr id="13" name="bar-1-2">
            <a:extLst xmlns:a="http://schemas.openxmlformats.org/drawingml/2006/main">
              <a:ext uri="{FF2B5EF4-FFF2-40B4-BE49-F238E27FC236}">
                <a16:creationId xmlns:a16="http://schemas.microsoft.com/office/drawing/2014/main" id="{A5789DCB-78A1-460E-9B75-1AAD2EE6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8888" y="2867731"/>
            <a:ext cx="209550" cy="20662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14" name="bar-label-1-2">
            <a:extLst xmlns:a="http://schemas.openxmlformats.org/drawingml/2006/main">
              <a:ext uri="{FF2B5EF4-FFF2-40B4-BE49-F238E27FC236}">
                <a16:creationId xmlns:a16="http://schemas.microsoft.com/office/drawing/2014/main" id="{78EF0D41-9606-4574-8A2A-5F2B7A08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913" y="2629606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108</a:t>
            </a:r>
          </a:p>
        </p:txBody>
      </p:sp>
      <p:sp>
        <p:nvSpPr>
          <p:cNvPr id="15" name="bar-2-2">
            <a:extLst xmlns:a="http://schemas.openxmlformats.org/drawingml/2006/main">
              <a:ext uri="{FF2B5EF4-FFF2-40B4-BE49-F238E27FC236}">
                <a16:creationId xmlns:a16="http://schemas.microsoft.com/office/drawing/2014/main" id="{DDA5E49F-BF2B-4306-8E5C-806CF36F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8" y="2963389"/>
            <a:ext cx="209550" cy="19705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16" name="bar-label-2-2">
            <a:extLst xmlns:a="http://schemas.openxmlformats.org/drawingml/2006/main">
              <a:ext uri="{FF2B5EF4-FFF2-40B4-BE49-F238E27FC236}">
                <a16:creationId xmlns:a16="http://schemas.microsoft.com/office/drawing/2014/main" id="{56DF7E6F-9AE5-414D-ACE2-50AC31A2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4613" y="2725264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103</a:t>
            </a:r>
          </a:p>
        </p:txBody>
      </p:sp>
      <p:sp>
        <p:nvSpPr>
          <p:cNvPr id="17" name="category-2">
            <a:extLst xmlns:a="http://schemas.openxmlformats.org/drawingml/2006/main">
              <a:ext uri="{FF2B5EF4-FFF2-40B4-BE49-F238E27FC236}">
                <a16:creationId xmlns:a16="http://schemas.microsoft.com/office/drawing/2014/main" id="{53C12DD5-EA8D-482F-A189-641FF43F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975" y="5010150"/>
            <a:ext cx="1069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2022</a:t>
            </a:r>
          </a:p>
        </p:txBody>
      </p:sp>
      <p:sp>
        <p:nvSpPr>
          <p:cNvPr id="18" name="bar-1-3">
            <a:extLst xmlns:a="http://schemas.openxmlformats.org/drawingml/2006/main">
              <a:ext uri="{FF2B5EF4-FFF2-40B4-BE49-F238E27FC236}">
                <a16:creationId xmlns:a16="http://schemas.microsoft.com/office/drawing/2014/main" id="{BD14C64F-F077-4F81-B78C-7929B657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8863" y="2676414"/>
            <a:ext cx="209550" cy="22575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19" name="bar-label-1-3">
            <a:extLst xmlns:a="http://schemas.openxmlformats.org/drawingml/2006/main">
              <a:ext uri="{FF2B5EF4-FFF2-40B4-BE49-F238E27FC236}">
                <a16:creationId xmlns:a16="http://schemas.microsoft.com/office/drawing/2014/main" id="{07B1DE3A-067A-407B-94A3-68BE3DB9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7888" y="2438289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118</a:t>
            </a:r>
          </a:p>
        </p:txBody>
      </p:sp>
      <p:sp>
        <p:nvSpPr>
          <p:cNvPr id="20" name="bar-2-3">
            <a:extLst xmlns:a="http://schemas.openxmlformats.org/drawingml/2006/main">
              <a:ext uri="{FF2B5EF4-FFF2-40B4-BE49-F238E27FC236}">
                <a16:creationId xmlns:a16="http://schemas.microsoft.com/office/drawing/2014/main" id="{B234E7E8-4B07-4611-B9DC-FC3ED9FF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5563" y="2944257"/>
            <a:ext cx="209550" cy="19896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21" name="bar-label-2-3">
            <a:extLst xmlns:a="http://schemas.openxmlformats.org/drawingml/2006/main">
              <a:ext uri="{FF2B5EF4-FFF2-40B4-BE49-F238E27FC236}">
                <a16:creationId xmlns:a16="http://schemas.microsoft.com/office/drawing/2014/main" id="{1E130A4E-02A4-492A-B924-BD7666D5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4588" y="2706132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104</a:t>
            </a:r>
          </a:p>
        </p:txBody>
      </p:sp>
      <p:sp>
        <p:nvSpPr>
          <p:cNvPr id="22" name="category-3">
            <a:extLst xmlns:a="http://schemas.openxmlformats.org/drawingml/2006/main">
              <a:ext uri="{FF2B5EF4-FFF2-40B4-BE49-F238E27FC236}">
                <a16:creationId xmlns:a16="http://schemas.microsoft.com/office/drawing/2014/main" id="{060EDA0C-B567-48DC-9DD9-53C2EBB6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2950" y="5010150"/>
            <a:ext cx="1069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2023</a:t>
            </a:r>
          </a:p>
        </p:txBody>
      </p:sp>
      <p:sp>
        <p:nvSpPr>
          <p:cNvPr id="23" name="bar-1-4">
            <a:extLst xmlns:a="http://schemas.openxmlformats.org/drawingml/2006/main">
              <a:ext uri="{FF2B5EF4-FFF2-40B4-BE49-F238E27FC236}">
                <a16:creationId xmlns:a16="http://schemas.microsoft.com/office/drawing/2014/main" id="{71DCDFC7-C986-4C9A-82EB-0732C333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838" y="2485098"/>
            <a:ext cx="209550" cy="24488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24" name="bar-label-1-4">
            <a:extLst xmlns:a="http://schemas.openxmlformats.org/drawingml/2006/main">
              <a:ext uri="{FF2B5EF4-FFF2-40B4-BE49-F238E27FC236}">
                <a16:creationId xmlns:a16="http://schemas.microsoft.com/office/drawing/2014/main" id="{C1FA03D3-E5FF-484C-A226-80E01667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63" y="2246973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128</a:t>
            </a:r>
          </a:p>
        </p:txBody>
      </p:sp>
      <p:sp>
        <p:nvSpPr>
          <p:cNvPr id="25" name="bar-2-4">
            <a:extLst xmlns:a="http://schemas.openxmlformats.org/drawingml/2006/main">
              <a:ext uri="{FF2B5EF4-FFF2-40B4-BE49-F238E27FC236}">
                <a16:creationId xmlns:a16="http://schemas.microsoft.com/office/drawing/2014/main" id="{39E973CE-7A52-4C81-B372-9F622B5A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5538" y="2905994"/>
            <a:ext cx="209550" cy="20279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26" name="bar-label-2-4">
            <a:extLst xmlns:a="http://schemas.openxmlformats.org/drawingml/2006/main">
              <a:ext uri="{FF2B5EF4-FFF2-40B4-BE49-F238E27FC236}">
                <a16:creationId xmlns:a16="http://schemas.microsoft.com/office/drawing/2014/main" id="{C7441945-1B63-436F-9A01-3BA61205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563" y="2667869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106</a:t>
            </a:r>
          </a:p>
        </p:txBody>
      </p:sp>
      <p:sp>
        <p:nvSpPr>
          <p:cNvPr id="27" name="category-4">
            <a:extLst xmlns:a="http://schemas.openxmlformats.org/drawingml/2006/main">
              <a:ext uri="{FF2B5EF4-FFF2-40B4-BE49-F238E27FC236}">
                <a16:creationId xmlns:a16="http://schemas.microsoft.com/office/drawing/2014/main" id="{44BBA7A4-0AD3-4D81-AEFC-5918082D2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5010150"/>
            <a:ext cx="1069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2024</a:t>
            </a:r>
          </a:p>
        </p:txBody>
      </p:sp>
      <p:sp>
        <p:nvSpPr>
          <p:cNvPr id="28" name="bar-1-5">
            <a:extLst xmlns:a="http://schemas.openxmlformats.org/drawingml/2006/main">
              <a:ext uri="{FF2B5EF4-FFF2-40B4-BE49-F238E27FC236}">
                <a16:creationId xmlns:a16="http://schemas.microsoft.com/office/drawing/2014/main" id="{24775FE7-AE75-4CC6-A3B0-F2B50381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8813" y="2332044"/>
            <a:ext cx="209550" cy="260190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29" name="bar-label-1-5">
            <a:extLst xmlns:a="http://schemas.openxmlformats.org/drawingml/2006/main">
              <a:ext uri="{FF2B5EF4-FFF2-40B4-BE49-F238E27FC236}">
                <a16:creationId xmlns:a16="http://schemas.microsoft.com/office/drawing/2014/main" id="{CF0A415E-982A-4281-96BE-2C772A5A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7838" y="2093919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136</a:t>
            </a:r>
          </a:p>
        </p:txBody>
      </p:sp>
      <p:sp>
        <p:nvSpPr>
          <p:cNvPr id="30" name="bar-2-5">
            <a:extLst xmlns:a="http://schemas.openxmlformats.org/drawingml/2006/main">
              <a:ext uri="{FF2B5EF4-FFF2-40B4-BE49-F238E27FC236}">
                <a16:creationId xmlns:a16="http://schemas.microsoft.com/office/drawing/2014/main" id="{33712C91-C00D-4DD0-BF0F-A0309588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5513" y="2886862"/>
            <a:ext cx="209550" cy="20470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31" name="bar-label-2-5">
            <a:extLst xmlns:a="http://schemas.openxmlformats.org/drawingml/2006/main">
              <a:ext uri="{FF2B5EF4-FFF2-40B4-BE49-F238E27FC236}">
                <a16:creationId xmlns:a16="http://schemas.microsoft.com/office/drawing/2014/main" id="{9F0967D0-5895-4372-9022-8F94C93D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538" y="2648737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107</a:t>
            </a:r>
          </a:p>
        </p:txBody>
      </p:sp>
      <p:sp>
        <p:nvSpPr>
          <p:cNvPr id="32" name="category-5">
            <a:extLst xmlns:a="http://schemas.openxmlformats.org/drawingml/2006/main">
              <a:ext uri="{FF2B5EF4-FFF2-40B4-BE49-F238E27FC236}">
                <a16:creationId xmlns:a16="http://schemas.microsoft.com/office/drawing/2014/main" id="{2AF4BA63-C2A2-44F6-9B50-7927C8F1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900" y="5010150"/>
            <a:ext cx="1069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2025</a:t>
            </a:r>
          </a:p>
        </p:txBody>
      </p:sp>
      <p:sp>
        <p:nvSpPr>
          <p:cNvPr id="33" name="bar-1-6">
            <a:extLst xmlns:a="http://schemas.openxmlformats.org/drawingml/2006/main">
              <a:ext uri="{FF2B5EF4-FFF2-40B4-BE49-F238E27FC236}">
                <a16:creationId xmlns:a16="http://schemas.microsoft.com/office/drawing/2014/main" id="{E4585289-5161-4D10-8B75-E79B4387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787" y="2217254"/>
            <a:ext cx="209550" cy="27166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15375F"/>
            </a:solidFill>
            <a:prstDash val="solid"/>
          </a:ln>
        </p:spPr>
      </p:sp>
      <p:sp>
        <p:nvSpPr>
          <p:cNvPr id="34" name="bar-label-1-6">
            <a:extLst xmlns:a="http://schemas.openxmlformats.org/drawingml/2006/main">
              <a:ext uri="{FF2B5EF4-FFF2-40B4-BE49-F238E27FC236}">
                <a16:creationId xmlns:a16="http://schemas.microsoft.com/office/drawing/2014/main" id="{BEA45BB3-4D27-4F27-95D8-FE8307AC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7812" y="1979129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142</a:t>
            </a:r>
          </a:p>
        </p:txBody>
      </p:sp>
      <p:sp>
        <p:nvSpPr>
          <p:cNvPr id="35" name="bar-2-6">
            <a:extLst xmlns:a="http://schemas.openxmlformats.org/drawingml/2006/main">
              <a:ext uri="{FF2B5EF4-FFF2-40B4-BE49-F238E27FC236}">
                <a16:creationId xmlns:a16="http://schemas.microsoft.com/office/drawing/2014/main" id="{BAE1F49D-BFBE-4BDD-94B2-70527FBA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5487" y="2867731"/>
            <a:ext cx="209550" cy="20662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AEB8C6"/>
            </a:solidFill>
            <a:prstDash val="solid"/>
          </a:ln>
        </p:spPr>
      </p:sp>
      <p:sp>
        <p:nvSpPr>
          <p:cNvPr id="36" name="bar-label-2-6">
            <a:extLst xmlns:a="http://schemas.openxmlformats.org/drawingml/2006/main">
              <a:ext uri="{FF2B5EF4-FFF2-40B4-BE49-F238E27FC236}">
                <a16:creationId xmlns:a16="http://schemas.microsoft.com/office/drawing/2014/main" id="{681F9875-8AD7-49BD-ABDC-FC313B9B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12" y="2629606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108</a:t>
            </a:r>
          </a:p>
        </p:txBody>
      </p:sp>
      <p:sp>
        <p:nvSpPr>
          <p:cNvPr id="37" name="category-6">
            <a:extLst xmlns:a="http://schemas.openxmlformats.org/drawingml/2006/main">
              <a:ext uri="{FF2B5EF4-FFF2-40B4-BE49-F238E27FC236}">
                <a16:creationId xmlns:a16="http://schemas.microsoft.com/office/drawing/2014/main" id="{D44B86DB-F9CF-4CD9-A1AB-6C5F82B3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875" y="5010150"/>
            <a:ext cx="10699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2026</a:t>
            </a:r>
          </a:p>
        </p:txBody>
      </p:sp>
      <p:sp>
        <p:nvSpPr>
          <p:cNvPr id="38" name="ratio-line-1">
            <a:extLst xmlns:a="http://schemas.openxmlformats.org/drawingml/2006/main">
              <a:ext uri="{FF2B5EF4-FFF2-40B4-BE49-F238E27FC236}">
                <a16:creationId xmlns:a16="http://schemas.microsoft.com/office/drawing/2014/main" id="{A898C2D4-0C25-41C3-8270-F7E4637B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988" y="2446564"/>
            <a:ext cx="1069975" cy="3510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dash"/>
          </a:ln>
        </p:spPr>
      </p:sp>
      <p:sp>
        <p:nvSpPr>
          <p:cNvPr id="39" name="ratio-line-2">
            <a:extLst xmlns:a="http://schemas.openxmlformats.org/drawingml/2006/main">
              <a:ext uri="{FF2B5EF4-FFF2-40B4-BE49-F238E27FC236}">
                <a16:creationId xmlns:a16="http://schemas.microsoft.com/office/drawing/2014/main" id="{379FAA82-3D67-4CE1-95DE-09903412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963" y="2797629"/>
            <a:ext cx="1069975" cy="4914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dash"/>
          </a:ln>
        </p:spPr>
      </p:sp>
      <p:sp>
        <p:nvSpPr>
          <p:cNvPr id="40" name="ratio-line-3">
            <a:extLst xmlns:a="http://schemas.openxmlformats.org/drawingml/2006/main">
              <a:ext uri="{FF2B5EF4-FFF2-40B4-BE49-F238E27FC236}">
                <a16:creationId xmlns:a16="http://schemas.microsoft.com/office/drawing/2014/main" id="{A17774EC-3ACC-46C5-B5C3-3DA3CB30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938" y="3289119"/>
            <a:ext cx="1069975" cy="3510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dash"/>
          </a:ln>
        </p:spPr>
      </p:sp>
      <p:sp>
        <p:nvSpPr>
          <p:cNvPr id="41" name="ratio-line-4">
            <a:extLst xmlns:a="http://schemas.openxmlformats.org/drawingml/2006/main">
              <a:ext uri="{FF2B5EF4-FFF2-40B4-BE49-F238E27FC236}">
                <a16:creationId xmlns:a16="http://schemas.microsoft.com/office/drawing/2014/main" id="{ECBEAD7E-6829-4916-9290-7B537FF8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7913" y="3640183"/>
            <a:ext cx="1069975" cy="2808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dash"/>
          </a:ln>
        </p:spPr>
      </p:sp>
      <p:sp>
        <p:nvSpPr>
          <p:cNvPr id="42" name="ratio-line-5">
            <a:extLst xmlns:a="http://schemas.openxmlformats.org/drawingml/2006/main">
              <a:ext uri="{FF2B5EF4-FFF2-40B4-BE49-F238E27FC236}">
                <a16:creationId xmlns:a16="http://schemas.microsoft.com/office/drawing/2014/main" id="{58DC0B83-D47F-46F7-8022-25BEE550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7888" y="3921034"/>
            <a:ext cx="1069975" cy="2106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E8872D"/>
            </a:solidFill>
            <a:prstDash val="dash"/>
          </a:ln>
        </p:spPr>
      </p:sp>
      <p:sp>
        <p:nvSpPr>
          <p:cNvPr id="43" name="ratio-point-1">
            <a:extLst xmlns:a="http://schemas.openxmlformats.org/drawingml/2006/main">
              <a:ext uri="{FF2B5EF4-FFF2-40B4-BE49-F238E27FC236}">
                <a16:creationId xmlns:a16="http://schemas.microsoft.com/office/drawing/2014/main" id="{F1E315F5-A2C2-4272-B288-D041B2DB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363" y="239893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4" name="ratio-label-1">
            <a:extLst xmlns:a="http://schemas.openxmlformats.org/drawingml/2006/main">
              <a:ext uri="{FF2B5EF4-FFF2-40B4-BE49-F238E27FC236}">
                <a16:creationId xmlns:a16="http://schemas.microsoft.com/office/drawing/2014/main" id="{982AC7C6-3943-44FF-927A-D9931DE9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138" y="2189389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100点</a:t>
            </a:r>
          </a:p>
        </p:txBody>
      </p:sp>
      <p:sp>
        <p:nvSpPr>
          <p:cNvPr id="45" name="ratio-point-2">
            <a:extLst xmlns:a="http://schemas.openxmlformats.org/drawingml/2006/main">
              <a:ext uri="{FF2B5EF4-FFF2-40B4-BE49-F238E27FC236}">
                <a16:creationId xmlns:a16="http://schemas.microsoft.com/office/drawing/2014/main" id="{FC2CE702-4ADB-4E9C-9A4E-1B833AF0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0338" y="275000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6" name="ratio-label-2">
            <a:extLst xmlns:a="http://schemas.openxmlformats.org/drawingml/2006/main">
              <a:ext uri="{FF2B5EF4-FFF2-40B4-BE49-F238E27FC236}">
                <a16:creationId xmlns:a16="http://schemas.microsoft.com/office/drawing/2014/main" id="{853BD84F-7BFE-4DD9-8961-7B055473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4113" y="2540454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95点</a:t>
            </a:r>
          </a:p>
        </p:txBody>
      </p:sp>
      <p:sp>
        <p:nvSpPr>
          <p:cNvPr id="47" name="ratio-point-3">
            <a:extLst xmlns:a="http://schemas.openxmlformats.org/drawingml/2006/main">
              <a:ext uri="{FF2B5EF4-FFF2-40B4-BE49-F238E27FC236}">
                <a16:creationId xmlns:a16="http://schemas.microsoft.com/office/drawing/2014/main" id="{665539F7-5E25-49BA-B5F3-1A090280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0313" y="324149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8" name="ratio-label-3">
            <a:extLst xmlns:a="http://schemas.openxmlformats.org/drawingml/2006/main">
              <a:ext uri="{FF2B5EF4-FFF2-40B4-BE49-F238E27FC236}">
                <a16:creationId xmlns:a16="http://schemas.microsoft.com/office/drawing/2014/main" id="{8A330C3F-4C43-4025-92A2-D20310E0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4088" y="3031944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88点</a:t>
            </a:r>
          </a:p>
        </p:txBody>
      </p:sp>
      <p:sp>
        <p:nvSpPr>
          <p:cNvPr id="49" name="ratio-point-4">
            <a:extLst xmlns:a="http://schemas.openxmlformats.org/drawingml/2006/main">
              <a:ext uri="{FF2B5EF4-FFF2-40B4-BE49-F238E27FC236}">
                <a16:creationId xmlns:a16="http://schemas.microsoft.com/office/drawing/2014/main" id="{5DF5D13F-4D39-4FB4-8988-A8E9CAB7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0288" y="359255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0" name="ratio-label-4">
            <a:extLst xmlns:a="http://schemas.openxmlformats.org/drawingml/2006/main">
              <a:ext uri="{FF2B5EF4-FFF2-40B4-BE49-F238E27FC236}">
                <a16:creationId xmlns:a16="http://schemas.microsoft.com/office/drawing/2014/main" id="{284C5C87-9335-4092-9ABD-7A6496D1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4063" y="3383008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83点</a:t>
            </a:r>
          </a:p>
        </p:txBody>
      </p:sp>
      <p:sp>
        <p:nvSpPr>
          <p:cNvPr id="51" name="ratio-point-5">
            <a:extLst xmlns:a="http://schemas.openxmlformats.org/drawingml/2006/main">
              <a:ext uri="{FF2B5EF4-FFF2-40B4-BE49-F238E27FC236}">
                <a16:creationId xmlns:a16="http://schemas.microsoft.com/office/drawing/2014/main" id="{BD69CD9D-570B-4DA9-B5F8-691BF743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0263" y="387340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2" name="ratio-label-5">
            <a:extLst xmlns:a="http://schemas.openxmlformats.org/drawingml/2006/main">
              <a:ext uri="{FF2B5EF4-FFF2-40B4-BE49-F238E27FC236}">
                <a16:creationId xmlns:a16="http://schemas.microsoft.com/office/drawing/2014/main" id="{03DC7949-F7CD-47FE-9392-15081777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038" y="3663859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79点</a:t>
            </a:r>
          </a:p>
        </p:txBody>
      </p:sp>
      <p:sp>
        <p:nvSpPr>
          <p:cNvPr id="53" name="ratio-point-6">
            <a:extLst xmlns:a="http://schemas.openxmlformats.org/drawingml/2006/main">
              <a:ext uri="{FF2B5EF4-FFF2-40B4-BE49-F238E27FC236}">
                <a16:creationId xmlns:a16="http://schemas.microsoft.com/office/drawing/2014/main" id="{D4D756CB-7C40-4942-AF42-5FBA2A93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0237" y="40840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4" name="ratio-label-6">
            <a:extLst xmlns:a="http://schemas.openxmlformats.org/drawingml/2006/main">
              <a:ext uri="{FF2B5EF4-FFF2-40B4-BE49-F238E27FC236}">
                <a16:creationId xmlns:a16="http://schemas.microsoft.com/office/drawing/2014/main" id="{D4FE3BCD-CB5E-4874-B840-38623A9C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4012" y="3874498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76点</a:t>
            </a:r>
          </a:p>
        </p:txBody>
      </p:sp>
      <p:sp>
        <p:nvSpPr>
          <p:cNvPr id="55" name="legend">
            <a:extLst xmlns:a="http://schemas.openxmlformats.org/drawingml/2006/main">
              <a:ext uri="{FF2B5EF4-FFF2-40B4-BE49-F238E27FC236}">
                <a16:creationId xmlns:a16="http://schemas.microsoft.com/office/drawing/2014/main" id="{500607FE-DB74-4279-86BB-E8725CB4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6896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人力总成本  ■   人均营收  □   人效指数  ┄</a:t>
            </a:r>
          </a:p>
        </p:txBody>
      </p:sp>
      <p:sp>
        <p:nvSpPr>
          <p:cNvPr id="56" name="insight-rail">
            <a:extLst xmlns:a="http://schemas.openxmlformats.org/drawingml/2006/main">
              <a:ext uri="{FF2B5EF4-FFF2-40B4-BE49-F238E27FC236}">
                <a16:creationId xmlns:a16="http://schemas.microsoft.com/office/drawing/2014/main" id="{A2C46242-52F5-4615-8AE6-E51E6901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8250"/>
            <a:ext cx="358140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1430">
            <a:solidFill>
              <a:srgbClr val="D7DEE8"/>
            </a:solidFill>
            <a:prstDash val="solid"/>
          </a:ln>
        </p:spPr>
      </p:sp>
      <p:sp>
        <p:nvSpPr>
          <p:cNvPr id="57" name="insight-title">
            <a:extLst xmlns:a="http://schemas.openxmlformats.org/drawingml/2006/main">
              <a:ext uri="{FF2B5EF4-FFF2-40B4-BE49-F238E27FC236}">
                <a16:creationId xmlns:a16="http://schemas.microsoft.com/office/drawing/2014/main" id="{D9A21760-4090-4FC7-A1B1-5671FD26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90650"/>
            <a:ext cx="320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关键洞察</a:t>
            </a:r>
          </a:p>
        </p:txBody>
      </p:sp>
      <p:sp>
        <p:nvSpPr>
          <p:cNvPr id="58" name="insight-1">
            <a:extLst xmlns:a="http://schemas.openxmlformats.org/drawingml/2006/main">
              <a:ext uri="{FF2B5EF4-FFF2-40B4-BE49-F238E27FC236}">
                <a16:creationId xmlns:a16="http://schemas.microsoft.com/office/drawing/2014/main" id="{8E8EABE2-63CC-4D3F-9214-89A95E09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66900"/>
            <a:ext cx="3200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成本增速持续高于产出增速</a:t>
            </a:r>
          </a:p>
        </p:txBody>
      </p:sp>
      <p:sp>
        <p:nvSpPr>
          <p:cNvPr id="60" name="insight-2">
            <a:extLst xmlns:a="http://schemas.openxmlformats.org/drawingml/2006/main">
              <a:ext uri="{FF2B5EF4-FFF2-40B4-BE49-F238E27FC236}">
                <a16:creationId xmlns:a16="http://schemas.microsoft.com/office/drawing/2014/main" id="{BF5D2D60-A408-4DEF-BCEB-75650C2E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81325"/>
            <a:ext cx="3200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2023 年后剪刀差明显扩大</a:t>
            </a:r>
          </a:p>
        </p:txBody>
      </p:sp>
      <p:sp>
        <p:nvSpPr>
          <p:cNvPr id="62" name="insight-3">
            <a:extLst xmlns:a="http://schemas.openxmlformats.org/drawingml/2006/main">
              <a:ext uri="{FF2B5EF4-FFF2-40B4-BE49-F238E27FC236}">
                <a16:creationId xmlns:a16="http://schemas.microsoft.com/office/drawing/2014/main" id="{63DFC4AA-6F00-4838-8280-04DBE1BC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95750"/>
            <a:ext cx="3200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人效指数连续五年下降</a:t>
            </a:r>
          </a:p>
        </p:txBody>
      </p:sp>
      <p:sp>
        <p:nvSpPr>
          <p:cNvPr id="64" name="conclusion">
            <a:extLst xmlns:a="http://schemas.openxmlformats.org/drawingml/2006/main">
              <a:ext uri="{FF2B5EF4-FFF2-40B4-BE49-F238E27FC236}">
                <a16:creationId xmlns:a16="http://schemas.microsoft.com/office/drawing/2014/main" id="{861F9C81-E7C6-4149-8674-FC65FF49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48350"/>
            <a:ext cx="11163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3335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结论：优先控制结构性增编并提升高成本岗位产出</a:t>
            </a:r>
          </a:p>
        </p:txBody>
      </p:sp>
      <p:cxnSp>
        <p:nvCxnSpPr>
          <p:cNvPr id="126" name=""/>
          <p:cNvCxnSpPr>
            <a:stCxn xmlns:a="http://schemas.openxmlformats.org/drawingml/2006/main" id="58" idx="1"/>
            <a:endCxn xmlns:a="http://schemas.openxmlformats.org/drawingml/2006/main" id="33" idx="3"/>
          </p:cNvCxnSpPr>
          <p:nvPr/>
        </p:nvCxnSpPr>
        <p:spPr>
          <a:xfrm xmlns:a="http://schemas.openxmlformats.org/drawingml/2006/main" flipH="1">
            <a:off x="7018337" y="2305050"/>
            <a:ext cx="1268413" cy="1270552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EB8C6"/>
            </a:solidFill>
            <a:prstDash val="solid"/>
          </a:ln>
        </p:spPr>
      </p:cxnSp>
      <p:cxnSp>
        <p:nvCxnSpPr>
          <p:cNvPr id="127" name=""/>
          <p:cNvCxnSpPr>
            <a:stCxn xmlns:a="http://schemas.openxmlformats.org/drawingml/2006/main" id="60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5145088" y="3419475"/>
            <a:ext cx="3141662" cy="500497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EB8C6"/>
            </a:solidFill>
            <a:prstDash val="solid"/>
          </a:ln>
        </p:spPr>
      </p:cxnSp>
      <p:cxnSp>
        <p:nvCxnSpPr>
          <p:cNvPr id="128" name=""/>
          <p:cNvCxnSpPr>
            <a:stCxn xmlns:a="http://schemas.openxmlformats.org/drawingml/2006/main" id="62" idx="1"/>
            <a:endCxn xmlns:a="http://schemas.openxmlformats.org/drawingml/2006/main" id="53" idx="6"/>
          </p:cNvCxnSpPr>
          <p:nvPr/>
        </p:nvCxnSpPr>
        <p:spPr>
          <a:xfrm xmlns:a="http://schemas.openxmlformats.org/drawingml/2006/main" flipH="1" flipV="1">
            <a:off x="7075487" y="4131673"/>
            <a:ext cx="1211263" cy="402227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EB8C6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8548152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2026-08-10T18:58:58.8950000Z</dcterms:created>
  <dcterms:modified xsi:type="dcterms:W3CDTF">2026-08-10T18:58:58.8950000Z</dcterms:modified>
</coreProperties>
</file>