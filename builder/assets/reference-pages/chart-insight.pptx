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89763e1ed492d" /><Relationship Type="http://schemas.openxmlformats.org/officeDocument/2006/relationships/extended-properties" Target="/docProps/app.xml" Id="R3a5688e867ed4e36" /><Relationship Type="http://schemas.openxmlformats.org/officeDocument/2006/relationships/officeDocument" Target="/ppt/presentation.xml" Id="R87710f0bff614c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a636a5f3404596"/>
  </p:sldMasterIdLst>
  <p:notesMasterIdLst>
    <p:notesMasterId xmlns:r="http://schemas.openxmlformats.org/officeDocument/2006/relationships" r:id="Rc4a58343270e4322"/>
  </p:notesMasterIdLst>
  <p:sldIdLst>
    <p:sldId xmlns:r="http://schemas.openxmlformats.org/officeDocument/2006/relationships" id="256" r:id="Rd78d4eab4177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d4d68108a4a0f" /><Relationship Type="http://schemas.openxmlformats.org/officeDocument/2006/relationships/slideMaster" Target="/ppt/slideMasters/slideMaster1.xml" Id="R43a636a5f3404596" /><Relationship Type="http://schemas.openxmlformats.org/officeDocument/2006/relationships/notesMaster" Target="/ppt/notesMasters/notesMaster1.xml" Id="Rc4a58343270e4322" /><Relationship Type="http://schemas.openxmlformats.org/officeDocument/2006/relationships/presProps" Target="/ppt/presProps.xml" Id="R9cdb3fc5fc994e94" /><Relationship Type="http://schemas.openxmlformats.org/officeDocument/2006/relationships/tableStyles" Target="/ppt/tableStyles.xml" Id="R58055228b731466c" /><Relationship Type="http://schemas.openxmlformats.org/officeDocument/2006/relationships/slide" Target="/ppt/slides/slide1.xml" Id="Rd78d4eab4177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4e1413d39b48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c98e912154c6c" /><Relationship Type="http://schemas.openxmlformats.org/officeDocument/2006/relationships/notesMaster" Target="/ppt/notesMasters/notesMaster1.xml" Id="R8aee4638c99d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73dbac2ad40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39aa2d0184d3a" /><Relationship Type="http://schemas.openxmlformats.org/officeDocument/2006/relationships/slideLayout" Target="/ppt/slideLayouts/slideLayout1.xml" Id="Rc2315bc4d1f246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15bc4d1f246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5d23250fb4661" /><Relationship Type="http://schemas.openxmlformats.org/officeDocument/2006/relationships/notesSlide" Target="/ppt/notesSlides/notesSlide1.xml" Id="R9885a21cc7134b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age-title">
            <a:extLst xmlns:a="http://schemas.openxmlformats.org/drawingml/2006/main">
              <a:ext uri="{FF2B5EF4-FFF2-40B4-BE49-F238E27FC236}">
                <a16:creationId xmlns:a16="http://schemas.microsoft.com/office/drawing/2014/main" id="{BBEBE138-DF1F-403E-B257-F859767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Total labor costs have increased in five years 42%, per capita revenue only increased 8%, the scissors gap continues to expand</a:t>
            </a:r>
          </a:p>
        </p:txBody>
      </p:sp>
      <p:sp>
        <p:nvSpPr>
          <p:cNvPr id="2" name="chart-frame">
            <a:extLst xmlns:a="http://schemas.openxmlformats.org/drawingml/2006/main">
              <a:ext uri="{FF2B5EF4-FFF2-40B4-BE49-F238E27FC236}">
                <a16:creationId xmlns:a16="http://schemas.microsoft.com/office/drawing/2014/main" id="{C252EC65-F2FF-45A0-BED0-8AA25A03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3" name="grid-0">
            <a:extLst xmlns:a="http://schemas.openxmlformats.org/drawingml/2006/main">
              <a:ext uri="{FF2B5EF4-FFF2-40B4-BE49-F238E27FC236}">
                <a16:creationId xmlns:a16="http://schemas.microsoft.com/office/drawing/2014/main" id="{B57AA870-442C-49E8-A63D-FBD42B8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4" name="grid-1">
            <a:extLst xmlns:a="http://schemas.openxmlformats.org/drawingml/2006/main">
              <a:ext uri="{FF2B5EF4-FFF2-40B4-BE49-F238E27FC236}">
                <a16:creationId xmlns:a16="http://schemas.microsoft.com/office/drawing/2014/main" id="{0C7CF161-51A4-46B4-A25E-14D16BD2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5" name="grid-2">
            <a:extLst xmlns:a="http://schemas.openxmlformats.org/drawingml/2006/main">
              <a:ext uri="{FF2B5EF4-FFF2-40B4-BE49-F238E27FC236}">
                <a16:creationId xmlns:a16="http://schemas.microsoft.com/office/drawing/2014/main" id="{3BF96147-5BF8-439B-9697-7026BAB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6" name="grid-3">
            <a:extLst xmlns:a="http://schemas.openxmlformats.org/drawingml/2006/main">
              <a:ext uri="{FF2B5EF4-FFF2-40B4-BE49-F238E27FC236}">
                <a16:creationId xmlns:a16="http://schemas.microsoft.com/office/drawing/2014/main" id="{4351A220-044C-49F2-ACB3-BFEF4F14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grid-4">
            <a:extLst xmlns:a="http://schemas.openxmlformats.org/drawingml/2006/main">
              <a:ext uri="{FF2B5EF4-FFF2-40B4-BE49-F238E27FC236}">
                <a16:creationId xmlns:a16="http://schemas.microsoft.com/office/drawing/2014/main" id="{7E8D390E-473C-494B-8206-DD609B3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41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8" name="bar-1-1">
            <a:extLst xmlns:a="http://schemas.openxmlformats.org/drawingml/2006/main">
              <a:ext uri="{FF2B5EF4-FFF2-40B4-BE49-F238E27FC236}">
                <a16:creationId xmlns:a16="http://schemas.microsoft.com/office/drawing/2014/main" id="{2706C5C5-C256-4674-A7FD-7262C6E0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3" y="3020784"/>
            <a:ext cx="209550" cy="1913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9" name="bar-label-1-1">
            <a:extLst xmlns:a="http://schemas.openxmlformats.org/drawingml/2006/main">
              <a:ext uri="{FF2B5EF4-FFF2-40B4-BE49-F238E27FC236}">
                <a16:creationId xmlns:a16="http://schemas.microsoft.com/office/drawing/2014/main" id="{2A62956B-1706-4571-943E-9A570A4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38" y="278265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100</a:t>
            </a:r>
          </a:p>
        </p:txBody>
      </p:sp>
      <p:sp>
        <p:nvSpPr>
          <p:cNvPr id="10" name="bar-2-1">
            <a:extLst xmlns:a="http://schemas.openxmlformats.org/drawingml/2006/main">
              <a:ext uri="{FF2B5EF4-FFF2-40B4-BE49-F238E27FC236}">
                <a16:creationId xmlns:a16="http://schemas.microsoft.com/office/drawing/2014/main" id="{40B9E8E4-C6AE-43CD-98A0-BBDFEE8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613" y="3020784"/>
            <a:ext cx="209550" cy="1913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11" name="bar-label-2-1">
            <a:extLst xmlns:a="http://schemas.openxmlformats.org/drawingml/2006/main">
              <a:ext uri="{FF2B5EF4-FFF2-40B4-BE49-F238E27FC236}">
                <a16:creationId xmlns:a16="http://schemas.microsoft.com/office/drawing/2014/main" id="{E3AAB5F7-61C1-4382-8797-7C1F232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38" y="278265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100</a:t>
            </a:r>
          </a:p>
        </p:txBody>
      </p:sp>
      <p:sp>
        <p:nvSpPr>
          <p:cNvPr id="12" name="category-1">
            <a:extLst xmlns:a="http://schemas.openxmlformats.org/drawingml/2006/main">
              <a:ext uri="{FF2B5EF4-FFF2-40B4-BE49-F238E27FC236}">
                <a16:creationId xmlns:a16="http://schemas.microsoft.com/office/drawing/2014/main" id="{F2CEE48A-42CC-4A01-8A40-FD11530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2021</a:t>
            </a:r>
          </a:p>
        </p:txBody>
      </p:sp>
      <p:sp>
        <p:nvSpPr>
          <p:cNvPr id="13" name="bar-1-2">
            <a:extLst xmlns:a="http://schemas.openxmlformats.org/drawingml/2006/main">
              <a:ext uri="{FF2B5EF4-FFF2-40B4-BE49-F238E27FC236}">
                <a16:creationId xmlns:a16="http://schemas.microsoft.com/office/drawing/2014/main" id="{DCBBA663-ADCB-4258-BB13-109ADAD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8" y="2867731"/>
            <a:ext cx="209550" cy="2066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14" name="bar-label-1-2">
            <a:extLst xmlns:a="http://schemas.openxmlformats.org/drawingml/2006/main">
              <a:ext uri="{FF2B5EF4-FFF2-40B4-BE49-F238E27FC236}">
                <a16:creationId xmlns:a16="http://schemas.microsoft.com/office/drawing/2014/main" id="{7A55E6AD-C538-403E-952F-C691FCEE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629606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108</a:t>
            </a:r>
          </a:p>
        </p:txBody>
      </p:sp>
      <p:sp>
        <p:nvSpPr>
          <p:cNvPr id="15" name="bar-2-2">
            <a:extLst xmlns:a="http://schemas.openxmlformats.org/drawingml/2006/main">
              <a:ext uri="{FF2B5EF4-FFF2-40B4-BE49-F238E27FC236}">
                <a16:creationId xmlns:a16="http://schemas.microsoft.com/office/drawing/2014/main" id="{2C238582-CAD9-4831-B476-62C6B8E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963389"/>
            <a:ext cx="209550" cy="1970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16" name="bar-label-2-2">
            <a:extLst xmlns:a="http://schemas.openxmlformats.org/drawingml/2006/main">
              <a:ext uri="{FF2B5EF4-FFF2-40B4-BE49-F238E27FC236}">
                <a16:creationId xmlns:a16="http://schemas.microsoft.com/office/drawing/2014/main" id="{D3B8B8AD-C423-4A7B-9C28-CFF12B11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725264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103</a:t>
            </a:r>
          </a:p>
        </p:txBody>
      </p:sp>
      <p:sp>
        <p:nvSpPr>
          <p:cNvPr id="17" name="category-2">
            <a:extLst xmlns:a="http://schemas.openxmlformats.org/drawingml/2006/main">
              <a:ext uri="{FF2B5EF4-FFF2-40B4-BE49-F238E27FC236}">
                <a16:creationId xmlns:a16="http://schemas.microsoft.com/office/drawing/2014/main" id="{51D796F2-D476-4E3D-B7C9-95EE990C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75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2022</a:t>
            </a:r>
          </a:p>
        </p:txBody>
      </p:sp>
      <p:sp>
        <p:nvSpPr>
          <p:cNvPr id="18" name="bar-1-3">
            <a:extLst xmlns:a="http://schemas.openxmlformats.org/drawingml/2006/main">
              <a:ext uri="{FF2B5EF4-FFF2-40B4-BE49-F238E27FC236}">
                <a16:creationId xmlns:a16="http://schemas.microsoft.com/office/drawing/2014/main" id="{D887C363-4B29-45A8-AC0B-3C5C23D8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863" y="2676414"/>
            <a:ext cx="209550" cy="2257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19" name="bar-label-1-3">
            <a:extLst xmlns:a="http://schemas.openxmlformats.org/drawingml/2006/main">
              <a:ext uri="{FF2B5EF4-FFF2-40B4-BE49-F238E27FC236}">
                <a16:creationId xmlns:a16="http://schemas.microsoft.com/office/drawing/2014/main" id="{3B859DB4-DE9B-478B-8D07-6116213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243828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118</a:t>
            </a:r>
          </a:p>
        </p:txBody>
      </p:sp>
      <p:sp>
        <p:nvSpPr>
          <p:cNvPr id="20" name="bar-2-3">
            <a:extLst xmlns:a="http://schemas.openxmlformats.org/drawingml/2006/main">
              <a:ext uri="{FF2B5EF4-FFF2-40B4-BE49-F238E27FC236}">
                <a16:creationId xmlns:a16="http://schemas.microsoft.com/office/drawing/2014/main" id="{A2140C8D-8D9B-4FA9-8B30-D77147C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563" y="2944257"/>
            <a:ext cx="209550" cy="19896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21" name="bar-label-2-3">
            <a:extLst xmlns:a="http://schemas.openxmlformats.org/drawingml/2006/main">
              <a:ext uri="{FF2B5EF4-FFF2-40B4-BE49-F238E27FC236}">
                <a16:creationId xmlns:a16="http://schemas.microsoft.com/office/drawing/2014/main" id="{1A74C84D-C362-478E-8FE3-F97EBCA6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588" y="2706132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104</a:t>
            </a:r>
          </a:p>
        </p:txBody>
      </p:sp>
      <p:sp>
        <p:nvSpPr>
          <p:cNvPr id="22" name="category-3">
            <a:extLst xmlns:a="http://schemas.openxmlformats.org/drawingml/2006/main">
              <a:ext uri="{FF2B5EF4-FFF2-40B4-BE49-F238E27FC236}">
                <a16:creationId xmlns:a16="http://schemas.microsoft.com/office/drawing/2014/main" id="{1946DFA2-CB66-4013-A937-6666827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2023</a:t>
            </a:r>
          </a:p>
        </p:txBody>
      </p:sp>
      <p:sp>
        <p:nvSpPr>
          <p:cNvPr id="23" name="bar-1-4">
            <a:extLst xmlns:a="http://schemas.openxmlformats.org/drawingml/2006/main">
              <a:ext uri="{FF2B5EF4-FFF2-40B4-BE49-F238E27FC236}">
                <a16:creationId xmlns:a16="http://schemas.microsoft.com/office/drawing/2014/main" id="{8ADD778A-776C-4A63-83A9-9A68E92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838" y="2485098"/>
            <a:ext cx="209550" cy="2448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24" name="bar-label-1-4">
            <a:extLst xmlns:a="http://schemas.openxmlformats.org/drawingml/2006/main">
              <a:ext uri="{FF2B5EF4-FFF2-40B4-BE49-F238E27FC236}">
                <a16:creationId xmlns:a16="http://schemas.microsoft.com/office/drawing/2014/main" id="{7D71E6CD-D7EC-4F0F-91C3-5EF7024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863" y="2246973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128</a:t>
            </a:r>
          </a:p>
        </p:txBody>
      </p:sp>
      <p:sp>
        <p:nvSpPr>
          <p:cNvPr id="25" name="bar-2-4">
            <a:extLst xmlns:a="http://schemas.openxmlformats.org/drawingml/2006/main">
              <a:ext uri="{FF2B5EF4-FFF2-40B4-BE49-F238E27FC236}">
                <a16:creationId xmlns:a16="http://schemas.microsoft.com/office/drawing/2014/main" id="{CCA8AAE1-7699-4CA8-800F-33BC8BEE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538" y="2905994"/>
            <a:ext cx="209550" cy="2027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26" name="bar-label-2-4">
            <a:extLst xmlns:a="http://schemas.openxmlformats.org/drawingml/2006/main">
              <a:ext uri="{FF2B5EF4-FFF2-40B4-BE49-F238E27FC236}">
                <a16:creationId xmlns:a16="http://schemas.microsoft.com/office/drawing/2014/main" id="{AE582784-1D31-4B77-A220-4AA6EE9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563" y="266786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106</a:t>
            </a:r>
          </a:p>
        </p:txBody>
      </p:sp>
      <p:sp>
        <p:nvSpPr>
          <p:cNvPr id="27" name="category-4">
            <a:extLst xmlns:a="http://schemas.openxmlformats.org/drawingml/2006/main">
              <a:ext uri="{FF2B5EF4-FFF2-40B4-BE49-F238E27FC236}">
                <a16:creationId xmlns:a16="http://schemas.microsoft.com/office/drawing/2014/main" id="{781F0EF7-FD83-4576-BE0E-70C38669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2024</a:t>
            </a:r>
          </a:p>
        </p:txBody>
      </p:sp>
      <p:sp>
        <p:nvSpPr>
          <p:cNvPr id="28" name="bar-1-5">
            <a:extLst xmlns:a="http://schemas.openxmlformats.org/drawingml/2006/main">
              <a:ext uri="{FF2B5EF4-FFF2-40B4-BE49-F238E27FC236}">
                <a16:creationId xmlns:a16="http://schemas.microsoft.com/office/drawing/2014/main" id="{1E7FA8F2-8F4E-4042-B0AF-AED5D01E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13" y="2332044"/>
            <a:ext cx="209550" cy="2601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29" name="bar-label-1-5">
            <a:extLst xmlns:a="http://schemas.openxmlformats.org/drawingml/2006/main">
              <a:ext uri="{FF2B5EF4-FFF2-40B4-BE49-F238E27FC236}">
                <a16:creationId xmlns:a16="http://schemas.microsoft.com/office/drawing/2014/main" id="{EB4EE9AE-D5A9-4B6D-9D14-770D5A2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209391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136</a:t>
            </a:r>
          </a:p>
        </p:txBody>
      </p:sp>
      <p:sp>
        <p:nvSpPr>
          <p:cNvPr id="30" name="bar-2-5">
            <a:extLst xmlns:a="http://schemas.openxmlformats.org/drawingml/2006/main">
              <a:ext uri="{FF2B5EF4-FFF2-40B4-BE49-F238E27FC236}">
                <a16:creationId xmlns:a16="http://schemas.microsoft.com/office/drawing/2014/main" id="{F917C143-C8C1-4D51-9417-F1E8097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2886862"/>
            <a:ext cx="209550" cy="2047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31" name="bar-label-2-5">
            <a:extLst xmlns:a="http://schemas.openxmlformats.org/drawingml/2006/main">
              <a:ext uri="{FF2B5EF4-FFF2-40B4-BE49-F238E27FC236}">
                <a16:creationId xmlns:a16="http://schemas.microsoft.com/office/drawing/2014/main" id="{C0BB0420-FD8E-46FF-8600-F4931E4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648737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107</a:t>
            </a:r>
          </a:p>
        </p:txBody>
      </p:sp>
      <p:sp>
        <p:nvSpPr>
          <p:cNvPr id="32" name="category-5">
            <a:extLst xmlns:a="http://schemas.openxmlformats.org/drawingml/2006/main">
              <a:ext uri="{FF2B5EF4-FFF2-40B4-BE49-F238E27FC236}">
                <a16:creationId xmlns:a16="http://schemas.microsoft.com/office/drawing/2014/main" id="{7881B0CF-D1A7-4A21-9C6B-82DCDD59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900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2025</a:t>
            </a:r>
          </a:p>
        </p:txBody>
      </p:sp>
      <p:sp>
        <p:nvSpPr>
          <p:cNvPr id="33" name="bar-1-6">
            <a:extLst xmlns:a="http://schemas.openxmlformats.org/drawingml/2006/main">
              <a:ext uri="{FF2B5EF4-FFF2-40B4-BE49-F238E27FC236}">
                <a16:creationId xmlns:a16="http://schemas.microsoft.com/office/drawing/2014/main" id="{966FD036-E79F-4C0F-8861-22F3EE1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787" y="2217254"/>
            <a:ext cx="209550" cy="2716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11430">
            <a:solidFill>
              <a:srgbClr val="15375F"/>
            </a:solidFill>
            <a:prstDash val="solid"/>
          </a:ln>
        </p:spPr>
      </p:sp>
      <p:sp>
        <p:nvSpPr>
          <p:cNvPr id="34" name="bar-label-1-6">
            <a:extLst xmlns:a="http://schemas.openxmlformats.org/drawingml/2006/main">
              <a:ext uri="{FF2B5EF4-FFF2-40B4-BE49-F238E27FC236}">
                <a16:creationId xmlns:a16="http://schemas.microsoft.com/office/drawing/2014/main" id="{F5674D12-B1F1-431A-847C-7290B8E2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812" y="1979129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142</a:t>
            </a:r>
          </a:p>
        </p:txBody>
      </p:sp>
      <p:sp>
        <p:nvSpPr>
          <p:cNvPr id="35" name="bar-2-6">
            <a:extLst xmlns:a="http://schemas.openxmlformats.org/drawingml/2006/main">
              <a:ext uri="{FF2B5EF4-FFF2-40B4-BE49-F238E27FC236}">
                <a16:creationId xmlns:a16="http://schemas.microsoft.com/office/drawing/2014/main" id="{EBBB1D2F-8981-4864-9168-C5FB9743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487" y="2867731"/>
            <a:ext cx="209550" cy="2066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36" name="bar-label-2-6">
            <a:extLst xmlns:a="http://schemas.openxmlformats.org/drawingml/2006/main">
              <a:ext uri="{FF2B5EF4-FFF2-40B4-BE49-F238E27FC236}">
                <a16:creationId xmlns:a16="http://schemas.microsoft.com/office/drawing/2014/main" id="{B583107C-9BBB-4F70-ADAE-D56082C9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12" y="2629606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108</a:t>
            </a:r>
          </a:p>
        </p:txBody>
      </p:sp>
      <p:sp>
        <p:nvSpPr>
          <p:cNvPr id="37" name="category-6">
            <a:extLst xmlns:a="http://schemas.openxmlformats.org/drawingml/2006/main">
              <a:ext uri="{FF2B5EF4-FFF2-40B4-BE49-F238E27FC236}">
                <a16:creationId xmlns:a16="http://schemas.microsoft.com/office/drawing/2014/main" id="{F527A069-5129-4419-AA1A-4BA21A89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875" y="5010150"/>
            <a:ext cx="1069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2026</a:t>
            </a:r>
          </a:p>
        </p:txBody>
      </p:sp>
      <p:sp>
        <p:nvSpPr>
          <p:cNvPr id="38" name="ratio-line-1">
            <a:extLst xmlns:a="http://schemas.openxmlformats.org/drawingml/2006/main">
              <a:ext uri="{FF2B5EF4-FFF2-40B4-BE49-F238E27FC236}">
                <a16:creationId xmlns:a16="http://schemas.microsoft.com/office/drawing/2014/main" id="{42A9E1FA-DB60-433A-8080-5A92503B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88" y="2095500"/>
            <a:ext cx="1069975" cy="511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dash"/>
          </a:ln>
        </p:spPr>
      </p:sp>
      <p:sp>
        <p:nvSpPr>
          <p:cNvPr id="39" name="ratio-line-2">
            <a:extLst xmlns:a="http://schemas.openxmlformats.org/drawingml/2006/main">
              <a:ext uri="{FF2B5EF4-FFF2-40B4-BE49-F238E27FC236}">
                <a16:creationId xmlns:a16="http://schemas.microsoft.com/office/drawing/2014/main" id="{19609D5A-9EA8-4328-B20B-A0EE837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2607469"/>
            <a:ext cx="1069975" cy="7167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dash"/>
          </a:ln>
        </p:spPr>
      </p:sp>
      <p:sp>
        <p:nvSpPr>
          <p:cNvPr id="40" name="ratio-line-3">
            <a:extLst xmlns:a="http://schemas.openxmlformats.org/drawingml/2006/main">
              <a:ext uri="{FF2B5EF4-FFF2-40B4-BE49-F238E27FC236}">
                <a16:creationId xmlns:a16="http://schemas.microsoft.com/office/drawing/2014/main" id="{4D559376-806B-47D6-B44B-C389038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38" y="3324225"/>
            <a:ext cx="1069975" cy="511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dash"/>
          </a:ln>
        </p:spPr>
      </p:sp>
      <p:sp>
        <p:nvSpPr>
          <p:cNvPr id="41" name="ratio-line-4">
            <a:extLst xmlns:a="http://schemas.openxmlformats.org/drawingml/2006/main">
              <a:ext uri="{FF2B5EF4-FFF2-40B4-BE49-F238E27FC236}">
                <a16:creationId xmlns:a16="http://schemas.microsoft.com/office/drawing/2014/main" id="{564D7EFB-C41B-498D-8896-571A22E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913" y="3836194"/>
            <a:ext cx="10699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dash"/>
          </a:ln>
        </p:spPr>
      </p:sp>
      <p:sp>
        <p:nvSpPr>
          <p:cNvPr id="42" name="ratio-line-5">
            <a:extLst xmlns:a="http://schemas.openxmlformats.org/drawingml/2006/main">
              <a:ext uri="{FF2B5EF4-FFF2-40B4-BE49-F238E27FC236}">
                <a16:creationId xmlns:a16="http://schemas.microsoft.com/office/drawing/2014/main" id="{55762550-8FFD-46BE-9026-2843C3D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888" y="4245769"/>
            <a:ext cx="1069975" cy="3071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dash"/>
          </a:ln>
        </p:spPr>
      </p:sp>
      <p:sp>
        <p:nvSpPr>
          <p:cNvPr id="43" name="ratio-point-1">
            <a:extLst xmlns:a="http://schemas.openxmlformats.org/drawingml/2006/main">
              <a:ext uri="{FF2B5EF4-FFF2-40B4-BE49-F238E27FC236}">
                <a16:creationId xmlns:a16="http://schemas.microsoft.com/office/drawing/2014/main" id="{20CBB638-FF23-46AF-A99F-91B74A77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363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ratio-point-2">
            <a:extLst xmlns:a="http://schemas.openxmlformats.org/drawingml/2006/main">
              <a:ext uri="{FF2B5EF4-FFF2-40B4-BE49-F238E27FC236}">
                <a16:creationId xmlns:a16="http://schemas.microsoft.com/office/drawing/2014/main" id="{E5ED404A-489B-4CC9-9204-39F4284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25598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ratio-point-3">
            <a:extLst xmlns:a="http://schemas.openxmlformats.org/drawingml/2006/main">
              <a:ext uri="{FF2B5EF4-FFF2-40B4-BE49-F238E27FC236}">
                <a16:creationId xmlns:a16="http://schemas.microsoft.com/office/drawing/2014/main" id="{8A44A834-28BE-4A44-944C-CC12A25D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313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ratio-point-4">
            <a:extLst xmlns:a="http://schemas.openxmlformats.org/drawingml/2006/main">
              <a:ext uri="{FF2B5EF4-FFF2-40B4-BE49-F238E27FC236}">
                <a16:creationId xmlns:a16="http://schemas.microsoft.com/office/drawing/2014/main" id="{FB0E16EF-C6AF-49CF-928C-B499133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288" y="378856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ratio-point-5">
            <a:extLst xmlns:a="http://schemas.openxmlformats.org/drawingml/2006/main">
              <a:ext uri="{FF2B5EF4-FFF2-40B4-BE49-F238E27FC236}">
                <a16:creationId xmlns:a16="http://schemas.microsoft.com/office/drawing/2014/main" id="{684D4CDA-80F4-41C9-B892-451DD71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63" y="41981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ratio-point-6">
            <a:extLst xmlns:a="http://schemas.openxmlformats.org/drawingml/2006/main">
              <a:ext uri="{FF2B5EF4-FFF2-40B4-BE49-F238E27FC236}">
                <a16:creationId xmlns:a16="http://schemas.microsoft.com/office/drawing/2014/main" id="{0E41C902-DE27-4577-9CD5-011FC14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237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legend">
            <a:extLst xmlns:a="http://schemas.openxmlformats.org/drawingml/2006/main">
              <a:ext uri="{FF2B5EF4-FFF2-40B4-BE49-F238E27FC236}">
                <a16:creationId xmlns:a16="http://schemas.microsoft.com/office/drawing/2014/main" id="{619C2709-316F-4742-8DDD-18EB6C0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85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total labor cost  ■   Revenue per capita  □   Human efficiency index  ┄</a:t>
            </a:r>
          </a:p>
        </p:txBody>
      </p:sp>
      <p:sp>
        <p:nvSpPr>
          <p:cNvPr id="50" name="insight-rail">
            <a:extLst xmlns:a="http://schemas.openxmlformats.org/drawingml/2006/main">
              <a:ext uri="{FF2B5EF4-FFF2-40B4-BE49-F238E27FC236}">
                <a16:creationId xmlns:a16="http://schemas.microsoft.com/office/drawing/2014/main" id="{0D0904AE-3BB6-43E1-9C3E-A31D106D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3581400" cy="4381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D7DEE8"/>
            </a:solidFill>
            <a:prstDash val="solid"/>
          </a:ln>
        </p:spPr>
      </p:sp>
      <p:sp>
        <p:nvSpPr>
          <p:cNvPr id="51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A162A0B3-BE4B-44DF-A132-0C9A8D81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52" name="insight-1">
            <a:extLst xmlns:a="http://schemas.openxmlformats.org/drawingml/2006/main">
              <a:ext uri="{FF2B5EF4-FFF2-40B4-BE49-F238E27FC236}">
                <a16:creationId xmlns:a16="http://schemas.microsoft.com/office/drawing/2014/main" id="{AFFD7969-2507-4196-BAAD-4557CCC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20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Cost growth continues to be higher than output growth</a:t>
            </a:r>
          </a:p>
        </p:txBody>
      </p:sp>
      <p:sp>
        <p:nvSpPr>
          <p:cNvPr id="54" name="insight-2">
            <a:extLst xmlns:a="http://schemas.openxmlformats.org/drawingml/2006/main">
              <a:ext uri="{FF2B5EF4-FFF2-40B4-BE49-F238E27FC236}">
                <a16:creationId xmlns:a16="http://schemas.microsoft.com/office/drawing/2014/main" id="{E0F01867-810D-4B1B-A4C5-D8D9B99A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81325"/>
            <a:ext cx="320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2023 The scissor gap will expand significantly after the new year</a:t>
            </a:r>
          </a:p>
        </p:txBody>
      </p:sp>
      <p:sp>
        <p:nvSpPr>
          <p:cNvPr id="56" name="insight-3">
            <a:extLst xmlns:a="http://schemas.openxmlformats.org/drawingml/2006/main">
              <a:ext uri="{FF2B5EF4-FFF2-40B4-BE49-F238E27FC236}">
                <a16:creationId xmlns:a16="http://schemas.microsoft.com/office/drawing/2014/main" id="{F8EE27F7-A246-49C8-9D57-0180B69E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20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Human efficiency index has declined for five consecutive years</a:t>
            </a:r>
          </a:p>
        </p:txBody>
      </p:sp>
      <p:sp>
        <p:nvSpPr>
          <p:cNvPr id="58" name="conclusion">
            <a:extLst xmlns:a="http://schemas.openxmlformats.org/drawingml/2006/main">
              <a:ext uri="{FF2B5EF4-FFF2-40B4-BE49-F238E27FC236}">
                <a16:creationId xmlns:a16="http://schemas.microsoft.com/office/drawing/2014/main" id="{84F45543-39C9-484D-BC53-3F5E4F0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333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Conclusion: Prioritize controlling structural additions and increasing the output of high-cost jobs</a:t>
            </a:r>
          </a:p>
        </p:txBody>
      </p:sp>
      <p:cxnSp>
        <p:nvCxnSpPr>
          <p:cNvPr id="114" name=""/>
          <p:cNvCxnSpPr>
            <a:stCxn xmlns:a="http://schemas.openxmlformats.org/drawingml/2006/main" id="5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018337" y="2305050"/>
            <a:ext cx="1268413" cy="127055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8C6"/>
            </a:solidFill>
            <a:prstDash val="solid"/>
          </a:ln>
        </p:spPr>
      </p:cxnSp>
      <p:cxnSp>
        <p:nvCxnSpPr>
          <p:cNvPr id="115" name=""/>
          <p:cNvCxnSpPr>
            <a:stCxn xmlns:a="http://schemas.openxmlformats.org/drawingml/2006/main" id="54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878388" y="3419475"/>
            <a:ext cx="3408362" cy="29004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8C6"/>
            </a:solidFill>
            <a:prstDash val="solid"/>
          </a:ln>
        </p:spPr>
      </p:cxnSp>
      <p:cxnSp>
        <p:nvCxnSpPr>
          <p:cNvPr id="116" name=""/>
          <p:cNvCxnSpPr>
            <a:stCxn xmlns:a="http://schemas.openxmlformats.org/drawingml/2006/main" id="56" idx="1"/>
            <a:endCxn xmlns:a="http://schemas.openxmlformats.org/drawingml/2006/main" id="48" idx="6"/>
          </p:cNvCxnSpPr>
          <p:nvPr/>
        </p:nvCxnSpPr>
        <p:spPr>
          <a:xfrm xmlns:a="http://schemas.openxmlformats.org/drawingml/2006/main" flipH="1">
            <a:off x="7075487" y="4533900"/>
            <a:ext cx="1211263" cy="19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8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25702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2026-07-31T20:15:18.9690000Z</dcterms:created>
  <dcterms:modified xsi:type="dcterms:W3CDTF">2026-07-31T20:15:18.9690000Z</dcterms:modified>
</coreProperties>
</file>