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e6028af36cf4d05" /><Relationship Type="http://schemas.openxmlformats.org/officeDocument/2006/relationships/extended-properties" Target="/docProps/app.xml" Id="R386048b6c0004d5c" /><Relationship Type="http://schemas.openxmlformats.org/officeDocument/2006/relationships/officeDocument" Target="/ppt/presentation.xml" Id="R648492e90136423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662a46bf3b545c5"/>
  </p:sldMasterIdLst>
  <p:notesMasterIdLst>
    <p:notesMasterId xmlns:r="http://schemas.openxmlformats.org/officeDocument/2006/relationships" r:id="Rc0ebf1adc8f546da"/>
  </p:notesMasterIdLst>
  <p:sldIdLst>
    <p:sldId xmlns:r="http://schemas.openxmlformats.org/officeDocument/2006/relationships" id="256" r:id="Rec9329cfb72849d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4eceb35bedb4eed" /><Relationship Type="http://schemas.openxmlformats.org/officeDocument/2006/relationships/slideMaster" Target="/ppt/slideMasters/slideMaster1.xml" Id="R9662a46bf3b545c5" /><Relationship Type="http://schemas.openxmlformats.org/officeDocument/2006/relationships/notesMaster" Target="/ppt/notesMasters/notesMaster1.xml" Id="Rc0ebf1adc8f546da" /><Relationship Type="http://schemas.openxmlformats.org/officeDocument/2006/relationships/presProps" Target="/ppt/presProps.xml" Id="R71e81dc68f2c43cf" /><Relationship Type="http://schemas.openxmlformats.org/officeDocument/2006/relationships/tableStyles" Target="/ppt/tableStyles.xml" Id="R47cd263d8ffb41d0" /><Relationship Type="http://schemas.openxmlformats.org/officeDocument/2006/relationships/slide" Target="/ppt/slides/slide1.xml" Id="Rec9329cfb72849d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1e27b91959648b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9168a6c8a004675" /><Relationship Type="http://schemas.openxmlformats.org/officeDocument/2006/relationships/notesMaster" Target="/ppt/notesMasters/notesMaster1.xml" Id="Rc96d81db57e4444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22a1ee106e450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685305f0db0493f" /><Relationship Type="http://schemas.openxmlformats.org/officeDocument/2006/relationships/slideLayout" Target="/ppt/slideLayouts/slideLayout1.xml" Id="R622520e062274fd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22520e062274fd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067e05ffcb4eb9" /><Relationship Type="http://schemas.openxmlformats.org/officeDocument/2006/relationships/notesSlide" Target="/ppt/notesSlides/notesSlide1.xml" Id="R86f0f303908e400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5" name="page-title">
            <a:extLst xmlns:a="http://schemas.openxmlformats.org/drawingml/2006/main">
              <a:ext uri="{FF2B5EF4-FFF2-40B4-BE49-F238E27FC236}">
                <a16:creationId xmlns:a16="http://schemas.microsoft.com/office/drawing/2014/main" id="{52E77E10-D0F5-4A60-8AC0-DF69BBF19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375F"/>
                </a:solidFill>
              </a:defRPr>
            </a:pPr>
            <a:r>
              <a:rPr sz="3000" b="1">
                <a:solidFill>
                  <a:srgbClr val="15375F"/>
                </a:solidFill>
              </a:rPr>
              <a:t>客户触达与转化率同向最强，响应时长与转化率反向最强</a:t>
            </a:r>
          </a:p>
        </p:txBody>
      </p:sp>
      <p:sp>
        <p:nvSpPr>
          <p:cNvPr id="2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0A61F2D3-FA90-40D8-BBB8-C96095197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0100"/>
            <a:ext cx="11163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697386"/>
                </a:solidFill>
              </a:defRPr>
            </a:pPr>
            <a:r>
              <a:rPr sz="1600" b="0">
                <a:solidFill>
                  <a:srgbClr val="697386"/>
                </a:solidFill>
              </a:rPr>
              <a:t>合成示例数据，非真实客户数据</a:t>
            </a:r>
          </a:p>
        </p:txBody>
      </p:sp>
      <p:sp>
        <p:nvSpPr>
          <p:cNvPr id="3" name="correlation-frame">
            <a:extLst xmlns:a="http://schemas.openxmlformats.org/drawingml/2006/main">
              <a:ext uri="{FF2B5EF4-FFF2-40B4-BE49-F238E27FC236}">
                <a16:creationId xmlns:a16="http://schemas.microsoft.com/office/drawing/2014/main" id="{91C31B70-434B-434B-8D51-182BCB259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8077200" cy="428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4" name="matrix-caption">
            <a:extLst xmlns:a="http://schemas.openxmlformats.org/drawingml/2006/main">
              <a:ext uri="{FF2B5EF4-FFF2-40B4-BE49-F238E27FC236}">
                <a16:creationId xmlns:a16="http://schemas.microsoft.com/office/drawing/2014/main" id="{DB39740D-7F34-4DE4-9DF3-7E0B7BA35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7635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375F"/>
                </a:solidFill>
              </a:defRPr>
            </a:pPr>
            <a:r>
              <a:rPr sz="1200" b="1">
                <a:solidFill>
                  <a:srgbClr val="15375F"/>
                </a:solidFill>
              </a:rPr>
              <a:t>Pearson 系数</a:t>
            </a:r>
          </a:p>
        </p:txBody>
      </p:sp>
      <p:sp>
        <p:nvSpPr>
          <p:cNvPr id="5" name="column-label-1">
            <a:extLst xmlns:a="http://schemas.openxmlformats.org/drawingml/2006/main">
              <a:ext uri="{FF2B5EF4-FFF2-40B4-BE49-F238E27FC236}">
                <a16:creationId xmlns:a16="http://schemas.microsoft.com/office/drawing/2014/main" id="{9C1294FC-7A0F-47F6-B72B-2693253AD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27635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客户触达</a:t>
            </a:r>
          </a:p>
        </p:txBody>
      </p:sp>
      <p:sp>
        <p:nvSpPr>
          <p:cNvPr id="6" name="row-label-1">
            <a:extLst xmlns:a="http://schemas.openxmlformats.org/drawingml/2006/main">
              <a:ext uri="{FF2B5EF4-FFF2-40B4-BE49-F238E27FC236}">
                <a16:creationId xmlns:a16="http://schemas.microsoft.com/office/drawing/2014/main" id="{8DC38A0D-7EA6-4B6F-AF31-47D65EE9E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1123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400" b="1">
                <a:solidFill>
                  <a:srgbClr val="172033"/>
                </a:solidFill>
              </a:defRPr>
            </a:pPr>
            <a:r>
              <a:rPr sz="1400" b="1">
                <a:solidFill>
                  <a:srgbClr val="172033"/>
                </a:solidFill>
              </a:rPr>
              <a:t>客户触达</a:t>
            </a:r>
          </a:p>
        </p:txBody>
      </p:sp>
      <p:sp>
        <p:nvSpPr>
          <p:cNvPr id="7" name="column-label-2">
            <a:extLst xmlns:a="http://schemas.openxmlformats.org/drawingml/2006/main">
              <a:ext uri="{FF2B5EF4-FFF2-40B4-BE49-F238E27FC236}">
                <a16:creationId xmlns:a16="http://schemas.microsoft.com/office/drawing/2014/main" id="{B2132D8B-B02C-4B57-8D4F-073156C86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27635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转化率</a:t>
            </a:r>
          </a:p>
        </p:txBody>
      </p:sp>
      <p:sp>
        <p:nvSpPr>
          <p:cNvPr id="8" name="row-label-2">
            <a:extLst xmlns:a="http://schemas.openxmlformats.org/drawingml/2006/main">
              <a:ext uri="{FF2B5EF4-FFF2-40B4-BE49-F238E27FC236}">
                <a16:creationId xmlns:a16="http://schemas.microsoft.com/office/drawing/2014/main" id="{3C362DE5-4808-46B6-9772-4F5689EC3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123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400" b="1">
                <a:solidFill>
                  <a:srgbClr val="172033"/>
                </a:solidFill>
              </a:defRPr>
            </a:pPr>
            <a:r>
              <a:rPr sz="1400" b="1">
                <a:solidFill>
                  <a:srgbClr val="172033"/>
                </a:solidFill>
              </a:rPr>
              <a:t>转化率</a:t>
            </a:r>
          </a:p>
        </p:txBody>
      </p:sp>
      <p:sp>
        <p:nvSpPr>
          <p:cNvPr id="9" name="column-label-3">
            <a:extLst xmlns:a="http://schemas.openxmlformats.org/drawingml/2006/main">
              <a:ext uri="{FF2B5EF4-FFF2-40B4-BE49-F238E27FC236}">
                <a16:creationId xmlns:a16="http://schemas.microsoft.com/office/drawing/2014/main" id="{3E6AA0C2-01C4-4AB0-959E-7F103BE7E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27635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响应时长</a:t>
            </a:r>
          </a:p>
        </p:txBody>
      </p:sp>
      <p:sp>
        <p:nvSpPr>
          <p:cNvPr id="10" name="row-label-3">
            <a:extLst xmlns:a="http://schemas.openxmlformats.org/drawingml/2006/main">
              <a:ext uri="{FF2B5EF4-FFF2-40B4-BE49-F238E27FC236}">
                <a16:creationId xmlns:a16="http://schemas.microsoft.com/office/drawing/2014/main" id="{759EDA2F-586F-407A-A651-A99024E46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1123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400" b="1">
                <a:solidFill>
                  <a:srgbClr val="172033"/>
                </a:solidFill>
              </a:defRPr>
            </a:pPr>
            <a:r>
              <a:rPr sz="1400" b="1">
                <a:solidFill>
                  <a:srgbClr val="172033"/>
                </a:solidFill>
              </a:rPr>
              <a:t>响应时长</a:t>
            </a:r>
          </a:p>
        </p:txBody>
      </p:sp>
      <p:sp>
        <p:nvSpPr>
          <p:cNvPr id="11" name="column-label-4">
            <a:extLst xmlns:a="http://schemas.openxmlformats.org/drawingml/2006/main">
              <a:ext uri="{FF2B5EF4-FFF2-40B4-BE49-F238E27FC236}">
                <a16:creationId xmlns:a16="http://schemas.microsoft.com/office/drawing/2014/main" id="{32EB457E-2B02-425C-B4E5-6CD639294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27635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复购率</a:t>
            </a:r>
          </a:p>
        </p:txBody>
      </p:sp>
      <p:sp>
        <p:nvSpPr>
          <p:cNvPr id="12" name="row-label-4">
            <a:extLst xmlns:a="http://schemas.openxmlformats.org/drawingml/2006/main">
              <a:ext uri="{FF2B5EF4-FFF2-40B4-BE49-F238E27FC236}">
                <a16:creationId xmlns:a16="http://schemas.microsoft.com/office/drawing/2014/main" id="{D63FAE25-D2F4-4B1C-AE05-01F8E944E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3300"/>
            <a:ext cx="1123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400" b="1">
                <a:solidFill>
                  <a:srgbClr val="172033"/>
                </a:solidFill>
              </a:defRPr>
            </a:pPr>
            <a:r>
              <a:rPr sz="1400" b="1">
                <a:solidFill>
                  <a:srgbClr val="172033"/>
                </a:solidFill>
              </a:rPr>
              <a:t>复购率</a:t>
            </a:r>
          </a:p>
        </p:txBody>
      </p:sp>
      <p:sp>
        <p:nvSpPr>
          <p:cNvPr id="13" name="column-label-5">
            <a:extLst xmlns:a="http://schemas.openxmlformats.org/drawingml/2006/main">
              <a:ext uri="{FF2B5EF4-FFF2-40B4-BE49-F238E27FC236}">
                <a16:creationId xmlns:a16="http://schemas.microsoft.com/office/drawing/2014/main" id="{9C0AF3D7-6E8F-4AC4-A886-4D0288C1B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27635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客单价</a:t>
            </a:r>
          </a:p>
        </p:txBody>
      </p:sp>
      <p:sp>
        <p:nvSpPr>
          <p:cNvPr id="14" name="row-label-5">
            <a:extLst xmlns:a="http://schemas.openxmlformats.org/drawingml/2006/main">
              <a:ext uri="{FF2B5EF4-FFF2-40B4-BE49-F238E27FC236}">
                <a16:creationId xmlns:a16="http://schemas.microsoft.com/office/drawing/2014/main" id="{5A2F2F86-264F-43F0-AB7A-249EA19B6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1123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400" b="1">
                <a:solidFill>
                  <a:srgbClr val="172033"/>
                </a:solidFill>
              </a:defRPr>
            </a:pPr>
            <a:r>
              <a:rPr sz="1400" b="1">
                <a:solidFill>
                  <a:srgbClr val="172033"/>
                </a:solidFill>
              </a:rPr>
              <a:t>客单价</a:t>
            </a:r>
          </a:p>
        </p:txBody>
      </p:sp>
      <p:sp>
        <p:nvSpPr>
          <p:cNvPr id="15" name="column-label-6">
            <a:extLst xmlns:a="http://schemas.openxmlformats.org/drawingml/2006/main">
              <a:ext uri="{FF2B5EF4-FFF2-40B4-BE49-F238E27FC236}">
                <a16:creationId xmlns:a16="http://schemas.microsoft.com/office/drawing/2014/main" id="{88EDE82D-11F6-4A95-B36C-9459F8B5A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27635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退款率</a:t>
            </a:r>
          </a:p>
        </p:txBody>
      </p:sp>
      <p:sp>
        <p:nvSpPr>
          <p:cNvPr id="16" name="row-label-6">
            <a:extLst xmlns:a="http://schemas.openxmlformats.org/drawingml/2006/main">
              <a:ext uri="{FF2B5EF4-FFF2-40B4-BE49-F238E27FC236}">
                <a16:creationId xmlns:a16="http://schemas.microsoft.com/office/drawing/2014/main" id="{0985C621-C290-42C7-9C87-32EDA47DD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38700"/>
            <a:ext cx="1123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400" b="1">
                <a:solidFill>
                  <a:srgbClr val="172033"/>
                </a:solidFill>
              </a:defRPr>
            </a:pPr>
            <a:r>
              <a:rPr sz="1400" b="1">
                <a:solidFill>
                  <a:srgbClr val="172033"/>
                </a:solidFill>
              </a:rPr>
              <a:t>退款率</a:t>
            </a:r>
          </a:p>
        </p:txBody>
      </p:sp>
      <p:sp>
        <p:nvSpPr>
          <p:cNvPr id="17" name="cell-1-1">
            <a:extLst xmlns:a="http://schemas.openxmlformats.org/drawingml/2006/main">
              <a:ext uri="{FF2B5EF4-FFF2-40B4-BE49-F238E27FC236}">
                <a16:creationId xmlns:a16="http://schemas.microsoft.com/office/drawing/2014/main" id="{D578E496-EC73-4614-8931-4008EA147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600200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8" name="coefficient-1-1">
            <a:extLst xmlns:a="http://schemas.openxmlformats.org/drawingml/2006/main">
              <a:ext uri="{FF2B5EF4-FFF2-40B4-BE49-F238E27FC236}">
                <a16:creationId xmlns:a16="http://schemas.microsoft.com/office/drawing/2014/main" id="{CD39DFBB-DDA0-45AD-911F-0D67BD7B6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609725"/>
            <a:ext cx="609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1.00</a:t>
            </a:r>
          </a:p>
        </p:txBody>
      </p:sp>
      <p:sp>
        <p:nvSpPr>
          <p:cNvPr id="19" name="cell-1-2">
            <a:extLst xmlns:a="http://schemas.openxmlformats.org/drawingml/2006/main">
              <a:ext uri="{FF2B5EF4-FFF2-40B4-BE49-F238E27FC236}">
                <a16:creationId xmlns:a16="http://schemas.microsoft.com/office/drawing/2014/main" id="{7138B456-C2EF-4A29-B736-6CC250414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600200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83A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" name="coefficient-1-2">
            <a:extLst xmlns:a="http://schemas.openxmlformats.org/drawingml/2006/main">
              <a:ext uri="{FF2B5EF4-FFF2-40B4-BE49-F238E27FC236}">
                <a16:creationId xmlns:a16="http://schemas.microsoft.com/office/drawing/2014/main" id="{4E9025E1-3929-4D09-B18C-409E80D08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609725"/>
            <a:ext cx="609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+0.84</a:t>
            </a:r>
          </a:p>
        </p:txBody>
      </p:sp>
      <p:sp>
        <p:nvSpPr>
          <p:cNvPr id="21" name="cell-1-3">
            <a:extLst xmlns:a="http://schemas.openxmlformats.org/drawingml/2006/main">
              <a:ext uri="{FF2B5EF4-FFF2-40B4-BE49-F238E27FC236}">
                <a16:creationId xmlns:a16="http://schemas.microsoft.com/office/drawing/2014/main" id="{076A8D5E-E78A-40A1-A272-EB3A705F1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600200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B4A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2" name="coefficient-1-3">
            <a:extLst xmlns:a="http://schemas.openxmlformats.org/drawingml/2006/main">
              <a:ext uri="{FF2B5EF4-FFF2-40B4-BE49-F238E27FC236}">
                <a16:creationId xmlns:a16="http://schemas.microsoft.com/office/drawing/2014/main" id="{08FC52BB-A00E-482A-B33B-2FB23D605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609725"/>
            <a:ext cx="609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-0.48</a:t>
            </a:r>
          </a:p>
        </p:txBody>
      </p:sp>
      <p:sp>
        <p:nvSpPr>
          <p:cNvPr id="23" name="cell-1-4">
            <a:extLst xmlns:a="http://schemas.openxmlformats.org/drawingml/2006/main">
              <a:ext uri="{FF2B5EF4-FFF2-40B4-BE49-F238E27FC236}">
                <a16:creationId xmlns:a16="http://schemas.microsoft.com/office/drawing/2014/main" id="{4D67E809-90AF-41AE-902B-CB69E7B4A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600200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A5C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4" name="coefficient-1-4">
            <a:extLst xmlns:a="http://schemas.openxmlformats.org/drawingml/2006/main">
              <a:ext uri="{FF2B5EF4-FFF2-40B4-BE49-F238E27FC236}">
                <a16:creationId xmlns:a16="http://schemas.microsoft.com/office/drawing/2014/main" id="{31DE92D8-F306-4538-A110-E9FD0AAC1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609725"/>
            <a:ext cx="609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+0.61</a:t>
            </a:r>
          </a:p>
        </p:txBody>
      </p:sp>
      <p:sp>
        <p:nvSpPr>
          <p:cNvPr id="25" name="cell-1-5">
            <a:extLst xmlns:a="http://schemas.openxmlformats.org/drawingml/2006/main">
              <a:ext uri="{FF2B5EF4-FFF2-40B4-BE49-F238E27FC236}">
                <a16:creationId xmlns:a16="http://schemas.microsoft.com/office/drawing/2014/main" id="{D6A3F648-45B6-4113-B5BA-4514D56C5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600200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CED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6" name="coefficient-1-5">
            <a:extLst xmlns:a="http://schemas.openxmlformats.org/drawingml/2006/main">
              <a:ext uri="{FF2B5EF4-FFF2-40B4-BE49-F238E27FC236}">
                <a16:creationId xmlns:a16="http://schemas.microsoft.com/office/drawing/2014/main" id="{3BDF204F-380F-49C6-B97F-D4B5BE298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609725"/>
            <a:ext cx="609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+0.33</a:t>
            </a:r>
          </a:p>
        </p:txBody>
      </p:sp>
      <p:sp>
        <p:nvSpPr>
          <p:cNvPr id="27" name="cell-1-6">
            <a:extLst xmlns:a="http://schemas.openxmlformats.org/drawingml/2006/main">
              <a:ext uri="{FF2B5EF4-FFF2-40B4-BE49-F238E27FC236}">
                <a16:creationId xmlns:a16="http://schemas.microsoft.com/office/drawing/2014/main" id="{CC2C96CD-7B62-4EB0-89D7-AB14CA8F2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600200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D3C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8" name="coefficient-1-6">
            <a:extLst xmlns:a="http://schemas.openxmlformats.org/drawingml/2006/main">
              <a:ext uri="{FF2B5EF4-FFF2-40B4-BE49-F238E27FC236}">
                <a16:creationId xmlns:a16="http://schemas.microsoft.com/office/drawing/2014/main" id="{4A0F9B6D-0A6B-41BD-99F5-9853A69D2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609725"/>
            <a:ext cx="609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-0.28</a:t>
            </a:r>
          </a:p>
        </p:txBody>
      </p:sp>
      <p:sp>
        <p:nvSpPr>
          <p:cNvPr id="29" name="cell-2-1">
            <a:extLst xmlns:a="http://schemas.openxmlformats.org/drawingml/2006/main">
              <a:ext uri="{FF2B5EF4-FFF2-40B4-BE49-F238E27FC236}">
                <a16:creationId xmlns:a16="http://schemas.microsoft.com/office/drawing/2014/main" id="{0AAD5B3A-6EB3-4413-941D-F74627DAC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47900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83A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0" name="coefficient-2-1">
            <a:extLst xmlns:a="http://schemas.openxmlformats.org/drawingml/2006/main">
              <a:ext uri="{FF2B5EF4-FFF2-40B4-BE49-F238E27FC236}">
                <a16:creationId xmlns:a16="http://schemas.microsoft.com/office/drawing/2014/main" id="{2C8CEF06-1D0F-4645-8B90-9C929EC16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257425"/>
            <a:ext cx="609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+0.84</a:t>
            </a:r>
          </a:p>
        </p:txBody>
      </p:sp>
      <p:sp>
        <p:nvSpPr>
          <p:cNvPr id="31" name="cell-2-2">
            <a:extLst xmlns:a="http://schemas.openxmlformats.org/drawingml/2006/main">
              <a:ext uri="{FF2B5EF4-FFF2-40B4-BE49-F238E27FC236}">
                <a16:creationId xmlns:a16="http://schemas.microsoft.com/office/drawing/2014/main" id="{EBBD3DB0-FE65-4B28-88EC-478C4B7A3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247900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2" name="coefficient-2-2">
            <a:extLst xmlns:a="http://schemas.openxmlformats.org/drawingml/2006/main">
              <a:ext uri="{FF2B5EF4-FFF2-40B4-BE49-F238E27FC236}">
                <a16:creationId xmlns:a16="http://schemas.microsoft.com/office/drawing/2014/main" id="{4F72D979-9B57-4F6E-ACB3-9E07024C1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257425"/>
            <a:ext cx="609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1.00</a:t>
            </a:r>
          </a:p>
        </p:txBody>
      </p:sp>
      <p:sp>
        <p:nvSpPr>
          <p:cNvPr id="33" name="cell-2-3">
            <a:extLst xmlns:a="http://schemas.openxmlformats.org/drawingml/2006/main">
              <a:ext uri="{FF2B5EF4-FFF2-40B4-BE49-F238E27FC236}">
                <a16:creationId xmlns:a16="http://schemas.microsoft.com/office/drawing/2014/main" id="{7B94B806-5FA9-47A0-A282-106E8275D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247900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847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4" name="coefficient-2-3">
            <a:extLst xmlns:a="http://schemas.openxmlformats.org/drawingml/2006/main">
              <a:ext uri="{FF2B5EF4-FFF2-40B4-BE49-F238E27FC236}">
                <a16:creationId xmlns:a16="http://schemas.microsoft.com/office/drawing/2014/main" id="{467384AD-D5A2-4B57-9835-5041662E9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257425"/>
            <a:ext cx="609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-0.79</a:t>
            </a:r>
          </a:p>
        </p:txBody>
      </p:sp>
      <p:sp>
        <p:nvSpPr>
          <p:cNvPr id="35" name="cell-2-4">
            <a:extLst xmlns:a="http://schemas.openxmlformats.org/drawingml/2006/main">
              <a:ext uri="{FF2B5EF4-FFF2-40B4-BE49-F238E27FC236}">
                <a16:creationId xmlns:a16="http://schemas.microsoft.com/office/drawing/2014/main" id="{9778A3B9-C679-46A9-868D-6E178AF5B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247900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94B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6" name="coefficient-2-4">
            <a:extLst xmlns:a="http://schemas.openxmlformats.org/drawingml/2006/main">
              <a:ext uri="{FF2B5EF4-FFF2-40B4-BE49-F238E27FC236}">
                <a16:creationId xmlns:a16="http://schemas.microsoft.com/office/drawing/2014/main" id="{1B22A919-A9B9-4AC8-BB4D-479FA6EAB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257425"/>
            <a:ext cx="609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+0.72</a:t>
            </a:r>
          </a:p>
        </p:txBody>
      </p:sp>
      <p:sp>
        <p:nvSpPr>
          <p:cNvPr id="37" name="cell-2-5">
            <a:extLst xmlns:a="http://schemas.openxmlformats.org/drawingml/2006/main">
              <a:ext uri="{FF2B5EF4-FFF2-40B4-BE49-F238E27FC236}">
                <a16:creationId xmlns:a16="http://schemas.microsoft.com/office/drawing/2014/main" id="{4CE2D771-BE9B-44C3-9A11-3DA9872FA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247900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C1D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8" name="coefficient-2-5">
            <a:extLst xmlns:a="http://schemas.openxmlformats.org/drawingml/2006/main">
              <a:ext uri="{FF2B5EF4-FFF2-40B4-BE49-F238E27FC236}">
                <a16:creationId xmlns:a16="http://schemas.microsoft.com/office/drawing/2014/main" id="{D4687AA8-F46D-423C-BC24-3E1D29498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257425"/>
            <a:ext cx="609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+0.42</a:t>
            </a:r>
          </a:p>
        </p:txBody>
      </p:sp>
      <p:sp>
        <p:nvSpPr>
          <p:cNvPr id="39" name="cell-2-6">
            <a:extLst xmlns:a="http://schemas.openxmlformats.org/drawingml/2006/main">
              <a:ext uri="{FF2B5EF4-FFF2-40B4-BE49-F238E27FC236}">
                <a16:creationId xmlns:a16="http://schemas.microsoft.com/office/drawing/2014/main" id="{F1F4FDC5-BD51-4419-AEE1-0FDD84EB7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247900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99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0" name="coefficient-2-6">
            <a:extLst xmlns:a="http://schemas.openxmlformats.org/drawingml/2006/main">
              <a:ext uri="{FF2B5EF4-FFF2-40B4-BE49-F238E27FC236}">
                <a16:creationId xmlns:a16="http://schemas.microsoft.com/office/drawing/2014/main" id="{D8F9ED41-4188-4013-8DD0-6DAD81328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257425"/>
            <a:ext cx="609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-0.55</a:t>
            </a:r>
          </a:p>
        </p:txBody>
      </p:sp>
      <p:sp>
        <p:nvSpPr>
          <p:cNvPr id="41" name="cell-3-1">
            <a:extLst xmlns:a="http://schemas.openxmlformats.org/drawingml/2006/main">
              <a:ext uri="{FF2B5EF4-FFF2-40B4-BE49-F238E27FC236}">
                <a16:creationId xmlns:a16="http://schemas.microsoft.com/office/drawing/2014/main" id="{9AC7EEC8-1B89-4097-A798-EC331AE8A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895600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B4A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2" name="coefficient-3-1">
            <a:extLst xmlns:a="http://schemas.openxmlformats.org/drawingml/2006/main">
              <a:ext uri="{FF2B5EF4-FFF2-40B4-BE49-F238E27FC236}">
                <a16:creationId xmlns:a16="http://schemas.microsoft.com/office/drawing/2014/main" id="{F37C4EF3-1AAF-4AAF-8E60-BB0A17F43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905125"/>
            <a:ext cx="609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-0.48</a:t>
            </a:r>
          </a:p>
        </p:txBody>
      </p:sp>
      <p:sp>
        <p:nvSpPr>
          <p:cNvPr id="43" name="cell-3-2">
            <a:extLst xmlns:a="http://schemas.openxmlformats.org/drawingml/2006/main">
              <a:ext uri="{FF2B5EF4-FFF2-40B4-BE49-F238E27FC236}">
                <a16:creationId xmlns:a16="http://schemas.microsoft.com/office/drawing/2014/main" id="{68FD0AB2-4670-4E22-8DAE-E5F000BFC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895600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847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4" name="coefficient-3-2">
            <a:extLst xmlns:a="http://schemas.openxmlformats.org/drawingml/2006/main">
              <a:ext uri="{FF2B5EF4-FFF2-40B4-BE49-F238E27FC236}">
                <a16:creationId xmlns:a16="http://schemas.microsoft.com/office/drawing/2014/main" id="{BEBA5E52-815A-4757-8F15-4C331FA7D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905125"/>
            <a:ext cx="609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-0.79</a:t>
            </a:r>
          </a:p>
        </p:txBody>
      </p:sp>
      <p:sp>
        <p:nvSpPr>
          <p:cNvPr id="45" name="cell-3-3">
            <a:extLst xmlns:a="http://schemas.openxmlformats.org/drawingml/2006/main">
              <a:ext uri="{FF2B5EF4-FFF2-40B4-BE49-F238E27FC236}">
                <a16:creationId xmlns:a16="http://schemas.microsoft.com/office/drawing/2014/main" id="{4031E1FB-B543-4F2B-A018-52A563CC1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895600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6" name="coefficient-3-3">
            <a:extLst xmlns:a="http://schemas.openxmlformats.org/drawingml/2006/main">
              <a:ext uri="{FF2B5EF4-FFF2-40B4-BE49-F238E27FC236}">
                <a16:creationId xmlns:a16="http://schemas.microsoft.com/office/drawing/2014/main" id="{89FFE27B-E50F-44FE-A87C-045FE0F05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905125"/>
            <a:ext cx="609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1.00</a:t>
            </a:r>
          </a:p>
        </p:txBody>
      </p:sp>
      <p:sp>
        <p:nvSpPr>
          <p:cNvPr id="47" name="cell-3-4">
            <a:extLst xmlns:a="http://schemas.openxmlformats.org/drawingml/2006/main">
              <a:ext uri="{FF2B5EF4-FFF2-40B4-BE49-F238E27FC236}">
                <a16:creationId xmlns:a16="http://schemas.microsoft.com/office/drawing/2014/main" id="{512353CA-6C7E-44B3-8419-167BBF990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895600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A59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8" name="coefficient-3-4">
            <a:extLst xmlns:a="http://schemas.openxmlformats.org/drawingml/2006/main">
              <a:ext uri="{FF2B5EF4-FFF2-40B4-BE49-F238E27FC236}">
                <a16:creationId xmlns:a16="http://schemas.microsoft.com/office/drawing/2014/main" id="{92ECBF0E-45FF-4EF1-8B45-FE679CE0A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905125"/>
            <a:ext cx="609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-0.58</a:t>
            </a:r>
          </a:p>
        </p:txBody>
      </p:sp>
      <p:sp>
        <p:nvSpPr>
          <p:cNvPr id="49" name="cell-3-5">
            <a:extLst xmlns:a="http://schemas.openxmlformats.org/drawingml/2006/main">
              <a:ext uri="{FF2B5EF4-FFF2-40B4-BE49-F238E27FC236}">
                <a16:creationId xmlns:a16="http://schemas.microsoft.com/office/drawing/2014/main" id="{42CC7B13-1332-4318-9FDE-0E2933447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895600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ED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0" name="coefficient-3-5">
            <a:extLst xmlns:a="http://schemas.openxmlformats.org/drawingml/2006/main">
              <a:ext uri="{FF2B5EF4-FFF2-40B4-BE49-F238E27FC236}">
                <a16:creationId xmlns:a16="http://schemas.microsoft.com/office/drawing/2014/main" id="{FEBA871B-AE90-4C50-89B7-31294ACF3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905125"/>
            <a:ext cx="609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-0.21</a:t>
            </a:r>
          </a:p>
        </p:txBody>
      </p:sp>
      <p:sp>
        <p:nvSpPr>
          <p:cNvPr id="51" name="cell-3-6">
            <a:extLst xmlns:a="http://schemas.openxmlformats.org/drawingml/2006/main">
              <a:ext uri="{FF2B5EF4-FFF2-40B4-BE49-F238E27FC236}">
                <a16:creationId xmlns:a16="http://schemas.microsoft.com/office/drawing/2014/main" id="{0153BE89-186E-4DC1-AA58-DF05518AD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895600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9B6C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2" name="coefficient-3-6">
            <a:extLst xmlns:a="http://schemas.openxmlformats.org/drawingml/2006/main">
              <a:ext uri="{FF2B5EF4-FFF2-40B4-BE49-F238E27FC236}">
                <a16:creationId xmlns:a16="http://schemas.microsoft.com/office/drawing/2014/main" id="{B620CB75-E76E-4F5D-8F42-5EE8638F1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905125"/>
            <a:ext cx="609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+0.49</a:t>
            </a:r>
          </a:p>
        </p:txBody>
      </p:sp>
      <p:sp>
        <p:nvSpPr>
          <p:cNvPr id="53" name="cell-4-1">
            <a:extLst xmlns:a="http://schemas.openxmlformats.org/drawingml/2006/main">
              <a:ext uri="{FF2B5EF4-FFF2-40B4-BE49-F238E27FC236}">
                <a16:creationId xmlns:a16="http://schemas.microsoft.com/office/drawing/2014/main" id="{EEFBFE1C-13CF-44D3-9929-A012F26DC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543300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A5C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4" name="coefficient-4-1">
            <a:extLst xmlns:a="http://schemas.openxmlformats.org/drawingml/2006/main">
              <a:ext uri="{FF2B5EF4-FFF2-40B4-BE49-F238E27FC236}">
                <a16:creationId xmlns:a16="http://schemas.microsoft.com/office/drawing/2014/main" id="{CA5F67B8-AC48-4236-BA90-0C7B11833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552825"/>
            <a:ext cx="609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+0.61</a:t>
            </a:r>
          </a:p>
        </p:txBody>
      </p:sp>
      <p:sp>
        <p:nvSpPr>
          <p:cNvPr id="55" name="cell-4-2">
            <a:extLst xmlns:a="http://schemas.openxmlformats.org/drawingml/2006/main">
              <a:ext uri="{FF2B5EF4-FFF2-40B4-BE49-F238E27FC236}">
                <a16:creationId xmlns:a16="http://schemas.microsoft.com/office/drawing/2014/main" id="{63D03D04-DD24-414A-81E8-E4977D124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543300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94B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6" name="coefficient-4-2">
            <a:extLst xmlns:a="http://schemas.openxmlformats.org/drawingml/2006/main">
              <a:ext uri="{FF2B5EF4-FFF2-40B4-BE49-F238E27FC236}">
                <a16:creationId xmlns:a16="http://schemas.microsoft.com/office/drawing/2014/main" id="{47C09A2A-D8F0-4233-8C26-27CEC1D1F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552825"/>
            <a:ext cx="609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+0.72</a:t>
            </a:r>
          </a:p>
        </p:txBody>
      </p:sp>
      <p:sp>
        <p:nvSpPr>
          <p:cNvPr id="57" name="cell-4-3">
            <a:extLst xmlns:a="http://schemas.openxmlformats.org/drawingml/2006/main">
              <a:ext uri="{FF2B5EF4-FFF2-40B4-BE49-F238E27FC236}">
                <a16:creationId xmlns:a16="http://schemas.microsoft.com/office/drawing/2014/main" id="{0D1AE243-3EF1-4C24-92EF-38D49CF8B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543300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A59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8" name="coefficient-4-3">
            <a:extLst xmlns:a="http://schemas.openxmlformats.org/drawingml/2006/main">
              <a:ext uri="{FF2B5EF4-FFF2-40B4-BE49-F238E27FC236}">
                <a16:creationId xmlns:a16="http://schemas.microsoft.com/office/drawing/2014/main" id="{0D3B6A8D-C5C7-4038-A964-003369EB6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552825"/>
            <a:ext cx="609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-0.58</a:t>
            </a:r>
          </a:p>
        </p:txBody>
      </p:sp>
      <p:sp>
        <p:nvSpPr>
          <p:cNvPr id="59" name="cell-4-4">
            <a:extLst xmlns:a="http://schemas.openxmlformats.org/drawingml/2006/main">
              <a:ext uri="{FF2B5EF4-FFF2-40B4-BE49-F238E27FC236}">
                <a16:creationId xmlns:a16="http://schemas.microsoft.com/office/drawing/2014/main" id="{46D9B587-277B-4696-884B-E5A87296A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543300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0" name="coefficient-4-4">
            <a:extLst xmlns:a="http://schemas.openxmlformats.org/drawingml/2006/main">
              <a:ext uri="{FF2B5EF4-FFF2-40B4-BE49-F238E27FC236}">
                <a16:creationId xmlns:a16="http://schemas.microsoft.com/office/drawing/2014/main" id="{842024B3-9451-4A18-BD3A-730546B6E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552825"/>
            <a:ext cx="609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1.00</a:t>
            </a:r>
          </a:p>
        </p:txBody>
      </p:sp>
      <p:sp>
        <p:nvSpPr>
          <p:cNvPr id="61" name="cell-4-5">
            <a:extLst xmlns:a="http://schemas.openxmlformats.org/drawingml/2006/main">
              <a:ext uri="{FF2B5EF4-FFF2-40B4-BE49-F238E27FC236}">
                <a16:creationId xmlns:a16="http://schemas.microsoft.com/office/drawing/2014/main" id="{68483672-7EB0-4363-93E2-29DF668C6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543300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C8D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2" name="coefficient-4-5">
            <a:extLst xmlns:a="http://schemas.openxmlformats.org/drawingml/2006/main">
              <a:ext uri="{FF2B5EF4-FFF2-40B4-BE49-F238E27FC236}">
                <a16:creationId xmlns:a16="http://schemas.microsoft.com/office/drawing/2014/main" id="{C416FD3A-54F6-414F-BC4D-F28E8BDE0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552825"/>
            <a:ext cx="609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+0.37</a:t>
            </a:r>
          </a:p>
        </p:txBody>
      </p:sp>
      <p:sp>
        <p:nvSpPr>
          <p:cNvPr id="63" name="cell-4-6">
            <a:extLst xmlns:a="http://schemas.openxmlformats.org/drawingml/2006/main">
              <a:ext uri="{FF2B5EF4-FFF2-40B4-BE49-F238E27FC236}">
                <a16:creationId xmlns:a16="http://schemas.microsoft.com/office/drawing/2014/main" id="{698E2B2D-902F-4F45-AA35-352B4DAF3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543300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BAA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4" name="coefficient-4-6">
            <a:extLst xmlns:a="http://schemas.openxmlformats.org/drawingml/2006/main">
              <a:ext uri="{FF2B5EF4-FFF2-40B4-BE49-F238E27FC236}">
                <a16:creationId xmlns:a16="http://schemas.microsoft.com/office/drawing/2014/main" id="{6EE00161-CF30-4568-BAAB-7F3E83D6F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552825"/>
            <a:ext cx="609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-0.44</a:t>
            </a:r>
          </a:p>
        </p:txBody>
      </p:sp>
      <p:sp>
        <p:nvSpPr>
          <p:cNvPr id="65" name="cell-5-1">
            <a:extLst xmlns:a="http://schemas.openxmlformats.org/drawingml/2006/main">
              <a:ext uri="{FF2B5EF4-FFF2-40B4-BE49-F238E27FC236}">
                <a16:creationId xmlns:a16="http://schemas.microsoft.com/office/drawing/2014/main" id="{CA6AF950-6405-45E5-86BF-45D2637AF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191000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CED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6" name="coefficient-5-1">
            <a:extLst xmlns:a="http://schemas.openxmlformats.org/drawingml/2006/main">
              <a:ext uri="{FF2B5EF4-FFF2-40B4-BE49-F238E27FC236}">
                <a16:creationId xmlns:a16="http://schemas.microsoft.com/office/drawing/2014/main" id="{9C93B7DF-F260-4862-AF25-BEBBFD0FD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200525"/>
            <a:ext cx="609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+0.33</a:t>
            </a:r>
          </a:p>
        </p:txBody>
      </p:sp>
      <p:sp>
        <p:nvSpPr>
          <p:cNvPr id="67" name="cell-5-2">
            <a:extLst xmlns:a="http://schemas.openxmlformats.org/drawingml/2006/main">
              <a:ext uri="{FF2B5EF4-FFF2-40B4-BE49-F238E27FC236}">
                <a16:creationId xmlns:a16="http://schemas.microsoft.com/office/drawing/2014/main" id="{B753BC09-33C9-4D67-91DD-5D32580DA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191000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C1D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8" name="coefficient-5-2">
            <a:extLst xmlns:a="http://schemas.openxmlformats.org/drawingml/2006/main">
              <a:ext uri="{FF2B5EF4-FFF2-40B4-BE49-F238E27FC236}">
                <a16:creationId xmlns:a16="http://schemas.microsoft.com/office/drawing/2014/main" id="{2055D117-3CDC-47DB-A5FC-247AC312F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200525"/>
            <a:ext cx="609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+0.42</a:t>
            </a:r>
          </a:p>
        </p:txBody>
      </p:sp>
      <p:sp>
        <p:nvSpPr>
          <p:cNvPr id="69" name="cell-5-3">
            <a:extLst xmlns:a="http://schemas.openxmlformats.org/drawingml/2006/main">
              <a:ext uri="{FF2B5EF4-FFF2-40B4-BE49-F238E27FC236}">
                <a16:creationId xmlns:a16="http://schemas.microsoft.com/office/drawing/2014/main" id="{B2F50243-8F50-4BE6-9476-F5ADEC4EC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191000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ED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0" name="coefficient-5-3">
            <a:extLst xmlns:a="http://schemas.openxmlformats.org/drawingml/2006/main">
              <a:ext uri="{FF2B5EF4-FFF2-40B4-BE49-F238E27FC236}">
                <a16:creationId xmlns:a16="http://schemas.microsoft.com/office/drawing/2014/main" id="{E94F20A5-63A3-4256-BD1C-00BDF47B6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200525"/>
            <a:ext cx="609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-0.21</a:t>
            </a:r>
          </a:p>
        </p:txBody>
      </p:sp>
      <p:sp>
        <p:nvSpPr>
          <p:cNvPr id="71" name="cell-5-4">
            <a:extLst xmlns:a="http://schemas.openxmlformats.org/drawingml/2006/main">
              <a:ext uri="{FF2B5EF4-FFF2-40B4-BE49-F238E27FC236}">
                <a16:creationId xmlns:a16="http://schemas.microsoft.com/office/drawing/2014/main" id="{7F1FBA9B-75D5-4871-8F16-E39A650FE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191000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C8D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2" name="coefficient-5-4">
            <a:extLst xmlns:a="http://schemas.openxmlformats.org/drawingml/2006/main">
              <a:ext uri="{FF2B5EF4-FFF2-40B4-BE49-F238E27FC236}">
                <a16:creationId xmlns:a16="http://schemas.microsoft.com/office/drawing/2014/main" id="{F06AD4C4-F370-4A8B-A3A0-A8B3B5035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200525"/>
            <a:ext cx="609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+0.37</a:t>
            </a:r>
          </a:p>
        </p:txBody>
      </p:sp>
      <p:sp>
        <p:nvSpPr>
          <p:cNvPr id="73" name="cell-5-5">
            <a:extLst xmlns:a="http://schemas.openxmlformats.org/drawingml/2006/main">
              <a:ext uri="{FF2B5EF4-FFF2-40B4-BE49-F238E27FC236}">
                <a16:creationId xmlns:a16="http://schemas.microsoft.com/office/drawing/2014/main" id="{D44AF60C-05F3-4164-B4B7-BFC35BEB3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191000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4" name="coefficient-5-5">
            <a:extLst xmlns:a="http://schemas.openxmlformats.org/drawingml/2006/main">
              <a:ext uri="{FF2B5EF4-FFF2-40B4-BE49-F238E27FC236}">
                <a16:creationId xmlns:a16="http://schemas.microsoft.com/office/drawing/2014/main" id="{58EA5762-AC78-4949-A47F-E03F4139F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200525"/>
            <a:ext cx="609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1.00</a:t>
            </a:r>
          </a:p>
        </p:txBody>
      </p:sp>
      <p:sp>
        <p:nvSpPr>
          <p:cNvPr id="75" name="cell-5-6">
            <a:extLst xmlns:a="http://schemas.openxmlformats.org/drawingml/2006/main">
              <a:ext uri="{FF2B5EF4-FFF2-40B4-BE49-F238E27FC236}">
                <a16:creationId xmlns:a16="http://schemas.microsoft.com/office/drawing/2014/main" id="{727B4576-62DD-4137-8A66-03207BBE7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191000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6F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6" name="coefficient-5-6">
            <a:extLst xmlns:a="http://schemas.openxmlformats.org/drawingml/2006/main">
              <a:ext uri="{FF2B5EF4-FFF2-40B4-BE49-F238E27FC236}">
                <a16:creationId xmlns:a16="http://schemas.microsoft.com/office/drawing/2014/main" id="{2E2EFBB1-3768-407B-A340-0A6367E98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200525"/>
            <a:ext cx="609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-0.06</a:t>
            </a:r>
          </a:p>
        </p:txBody>
      </p:sp>
      <p:sp>
        <p:nvSpPr>
          <p:cNvPr id="77" name="cell-6-1">
            <a:extLst xmlns:a="http://schemas.openxmlformats.org/drawingml/2006/main">
              <a:ext uri="{FF2B5EF4-FFF2-40B4-BE49-F238E27FC236}">
                <a16:creationId xmlns:a16="http://schemas.microsoft.com/office/drawing/2014/main" id="{57B2D065-FC29-4B2D-A28B-5F09412B6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838700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D3C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8" name="coefficient-6-1">
            <a:extLst xmlns:a="http://schemas.openxmlformats.org/drawingml/2006/main">
              <a:ext uri="{FF2B5EF4-FFF2-40B4-BE49-F238E27FC236}">
                <a16:creationId xmlns:a16="http://schemas.microsoft.com/office/drawing/2014/main" id="{D6C9DF33-268F-46C7-A048-CADEF56A6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848225"/>
            <a:ext cx="609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-0.28</a:t>
            </a:r>
          </a:p>
        </p:txBody>
      </p:sp>
      <p:sp>
        <p:nvSpPr>
          <p:cNvPr id="79" name="cell-6-2">
            <a:extLst xmlns:a="http://schemas.openxmlformats.org/drawingml/2006/main">
              <a:ext uri="{FF2B5EF4-FFF2-40B4-BE49-F238E27FC236}">
                <a16:creationId xmlns:a16="http://schemas.microsoft.com/office/drawing/2014/main" id="{71E2CC40-3D2F-40EB-B5A8-A3992BAB8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838700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99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0" name="coefficient-6-2">
            <a:extLst xmlns:a="http://schemas.openxmlformats.org/drawingml/2006/main">
              <a:ext uri="{FF2B5EF4-FFF2-40B4-BE49-F238E27FC236}">
                <a16:creationId xmlns:a16="http://schemas.microsoft.com/office/drawing/2014/main" id="{15B795E6-F45A-4F56-AF6B-71F57A0FE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848225"/>
            <a:ext cx="609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-0.55</a:t>
            </a:r>
          </a:p>
        </p:txBody>
      </p:sp>
      <p:sp>
        <p:nvSpPr>
          <p:cNvPr id="81" name="cell-6-3">
            <a:extLst xmlns:a="http://schemas.openxmlformats.org/drawingml/2006/main">
              <a:ext uri="{FF2B5EF4-FFF2-40B4-BE49-F238E27FC236}">
                <a16:creationId xmlns:a16="http://schemas.microsoft.com/office/drawing/2014/main" id="{C8B5AE25-E441-409A-BE99-EE7E799E9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838700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9B6C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2" name="coefficient-6-3">
            <a:extLst xmlns:a="http://schemas.openxmlformats.org/drawingml/2006/main">
              <a:ext uri="{FF2B5EF4-FFF2-40B4-BE49-F238E27FC236}">
                <a16:creationId xmlns:a16="http://schemas.microsoft.com/office/drawing/2014/main" id="{B5E7A637-B806-4844-8E1A-266B3D859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848225"/>
            <a:ext cx="609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+0.49</a:t>
            </a:r>
          </a:p>
        </p:txBody>
      </p:sp>
      <p:sp>
        <p:nvSpPr>
          <p:cNvPr id="83" name="cell-6-4">
            <a:extLst xmlns:a="http://schemas.openxmlformats.org/drawingml/2006/main">
              <a:ext uri="{FF2B5EF4-FFF2-40B4-BE49-F238E27FC236}">
                <a16:creationId xmlns:a16="http://schemas.microsoft.com/office/drawing/2014/main" id="{4D0CA0AB-0CAB-4829-A274-308C5BFEB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838700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BAA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4" name="coefficient-6-4">
            <a:extLst xmlns:a="http://schemas.openxmlformats.org/drawingml/2006/main">
              <a:ext uri="{FF2B5EF4-FFF2-40B4-BE49-F238E27FC236}">
                <a16:creationId xmlns:a16="http://schemas.microsoft.com/office/drawing/2014/main" id="{0209ECFF-625A-4A4C-BC73-C787D6B22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848225"/>
            <a:ext cx="609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-0.44</a:t>
            </a:r>
          </a:p>
        </p:txBody>
      </p:sp>
      <p:sp>
        <p:nvSpPr>
          <p:cNvPr id="85" name="cell-6-5">
            <a:extLst xmlns:a="http://schemas.openxmlformats.org/drawingml/2006/main">
              <a:ext uri="{FF2B5EF4-FFF2-40B4-BE49-F238E27FC236}">
                <a16:creationId xmlns:a16="http://schemas.microsoft.com/office/drawing/2014/main" id="{C86B2988-585E-4F36-B963-2BCFD5678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838700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6F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6" name="coefficient-6-5">
            <a:extLst xmlns:a="http://schemas.openxmlformats.org/drawingml/2006/main">
              <a:ext uri="{FF2B5EF4-FFF2-40B4-BE49-F238E27FC236}">
                <a16:creationId xmlns:a16="http://schemas.microsoft.com/office/drawing/2014/main" id="{D3FA8C08-147B-4277-A17A-F5510A31A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848225"/>
            <a:ext cx="609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-0.06</a:t>
            </a:r>
          </a:p>
        </p:txBody>
      </p:sp>
      <p:sp>
        <p:nvSpPr>
          <p:cNvPr id="87" name="cell-6-6">
            <a:extLst xmlns:a="http://schemas.openxmlformats.org/drawingml/2006/main">
              <a:ext uri="{FF2B5EF4-FFF2-40B4-BE49-F238E27FC236}">
                <a16:creationId xmlns:a16="http://schemas.microsoft.com/office/drawing/2014/main" id="{B3D1118C-4A85-427E-8997-4CC7FB30F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838700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8" name="coefficient-6-6">
            <a:extLst xmlns:a="http://schemas.openxmlformats.org/drawingml/2006/main">
              <a:ext uri="{FF2B5EF4-FFF2-40B4-BE49-F238E27FC236}">
                <a16:creationId xmlns:a16="http://schemas.microsoft.com/office/drawing/2014/main" id="{EE2919B3-6090-47BF-A094-CD3F9DFB3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848225"/>
            <a:ext cx="609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1.00</a:t>
            </a:r>
          </a:p>
        </p:txBody>
      </p:sp>
      <p:sp>
        <p:nvSpPr>
          <p:cNvPr id="89" name="candidate-rail">
            <a:extLst xmlns:a="http://schemas.openxmlformats.org/drawingml/2006/main">
              <a:ext uri="{FF2B5EF4-FFF2-40B4-BE49-F238E27FC236}">
                <a16:creationId xmlns:a16="http://schemas.microsoft.com/office/drawing/2014/main" id="{A016DDDF-F4C1-4D6A-BAA5-C13AD1694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200150"/>
            <a:ext cx="2819400" cy="428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90" name="candidate-title">
            <a:extLst xmlns:a="http://schemas.openxmlformats.org/drawingml/2006/main">
              <a:ext uri="{FF2B5EF4-FFF2-40B4-BE49-F238E27FC236}">
                <a16:creationId xmlns:a16="http://schemas.microsoft.com/office/drawing/2014/main" id="{28D6BC34-C9B8-4144-9BC2-2DB50CAC7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352550"/>
            <a:ext cx="251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375F"/>
                </a:solidFill>
              </a:defRPr>
            </a:pPr>
            <a:r>
              <a:rPr sz="1800" b="1">
                <a:solidFill>
                  <a:srgbClr val="15375F"/>
                </a:solidFill>
              </a:rPr>
              <a:t>优先核查的变量关系</a:t>
            </a:r>
          </a:p>
        </p:txBody>
      </p:sp>
      <p:sp>
        <p:nvSpPr>
          <p:cNvPr id="91" name="pair-kind-1">
            <a:extLst xmlns:a="http://schemas.openxmlformats.org/drawingml/2006/main">
              <a:ext uri="{FF2B5EF4-FFF2-40B4-BE49-F238E27FC236}">
                <a16:creationId xmlns:a16="http://schemas.microsoft.com/office/drawing/2014/main" id="{3B7C61FB-BAD9-41B6-BAB1-0788A33C2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790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1">
                <a:solidFill>
                  <a:srgbClr val="2F6FB2"/>
                </a:solidFill>
              </a:defRPr>
            </a:pPr>
            <a:r>
              <a:rPr sz="1400" b="1">
                <a:solidFill>
                  <a:srgbClr val="2F6FB2"/>
                </a:solidFill>
              </a:rPr>
              <a:t>最强正相关</a:t>
            </a:r>
          </a:p>
        </p:txBody>
      </p:sp>
      <p:sp>
        <p:nvSpPr>
          <p:cNvPr id="92" name="pair-value-1">
            <a:extLst xmlns:a="http://schemas.openxmlformats.org/drawingml/2006/main">
              <a:ext uri="{FF2B5EF4-FFF2-40B4-BE49-F238E27FC236}">
                <a16:creationId xmlns:a16="http://schemas.microsoft.com/office/drawing/2014/main" id="{88F59CE6-0455-4F5F-9451-FEA3706C9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1771650"/>
            <a:ext cx="933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2F6FB2"/>
                </a:solidFill>
              </a:defRPr>
            </a:pPr>
            <a:r>
              <a:rPr sz="1800" b="1">
                <a:solidFill>
                  <a:srgbClr val="2F6FB2"/>
                </a:solidFill>
              </a:rPr>
              <a:t>+0.84</a:t>
            </a:r>
          </a:p>
        </p:txBody>
      </p:sp>
      <p:sp>
        <p:nvSpPr>
          <p:cNvPr id="93" name="pair-label-1">
            <a:extLst xmlns:a="http://schemas.openxmlformats.org/drawingml/2006/main">
              <a:ext uri="{FF2B5EF4-FFF2-40B4-BE49-F238E27FC236}">
                <a16:creationId xmlns:a16="http://schemas.microsoft.com/office/drawing/2014/main" id="{A6E481D0-A32E-469A-920A-280095154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057400"/>
            <a:ext cx="2514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172033"/>
                </a:solidFill>
              </a:defRPr>
            </a:pPr>
            <a:r>
              <a:rPr sz="1600" b="1">
                <a:solidFill>
                  <a:srgbClr val="172033"/>
                </a:solidFill>
              </a:rPr>
              <a:t>客户触达 × 转化率</a:t>
            </a:r>
          </a:p>
        </p:txBody>
      </p:sp>
      <p:sp>
        <p:nvSpPr>
          <p:cNvPr id="94" name="pair-kind-2">
            <a:extLst xmlns:a="http://schemas.openxmlformats.org/drawingml/2006/main">
              <a:ext uri="{FF2B5EF4-FFF2-40B4-BE49-F238E27FC236}">
                <a16:creationId xmlns:a16="http://schemas.microsoft.com/office/drawing/2014/main" id="{04A02A83-87B5-4098-B560-E1F3F1986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7813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1">
                <a:solidFill>
                  <a:srgbClr val="B84B35"/>
                </a:solidFill>
              </a:defRPr>
            </a:pPr>
            <a:r>
              <a:rPr sz="1400" b="1">
                <a:solidFill>
                  <a:srgbClr val="B84B35"/>
                </a:solidFill>
              </a:rPr>
              <a:t>最强负相关</a:t>
            </a:r>
          </a:p>
        </p:txBody>
      </p:sp>
      <p:sp>
        <p:nvSpPr>
          <p:cNvPr id="95" name="pair-value-2">
            <a:extLst xmlns:a="http://schemas.openxmlformats.org/drawingml/2006/main">
              <a:ext uri="{FF2B5EF4-FFF2-40B4-BE49-F238E27FC236}">
                <a16:creationId xmlns:a16="http://schemas.microsoft.com/office/drawing/2014/main" id="{F6DB2E87-466D-4E42-8283-DE594355D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2762250"/>
            <a:ext cx="933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B84B35"/>
                </a:solidFill>
              </a:defRPr>
            </a:pPr>
            <a:r>
              <a:rPr sz="1800" b="1">
                <a:solidFill>
                  <a:srgbClr val="B84B35"/>
                </a:solidFill>
              </a:rPr>
              <a:t>-0.79</a:t>
            </a:r>
          </a:p>
        </p:txBody>
      </p:sp>
      <p:sp>
        <p:nvSpPr>
          <p:cNvPr id="96" name="pair-label-2">
            <a:extLst xmlns:a="http://schemas.openxmlformats.org/drawingml/2006/main">
              <a:ext uri="{FF2B5EF4-FFF2-40B4-BE49-F238E27FC236}">
                <a16:creationId xmlns:a16="http://schemas.microsoft.com/office/drawing/2014/main" id="{A478C47F-9B44-4A66-A476-AB39B43F9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048000"/>
            <a:ext cx="2514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172033"/>
                </a:solidFill>
              </a:defRPr>
            </a:pPr>
            <a:r>
              <a:rPr sz="1600" b="1">
                <a:solidFill>
                  <a:srgbClr val="172033"/>
                </a:solidFill>
              </a:rPr>
              <a:t>转化率 × 响应时长</a:t>
            </a:r>
          </a:p>
        </p:txBody>
      </p:sp>
      <p:sp>
        <p:nvSpPr>
          <p:cNvPr id="97" name="pair-kind-3">
            <a:extLst xmlns:a="http://schemas.openxmlformats.org/drawingml/2006/main">
              <a:ext uri="{FF2B5EF4-FFF2-40B4-BE49-F238E27FC236}">
                <a16:creationId xmlns:a16="http://schemas.microsoft.com/office/drawing/2014/main" id="{D7A5A7C8-AF50-4203-9462-57C967F23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7719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1">
                <a:solidFill>
                  <a:srgbClr val="697386"/>
                </a:solidFill>
              </a:defRPr>
            </a:pPr>
            <a:r>
              <a:rPr sz="1400" b="1">
                <a:solidFill>
                  <a:srgbClr val="697386"/>
                </a:solidFill>
              </a:rPr>
              <a:t>最弱关系</a:t>
            </a:r>
          </a:p>
        </p:txBody>
      </p:sp>
      <p:sp>
        <p:nvSpPr>
          <p:cNvPr id="98" name="pair-value-3">
            <a:extLst xmlns:a="http://schemas.openxmlformats.org/drawingml/2006/main">
              <a:ext uri="{FF2B5EF4-FFF2-40B4-BE49-F238E27FC236}">
                <a16:creationId xmlns:a16="http://schemas.microsoft.com/office/drawing/2014/main" id="{30507161-0FCC-4107-83E2-DB6DA1DF4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3752850"/>
            <a:ext cx="933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697386"/>
                </a:solidFill>
              </a:defRPr>
            </a:pPr>
            <a:r>
              <a:rPr sz="1800" b="1">
                <a:solidFill>
                  <a:srgbClr val="697386"/>
                </a:solidFill>
              </a:rPr>
              <a:t>-0.06</a:t>
            </a:r>
          </a:p>
        </p:txBody>
      </p:sp>
      <p:sp>
        <p:nvSpPr>
          <p:cNvPr id="99" name="pair-label-3">
            <a:extLst xmlns:a="http://schemas.openxmlformats.org/drawingml/2006/main">
              <a:ext uri="{FF2B5EF4-FFF2-40B4-BE49-F238E27FC236}">
                <a16:creationId xmlns:a16="http://schemas.microsoft.com/office/drawing/2014/main" id="{18F337F7-5BF6-4541-AB4A-416BEAE3D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038600"/>
            <a:ext cx="2514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客单价 × 退款率</a:t>
            </a:r>
          </a:p>
        </p:txBody>
      </p:sp>
      <p:sp>
        <p:nvSpPr>
          <p:cNvPr id="100" name="threshold-note">
            <a:extLst xmlns:a="http://schemas.openxmlformats.org/drawingml/2006/main">
              <a:ext uri="{FF2B5EF4-FFF2-40B4-BE49-F238E27FC236}">
                <a16:creationId xmlns:a16="http://schemas.microsoft.com/office/drawing/2014/main" id="{D80B9A7D-AB65-4BC9-A768-5D11F819E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010150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97386"/>
                </a:solidFill>
              </a:defRPr>
            </a:pPr>
            <a:r>
              <a:rPr sz="1200" b="0">
                <a:solidFill>
                  <a:srgbClr val="697386"/>
                </a:solidFill>
              </a:rPr>
              <a:t>重点阈值：|r| ≥ 0.50；弱关系按 |r| 最小识别</a:t>
            </a:r>
          </a:p>
        </p:txBody>
      </p:sp>
      <p:sp>
        <p:nvSpPr>
          <p:cNvPr id="101" name="correlation-conclusion">
            <a:extLst xmlns:a="http://schemas.openxmlformats.org/drawingml/2006/main">
              <a:ext uri="{FF2B5EF4-FFF2-40B4-BE49-F238E27FC236}">
                <a16:creationId xmlns:a16="http://schemas.microsoft.com/office/drawing/2014/main" id="{7F8C99B3-04DA-44B3-BBD0-5E9ECEE1B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95950"/>
            <a:ext cx="11163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1">
                <a:solidFill>
                  <a:srgbClr val="15375F"/>
                </a:solidFill>
              </a:defRPr>
            </a:pPr>
            <a:r>
              <a:rPr sz="1400" b="1">
                <a:solidFill>
                  <a:srgbClr val="15375F"/>
                </a:solidFill>
              </a:rPr>
              <a:t>优先复核客户触达、响应时长与转化率的共同驱动因素</a:t>
            </a:r>
          </a:p>
        </p:txBody>
      </p:sp>
      <p:sp>
        <p:nvSpPr>
          <p:cNvPr id="102" name="method-note">
            <a:extLst xmlns:a="http://schemas.openxmlformats.org/drawingml/2006/main">
              <a:ext uri="{FF2B5EF4-FFF2-40B4-BE49-F238E27FC236}">
                <a16:creationId xmlns:a16="http://schemas.microsoft.com/office/drawing/2014/main" id="{8F279708-3E56-4A3D-84E0-2EE05AFF9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0"/>
            <a:ext cx="11163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97386"/>
                </a:solidFill>
              </a:defRPr>
            </a:pPr>
            <a:r>
              <a:rPr sz="1200" b="0">
                <a:solidFill>
                  <a:srgbClr val="697386"/>
                </a:solidFill>
              </a:rPr>
              <a:t>2024年1月至2025年12月；匿名零售业务月度总体；n=24；缺失值：成对删除</a:t>
            </a:r>
          </a:p>
        </p:txBody>
      </p:sp>
      <p:sp>
        <p:nvSpPr>
          <p:cNvPr id="103" name="source-note">
            <a:extLst xmlns:a="http://schemas.openxmlformats.org/drawingml/2006/main">
              <a:ext uri="{FF2B5EF4-FFF2-40B4-BE49-F238E27FC236}">
                <a16:creationId xmlns:a16="http://schemas.microsoft.com/office/drawing/2014/main" id="{AFB3D718-CDD3-4B0A-80B2-CB035C475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0"/>
            <a:ext cx="11163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97386"/>
                </a:solidFill>
              </a:defRPr>
            </a:pPr>
            <a:r>
              <a:rPr sz="1200" b="0">
                <a:solidFill>
                  <a:srgbClr val="697386"/>
                </a:solidFill>
              </a:rPr>
              <a:t>内部匿名合成数据；相关不代表因果</a:t>
            </a:r>
          </a:p>
        </p:txBody>
      </p:sp>
      <p:sp>
        <p:nvSpPr>
          <p:cNvPr id="104" name="synthetic-disclosure">
            <a:extLst xmlns:a="http://schemas.openxmlformats.org/drawingml/2006/main">
              <a:ext uri="{FF2B5EF4-FFF2-40B4-BE49-F238E27FC236}">
                <a16:creationId xmlns:a16="http://schemas.microsoft.com/office/drawing/2014/main" id="{F0A7A497-5D32-4FB6-9203-B5BFB79E5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0"/>
            <a:ext cx="11163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8872D"/>
                </a:solidFill>
              </a:defRPr>
            </a:pPr>
            <a:r>
              <a:rPr sz="1200" b="1">
                <a:solidFill>
                  <a:srgbClr val="E8872D"/>
                </a:solidFill>
              </a:rPr>
              <a:t>合成示例数据，非真实客户数据</a:t>
            </a:r>
          </a:p>
        </p:txBody>
      </p:sp>
    </p:spTree>
    <p:extLst>
      <p:ext uri="{BB962C8B-B14F-4D97-AF65-F5344CB8AC3E}">
        <p14:creationId xmlns:p14="http://schemas.microsoft.com/office/powerpoint/2010/main" val="1845090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2026-08-08T18:56:42.8350000Z</dcterms:created>
  <dcterms:modified xsi:type="dcterms:W3CDTF">2026-08-08T18:56:42.8350000Z</dcterms:modified>
</coreProperties>
</file>