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f7b2bae0b447a2" /><Relationship Type="http://schemas.openxmlformats.org/officeDocument/2006/relationships/extended-properties" Target="/docProps/app.xml" Id="R7395784da0b64fcb" /><Relationship Type="http://schemas.openxmlformats.org/officeDocument/2006/relationships/officeDocument" Target="/ppt/presentation.xml" Id="R415b442eec3541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704500c76433b"/>
  </p:sldMasterIdLst>
  <p:notesMasterIdLst>
    <p:notesMasterId xmlns:r="http://schemas.openxmlformats.org/officeDocument/2006/relationships" r:id="R172324d8971d4a58"/>
  </p:notesMasterIdLst>
  <p:sldIdLst>
    <p:sldId xmlns:r="http://schemas.openxmlformats.org/officeDocument/2006/relationships" id="256" r:id="Ra3b7dfc707f843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f9648ad8a346fa" /><Relationship Type="http://schemas.openxmlformats.org/officeDocument/2006/relationships/slideMaster" Target="/ppt/slideMasters/slideMaster1.xml" Id="R089704500c76433b" /><Relationship Type="http://schemas.openxmlformats.org/officeDocument/2006/relationships/notesMaster" Target="/ppt/notesMasters/notesMaster1.xml" Id="R172324d8971d4a58" /><Relationship Type="http://schemas.openxmlformats.org/officeDocument/2006/relationships/presProps" Target="/ppt/presProps.xml" Id="Rbb11dfb303ff4300" /><Relationship Type="http://schemas.openxmlformats.org/officeDocument/2006/relationships/tableStyles" Target="/ppt/tableStyles.xml" Id="R97365aa697484410" /><Relationship Type="http://schemas.openxmlformats.org/officeDocument/2006/relationships/slide" Target="/ppt/slides/slide1.xml" Id="Ra3b7dfc707f8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810ba2c0e3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7a505b8bcc4648" /><Relationship Type="http://schemas.openxmlformats.org/officeDocument/2006/relationships/notesMaster" Target="/ppt/notesMasters/notesMaster1.xml" Id="R221313d2e45145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17f1c1a00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9e8bbb6d754862" /><Relationship Type="http://schemas.openxmlformats.org/officeDocument/2006/relationships/slideLayout" Target="/ppt/slideLayouts/slideLayout1.xml" Id="Rb0387a7d0e544b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87a7d0e544b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d9da931b3461d" /><Relationship Type="http://schemas.openxmlformats.org/officeDocument/2006/relationships/notesSlide" Target="/ppt/notesSlides/notesSlide1.xml" Id="R551cccb056804e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title">
            <a:extLst xmlns:a="http://schemas.openxmlformats.org/drawingml/2006/main">
              <a:ext uri="{FF2B5EF4-FFF2-40B4-BE49-F238E27FC236}">
                <a16:creationId xmlns:a16="http://schemas.microsoft.com/office/drawing/2014/main" id="{158602C9-19ED-44E5-B39A-669B44B2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总体市场 50 亿中，可实际触达 12 亿，三年可获取 6 亿</a:t>
            </a:r>
          </a:p>
        </p:txBody>
      </p:sp>
      <p:sp>
        <p:nvSpPr>
          <p:cNvPr id="2" name="funnel-frame">
            <a:extLst xmlns:a="http://schemas.openxmlformats.org/drawingml/2006/main">
              <a:ext uri="{FF2B5EF4-FFF2-40B4-BE49-F238E27FC236}">
                <a16:creationId xmlns:a16="http://schemas.microsoft.com/office/drawing/2014/main" id="{6ACE65AC-BCF9-44F7-AB48-21840BEB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52197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calc-frame">
            <a:extLst xmlns:a="http://schemas.openxmlformats.org/drawingml/2006/main">
              <a:ext uri="{FF2B5EF4-FFF2-40B4-BE49-F238E27FC236}">
                <a16:creationId xmlns:a16="http://schemas.microsoft.com/office/drawing/2014/main" id="{9F9D72D5-7F78-4FE3-BD80-625FC3B0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57300"/>
            <a:ext cx="56388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" name="funnel-1">
            <a:extLst xmlns:a="http://schemas.openxmlformats.org/drawingml/2006/main">
              <a:ext uri="{FF2B5EF4-FFF2-40B4-BE49-F238E27FC236}">
                <a16:creationId xmlns:a16="http://schemas.microsoft.com/office/drawing/2014/main" id="{6A184067-8627-4397-A25E-11B5C0BE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TAM｜总体市场  50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占上一层 100%｜剔除非目标行业</a:t>
            </a:r>
          </a:p>
        </p:txBody>
      </p:sp>
      <p:sp>
        <p:nvSpPr>
          <p:cNvPr id="5" name="funnel-arrow-1">
            <a:extLst xmlns:a="http://schemas.openxmlformats.org/drawingml/2006/main">
              <a:ext uri="{FF2B5EF4-FFF2-40B4-BE49-F238E27FC236}">
                <a16:creationId xmlns:a16="http://schemas.microsoft.com/office/drawing/2014/main" id="{851FA4D7-67C7-4DDA-A353-44AF6A9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6" name="funnel-2">
            <a:extLst xmlns:a="http://schemas.openxmlformats.org/drawingml/2006/main">
              <a:ext uri="{FF2B5EF4-FFF2-40B4-BE49-F238E27FC236}">
                <a16:creationId xmlns:a16="http://schemas.microsoft.com/office/drawing/2014/main" id="{978ECC91-EDFC-4EB7-B127-C224061D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66975"/>
            <a:ext cx="308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SAM｜可服务市场  24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占上一层 48%｜剔除不适配产品场景</a:t>
            </a:r>
          </a:p>
        </p:txBody>
      </p:sp>
      <p:sp>
        <p:nvSpPr>
          <p:cNvPr id="7" name="funnel-arrow-2">
            <a:extLst xmlns:a="http://schemas.openxmlformats.org/drawingml/2006/main">
              <a:ext uri="{FF2B5EF4-FFF2-40B4-BE49-F238E27FC236}">
                <a16:creationId xmlns:a16="http://schemas.microsoft.com/office/drawing/2014/main" id="{9E457A5E-FEDF-4290-AFA5-76958C43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48025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8" name="funnel-3">
            <a:extLst xmlns:a="http://schemas.openxmlformats.org/drawingml/2006/main">
              <a:ext uri="{FF2B5EF4-FFF2-40B4-BE49-F238E27FC236}">
                <a16:creationId xmlns:a16="http://schemas.microsoft.com/office/drawing/2014/main" id="{3F92A7F2-1D55-474A-8059-C269408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48050"/>
            <a:ext cx="2400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397B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SOM｜可获取市场  12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占上一层 50%｜受渠道与交付能力约束</a:t>
            </a:r>
          </a:p>
        </p:txBody>
      </p:sp>
      <p:sp>
        <p:nvSpPr>
          <p:cNvPr id="9" name="funnel-arrow-3">
            <a:extLst xmlns:a="http://schemas.openxmlformats.org/drawingml/2006/main">
              <a:ext uri="{FF2B5EF4-FFF2-40B4-BE49-F238E27FC236}">
                <a16:creationId xmlns:a16="http://schemas.microsoft.com/office/drawing/2014/main" id="{FC07566D-F000-46AE-9922-952C4373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2910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0" name="funnel-4">
            <a:extLst xmlns:a="http://schemas.openxmlformats.org/drawingml/2006/main">
              <a:ext uri="{FF2B5EF4-FFF2-40B4-BE49-F238E27FC236}">
                <a16:creationId xmlns:a16="http://schemas.microsoft.com/office/drawing/2014/main" id="{829976D9-6D07-4733-8D85-FF8342B7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29125"/>
            <a:ext cx="2057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三年目标  6</a:t>
            </a:r>
          </a:p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占上一层 50%｜按现实渗透速度收敛</a:t>
            </a:r>
          </a:p>
        </p:txBody>
      </p:sp>
      <p:sp>
        <p:nvSpPr>
          <p:cNvPr id="11" name="calc-title">
            <a:extLst xmlns:a="http://schemas.openxmlformats.org/drawingml/2006/main">
              <a:ext uri="{FF2B5EF4-FFF2-40B4-BE49-F238E27FC236}">
                <a16:creationId xmlns:a16="http://schemas.microsoft.com/office/drawing/2014/main" id="{7B326D1E-690A-4F41-8BD8-57FFB63F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测算逻辑</a:t>
            </a:r>
          </a:p>
        </p:txBody>
      </p:sp>
      <p:sp>
        <p:nvSpPr>
          <p:cNvPr id="12" name="factor-1">
            <a:extLst xmlns:a="http://schemas.openxmlformats.org/drawingml/2006/main">
              <a:ext uri="{FF2B5EF4-FFF2-40B4-BE49-F238E27FC236}">
                <a16:creationId xmlns:a16="http://schemas.microsoft.com/office/drawing/2014/main" id="{E86222D9-5C04-46AE-9A29-F9150FFF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171575" cy="13525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目标客户数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2,000 家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敏感度 中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来源：行业名录</a:t>
            </a:r>
          </a:p>
        </p:txBody>
      </p:sp>
      <p:sp>
        <p:nvSpPr>
          <p:cNvPr id="13" name="factor-2">
            <a:extLst xmlns:a="http://schemas.openxmlformats.org/drawingml/2006/main">
              <a:ext uri="{FF2B5EF4-FFF2-40B4-BE49-F238E27FC236}">
                <a16:creationId xmlns:a16="http://schemas.microsoft.com/office/drawing/2014/main" id="{DCDD61ED-054E-4904-A690-B9C70839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981200"/>
            <a:ext cx="1171575" cy="13525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渗透率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15%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敏感度 高</a:t>
            </a:r>
          </a:p>
          <a:p xmlns:a="http://schemas.openxmlformats.org/drawingml/2006/main"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来源：试点转化</a:t>
            </a:r>
          </a:p>
        </p:txBody>
      </p:sp>
      <p:sp>
        <p:nvSpPr>
          <p:cNvPr id="14" name="factor-mul-1">
            <a:extLst xmlns:a="http://schemas.openxmlformats.org/drawingml/2006/main">
              <a:ext uri="{FF2B5EF4-FFF2-40B4-BE49-F238E27FC236}">
                <a16:creationId xmlns:a16="http://schemas.microsoft.com/office/drawing/2014/main" id="{A59D5A14-D7AC-4EA6-9441-F0F0F520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38425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5" name="factor-3">
            <a:extLst xmlns:a="http://schemas.openxmlformats.org/drawingml/2006/main">
              <a:ext uri="{FF2B5EF4-FFF2-40B4-BE49-F238E27FC236}">
                <a16:creationId xmlns:a16="http://schemas.microsoft.com/office/drawing/2014/main" id="{5150E0E8-F970-4762-9457-AA553FFD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81200"/>
            <a:ext cx="1171575" cy="13525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年客单价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160 万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敏感度 高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来源：合同样本</a:t>
            </a:r>
          </a:p>
        </p:txBody>
      </p:sp>
      <p:sp>
        <p:nvSpPr>
          <p:cNvPr id="16" name="factor-mul-2">
            <a:extLst xmlns:a="http://schemas.openxmlformats.org/drawingml/2006/main">
              <a:ext uri="{FF2B5EF4-FFF2-40B4-BE49-F238E27FC236}">
                <a16:creationId xmlns:a16="http://schemas.microsoft.com/office/drawing/2014/main" id="{CE6C4D86-1A13-4C54-B39C-81B55172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638425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7" name="factor-4">
            <a:extLst xmlns:a="http://schemas.openxmlformats.org/drawingml/2006/main">
              <a:ext uri="{FF2B5EF4-FFF2-40B4-BE49-F238E27FC236}">
                <a16:creationId xmlns:a16="http://schemas.microsoft.com/office/drawing/2014/main" id="{11184A23-961A-42A4-8377-220A944F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981200"/>
            <a:ext cx="1171575" cy="13525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复购率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80%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敏感度 中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来源：续约数据</a:t>
            </a:r>
          </a:p>
        </p:txBody>
      </p:sp>
      <p:sp>
        <p:nvSpPr>
          <p:cNvPr id="18" name="factor-mul-3">
            <a:extLst xmlns:a="http://schemas.openxmlformats.org/drawingml/2006/main">
              <a:ext uri="{FF2B5EF4-FFF2-40B4-BE49-F238E27FC236}">
                <a16:creationId xmlns:a16="http://schemas.microsoft.com/office/drawing/2014/main" id="{760BC6C2-7867-489D-BFA3-2A586EAB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38425"/>
            <a:ext cx="85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9" name="milestone">
            <a:extLst xmlns:a="http://schemas.openxmlformats.org/drawingml/2006/main">
              <a:ext uri="{FF2B5EF4-FFF2-40B4-BE49-F238E27FC236}">
                <a16:creationId xmlns:a16="http://schemas.microsoft.com/office/drawing/2014/main" id="{6363C4DA-A92F-48C2-9142-D49D4700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495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1FA"/>
          </a:solidFill>
          <a:ln xmlns:a="http://schemas.openxmlformats.org/drawingml/2006/main" w="14288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第 1/2/3 年收入目标：1.2 / 3.2 / 6.0 亿元</a:t>
            </a:r>
          </a:p>
        </p:txBody>
      </p:sp>
      <p:sp>
        <p:nvSpPr>
          <p:cNvPr id="20" name="assumption-1">
            <a:extLst xmlns:a="http://schemas.openxmlformats.org/drawingml/2006/main">
              <a:ext uri="{FF2B5EF4-FFF2-40B4-BE49-F238E27FC236}">
                <a16:creationId xmlns:a16="http://schemas.microsoft.com/office/drawing/2014/main" id="{A7CB3D99-BA58-4DFB-BB62-CEEF90EA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91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• 客户名录每半年更新一次</a:t>
            </a:r>
          </a:p>
        </p:txBody>
      </p:sp>
      <p:sp>
        <p:nvSpPr>
          <p:cNvPr id="21" name="assumption-2">
            <a:extLst xmlns:a="http://schemas.openxmlformats.org/drawingml/2006/main">
              <a:ext uri="{FF2B5EF4-FFF2-40B4-BE49-F238E27FC236}">
                <a16:creationId xmlns:a16="http://schemas.microsoft.com/office/drawing/2014/main" id="{ED952F0A-90CB-499C-A950-20310B77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• 渗透率以已签约客户为准</a:t>
            </a:r>
          </a:p>
        </p:txBody>
      </p:sp>
      <p:sp>
        <p:nvSpPr>
          <p:cNvPr id="22" name="assumption-3">
            <a:extLst xmlns:a="http://schemas.openxmlformats.org/drawingml/2006/main">
              <a:ext uri="{FF2B5EF4-FFF2-40B4-BE49-F238E27FC236}">
                <a16:creationId xmlns:a16="http://schemas.microsoft.com/office/drawing/2014/main" id="{D0C35EB8-536A-49D6-AB01-CE54600C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62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• 测算日期：2026 年 8 月</a:t>
            </a:r>
          </a:p>
        </p:txBody>
      </p:sp>
      <p:sp>
        <p:nvSpPr>
          <p:cNvPr id="23" name="bottom">
            <a:extLst xmlns:a="http://schemas.openxmlformats.org/drawingml/2006/main">
              <a:ext uri="{FF2B5EF4-FFF2-40B4-BE49-F238E27FC236}">
                <a16:creationId xmlns:a16="http://schemas.microsoft.com/office/drawing/2014/main" id="{A471FFA1-4B72-4A77-BD72-748C648B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优先验证渗透率和客单价，两项决定 78% 的结果波动</a:t>
            </a:r>
          </a:p>
        </p:txBody>
      </p:sp>
    </p:spTree>
    <p:extLst>
      <p:ext uri="{BB962C8B-B14F-4D97-AF65-F5344CB8AC3E}">
        <p14:creationId xmlns:p14="http://schemas.microsoft.com/office/powerpoint/2010/main" val="1242090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2026-07-31T20:17:06.4530000Z</dcterms:created>
  <dcterms:modified xsi:type="dcterms:W3CDTF">2026-07-31T20:17:06.4530000Z</dcterms:modified>
</coreProperties>
</file>