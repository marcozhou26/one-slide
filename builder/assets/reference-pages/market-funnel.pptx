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0f7b2bae0b447a2" /><Relationship Type="http://schemas.openxmlformats.org/officeDocument/2006/relationships/extended-properties" Target="/docProps/app.xml" Id="R7395784da0b64fcb" /><Relationship Type="http://schemas.openxmlformats.org/officeDocument/2006/relationships/officeDocument" Target="/ppt/presentation.xml" Id="R415b442eec35418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89704500c76433b"/>
  </p:sldMasterIdLst>
  <p:notesMasterIdLst>
    <p:notesMasterId xmlns:r="http://schemas.openxmlformats.org/officeDocument/2006/relationships" r:id="R172324d8971d4a58"/>
  </p:notesMasterIdLst>
  <p:sldIdLst>
    <p:sldId xmlns:r="http://schemas.openxmlformats.org/officeDocument/2006/relationships" id="256" r:id="Ra3b7dfc707f843e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9f9648ad8a346fa" /><Relationship Type="http://schemas.openxmlformats.org/officeDocument/2006/relationships/slideMaster" Target="/ppt/slideMasters/slideMaster1.xml" Id="R089704500c76433b" /><Relationship Type="http://schemas.openxmlformats.org/officeDocument/2006/relationships/notesMaster" Target="/ppt/notesMasters/notesMaster1.xml" Id="R172324d8971d4a58" /><Relationship Type="http://schemas.openxmlformats.org/officeDocument/2006/relationships/presProps" Target="/ppt/presProps.xml" Id="Rbb11dfb303ff4300" /><Relationship Type="http://schemas.openxmlformats.org/officeDocument/2006/relationships/tableStyles" Target="/ppt/tableStyles.xml" Id="R97365aa697484410" /><Relationship Type="http://schemas.openxmlformats.org/officeDocument/2006/relationships/slide" Target="/ppt/slides/slide1.xml" Id="Ra3b7dfc707f843e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8810ba2c0e3405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b7a505b8bcc4648" /><Relationship Type="http://schemas.openxmlformats.org/officeDocument/2006/relationships/notesMaster" Target="/ppt/notesMasters/notesMaster1.xml" Id="R221313d2e45145b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1f17f1c1a0049f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b9e8bbb6d754862" /><Relationship Type="http://schemas.openxmlformats.org/officeDocument/2006/relationships/slideLayout" Target="/ppt/slideLayouts/slideLayout1.xml" Id="Rb0387a7d0e544b2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0387a7d0e544b2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5d9da931b3461d" /><Relationship Type="http://schemas.openxmlformats.org/officeDocument/2006/relationships/notesSlide" Target="/ppt/notesSlides/notesSlide1.xml" Id="R551cccb056804eb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page-title">
            <a:extLst xmlns:a="http://schemas.openxmlformats.org/drawingml/2006/main">
              <a:ext uri="{FF2B5EF4-FFF2-40B4-BE49-F238E27FC236}">
                <a16:creationId xmlns:a16="http://schemas.microsoft.com/office/drawing/2014/main" id="{158602C9-19ED-44E5-B39A-669B44B21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11163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375F"/>
                </a:solidFill>
              </a:defRPr>
            </a:pPr>
            <a:r>
              <a:rPr sz="2550" b="1">
                <a:solidFill>
                  <a:srgbClr val="15375F"/>
                </a:solidFill>
              </a:rPr>
              <a:t>overall market 50 100 million, can be actually reached 12 billion, available in three years 6 billion</a:t>
            </a:r>
          </a:p>
        </p:txBody>
      </p:sp>
      <p:sp>
        <p:nvSpPr>
          <p:cNvPr id="2" name="funnel-frame">
            <a:extLst xmlns:a="http://schemas.openxmlformats.org/drawingml/2006/main">
              <a:ext uri="{FF2B5EF4-FFF2-40B4-BE49-F238E27FC236}">
                <a16:creationId xmlns:a16="http://schemas.microsoft.com/office/drawing/2014/main" id="{6ACE65AC-BCF9-44F7-AB48-21840BEB8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57300"/>
            <a:ext cx="5219700" cy="4324350"/>
          </a:xfrm>
          <a:prstGeom xmlns:a="http://schemas.openxmlformats.org/drawingml/2006/main" prst="roundRect">
            <a:avLst>
              <a:gd name="adj" fmla="val 1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7DEE8"/>
            </a:solidFill>
            <a:prstDash val="solid"/>
          </a:ln>
        </p:spPr>
      </p:sp>
      <p:sp>
        <p:nvSpPr>
          <p:cNvPr id="3" name="calc-frame">
            <a:extLst xmlns:a="http://schemas.openxmlformats.org/drawingml/2006/main">
              <a:ext uri="{FF2B5EF4-FFF2-40B4-BE49-F238E27FC236}">
                <a16:creationId xmlns:a16="http://schemas.microsoft.com/office/drawing/2014/main" id="{9F9D72D5-7F78-4FE3-BD80-625FC3B0C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257300"/>
            <a:ext cx="5638800" cy="4324350"/>
          </a:xfrm>
          <a:prstGeom xmlns:a="http://schemas.openxmlformats.org/drawingml/2006/main" prst="roundRect">
            <a:avLst>
              <a:gd name="adj" fmla="val 1762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10478">
            <a:solidFill>
              <a:srgbClr val="D7DEE8"/>
            </a:solidFill>
            <a:prstDash val="solid"/>
          </a:ln>
        </p:spPr>
      </p:sp>
      <p:sp>
        <p:nvSpPr>
          <p:cNvPr id="4" name="funnel-1">
            <a:extLst xmlns:a="http://schemas.openxmlformats.org/drawingml/2006/main">
              <a:ext uri="{FF2B5EF4-FFF2-40B4-BE49-F238E27FC236}">
                <a16:creationId xmlns:a16="http://schemas.microsoft.com/office/drawing/2014/main" id="{6A184067-8627-4397-A25E-11B5C0BE1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485900"/>
            <a:ext cx="45720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15375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TAM｜overall market  50</a:t>
            </a:r>
          </a:p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Take up one floor 100%｜Eliminate non-target industries</a:t>
            </a:r>
          </a:p>
        </p:txBody>
      </p:sp>
      <p:sp>
        <p:nvSpPr>
          <p:cNvPr id="5" name="funnel-arrow-1">
            <a:extLst xmlns:a="http://schemas.openxmlformats.org/drawingml/2006/main">
              <a:ext uri="{FF2B5EF4-FFF2-40B4-BE49-F238E27FC236}">
                <a16:creationId xmlns:a16="http://schemas.microsoft.com/office/drawing/2014/main" id="{851FA4D7-67C7-4DDA-A353-44AF6A9CB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266950"/>
            <a:ext cx="0" cy="200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872D"/>
            </a:solidFill>
            <a:prstDash val="solid"/>
          </a:ln>
        </p:spPr>
      </p:sp>
      <p:sp>
        <p:nvSpPr>
          <p:cNvPr id="6" name="funnel-2">
            <a:extLst xmlns:a="http://schemas.openxmlformats.org/drawingml/2006/main">
              <a:ext uri="{FF2B5EF4-FFF2-40B4-BE49-F238E27FC236}">
                <a16:creationId xmlns:a16="http://schemas.microsoft.com/office/drawing/2014/main" id="{978ECC91-EDFC-4EB7-B127-C224061DB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466975"/>
            <a:ext cx="30861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2F6FB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SAM｜Serviceable market  24</a:t>
            </a:r>
          </a:p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Take up one floor 48%｜Eliminate unsuitable product scenarios</a:t>
            </a:r>
          </a:p>
        </p:txBody>
      </p:sp>
      <p:sp>
        <p:nvSpPr>
          <p:cNvPr id="7" name="funnel-arrow-2">
            <a:extLst xmlns:a="http://schemas.openxmlformats.org/drawingml/2006/main">
              <a:ext uri="{FF2B5EF4-FFF2-40B4-BE49-F238E27FC236}">
                <a16:creationId xmlns:a16="http://schemas.microsoft.com/office/drawing/2014/main" id="{9E457A5E-FEDF-4290-AFA5-76958C436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248025"/>
            <a:ext cx="0" cy="200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872D"/>
            </a:solidFill>
            <a:prstDash val="solid"/>
          </a:ln>
        </p:spPr>
      </p:sp>
      <p:sp>
        <p:nvSpPr>
          <p:cNvPr id="8" name="funnel-3">
            <a:extLst xmlns:a="http://schemas.openxmlformats.org/drawingml/2006/main">
              <a:ext uri="{FF2B5EF4-FFF2-40B4-BE49-F238E27FC236}">
                <a16:creationId xmlns:a16="http://schemas.microsoft.com/office/drawing/2014/main" id="{3F92A7F2-1D55-474A-8059-C269408E0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3448050"/>
            <a:ext cx="24003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7397B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SOM｜market available  12</a:t>
            </a:r>
          </a:p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Take up one floor 50%｜Constrained by channels and delivery capabilities</a:t>
            </a:r>
          </a:p>
        </p:txBody>
      </p:sp>
      <p:sp>
        <p:nvSpPr>
          <p:cNvPr id="9" name="funnel-arrow-3">
            <a:extLst xmlns:a="http://schemas.openxmlformats.org/drawingml/2006/main">
              <a:ext uri="{FF2B5EF4-FFF2-40B4-BE49-F238E27FC236}">
                <a16:creationId xmlns:a16="http://schemas.microsoft.com/office/drawing/2014/main" id="{FC07566D-F000-46AE-9922-952C4373D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229100"/>
            <a:ext cx="0" cy="200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872D"/>
            </a:solidFill>
            <a:prstDash val="solid"/>
          </a:ln>
        </p:spPr>
      </p:sp>
      <p:sp>
        <p:nvSpPr>
          <p:cNvPr id="10" name="funnel-4">
            <a:extLst xmlns:a="http://schemas.openxmlformats.org/drawingml/2006/main">
              <a:ext uri="{FF2B5EF4-FFF2-40B4-BE49-F238E27FC236}">
                <a16:creationId xmlns:a16="http://schemas.microsoft.com/office/drawing/2014/main" id="{829976D9-6D07-4733-8D85-FF8342B7A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429125"/>
            <a:ext cx="20574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E8872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Three-year goals  6</a:t>
            </a:r>
          </a:p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Take up one floor 50%｜Convergence according to realistic penetration speed</a:t>
            </a:r>
          </a:p>
        </p:txBody>
      </p:sp>
      <p:sp>
        <p:nvSpPr>
          <p:cNvPr id="11" name="calc-title">
            <a:extLst xmlns:a="http://schemas.openxmlformats.org/drawingml/2006/main">
              <a:ext uri="{FF2B5EF4-FFF2-40B4-BE49-F238E27FC236}">
                <a16:creationId xmlns:a16="http://schemas.microsoft.com/office/drawing/2014/main" id="{7B326D1E-690A-4F41-8BD8-57FFB63FF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428750"/>
            <a:ext cx="521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Calculation logic</a:t>
            </a:r>
          </a:p>
        </p:txBody>
      </p:sp>
      <p:sp>
        <p:nvSpPr>
          <p:cNvPr id="12" name="factor-1">
            <a:extLst xmlns:a="http://schemas.openxmlformats.org/drawingml/2006/main">
              <a:ext uri="{FF2B5EF4-FFF2-40B4-BE49-F238E27FC236}">
                <a16:creationId xmlns:a16="http://schemas.microsoft.com/office/drawing/2014/main" id="{E86222D9-5C04-46AE-9A29-F9150FFF2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981200"/>
            <a:ext cx="1171575" cy="1352550"/>
          </a:xfrm>
          <a:prstGeom xmlns:a="http://schemas.openxmlformats.org/drawingml/2006/main" prst="roundRect">
            <a:avLst>
              <a:gd name="adj" fmla="val 65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Number of target customers</a:t>
            </a:r>
          </a:p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2,000 home</a:t>
            </a:r>
          </a:p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sensitivity in</a:t>
            </a:r>
          </a:p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Source: Industry Directory</a:t>
            </a:r>
          </a:p>
        </p:txBody>
      </p:sp>
      <p:sp>
        <p:nvSpPr>
          <p:cNvPr id="13" name="factor-2">
            <a:extLst xmlns:a="http://schemas.openxmlformats.org/drawingml/2006/main">
              <a:ext uri="{FF2B5EF4-FFF2-40B4-BE49-F238E27FC236}">
                <a16:creationId xmlns:a16="http://schemas.microsoft.com/office/drawing/2014/main" id="{DCDD61ED-054E-4904-A690-B9C708393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6175" y="1981200"/>
            <a:ext cx="1171575" cy="1352550"/>
          </a:xfrm>
          <a:prstGeom xmlns:a="http://schemas.openxmlformats.org/drawingml/2006/main" prst="roundRect">
            <a:avLst>
              <a:gd name="adj" fmla="val 65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Penetration</a:t>
            </a:r>
          </a:p>
          <a:p xmlns:a="http://schemas.openxmlformats.org/drawingml/2006/main">
            <a:pPr algn="ctr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15%</a:t>
            </a:r>
          </a:p>
          <a:p xmlns:a="http://schemas.openxmlformats.org/drawingml/2006/main">
            <a:pPr algn="ctr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sensitivity high</a:t>
            </a:r>
          </a:p>
          <a:p xmlns:a="http://schemas.openxmlformats.org/drawingml/2006/main">
            <a:pPr algn="ctr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Source: Pilot Transformation</a:t>
            </a:r>
          </a:p>
        </p:txBody>
      </p:sp>
      <p:sp>
        <p:nvSpPr>
          <p:cNvPr id="14" name="factor-mul-1">
            <a:extLst xmlns:a="http://schemas.openxmlformats.org/drawingml/2006/main">
              <a:ext uri="{FF2B5EF4-FFF2-40B4-BE49-F238E27FC236}">
                <a16:creationId xmlns:a16="http://schemas.microsoft.com/office/drawing/2014/main" id="{A59D5A14-D7AC-4EA6-9441-F0F0F5200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638425"/>
            <a:ext cx="857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872D"/>
            </a:solidFill>
            <a:prstDash val="solid"/>
          </a:ln>
        </p:spPr>
      </p:sp>
      <p:sp>
        <p:nvSpPr>
          <p:cNvPr id="15" name="factor-3">
            <a:extLst xmlns:a="http://schemas.openxmlformats.org/drawingml/2006/main">
              <a:ext uri="{FF2B5EF4-FFF2-40B4-BE49-F238E27FC236}">
                <a16:creationId xmlns:a16="http://schemas.microsoft.com/office/drawing/2014/main" id="{5150E0E8-F970-4762-9457-AA553FFDD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981200"/>
            <a:ext cx="1171575" cy="1352550"/>
          </a:xfrm>
          <a:prstGeom xmlns:a="http://schemas.openxmlformats.org/drawingml/2006/main" prst="roundRect">
            <a:avLst>
              <a:gd name="adj" fmla="val 65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Annual customer unit price</a:t>
            </a:r>
          </a:p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160 million</a:t>
            </a:r>
          </a:p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sensitivity high</a:t>
            </a:r>
          </a:p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Source: Contract Sample</a:t>
            </a:r>
          </a:p>
        </p:txBody>
      </p:sp>
      <p:sp>
        <p:nvSpPr>
          <p:cNvPr id="16" name="factor-mul-2">
            <a:extLst xmlns:a="http://schemas.openxmlformats.org/drawingml/2006/main">
              <a:ext uri="{FF2B5EF4-FFF2-40B4-BE49-F238E27FC236}">
                <a16:creationId xmlns:a16="http://schemas.microsoft.com/office/drawing/2014/main" id="{CE6C4D86-1A13-4C54-B39C-81B55172E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2638425"/>
            <a:ext cx="857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872D"/>
            </a:solidFill>
            <a:prstDash val="solid"/>
          </a:ln>
        </p:spPr>
      </p:sp>
      <p:sp>
        <p:nvSpPr>
          <p:cNvPr id="17" name="factor-4">
            <a:extLst xmlns:a="http://schemas.openxmlformats.org/drawingml/2006/main">
              <a:ext uri="{FF2B5EF4-FFF2-40B4-BE49-F238E27FC236}">
                <a16:creationId xmlns:a16="http://schemas.microsoft.com/office/drawing/2014/main" id="{11184A23-961A-42A4-8377-220A944F5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1981200"/>
            <a:ext cx="1171575" cy="1352550"/>
          </a:xfrm>
          <a:prstGeom xmlns:a="http://schemas.openxmlformats.org/drawingml/2006/main" prst="roundRect">
            <a:avLst>
              <a:gd name="adj" fmla="val 65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Repurchase rate</a:t>
            </a:r>
          </a:p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80%</a:t>
            </a:r>
          </a:p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sensitivity in</a:t>
            </a:r>
          </a:p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Source: Renewal data</a:t>
            </a:r>
          </a:p>
        </p:txBody>
      </p:sp>
      <p:sp>
        <p:nvSpPr>
          <p:cNvPr id="18" name="factor-mul-3">
            <a:extLst xmlns:a="http://schemas.openxmlformats.org/drawingml/2006/main">
              <a:ext uri="{FF2B5EF4-FFF2-40B4-BE49-F238E27FC236}">
                <a16:creationId xmlns:a16="http://schemas.microsoft.com/office/drawing/2014/main" id="{760BC6C2-7867-489D-BFA3-2A586EAB0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2638425"/>
            <a:ext cx="857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872D"/>
            </a:solidFill>
            <a:prstDash val="solid"/>
          </a:ln>
        </p:spPr>
      </p:sp>
      <p:sp>
        <p:nvSpPr>
          <p:cNvPr id="19" name="milestone">
            <a:extLst xmlns:a="http://schemas.openxmlformats.org/drawingml/2006/main">
              <a:ext uri="{FF2B5EF4-FFF2-40B4-BE49-F238E27FC236}">
                <a16:creationId xmlns:a16="http://schemas.microsoft.com/office/drawing/2014/main" id="{6363C4DA-A92F-48C2-9142-D49D47008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657600"/>
            <a:ext cx="4953000" cy="762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9F1FA"/>
          </a:solidFill>
          <a:ln xmlns:a="http://schemas.openxmlformats.org/drawingml/2006/main" w="14288">
            <a:solidFill>
              <a:srgbClr val="2F6FB2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No. 1/2/3 Annual income target:1.2 / 3.2 / 6.0 billion</a:t>
            </a:r>
          </a:p>
        </p:txBody>
      </p:sp>
      <p:sp>
        <p:nvSpPr>
          <p:cNvPr id="20" name="assumption-1">
            <a:extLst xmlns:a="http://schemas.openxmlformats.org/drawingml/2006/main">
              <a:ext uri="{FF2B5EF4-FFF2-40B4-BE49-F238E27FC236}">
                <a16:creationId xmlns:a16="http://schemas.microsoft.com/office/drawing/2014/main" id="{A7CB3D99-BA58-4DFB-BB62-CEEF90EA9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5910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• The customer list is updated every six months</a:t>
            </a:r>
          </a:p>
        </p:txBody>
      </p:sp>
      <p:sp>
        <p:nvSpPr>
          <p:cNvPr id="21" name="assumption-2">
            <a:extLst xmlns:a="http://schemas.openxmlformats.org/drawingml/2006/main">
              <a:ext uri="{FF2B5EF4-FFF2-40B4-BE49-F238E27FC236}">
                <a16:creationId xmlns:a16="http://schemas.microsoft.com/office/drawing/2014/main" id="{ED952F0A-90CB-499C-A950-20310B773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8768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• Penetration rate is based on signed customers</a:t>
            </a:r>
          </a:p>
        </p:txBody>
      </p:sp>
      <p:sp>
        <p:nvSpPr>
          <p:cNvPr id="22" name="assumption-3">
            <a:extLst xmlns:a="http://schemas.openxmlformats.org/drawingml/2006/main">
              <a:ext uri="{FF2B5EF4-FFF2-40B4-BE49-F238E27FC236}">
                <a16:creationId xmlns:a16="http://schemas.microsoft.com/office/drawing/2014/main" id="{D0C35EB8-536A-49D6-AB01-CE54600CE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1625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• Calculation date:2026 year 8 month</a:t>
            </a:r>
          </a:p>
        </p:txBody>
      </p:sp>
      <p:sp>
        <p:nvSpPr>
          <p:cNvPr id="23" name="bottom">
            <a:extLst xmlns:a="http://schemas.openxmlformats.org/drawingml/2006/main">
              <a:ext uri="{FF2B5EF4-FFF2-40B4-BE49-F238E27FC236}">
                <a16:creationId xmlns:a16="http://schemas.microsoft.com/office/drawing/2014/main" id="{A471FFA1-4B72-4A77-BD72-748C648B0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0"/>
            <a:ext cx="111633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0E2"/>
          </a:solidFill>
          <a:ln xmlns:a="http://schemas.openxmlformats.org/drawingml/2006/main" w="12383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Prioritize verification of penetration rate and customer unit price, two decisions 78% The results fluctuate</a:t>
            </a:r>
          </a:p>
        </p:txBody>
      </p:sp>
    </p:spTree>
    <p:extLst>
      <p:ext uri="{BB962C8B-B14F-4D97-AF65-F5344CB8AC3E}">
        <p14:creationId xmlns:p14="http://schemas.microsoft.com/office/powerpoint/2010/main" val="124209083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2026-07-31T20:17:06.4530000Z</dcterms:created>
  <dcterms:modified xsi:type="dcterms:W3CDTF">2026-07-31T20:17:06.4530000Z</dcterms:modified>
</coreProperties>
</file>