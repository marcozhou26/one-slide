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92348eff24de9" /><Relationship Type="http://schemas.openxmlformats.org/officeDocument/2006/relationships/extended-properties" Target="/docProps/app.xml" Id="Rd1d9df907b234efc" /><Relationship Type="http://schemas.openxmlformats.org/officeDocument/2006/relationships/officeDocument" Target="/ppt/presentation.xml" Id="R21545984d75f42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74845ea5c4378"/>
  </p:sldMasterIdLst>
  <p:notesMasterIdLst>
    <p:notesMasterId xmlns:r="http://schemas.openxmlformats.org/officeDocument/2006/relationships" r:id="R523bf76bb8b04687"/>
  </p:notesMasterIdLst>
  <p:sldIdLst>
    <p:sldId xmlns:r="http://schemas.openxmlformats.org/officeDocument/2006/relationships" id="256" r:id="R07d3ff6cf8fb42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c15a1906c140eb" /><Relationship Type="http://schemas.openxmlformats.org/officeDocument/2006/relationships/slideMaster" Target="/ppt/slideMasters/slideMaster1.xml" Id="Re5374845ea5c4378" /><Relationship Type="http://schemas.openxmlformats.org/officeDocument/2006/relationships/notesMaster" Target="/ppt/notesMasters/notesMaster1.xml" Id="R523bf76bb8b04687" /><Relationship Type="http://schemas.openxmlformats.org/officeDocument/2006/relationships/presProps" Target="/ppt/presProps.xml" Id="R0c3e36914f0644b9" /><Relationship Type="http://schemas.openxmlformats.org/officeDocument/2006/relationships/tableStyles" Target="/ppt/tableStyles.xml" Id="R3f46cfcff5df411a" /><Relationship Type="http://schemas.openxmlformats.org/officeDocument/2006/relationships/slide" Target="/ppt/slides/slide1.xml" Id="R07d3ff6cf8fb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14a5e8d42047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107ac5e4e4a4a" /><Relationship Type="http://schemas.openxmlformats.org/officeDocument/2006/relationships/notesMaster" Target="/ppt/notesMasters/notesMaster1.xml" Id="Rfa65a9bf28c1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059e8facc40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a5bc7c41f4646" /><Relationship Type="http://schemas.openxmlformats.org/officeDocument/2006/relationships/slideLayout" Target="/ppt/slideLayouts/slideLayout1.xml" Id="R490209d11e0340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0209d11e0340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73ab1e3904927" /><Relationship Type="http://schemas.openxmlformats.org/officeDocument/2006/relationships/notesSlide" Target="/ppt/notesSlides/notesSlide1.xml" Id="Rf052e4fd598e4d1c" /></Relationships>
</file>

<file path=ppt/slides/slide1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73" name="page-title"><a:extLst xmlns:a="http://schemas.openxmlformats.org/drawingml/2006/main"><a:ext uri="{FF2B5EF4-FFF2-40B4-BE49-F238E27FC236}"><a16:creationId id="{BEC75D41-059C-432B-8843-813C8804F5E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247650" /><a:ext cx="11163300" cy="5524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2550" b="1"><a:solidFill><a:srgbClr val="15375F" /></a:solidFill></a:defRPr></a:pPr><a:r><a:rPr sz="2550" b="1"><a:solidFill><a:srgbClr val="15375F" /></a:solidFill></a:rPr><a:t>The internal transfer rate is only 6.3%,74% The cross-department flows are concentrated in the two directions of sales and products.</a:t></a:r></a:p></p:txBody></p:sp><p:sp><p:nvSpPr><p:cNvPr id="2" name="mobility-matrix"><a:extLst xmlns:a="http://schemas.openxmlformats.org/drawingml/2006/main"><a:ext uri="{FF2B5EF4-FFF2-40B4-BE49-F238E27FC236}"><a16:creationId id="{8EFC77CE-FAA1-4A0F-A3DC-ABEE6843F3E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1200150" /><a:ext cx="6858000" cy="4457700" /></a:xfrm><a:prstGeom prst="roundRect" xmlns:a="http://schemas.openxmlformats.org/drawingml/2006/main"><a:avLst><a:gd name="adj" fmla="val 1709" /></a:avLst></a:prstGeom><a:solidFill xmlns:a="http://schemas.openxmlformats.org/drawingml/2006/main"><a:srgbClr val="FFFFFF" /></a:solidFill><a:ln w="10478" xmlns:a="http://schemas.openxmlformats.org/drawingml/2006/main"><a:solidFill><a:srgbClr val="D7DEE8" /></a:solidFill><a:prstDash val="solid" /></a:ln></p:spPr></p:sp><p:sp><p:nvSpPr><p:cNvPr id="3" name="mobility-network"><a:extLst xmlns:a="http://schemas.openxmlformats.org/drawingml/2006/main"><a:ext uri="{FF2B5EF4-FFF2-40B4-BE49-F238E27FC236}"><a16:creationId id="{4FC0081E-2314-42D7-ABF3-364AC21D84D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620000" y="1200150" /><a:ext cx="4057650" cy="4457700" /></a:xfrm><a:prstGeom prst="roundRect" xmlns:a="http://schemas.openxmlformats.org/drawingml/2006/main"><a:avLst><a:gd name="adj" fmla="val 1878" /></a:avLst></a:prstGeom><a:solidFill xmlns:a="http://schemas.openxmlformats.org/drawingml/2006/main"><a:srgbClr val="F4F6F8" /></a:solidFill><a:ln w="10478" xmlns:a="http://schemas.openxmlformats.org/drawingml/2006/main"><a:solidFill><a:srgbClr val="D7DEE8" /></a:solidFill><a:prstDash val="solid" /></a:ln></p:spPr></p:sp><p:sp><p:nvSpPr><p:cNvPr id="4" name="mob-col-1"><a:extLst xmlns:a="http://schemas.openxmlformats.org/drawingml/2006/main"><a:ext uri="{FF2B5EF4-FFF2-40B4-BE49-F238E27FC236}"><a16:creationId id="{54C7D4EB-4AD4-4218-8293-150025E5480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1295400" /><a:ext cx="955675" cy="3238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sales</a:t></a:r></a:p></p:txBody></p:sp><p:sp><p:nvSpPr><p:cNvPr id="5" name="mob-row-1"><a:extLst xmlns:a="http://schemas.openxmlformats.org/drawingml/2006/main"><a:ext uri="{FF2B5EF4-FFF2-40B4-BE49-F238E27FC236}"><a16:creationId id="{E9BBE9EB-40DB-42B6-AD87-993D9694BD3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90550" y="1676400" /><a:ext cx="704850" cy="4953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5375F" /></a:solidFill></a:defRPr></a:pPr><a:r><a:rPr sz="1600" b="1"><a:solidFill><a:srgbClr val="15375F" /></a:solidFill></a:rPr><a:t>sales</a:t></a:r></a:p></p:txBody></p:sp><p:sp><p:nvSpPr><p:cNvPr id="6" name="mob-col-2"><a:extLst xmlns:a="http://schemas.openxmlformats.org/drawingml/2006/main"><a:ext uri="{FF2B5EF4-FFF2-40B4-BE49-F238E27FC236}"><a16:creationId id="{A6B35E3B-BEB6-4826-A7FD-3C94120B65D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8225" y="1295400" /><a:ext cx="955675" cy="3238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Products</a:t></a:r></a:p></p:txBody></p:sp><p:sp><p:nvSpPr><p:cNvPr id="7" name="mob-row-2"><a:extLst xmlns:a="http://schemas.openxmlformats.org/drawingml/2006/main"><a:ext uri="{FF2B5EF4-FFF2-40B4-BE49-F238E27FC236}"><a16:creationId id="{8B832459-2992-449E-A0FA-E9CED07775C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90550" y="2190750" /><a:ext cx="704850" cy="4953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5375F" /></a:solidFill></a:defRPr></a:pPr><a:r><a:rPr sz="1600" b="1"><a:solidFill><a:srgbClr val="15375F" /></a:solidFill></a:rPr><a:t>Products</a:t></a:r></a:p></p:txBody></p:sp><p:sp><p:nvSpPr><p:cNvPr id="8" name="mob-col-3"><a:extLst xmlns:a="http://schemas.openxmlformats.org/drawingml/2006/main"><a:ext uri="{FF2B5EF4-FFF2-40B4-BE49-F238E27FC236}"><a16:creationId id="{A179CABF-C11D-4890-9845-E8123D08399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82950" y="1295400" /><a:ext cx="955675" cy="3238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R&D</a:t></a:r></a:p></p:txBody></p:sp><p:sp><p:nvSpPr><p:cNvPr id="9" name="mob-row-3"><a:extLst xmlns:a="http://schemas.openxmlformats.org/drawingml/2006/main"><a:ext uri="{FF2B5EF4-FFF2-40B4-BE49-F238E27FC236}"><a16:creationId id="{7C7457B1-B202-4601-80F7-65D3C35B608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90550" y="2705100" /><a:ext cx="704850" cy="4953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5375F" /></a:solidFill></a:defRPr></a:pPr><a:r><a:rPr sz="1600" b="1"><a:solidFill><a:srgbClr val="15375F" /></a:solidFill></a:rPr><a:t>R&D</a:t></a:r></a:p></p:txBody></p:sp><p:sp><p:nvSpPr><p:cNvPr id="10" name="mob-col-4"><a:extLst xmlns:a="http://schemas.openxmlformats.org/drawingml/2006/main"><a:ext uri="{FF2B5EF4-FFF2-40B4-BE49-F238E27FC236}"><a16:creationId id="{BC79E20A-3AAC-432C-B6EB-90437374043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257675" y="1295400" /><a:ext cx="955675" cy="3238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Delivery</a:t></a:r></a:p></p:txBody></p:sp><p:sp><p:nvSpPr><p:cNvPr id="11" name="mob-row-4"><a:extLst xmlns:a="http://schemas.openxmlformats.org/drawingml/2006/main"><a:ext uri="{FF2B5EF4-FFF2-40B4-BE49-F238E27FC236}"><a16:creationId id="{E90118BB-1187-4496-8E96-EE24524C165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90550" y="3219450" /><a:ext cx="704850" cy="4953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5375F" /></a:solidFill></a:defRPr></a:pPr><a:r><a:rPr sz="1600" b="1"><a:solidFill><a:srgbClr val="15375F" /></a:solidFill></a:rPr><a:t>Delivery</a:t></a:r></a:p></p:txBody></p:sp><p:sp><p:nvSpPr><p:cNvPr id="12" name="mob-col-5"><a:extLst xmlns:a="http://schemas.openxmlformats.org/drawingml/2006/main"><a:ext uri="{FF2B5EF4-FFF2-40B4-BE49-F238E27FC236}"><a16:creationId id="{94F27F2B-0305-4F5B-9E94-77B463E03D1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232400" y="1295400" /><a:ext cx="955675" cy="3238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Operation</a:t></a:r></a:p></p:txBody></p:sp><p:sp><p:nvSpPr><p:cNvPr id="13" name="mob-row-5"><a:extLst xmlns:a="http://schemas.openxmlformats.org/drawingml/2006/main"><a:ext uri="{FF2B5EF4-FFF2-40B4-BE49-F238E27FC236}"><a16:creationId id="{25A8D264-92E6-485D-9555-30DF0B5C3EB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90550" y="3733800" /><a:ext cx="704850" cy="4953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5375F" /></a:solidFill></a:defRPr></a:pPr><a:r><a:rPr sz="1600" b="1"><a:solidFill><a:srgbClr val="15375F" /></a:solidFill></a:rPr><a:t>Operation</a:t></a:r></a:p></p:txBody></p:sp><p:sp><p:nvSpPr><p:cNvPr id="14" name="mob-col-6"><a:extLst xmlns:a="http://schemas.openxmlformats.org/drawingml/2006/main"><a:ext uri="{FF2B5EF4-FFF2-40B4-BE49-F238E27FC236}"><a16:creationId id="{5AB62941-C2D2-47D4-8E23-C835525DC3D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7125" y="1295400" /><a:ext cx="955675" cy="3238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Function</a:t></a:r></a:p></p:txBody></p:sp><p:sp><p:nvSpPr><p:cNvPr id="15" name="mob-row-6"><a:extLst xmlns:a="http://schemas.openxmlformats.org/drawingml/2006/main"><a:ext uri="{FF2B5EF4-FFF2-40B4-BE49-F238E27FC236}"><a16:creationId id="{1E0DC6C7-82ED-4DD7-B044-3DEAC317825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90550" y="4248150" /><a:ext cx="704850" cy="4953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5375F" /></a:solidFill></a:defRPr></a:pPr><a:r><a:rPr sz="1600" b="1"><a:solidFill><a:srgbClr val="15375F" /></a:solidFill></a:rPr><a:t>Function</a:t></a:r></a:p></p:txBody></p:sp><p:sp><p:nvSpPr><p:cNvPr id="16" name="mobility-1-1"><a:extLst xmlns:a="http://schemas.openxmlformats.org/drawingml/2006/main"><a:ext uri="{FF2B5EF4-FFF2-40B4-BE49-F238E27FC236}"><a16:creationId id="{1499E290-768B-4D96-AE0E-65CB374FC80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1676400" /><a:ext cx="955675" cy="495300" /></a:xfrm><a:prstGeom prst="rect" xmlns:a="http://schemas.openxmlformats.org/drawingml/2006/main"><a:avLst /></a:prstGeom><a:solidFill xmlns:a="http://schemas.openxmlformats.org/drawingml/2006/main"><a:srgbClr val="F4F6F8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410</a:t></a:r></a:p></p:txBody></p:sp><p:sp><p:nvSpPr><p:cNvPr id="17" name="mobility-1-2"><a:extLst xmlns:a="http://schemas.openxmlformats.org/drawingml/2006/main"><a:ext uri="{FF2B5EF4-FFF2-40B4-BE49-F238E27FC236}"><a16:creationId id="{951BCF11-B73C-4363-9AFD-C73808253B8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8225" y="1676400" /><a:ext cx="955675" cy="495300" /></a:xfrm><a:prstGeom prst="rect" xmlns:a="http://schemas.openxmlformats.org/drawingml/2006/main"><a:avLst /></a:prstGeom><a:solidFill xmlns:a="http://schemas.openxmlformats.org/drawingml/2006/main"><a:srgbClr val="FFF0E2" /></a:solidFill><a:ln w="11430" xmlns:a="http://schemas.openxmlformats.org/drawingml/2006/main"><a:solidFill><a:srgbClr val="E8872D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E8872D" /></a:solidFill></a:defRPr></a:pPr><a:r><a:rPr sz="1600" b="1"><a:solidFill><a:srgbClr val="E8872D" /></a:solidFill></a:rPr><a:t>28/95/48</a:t></a:r></a:p></p:txBody></p:sp><p:sp><p:nvSpPr><p:cNvPr id="18" name="mobility-1-3"><a:extLst xmlns:a="http://schemas.openxmlformats.org/drawingml/2006/main"><a:ext uri="{FF2B5EF4-FFF2-40B4-BE49-F238E27FC236}"><a16:creationId id="{552502CA-8795-42F8-B6AA-47308FB1269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82950" y="16764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3/73/23</a:t></a:r></a:p></p:txBody></p:sp><p:sp><p:nvSpPr><p:cNvPr id="19" name="mobility-1-4"><a:extLst xmlns:a="http://schemas.openxmlformats.org/drawingml/2006/main"><a:ext uri="{FF2B5EF4-FFF2-40B4-BE49-F238E27FC236}"><a16:creationId id="{9E1B4488-C182-4E5D-83D9-3CBC8A980AF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257675" y="16764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2/72/22</a:t></a:r></a:p></p:txBody></p:sp><p:sp><p:nvSpPr><p:cNvPr id="20" name="mobility-1-5"><a:extLst xmlns:a="http://schemas.openxmlformats.org/drawingml/2006/main"><a:ext uri="{FF2B5EF4-FFF2-40B4-BE49-F238E27FC236}"><a16:creationId id="{65B8D306-7211-4DE1-88EC-40DE2EA8B9B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232400" y="16764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21" name="mobility-1-6"><a:extLst xmlns:a="http://schemas.openxmlformats.org/drawingml/2006/main"><a:ext uri="{FF2B5EF4-FFF2-40B4-BE49-F238E27FC236}"><a16:creationId id="{7D5D2417-0F90-41B1-A610-02656E0E8B3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7125" y="16764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22" name="mobility-2-1"><a:extLst xmlns:a="http://schemas.openxmlformats.org/drawingml/2006/main"><a:ext uri="{FF2B5EF4-FFF2-40B4-BE49-F238E27FC236}"><a16:creationId id="{96ACC412-30E6-4EE6-8201-8A28DC0F586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2190750" /><a:ext cx="955675" cy="495300" /></a:xfrm><a:prstGeom prst="rect" xmlns:a="http://schemas.openxmlformats.org/drawingml/2006/main"><a:avLst /></a:prstGeom><a:solidFill xmlns:a="http://schemas.openxmlformats.org/drawingml/2006/main"><a:srgbClr val="FFF0E2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19/89/39</a:t></a:r></a:p></p:txBody></p:sp><p:sp><p:nvSpPr><p:cNvPr id="23" name="mobility-2-2"><a:extLst xmlns:a="http://schemas.openxmlformats.org/drawingml/2006/main"><a:ext uri="{FF2B5EF4-FFF2-40B4-BE49-F238E27FC236}"><a16:creationId id="{EC80D852-7582-4D30-A2AD-566BE41ADBC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8225" y="2190750" /><a:ext cx="955675" cy="495300" /></a:xfrm><a:prstGeom prst="rect" xmlns:a="http://schemas.openxmlformats.org/drawingml/2006/main"><a:avLst /></a:prstGeom><a:solidFill xmlns:a="http://schemas.openxmlformats.org/drawingml/2006/main"><a:srgbClr val="F4F6F8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260</a:t></a:r></a:p></p:txBody></p:sp><p:sp><p:nvSpPr><p:cNvPr id="24" name="mobility-2-3"><a:extLst xmlns:a="http://schemas.openxmlformats.org/drawingml/2006/main"><a:ext uri="{FF2B5EF4-FFF2-40B4-BE49-F238E27FC236}"><a16:creationId id="{8D56DC69-E1DC-4B97-A8D8-9B548FA995B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82950" y="21907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4/74/24</a:t></a:r></a:p></p:txBody></p:sp><p:sp><p:nvSpPr><p:cNvPr id="25" name="mobility-2-4"><a:extLst xmlns:a="http://schemas.openxmlformats.org/drawingml/2006/main"><a:ext uri="{FF2B5EF4-FFF2-40B4-BE49-F238E27FC236}"><a16:creationId id="{16809177-B165-4BDB-8CF0-9A8ED47AF33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257675" y="21907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2/72/22</a:t></a:r></a:p></p:txBody></p:sp><p:sp><p:nvSpPr><p:cNvPr id="26" name="mobility-2-5"><a:extLst xmlns:a="http://schemas.openxmlformats.org/drawingml/2006/main"><a:ext uri="{FF2B5EF4-FFF2-40B4-BE49-F238E27FC236}"><a16:creationId id="{ED2E898C-5661-46CA-9EE3-DC495B8E0A2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232400" y="21907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27" name="mobility-2-6"><a:extLst xmlns:a="http://schemas.openxmlformats.org/drawingml/2006/main"><a:ext uri="{FF2B5EF4-FFF2-40B4-BE49-F238E27FC236}"><a16:creationId id="{C09527CB-68BB-4828-BEFF-C09CF6D03EF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7125" y="2190750" /><a:ext cx="955675" cy="495300" /></a:xfrm><a:prstGeom prst="rect" xmlns:a="http://schemas.openxmlformats.org/drawingml/2006/main"><a:avLst /></a:prstGeom><a:solidFill xmlns:a="http://schemas.openxmlformats.org/drawingml/2006/main"><a:srgbClr val="FFFFFF" /></a:solidFill><a:ln w="5715" xmlns:a="http://schemas.openxmlformats.org/drawingml/2006/main"><a:solidFill><a:srgbClr val="D7DEE8" /></a:solidFill><a:prstDash val="dash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○</a:t></a:r></a:p></p:txBody></p:sp><p:sp><p:nvSpPr><p:cNvPr id="28" name="mobility-3-1"><a:extLst xmlns:a="http://schemas.openxmlformats.org/drawingml/2006/main"><a:ext uri="{FF2B5EF4-FFF2-40B4-BE49-F238E27FC236}"><a16:creationId id="{22EBE82E-AFBC-4168-BE3D-20EE6542CD3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27051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2/72/22</a:t></a:r></a:p></p:txBody></p:sp><p:sp><p:nvSpPr><p:cNvPr id="29" name="mobility-3-2"><a:extLst xmlns:a="http://schemas.openxmlformats.org/drawingml/2006/main"><a:ext uri="{FF2B5EF4-FFF2-40B4-BE49-F238E27FC236}"><a16:creationId id="{C939385C-A9D4-4894-9343-2978D325710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8225" y="27051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6/76/26</a:t></a:r></a:p></p:txBody></p:sp><p:sp><p:nvSpPr><p:cNvPr id="30" name="mobility-3-3"><a:extLst xmlns:a="http://schemas.openxmlformats.org/drawingml/2006/main"><a:ext uri="{FF2B5EF4-FFF2-40B4-BE49-F238E27FC236}"><a16:creationId id="{41242C2A-453A-4010-9BEF-A60C2DEB0F7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82950" y="2705100" /><a:ext cx="955675" cy="495300" /></a:xfrm><a:prstGeom prst="rect" xmlns:a="http://schemas.openxmlformats.org/drawingml/2006/main"><a:avLst /></a:prstGeom><a:solidFill xmlns:a="http://schemas.openxmlformats.org/drawingml/2006/main"><a:srgbClr val="F4F6F8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330</a:t></a:r></a:p></p:txBody></p:sp><p:sp><p:nvSpPr><p:cNvPr id="31" name="mobility-3-4"><a:extLst xmlns:a="http://schemas.openxmlformats.org/drawingml/2006/main"><a:ext uri="{FF2B5EF4-FFF2-40B4-BE49-F238E27FC236}"><a16:creationId id="{D1B37DF2-887C-4ADF-AE14-6D8CD364928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257675" y="27051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8/78/28</a:t></a:r></a:p></p:txBody></p:sp><p:sp><p:nvSpPr><p:cNvPr id="32" name="mobility-3-5"><a:extLst xmlns:a="http://schemas.openxmlformats.org/drawingml/2006/main"><a:ext uri="{FF2B5EF4-FFF2-40B4-BE49-F238E27FC236}"><a16:creationId id="{29E99945-37FC-408B-A090-7A888A96221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232400" y="27051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2/72/22</a:t></a:r></a:p></p:txBody></p:sp><p:sp><p:nvSpPr><p:cNvPr id="33" name="mobility-3-6"><a:extLst xmlns:a="http://schemas.openxmlformats.org/drawingml/2006/main"><a:ext uri="{FF2B5EF4-FFF2-40B4-BE49-F238E27FC236}"><a16:creationId id="{5CCD5F61-B233-4F71-ACDF-F8132F87DC7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7125" y="27051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34" name="mobility-4-1"><a:extLst xmlns:a="http://schemas.openxmlformats.org/drawingml/2006/main"><a:ext uri="{FF2B5EF4-FFF2-40B4-BE49-F238E27FC236}"><a16:creationId id="{037B896F-CF32-41D2-888E-BC00B741508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32194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3/73/23</a:t></a:r></a:p></p:txBody></p:sp><p:sp><p:nvSpPr><p:cNvPr id="35" name="mobility-4-2"><a:extLst xmlns:a="http://schemas.openxmlformats.org/drawingml/2006/main"><a:ext uri="{FF2B5EF4-FFF2-40B4-BE49-F238E27FC236}"><a16:creationId id="{C10BA336-8F0D-438E-8D10-0795FD71FFE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8225" y="32194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2/72/22</a:t></a:r></a:p></p:txBody></p:sp><p:sp><p:nvSpPr><p:cNvPr id="36" name="mobility-4-3"><a:extLst xmlns:a="http://schemas.openxmlformats.org/drawingml/2006/main"><a:ext uri="{FF2B5EF4-FFF2-40B4-BE49-F238E27FC236}"><a16:creationId id="{4D9DC740-ACA9-40C6-8E5A-3F7D9D5EB5E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82950" y="32194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10/80/30</a:t></a:r></a:p></p:txBody></p:sp><p:sp><p:nvSpPr><p:cNvPr id="37" name="mobility-4-4"><a:extLst xmlns:a="http://schemas.openxmlformats.org/drawingml/2006/main"><a:ext uri="{FF2B5EF4-FFF2-40B4-BE49-F238E27FC236}"><a16:creationId id="{32238C39-5D59-487A-9E1B-2A7C480E0B1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257675" y="3219450" /><a:ext cx="955675" cy="495300" /></a:xfrm><a:prstGeom prst="rect" xmlns:a="http://schemas.openxmlformats.org/drawingml/2006/main"><a:avLst /></a:prstGeom><a:solidFill xmlns:a="http://schemas.openxmlformats.org/drawingml/2006/main"><a:srgbClr val="F4F6F8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290</a:t></a:r></a:p></p:txBody></p:sp><p:sp><p:nvSpPr><p:cNvPr id="38" name="mobility-4-5"><a:extLst xmlns:a="http://schemas.openxmlformats.org/drawingml/2006/main"><a:ext uri="{FF2B5EF4-FFF2-40B4-BE49-F238E27FC236}"><a16:creationId id="{15F807E1-B173-43C1-8349-15F3F613ED3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232400" y="32194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5/75/25</a:t></a:r></a:p></p:txBody></p:sp><p:sp><p:nvSpPr><p:cNvPr id="39" name="mobility-4-6"><a:extLst xmlns:a="http://schemas.openxmlformats.org/drawingml/2006/main"><a:ext uri="{FF2B5EF4-FFF2-40B4-BE49-F238E27FC236}"><a16:creationId id="{D612A7B2-2754-4168-A506-440FAA31BC6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7125" y="32194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40" name="mobility-5-1"><a:extLst xmlns:a="http://schemas.openxmlformats.org/drawingml/2006/main"><a:ext uri="{FF2B5EF4-FFF2-40B4-BE49-F238E27FC236}"><a16:creationId id="{0DA2F94D-E0D8-4867-8F81-15A7C96728F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37338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41" name="mobility-5-2"><a:extLst xmlns:a="http://schemas.openxmlformats.org/drawingml/2006/main"><a:ext uri="{FF2B5EF4-FFF2-40B4-BE49-F238E27FC236}"><a16:creationId id="{56D25620-5037-48DC-9094-5C0A81FFECD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8225" y="37338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42" name="mobility-5-3"><a:extLst xmlns:a="http://schemas.openxmlformats.org/drawingml/2006/main"><a:ext uri="{FF2B5EF4-FFF2-40B4-BE49-F238E27FC236}"><a16:creationId id="{AD325D92-25CA-4DC2-854A-60DC98F02CC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82950" y="37338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2/72/22</a:t></a:r></a:p></p:txBody></p:sp><p:sp><p:nvSpPr><p:cNvPr id="43" name="mobility-5-4"><a:extLst xmlns:a="http://schemas.openxmlformats.org/drawingml/2006/main"><a:ext uri="{FF2B5EF4-FFF2-40B4-BE49-F238E27FC236}"><a16:creationId id="{E980B295-DE70-43D9-9B4A-ECACC4BF740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257675" y="37338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6/76/26</a:t></a:r></a:p></p:txBody></p:sp><p:sp><p:nvSpPr><p:cNvPr id="44" name="mobility-5-5"><a:extLst xmlns:a="http://schemas.openxmlformats.org/drawingml/2006/main"><a:ext uri="{FF2B5EF4-FFF2-40B4-BE49-F238E27FC236}"><a16:creationId id="{43F9DAF3-F570-4368-8598-E74E521AC19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232400" y="3733800" /><a:ext cx="955675" cy="495300" /></a:xfrm><a:prstGeom prst="rect" xmlns:a="http://schemas.openxmlformats.org/drawingml/2006/main"><a:avLst /></a:prstGeom><a:solidFill xmlns:a="http://schemas.openxmlformats.org/drawingml/2006/main"><a:srgbClr val="F4F6F8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220</a:t></a:r></a:p></p:txBody></p:sp><p:sp><p:nvSpPr><p:cNvPr id="45" name="mobility-5-6"><a:extLst xmlns:a="http://schemas.openxmlformats.org/drawingml/2006/main"><a:ext uri="{FF2B5EF4-FFF2-40B4-BE49-F238E27FC236}"><a16:creationId id="{FA34B455-AF9F-4DB2-897B-38AFEB851BB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7125" y="373380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3/73/23</a:t></a:r></a:p></p:txBody></p:sp><p:sp><p:nvSpPr><p:cNvPr id="46" name="mobility-6-1"><a:extLst xmlns:a="http://schemas.openxmlformats.org/drawingml/2006/main"><a:ext uri="{FF2B5EF4-FFF2-40B4-BE49-F238E27FC236}"><a16:creationId id="{AD3809DA-66A0-4D11-8CA9-087041752C8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4248150" /><a:ext cx="955675" cy="495300" /></a:xfrm><a:prstGeom prst="rect" xmlns:a="http://schemas.openxmlformats.org/drawingml/2006/main"><a:avLst /></a:prstGeom><a:solidFill xmlns:a="http://schemas.openxmlformats.org/drawingml/2006/main"><a:srgbClr val="FFFFFF" /></a:solidFill><a:ln w="5715" xmlns:a="http://schemas.openxmlformats.org/drawingml/2006/main"><a:solidFill><a:srgbClr val="D7DEE8" /></a:solidFill><a:prstDash val="dash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○</a:t></a:r></a:p></p:txBody></p:sp><p:sp><p:nvSpPr><p:cNvPr id="47" name="mobility-6-2"><a:extLst xmlns:a="http://schemas.openxmlformats.org/drawingml/2006/main"><a:ext uri="{FF2B5EF4-FFF2-40B4-BE49-F238E27FC236}"><a16:creationId id="{5FA31EF3-2FAC-4BF3-9EE6-0E0EEF3773A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8225" y="42481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48" name="mobility-6-3"><a:extLst xmlns:a="http://schemas.openxmlformats.org/drawingml/2006/main"><a:ext uri="{FF2B5EF4-FFF2-40B4-BE49-F238E27FC236}"><a16:creationId id="{97DEF84E-66B9-430D-ACE2-DF38AEF18D6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82950" y="42481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1/71/21</a:t></a:r></a:p></p:txBody></p:sp><p:sp><p:nvSpPr><p:cNvPr id="49" name="mobility-6-4"><a:extLst xmlns:a="http://schemas.openxmlformats.org/drawingml/2006/main"><a:ext uri="{FF2B5EF4-FFF2-40B4-BE49-F238E27FC236}"><a16:creationId id="{F1C8D535-A4E6-4E07-8741-3269F1D6266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257675" y="42481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2/72/22</a:t></a:r></a:p></p:txBody></p:sp><p:sp><p:nvSpPr><p:cNvPr id="50" name="mobility-6-5"><a:extLst xmlns:a="http://schemas.openxmlformats.org/drawingml/2006/main"><a:ext uri="{FF2B5EF4-FFF2-40B4-BE49-F238E27FC236}"><a16:creationId id="{7C28AAE5-3A9E-4C6A-BDA3-3C1369DE4E3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232400" y="4248150" /><a:ext cx="955675" cy="495300" /></a:xfrm><a:prstGeom prst="rect" xmlns:a="http://schemas.openxmlformats.org/drawingml/2006/main"><a:avLst /></a:prstGeom><a:solidFill xmlns:a="http://schemas.openxmlformats.org/drawingml/2006/main"><a:srgbClr val="E9F1FA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4/74/24</a:t></a:r></a:p></p:txBody></p:sp><p:sp><p:nvSpPr><p:cNvPr id="51" name="mobility-6-6"><a:extLst xmlns:a="http://schemas.openxmlformats.org/drawingml/2006/main"><a:ext uri="{FF2B5EF4-FFF2-40B4-BE49-F238E27FC236}"><a16:creationId id="{2E7941A3-7FF9-4A75-B60E-227FEA34C46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7125" y="4248150" /><a:ext cx="955675" cy="495300" /></a:xfrm><a:prstGeom prst="rect" xmlns:a="http://schemas.openxmlformats.org/drawingml/2006/main"><a:avLst /></a:prstGeom><a:solidFill xmlns:a="http://schemas.openxmlformats.org/drawingml/2006/main"><a:srgbClr val="F4F6F8" /></a:solidFill><a:ln w="5715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0"><a:solidFill><a:srgbClr val="172033" /></a:solidFill></a:defRPr></a:pPr><a:r><a:rPr sz="1600" b="0"><a:solidFill><a:srgbClr val="172033" /></a:solidFill></a:rPr><a:t>180</a:t></a:r></a:p></p:txBody></p:sp><p:sp><p:nvSpPr><p:cNvPr id="52" name="mob-total-label"><a:extLst xmlns:a="http://schemas.openxmlformats.org/drawingml/2006/main"><a:ext uri="{FF2B5EF4-FFF2-40B4-BE49-F238E27FC236}"><a16:creationId id="{D1E22D26-7FFC-4FF6-9E62-87B61F5E489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90550" y="4781550" /><a:ext cx="704850" cy="3810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15375F" /></a:solidFill></a:defRPr></a:pPr><a:r><a:rPr sz="1600" b="1"><a:solidFill><a:srgbClr val="15375F" /></a:solidFill></a:rPr><a:t>total inflow</a:t></a:r></a:p></p:txBody></p:sp><p:sp><p:nvSpPr><p:cNvPr id="53" name="mob-total-1"><a:extLst xmlns:a="http://schemas.openxmlformats.org/drawingml/2006/main"><a:ext uri="{FF2B5EF4-FFF2-40B4-BE49-F238E27FC236}"><a16:creationId id="{BA20F531-266E-4D90-8300-95B1771236D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4781550" /><a:ext cx="955675" cy="381000" /></a:xfrm><a:prstGeom prst="rect" xmlns:a="http://schemas.openxmlformats.org/drawingml/2006/main"><a:avLst /></a:prstGeom><a:solidFill xmlns:a="http://schemas.openxmlformats.org/drawingml/2006/main"><a:srgbClr val="E9F1FA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435</a:t></a:r></a:p></p:txBody></p:sp><p:sp><p:nvSpPr><p:cNvPr id="54" name="mob-total-2"><a:extLst xmlns:a="http://schemas.openxmlformats.org/drawingml/2006/main"><a:ext uri="{FF2B5EF4-FFF2-40B4-BE49-F238E27FC236}"><a16:creationId id="{31B721B2-9E8A-4DD0-92E5-F312C102C34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2308225" y="4781550" /><a:ext cx="955675" cy="381000" /></a:xfrm><a:prstGeom prst="rect" xmlns:a="http://schemas.openxmlformats.org/drawingml/2006/main"><a:avLst /></a:prstGeom><a:solidFill xmlns:a="http://schemas.openxmlformats.org/drawingml/2006/main"><a:srgbClr val="E9F1FA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298</a:t></a:r></a:p></p:txBody></p:sp><p:sp><p:nvSpPr><p:cNvPr id="55" name="mob-total-3"><a:extLst xmlns:a="http://schemas.openxmlformats.org/drawingml/2006/main"><a:ext uri="{FF2B5EF4-FFF2-40B4-BE49-F238E27FC236}"><a16:creationId id="{A44AB345-EAA8-4E24-A102-1921D1E1B83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3282950" y="4781550" /><a:ext cx="955675" cy="381000" /></a:xfrm><a:prstGeom prst="rect" xmlns:a="http://schemas.openxmlformats.org/drawingml/2006/main"><a:avLst /></a:prstGeom><a:solidFill xmlns:a="http://schemas.openxmlformats.org/drawingml/2006/main"><a:srgbClr val="E9F1FA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350</a:t></a:r></a:p></p:txBody></p:sp><p:sp><p:nvSpPr><p:cNvPr id="56" name="mob-total-4"><a:extLst xmlns:a="http://schemas.openxmlformats.org/drawingml/2006/main"><a:ext uri="{FF2B5EF4-FFF2-40B4-BE49-F238E27FC236}"><a16:creationId id="{42D10CC5-E552-4CE8-B209-E798B4E0433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4257675" y="4781550" /><a:ext cx="955675" cy="381000" /></a:xfrm><a:prstGeom prst="rect" xmlns:a="http://schemas.openxmlformats.org/drawingml/2006/main"><a:avLst /></a:prstGeom><a:solidFill xmlns:a="http://schemas.openxmlformats.org/drawingml/2006/main"><a:srgbClr val="E9F1FA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310</a:t></a:r></a:p></p:txBody></p:sp><p:sp><p:nvSpPr><p:cNvPr id="57" name="mob-total-5"><a:extLst xmlns:a="http://schemas.openxmlformats.org/drawingml/2006/main"><a:ext uri="{FF2B5EF4-FFF2-40B4-BE49-F238E27FC236}"><a16:creationId id="{9ABDF249-E942-44EF-B3A0-2D02AA37C69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232400" y="4781550" /><a:ext cx="955675" cy="381000" /></a:xfrm><a:prstGeom prst="rect" xmlns:a="http://schemas.openxmlformats.org/drawingml/2006/main"><a:avLst /></a:prstGeom><a:solidFill xmlns:a="http://schemas.openxmlformats.org/drawingml/2006/main"><a:srgbClr val="E9F1FA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233</a:t></a:r></a:p></p:txBody></p:sp><p:sp><p:nvSpPr><p:cNvPr id="58" name="mob-total-6"><a:extLst xmlns:a="http://schemas.openxmlformats.org/drawingml/2006/main"><a:ext uri="{FF2B5EF4-FFF2-40B4-BE49-F238E27FC236}"><a16:creationId id="{5C1D9645-B4C7-475A-94EC-31267B8BCFC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207125" y="4781550" /><a:ext cx="955675" cy="381000" /></a:xfrm><a:prstGeom prst="rect" xmlns:a="http://schemas.openxmlformats.org/drawingml/2006/main"><a:avLst /></a:prstGeom><a:solidFill xmlns:a="http://schemas.openxmlformats.org/drawingml/2006/main"><a:srgbClr val="E9F1FA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186</a:t></a:r></a:p></p:txBody></p:sp><p:sp><p:nvSpPr><p:cNvPr id="59" name="mobility-cell-legend"><a:extLst xmlns:a="http://schemas.openxmlformats.org/drawingml/2006/main"><a:ext uri="{FF2B5EF4-FFF2-40B4-BE49-F238E27FC236}"><a16:creationId id="{D221A32F-C96E-43A2-BBC5-3809E5575A1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33500" y="5181600" /><a:ext cx="4000500" cy="2286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0"><a:solidFill><a:srgbClr val="697386" /></a:solidFill></a:defRPr></a:pPr><a:r><a:rPr sz="1600" b="0"><a:solidFill><a:srgbClr val="697386" /></a:solidFill></a:rPr><a:t>Order within cells: number of people / 12 monthly retention rate / Performance improvement ratio (%); the diagonal line is the number of people retained</a:t></a:r></a:p></p:txBody></p:sp><p:sp><p:nvSpPr><p:cNvPr id="60" name="mob-node-1"><a:extLst xmlns:a="http://schemas.openxmlformats.org/drawingml/2006/main"><a:ext uri="{FF2B5EF4-FFF2-40B4-BE49-F238E27FC236}"><a16:creationId id="{3CA21909-E68E-48D1-8B34-8D2BCCDEA26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286875" y="1504950" /><a:ext cx="723900" cy="419100" /></a:xfrm><a:prstGeom prst="ellipse" xmlns:a="http://schemas.openxmlformats.org/drawingml/2006/main"><a:avLst /></a:prstGeom><a:solidFill xmlns:a="http://schemas.openxmlformats.org/drawingml/2006/main"><a:srgbClr val="E8872D" /></a:solidFill><a:ln w="9525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sales</a:t></a:r></a:p></p:txBody></p:sp><p:sp><p:nvSpPr><p:cNvPr id="61" name="mob-node-2"><a:extLst xmlns:a="http://schemas.openxmlformats.org/drawingml/2006/main"><a:ext uri="{FF2B5EF4-FFF2-40B4-BE49-F238E27FC236}"><a16:creationId id="{8388CB9E-106B-41CD-BB19-E2057D06A62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260244" y="2066925" /><a:ext cx="723900" cy="419100" /></a:xfrm><a:prstGeom prst="ellipse" xmlns:a="http://schemas.openxmlformats.org/drawingml/2006/main"><a:avLst /></a:prstGeom><a:solidFill xmlns:a="http://schemas.openxmlformats.org/drawingml/2006/main"><a:srgbClr val="E8872D" /></a:solidFill><a:ln w="9525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Products</a:t></a:r></a:p></p:txBody></p:sp><p:sp><p:nvSpPr><p:cNvPr id="62" name="mob-node-3"><a:extLst xmlns:a="http://schemas.openxmlformats.org/drawingml/2006/main"><a:ext uri="{FF2B5EF4-FFF2-40B4-BE49-F238E27FC236}"><a16:creationId id="{5C7EFB19-B6D4-485F-921A-8C5AC646668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260244" y="3190875" /><a:ext cx="723900" cy="419100" /></a:xfrm><a:prstGeom prst="ellipse" xmlns:a="http://schemas.openxmlformats.org/drawingml/2006/main"><a:avLst /></a:prstGeom><a:solidFill xmlns:a="http://schemas.openxmlformats.org/drawingml/2006/main"><a:srgbClr val="15375F" /></a:solidFill><a:ln w="9525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R&D</a:t></a:r></a:p></p:txBody></p:sp><p:sp><p:nvSpPr><p:cNvPr id="63" name="mob-node-4"><a:extLst xmlns:a="http://schemas.openxmlformats.org/drawingml/2006/main"><a:ext uri="{FF2B5EF4-FFF2-40B4-BE49-F238E27FC236}"><a16:creationId id="{972031E9-1D89-4210-B469-59B8BEAB16A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9286875" y="3752850" /><a:ext cx="723900" cy="419100" /></a:xfrm><a:prstGeom prst="ellipse" xmlns:a="http://schemas.openxmlformats.org/drawingml/2006/main"><a:avLst /></a:prstGeom><a:solidFill xmlns:a="http://schemas.openxmlformats.org/drawingml/2006/main"><a:srgbClr val="15375F" /></a:solidFill><a:ln w="9525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Delivery</a:t></a:r></a:p></p:txBody></p:sp><p:sp><p:nvSpPr><p:cNvPr id="64" name="mob-node-5"><a:extLst xmlns:a="http://schemas.openxmlformats.org/drawingml/2006/main"><a:ext uri="{FF2B5EF4-FFF2-40B4-BE49-F238E27FC236}"><a16:creationId id="{8278B423-9E37-4F9E-A926-F58D7B6C0CB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313506" y="3190875" /><a:ext cx="723900" cy="419100" /></a:xfrm><a:prstGeom prst="ellipse" xmlns:a="http://schemas.openxmlformats.org/drawingml/2006/main"><a:avLst /></a:prstGeom><a:solidFill xmlns:a="http://schemas.openxmlformats.org/drawingml/2006/main"><a:srgbClr val="15375F" /></a:solidFill><a:ln w="9525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Operation</a:t></a:r></a:p></p:txBody></p:sp><p:sp><p:nvSpPr><p:cNvPr id="65" name="mob-node-6"><a:extLst xmlns:a="http://schemas.openxmlformats.org/drawingml/2006/main"><a:ext uri="{FF2B5EF4-FFF2-40B4-BE49-F238E27FC236}"><a16:creationId id="{A79AD75A-A75D-4C8B-97E3-614A77A060A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8313506" y="2066925" /><a:ext cx="723900" cy="419100" /></a:xfrm><a:prstGeom prst="ellipse" xmlns:a="http://schemas.openxmlformats.org/drawingml/2006/main"><a:avLst /></a:prstGeom><a:solidFill xmlns:a="http://schemas.openxmlformats.org/drawingml/2006/main"><a:srgbClr val="15375F" /></a:solidFill><a:ln w="9525" xmlns:a="http://schemas.openxmlformats.org/drawingml/2006/main"><a:solidFill><a:srgbClr val="FFFFFF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FFFFFF" /></a:solidFill></a:defRPr></a:pPr><a:r><a:rPr sz="1600" b="1"><a:solidFill><a:srgbClr val="FFFFFF" /></a:solidFill></a:rPr><a:t>Function</a:t></a:r></a:p></p:txBody></p:sp><p:sp><p:nvSpPr><p:cNvPr id="69" name="mob-insight-1"><a:extLst xmlns:a="http://schemas.openxmlformats.org/drawingml/2006/main"><a:ext uri="{FF2B5EF4-FFF2-40B4-BE49-F238E27FC236}"><a16:creationId id="{C66926E3-48DA-40D0-B326-3DD14726021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772400" y="4191000" /><a:ext cx="3752850" cy="381000" /></a:xfrm><a:prstGeom prst="rect" xmlns:a="http://schemas.openxmlformats.org/drawingml/2006/main"><a:avLst /></a:prstGeom><a:solidFill xmlns:a="http://schemas.openxmlformats.org/drawingml/2006/main"><a:srgbClr val="FFFFFF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1"><a:solidFill><a:srgbClr val="E8872D" /></a:solidFill></a:defRPr></a:pPr><a:r><a:rPr sz="1600" b="1"><a:solidFill><a:srgbClr val="E8872D" /></a:solidFill></a:rPr><a:t>1  Form a main talent channel between sales and products</a:t></a:r></a:p></p:txBody></p:sp><p:sp><p:nvSpPr><p:cNvPr id="70" name="mob-insight-2"><a:extLst xmlns:a="http://schemas.openxmlformats.org/drawingml/2006/main"><a:ext uri="{FF2B5EF4-FFF2-40B4-BE49-F238E27FC236}"><a16:creationId id="{5CDA9F23-1814-4AE0-B235-E1325FFA276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772400" y="4610100" /><a:ext cx="3752850" cy="381000" /></a:xfrm><a:prstGeom prst="rect" xmlns:a="http://schemas.openxmlformats.org/drawingml/2006/main"><a:avLst /></a:prstGeom><a:solidFill xmlns:a="http://schemas.openxmlformats.org/drawingml/2006/main"><a:srgbClr val="FFFFFF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0"><a:solidFill><a:srgbClr val="172033" /></a:solidFill></a:defRPr></a:pPr><a:r><a:rPr sz="1600" b="0"><a:solidFill><a:srgbClr val="172033" /></a:solidFill></a:rPr><a:t>2  There is one-way output between R&D and delivery</a:t></a:r></a:p></p:txBody></p:sp><p:sp><p:nvSpPr><p:cNvPr id="71" name="mob-insight-3"><a:extLst xmlns:a="http://schemas.openxmlformats.org/drawingml/2006/main"><a:ext uri="{FF2B5EF4-FFF2-40B4-BE49-F238E27FC236}"><a16:creationId id="{74FC087B-31E2-43AA-B79B-596D8162882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772400" y="5029200" /><a:ext cx="3752850" cy="381000" /></a:xfrm><a:prstGeom prst="rect" xmlns:a="http://schemas.openxmlformats.org/drawingml/2006/main"><a:avLst /></a:prstGeom><a:solidFill xmlns:a="http://schemas.openxmlformats.org/drawingml/2006/main"><a:srgbClr val="FFFFFF" /></a:solidFill><a:ln w="6668" xmlns:a="http://schemas.openxmlformats.org/drawingml/2006/main"><a:solidFill><a:srgbClr val="D7DEE8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l"><a:defRPr sz="1600" b="0"><a:solidFill><a:srgbClr val="172033" /></a:solidFill></a:defRPr></a:pPr><a:r><a:rPr sz="1600" b="0"><a:solidFill><a:srgbClr val="172033" /></a:solidFill></a:rPr><a:t>3  There is almost no cross-functional mobility</a:t></a:r></a:p></p:txBody></p:sp><p:sp><p:nvSpPr><p:cNvPr id="72" name="bottom"><a:extLst xmlns:a="http://schemas.openxmlformats.org/drawingml/2006/main"><a:ext uri="{FF2B5EF4-FFF2-40B4-BE49-F238E27FC236}"><a16:creationId id="{21958E99-02D6-492A-84EA-3B0A72CADC6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514350" y="5924550" /><a:ext cx="11163300" cy="400050" /></a:xfrm><a:prstGeom prst="roundRect" xmlns:a="http://schemas.openxmlformats.org/drawingml/2006/main"><a:avLst><a:gd name="adj" fmla="val 19048" /></a:avLst></a:prstGeom><a:solidFill xmlns:a="http://schemas.openxmlformats.org/drawingml/2006/main"><a:srgbClr val="FFF0E2" /></a:solidFill><a:ln w="11430" xmlns:a="http://schemas.openxmlformats.org/drawingml/2006/main"><a:solidFill><a:srgbClr val="E8872D" /></a:solidFill><a:prstDash val="solid" /></a:ln></p:spPr><p:txBody><a:bodyPr anchor="ctr" xmlns:a="http://schemas.openxmlformats.org/drawingml/2006/main" /><a:lstStyle xmlns:a="http://schemas.openxmlformats.org/drawingml/2006/main" /><a:p xmlns:a="http://schemas.openxmlformats.org/drawingml/2006/main"><a:pPr algn="ctr"><a:defRPr sz="1600" b="1"><a:solidFill><a:srgbClr val="15375F" /></a:solidFill></a:defRPr></a:pPr><a:r><a:rPr sz="1600" b="1"><a:solidFill><a:srgbClr val="15375F" /></a:solidFill></a:rPr><a:t>Open up research and development→product channel and establish an internal talent market, with the target job transfer rate increased to 12%</a:t></a:r></a:p></p:txBody></p:sp><p:cxnSp><p:nvCxnSpPr><p:cNvPr id="142" name="" /><p:cNvCxnSpPr><a:stCxn id="63" idx="7" xmlns:a="http://schemas.openxmlformats.org/drawingml/2006/main" /><a:endCxn id="62" idx="3" xmlns:a="http://schemas.openxmlformats.org/drawingml/2006/main" /></p:cNvCxnSpPr><p:nvPr /></p:nvCxnSpPr><p:spPr><a:xfrm rot="5400000" xmlns:a="http://schemas.openxmlformats.org/drawingml/2006/main"><a:off x="10002696" y="3450665" /><a:ext cx="265627" cy="461494" /></a:xfrm><a:prstGeom prst="curvedConnector3" xmlns:a="http://schemas.openxmlformats.org/drawingml/2006/main"><a:avLst><a:gd name="adj1" fmla="val 50000" /></a:avLst></a:prstGeom><a:ln w="30956" xmlns:a="http://schemas.openxmlformats.org/drawingml/2006/main"><a:solidFill><a:srgbClr val="2F6FB2" /></a:solidFill><a:prstDash val="solid" /><a:tailEnd type="triangle" w="med" len="med" /></a:ln></p:spPr></p:cxnSp><p:cxnSp><p:nvCxnSpPr><p:cNvPr id="143" name="" /><p:cNvCxnSpPr><a:stCxn id="61" idx="1" xmlns:a="http://schemas.openxmlformats.org/drawingml/2006/main" /><a:endCxn id="60" idx="5" xmlns:a="http://schemas.openxmlformats.org/drawingml/2006/main" /></p:cNvCxnSpPr><p:nvPr /></p:nvCxnSpPr><p:spPr><a:xfrm rot="16200000" flipH="1" xmlns:a="http://schemas.openxmlformats.org/drawingml/2006/main"><a:off x="10002696" y="1764740" /><a:ext cx="265627" cy="461494" /></a:xfrm><a:prstGeom prst="curvedConnector3" xmlns:a="http://schemas.openxmlformats.org/drawingml/2006/main"><a:avLst><a:gd name="adj1" fmla="val 50000" /></a:avLst></a:prstGeom><a:ln w="41672" xmlns:a="http://schemas.openxmlformats.org/drawingml/2006/main"><a:solidFill><a:srgbClr val="2F6FB2" /></a:solidFill><a:prstDash val="solid" /><a:tailEnd type="triangle" w="med" len="med" /></a:ln></p:spPr></p:cxnSp><p:cxnSp><p:nvCxnSpPr><p:cNvPr id="144" name="" /><p:cNvCxnSpPr><a:stCxn id="60" idx="5" xmlns:a="http://schemas.openxmlformats.org/drawingml/2006/main" /><a:endCxn id="61" idx="1" xmlns:a="http://schemas.openxmlformats.org/drawingml/2006/main" /></p:cNvCxnSpPr><p:nvPr /></p:nvCxnSpPr><p:spPr><a:xfrm rot="16200000" flipH="1" xmlns:a="http://schemas.openxmlformats.org/drawingml/2006/main"><a:off x="10002696" y="1764740" /><a:ext cx="265627" cy="461494" /></a:xfrm><a:prstGeom prst="curvedConnector3" xmlns:a="http://schemas.openxmlformats.org/drawingml/2006/main"><a:avLst><a:gd name="adj1" fmla="val 50000" /></a:avLst></a:prstGeom><a:ln w="52388" xmlns:a="http://schemas.openxmlformats.org/drawingml/2006/main"><a:solidFill><a:srgbClr val="E8872D" /></a:solidFill><a:prstDash val="solid" /><a:tailEnd type="triangle" w="med" len="med" /></a:ln></p:spPr></p:cxnSp></p:spTree><p:extLst><p:ext uri="{BB962C8B-B14F-4D97-AF65-F5344CB8AC3E}"><p14:creationId val="999354705" xmlns:p14="http://schemas.microsoft.com/office/powerpoint/2010/main" /></p:ext></p:extLst></p:cSld>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2026-07-31T20:33:37.2910000Z</dcterms:created>
  <dcterms:modified xsi:type="dcterms:W3CDTF">2026-07-31T20:33:37.2910000Z</dcterms:modified>
</coreProperties>
</file>