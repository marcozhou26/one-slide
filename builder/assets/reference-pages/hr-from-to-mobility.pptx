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b92348eff24de9" /><Relationship Type="http://schemas.openxmlformats.org/officeDocument/2006/relationships/extended-properties" Target="/docProps/app.xml" Id="Rd1d9df907b234efc" /><Relationship Type="http://schemas.openxmlformats.org/officeDocument/2006/relationships/officeDocument" Target="/ppt/presentation.xml" Id="R21545984d75f42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374845ea5c4378"/>
  </p:sldMasterIdLst>
  <p:notesMasterIdLst>
    <p:notesMasterId xmlns:r="http://schemas.openxmlformats.org/officeDocument/2006/relationships" r:id="R523bf76bb8b04687"/>
  </p:notesMasterIdLst>
  <p:sldIdLst>
    <p:sldId xmlns:r="http://schemas.openxmlformats.org/officeDocument/2006/relationships" id="256" r:id="R07d3ff6cf8fb42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c15a1906c140eb" /><Relationship Type="http://schemas.openxmlformats.org/officeDocument/2006/relationships/slideMaster" Target="/ppt/slideMasters/slideMaster1.xml" Id="Re5374845ea5c4378" /><Relationship Type="http://schemas.openxmlformats.org/officeDocument/2006/relationships/notesMaster" Target="/ppt/notesMasters/notesMaster1.xml" Id="R523bf76bb8b04687" /><Relationship Type="http://schemas.openxmlformats.org/officeDocument/2006/relationships/presProps" Target="/ppt/presProps.xml" Id="R0c3e36914f0644b9" /><Relationship Type="http://schemas.openxmlformats.org/officeDocument/2006/relationships/tableStyles" Target="/ppt/tableStyles.xml" Id="R3f46cfcff5df411a" /><Relationship Type="http://schemas.openxmlformats.org/officeDocument/2006/relationships/slide" Target="/ppt/slides/slide1.xml" Id="R07d3ff6cf8fb42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14a5e8d42047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0107ac5e4e4a4a" /><Relationship Type="http://schemas.openxmlformats.org/officeDocument/2006/relationships/notesMaster" Target="/ppt/notesMasters/notesMaster1.xml" Id="Rfa65a9bf28c14d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6059e8facc40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da5bc7c41f4646" /><Relationship Type="http://schemas.openxmlformats.org/officeDocument/2006/relationships/slideLayout" Target="/ppt/slideLayouts/slideLayout1.xml" Id="R490209d11e0340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0209d11e0340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73ab1e3904927" /><Relationship Type="http://schemas.openxmlformats.org/officeDocument/2006/relationships/notesSlide" Target="/ppt/notesSlides/notesSlide1.xml" Id="Rf052e4fd598e4d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page-title">
            <a:extLst xmlns:a="http://schemas.openxmlformats.org/drawingml/2006/main">
              <a:ext uri="{FF2B5EF4-FFF2-40B4-BE49-F238E27FC236}">
                <a16:creationId xmlns:a16="http://schemas.microsoft.com/office/drawing/2014/main" id="{BEC75D41-059C-432B-8843-813C8804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内部转岗率仅 6.3%，74% 的跨部门流动集中在销售与产品两条方向</a:t>
            </a:r>
          </a:p>
        </p:txBody>
      </p:sp>
      <p:sp>
        <p:nvSpPr>
          <p:cNvPr id="2" name="mobility-matrix">
            <a:extLst xmlns:a="http://schemas.openxmlformats.org/drawingml/2006/main">
              <a:ext uri="{FF2B5EF4-FFF2-40B4-BE49-F238E27FC236}">
                <a16:creationId xmlns:a16="http://schemas.microsoft.com/office/drawing/2014/main" id="{8EFC77CE-FAA1-4A0F-A3DC-ABEE6843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68580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mobility-network">
            <a:extLst xmlns:a="http://schemas.openxmlformats.org/drawingml/2006/main">
              <a:ext uri="{FF2B5EF4-FFF2-40B4-BE49-F238E27FC236}">
                <a16:creationId xmlns:a16="http://schemas.microsoft.com/office/drawing/2014/main" id="{4FC0081E-2314-42D7-ABF3-364AC21D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00150"/>
            <a:ext cx="4057650" cy="4457700"/>
          </a:xfrm>
          <a:prstGeom xmlns:a="http://schemas.openxmlformats.org/drawingml/2006/main" prst="roundRect">
            <a:avLst>
              <a:gd name="adj" fmla="val 187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mob-col-1">
            <a:extLst xmlns:a="http://schemas.openxmlformats.org/drawingml/2006/main">
              <a:ext uri="{FF2B5EF4-FFF2-40B4-BE49-F238E27FC236}">
                <a16:creationId xmlns:a16="http://schemas.microsoft.com/office/drawing/2014/main" id="{54C7D4EB-4AD4-4218-8293-150025E5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销售</a:t>
            </a:r>
          </a:p>
        </p:txBody>
      </p:sp>
      <p:sp>
        <p:nvSpPr>
          <p:cNvPr id="5" name="mob-row-1">
            <a:extLst xmlns:a="http://schemas.openxmlformats.org/drawingml/2006/main">
              <a:ext uri="{FF2B5EF4-FFF2-40B4-BE49-F238E27FC236}">
                <a16:creationId xmlns:a16="http://schemas.microsoft.com/office/drawing/2014/main" id="{E9BBE9EB-40DB-42B6-AD87-993D9694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销售</a:t>
            </a:r>
          </a:p>
        </p:txBody>
      </p:sp>
      <p:sp>
        <p:nvSpPr>
          <p:cNvPr id="6" name="mob-col-2">
            <a:extLst xmlns:a="http://schemas.openxmlformats.org/drawingml/2006/main">
              <a:ext uri="{FF2B5EF4-FFF2-40B4-BE49-F238E27FC236}">
                <a16:creationId xmlns:a16="http://schemas.microsoft.com/office/drawing/2014/main" id="{A6B35E3B-BEB6-4826-A7FD-3C94120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产品</a:t>
            </a:r>
          </a:p>
        </p:txBody>
      </p:sp>
      <p:sp>
        <p:nvSpPr>
          <p:cNvPr id="7" name="mob-row-2">
            <a:extLst xmlns:a="http://schemas.openxmlformats.org/drawingml/2006/main">
              <a:ext uri="{FF2B5EF4-FFF2-40B4-BE49-F238E27FC236}">
                <a16:creationId xmlns:a16="http://schemas.microsoft.com/office/drawing/2014/main" id="{8B832459-2992-449E-A0FA-E9CED077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产品</a:t>
            </a:r>
          </a:p>
        </p:txBody>
      </p:sp>
      <p:sp>
        <p:nvSpPr>
          <p:cNvPr id="8" name="mob-col-3">
            <a:extLst xmlns:a="http://schemas.openxmlformats.org/drawingml/2006/main">
              <a:ext uri="{FF2B5EF4-FFF2-40B4-BE49-F238E27FC236}">
                <a16:creationId xmlns:a16="http://schemas.microsoft.com/office/drawing/2014/main" id="{A179CABF-C11D-4890-9845-E8123D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研发</a:t>
            </a:r>
          </a:p>
        </p:txBody>
      </p:sp>
      <p:sp>
        <p:nvSpPr>
          <p:cNvPr id="9" name="mob-row-3">
            <a:extLst xmlns:a="http://schemas.openxmlformats.org/drawingml/2006/main">
              <a:ext uri="{FF2B5EF4-FFF2-40B4-BE49-F238E27FC236}">
                <a16:creationId xmlns:a16="http://schemas.microsoft.com/office/drawing/2014/main" id="{7C7457B1-B202-4601-80F7-65D3C35B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510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研发</a:t>
            </a:r>
          </a:p>
        </p:txBody>
      </p:sp>
      <p:sp>
        <p:nvSpPr>
          <p:cNvPr id="10" name="mob-col-4">
            <a:extLst xmlns:a="http://schemas.openxmlformats.org/drawingml/2006/main">
              <a:ext uri="{FF2B5EF4-FFF2-40B4-BE49-F238E27FC236}">
                <a16:creationId xmlns:a16="http://schemas.microsoft.com/office/drawing/2014/main" id="{BC79E20A-3AAC-432C-B6EB-90437374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交付</a:t>
            </a:r>
          </a:p>
        </p:txBody>
      </p:sp>
      <p:sp>
        <p:nvSpPr>
          <p:cNvPr id="11" name="mob-row-4">
            <a:extLst xmlns:a="http://schemas.openxmlformats.org/drawingml/2006/main">
              <a:ext uri="{FF2B5EF4-FFF2-40B4-BE49-F238E27FC236}">
                <a16:creationId xmlns:a16="http://schemas.microsoft.com/office/drawing/2014/main" id="{E90118BB-1187-4496-8E96-EE24524C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1945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交付</a:t>
            </a:r>
          </a:p>
        </p:txBody>
      </p:sp>
      <p:sp>
        <p:nvSpPr>
          <p:cNvPr id="12" name="mob-col-5">
            <a:extLst xmlns:a="http://schemas.openxmlformats.org/drawingml/2006/main">
              <a:ext uri="{FF2B5EF4-FFF2-40B4-BE49-F238E27FC236}">
                <a16:creationId xmlns:a16="http://schemas.microsoft.com/office/drawing/2014/main" id="{94F27F2B-0305-4F5B-9E94-77B463E0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运营</a:t>
            </a:r>
          </a:p>
        </p:txBody>
      </p:sp>
      <p:sp>
        <p:nvSpPr>
          <p:cNvPr id="13" name="mob-row-5">
            <a:extLst xmlns:a="http://schemas.openxmlformats.org/drawingml/2006/main">
              <a:ext uri="{FF2B5EF4-FFF2-40B4-BE49-F238E27FC236}">
                <a16:creationId xmlns:a16="http://schemas.microsoft.com/office/drawing/2014/main" id="{25A8D264-92E6-485D-9555-30DF0B5C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3380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运营</a:t>
            </a:r>
          </a:p>
        </p:txBody>
      </p:sp>
      <p:sp>
        <p:nvSpPr>
          <p:cNvPr id="14" name="mob-col-6">
            <a:extLst xmlns:a="http://schemas.openxmlformats.org/drawingml/2006/main">
              <a:ext uri="{FF2B5EF4-FFF2-40B4-BE49-F238E27FC236}">
                <a16:creationId xmlns:a16="http://schemas.microsoft.com/office/drawing/2014/main" id="{5AB62941-C2D2-47D4-8E23-C835525D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1295400"/>
            <a:ext cx="955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职能</a:t>
            </a:r>
          </a:p>
        </p:txBody>
      </p:sp>
      <p:sp>
        <p:nvSpPr>
          <p:cNvPr id="15" name="mob-row-6">
            <a:extLst xmlns:a="http://schemas.openxmlformats.org/drawingml/2006/main">
              <a:ext uri="{FF2B5EF4-FFF2-40B4-BE49-F238E27FC236}">
                <a16:creationId xmlns:a16="http://schemas.microsoft.com/office/drawing/2014/main" id="{1E0DC6C7-82ED-4DD7-B044-3DEAC317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48150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职能</a:t>
            </a:r>
          </a:p>
        </p:txBody>
      </p:sp>
      <p:sp>
        <p:nvSpPr>
          <p:cNvPr id="16" name="mobility-1-1">
            <a:extLst xmlns:a="http://schemas.openxmlformats.org/drawingml/2006/main">
              <a:ext uri="{FF2B5EF4-FFF2-40B4-BE49-F238E27FC236}">
                <a16:creationId xmlns:a16="http://schemas.microsoft.com/office/drawing/2014/main" id="{1499E290-768B-4D96-AE0E-65CB374F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410</a:t>
            </a:r>
          </a:p>
        </p:txBody>
      </p:sp>
      <p:sp>
        <p:nvSpPr>
          <p:cNvPr id="17" name="mobility-1-2">
            <a:extLst xmlns:a="http://schemas.openxmlformats.org/drawingml/2006/main">
              <a:ext uri="{FF2B5EF4-FFF2-40B4-BE49-F238E27FC236}">
                <a16:creationId xmlns:a16="http://schemas.microsoft.com/office/drawing/2014/main" id="{951BCF11-B73C-4363-9AFD-C7380825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28/95/48</a:t>
            </a:r>
          </a:p>
        </p:txBody>
      </p:sp>
      <p:sp>
        <p:nvSpPr>
          <p:cNvPr id="18" name="mobility-1-3">
            <a:extLst xmlns:a="http://schemas.openxmlformats.org/drawingml/2006/main">
              <a:ext uri="{FF2B5EF4-FFF2-40B4-BE49-F238E27FC236}">
                <a16:creationId xmlns:a16="http://schemas.microsoft.com/office/drawing/2014/main" id="{552502CA-8795-42F8-B6AA-47308FB1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3/73/23</a:t>
            </a:r>
          </a:p>
        </p:txBody>
      </p:sp>
      <p:sp>
        <p:nvSpPr>
          <p:cNvPr id="19" name="mobility-1-4">
            <a:extLst xmlns:a="http://schemas.openxmlformats.org/drawingml/2006/main">
              <a:ext uri="{FF2B5EF4-FFF2-40B4-BE49-F238E27FC236}">
                <a16:creationId xmlns:a16="http://schemas.microsoft.com/office/drawing/2014/main" id="{9E1B4488-C182-4E5D-83D9-3CBC8A98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20" name="mobility-1-5">
            <a:extLst xmlns:a="http://schemas.openxmlformats.org/drawingml/2006/main">
              <a:ext uri="{FF2B5EF4-FFF2-40B4-BE49-F238E27FC236}">
                <a16:creationId xmlns:a16="http://schemas.microsoft.com/office/drawing/2014/main" id="{65B8D306-7211-4DE1-88EC-40DE2EA8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21" name="mobility-1-6">
            <a:extLst xmlns:a="http://schemas.openxmlformats.org/drawingml/2006/main">
              <a:ext uri="{FF2B5EF4-FFF2-40B4-BE49-F238E27FC236}">
                <a16:creationId xmlns:a16="http://schemas.microsoft.com/office/drawing/2014/main" id="{7D5D2417-0F90-41B1-A610-02656E0E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16764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22" name="mobility-2-1">
            <a:extLst xmlns:a="http://schemas.openxmlformats.org/drawingml/2006/main">
              <a:ext uri="{FF2B5EF4-FFF2-40B4-BE49-F238E27FC236}">
                <a16:creationId xmlns:a16="http://schemas.microsoft.com/office/drawing/2014/main" id="{96ACC412-30E6-4EE6-8201-8A28DC0F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19/89/39</a:t>
            </a:r>
          </a:p>
        </p:txBody>
      </p:sp>
      <p:sp>
        <p:nvSpPr>
          <p:cNvPr id="23" name="mobility-2-2">
            <a:extLst xmlns:a="http://schemas.openxmlformats.org/drawingml/2006/main">
              <a:ext uri="{FF2B5EF4-FFF2-40B4-BE49-F238E27FC236}">
                <a16:creationId xmlns:a16="http://schemas.microsoft.com/office/drawing/2014/main" id="{EC80D852-7582-4D30-A2AD-566BE41A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260</a:t>
            </a:r>
          </a:p>
        </p:txBody>
      </p:sp>
      <p:sp>
        <p:nvSpPr>
          <p:cNvPr id="24" name="mobility-2-3">
            <a:extLst xmlns:a="http://schemas.openxmlformats.org/drawingml/2006/main">
              <a:ext uri="{FF2B5EF4-FFF2-40B4-BE49-F238E27FC236}">
                <a16:creationId xmlns:a16="http://schemas.microsoft.com/office/drawing/2014/main" id="{8D56DC69-E1DC-4B97-A8D8-9B548FA9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4/74/24</a:t>
            </a:r>
          </a:p>
        </p:txBody>
      </p:sp>
      <p:sp>
        <p:nvSpPr>
          <p:cNvPr id="25" name="mobility-2-4">
            <a:extLst xmlns:a="http://schemas.openxmlformats.org/drawingml/2006/main">
              <a:ext uri="{FF2B5EF4-FFF2-40B4-BE49-F238E27FC236}">
                <a16:creationId xmlns:a16="http://schemas.microsoft.com/office/drawing/2014/main" id="{16809177-B165-4BDB-8CF0-9A8ED47A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26" name="mobility-2-5">
            <a:extLst xmlns:a="http://schemas.openxmlformats.org/drawingml/2006/main">
              <a:ext uri="{FF2B5EF4-FFF2-40B4-BE49-F238E27FC236}">
                <a16:creationId xmlns:a16="http://schemas.microsoft.com/office/drawing/2014/main" id="{ED2E898C-5661-46CA-9EE3-DC495B8E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27" name="mobility-2-6">
            <a:extLst xmlns:a="http://schemas.openxmlformats.org/drawingml/2006/main">
              <a:ext uri="{FF2B5EF4-FFF2-40B4-BE49-F238E27FC236}">
                <a16:creationId xmlns:a16="http://schemas.microsoft.com/office/drawing/2014/main" id="{C09527CB-68BB-4828-BEFF-C09CF6D0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21907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○</a:t>
            </a:r>
          </a:p>
        </p:txBody>
      </p:sp>
      <p:sp>
        <p:nvSpPr>
          <p:cNvPr id="28" name="mobility-3-1">
            <a:extLst xmlns:a="http://schemas.openxmlformats.org/drawingml/2006/main">
              <a:ext uri="{FF2B5EF4-FFF2-40B4-BE49-F238E27FC236}">
                <a16:creationId xmlns:a16="http://schemas.microsoft.com/office/drawing/2014/main" id="{22EBE82E-AFBC-4168-BE3D-20EE6542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29" name="mobility-3-2">
            <a:extLst xmlns:a="http://schemas.openxmlformats.org/drawingml/2006/main">
              <a:ext uri="{FF2B5EF4-FFF2-40B4-BE49-F238E27FC236}">
                <a16:creationId xmlns:a16="http://schemas.microsoft.com/office/drawing/2014/main" id="{C939385C-A9D4-4894-9343-2978D325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6/76/26</a:t>
            </a:r>
          </a:p>
        </p:txBody>
      </p:sp>
      <p:sp>
        <p:nvSpPr>
          <p:cNvPr id="30" name="mobility-3-3">
            <a:extLst xmlns:a="http://schemas.openxmlformats.org/drawingml/2006/main">
              <a:ext uri="{FF2B5EF4-FFF2-40B4-BE49-F238E27FC236}">
                <a16:creationId xmlns:a16="http://schemas.microsoft.com/office/drawing/2014/main" id="{41242C2A-453A-4010-9BEF-A60C2DEB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330</a:t>
            </a:r>
          </a:p>
        </p:txBody>
      </p:sp>
      <p:sp>
        <p:nvSpPr>
          <p:cNvPr id="31" name="mobility-3-4">
            <a:extLst xmlns:a="http://schemas.openxmlformats.org/drawingml/2006/main">
              <a:ext uri="{FF2B5EF4-FFF2-40B4-BE49-F238E27FC236}">
                <a16:creationId xmlns:a16="http://schemas.microsoft.com/office/drawing/2014/main" id="{D1B37DF2-887C-4ADF-AE14-6D8CD364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8/78/28</a:t>
            </a:r>
          </a:p>
        </p:txBody>
      </p:sp>
      <p:sp>
        <p:nvSpPr>
          <p:cNvPr id="32" name="mobility-3-5">
            <a:extLst xmlns:a="http://schemas.openxmlformats.org/drawingml/2006/main">
              <a:ext uri="{FF2B5EF4-FFF2-40B4-BE49-F238E27FC236}">
                <a16:creationId xmlns:a16="http://schemas.microsoft.com/office/drawing/2014/main" id="{29E99945-37FC-408B-A090-7A888A96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33" name="mobility-3-6">
            <a:extLst xmlns:a="http://schemas.openxmlformats.org/drawingml/2006/main">
              <a:ext uri="{FF2B5EF4-FFF2-40B4-BE49-F238E27FC236}">
                <a16:creationId xmlns:a16="http://schemas.microsoft.com/office/drawing/2014/main" id="{5CCD5F61-B233-4F71-ACDF-F8132F87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27051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34" name="mobility-4-1">
            <a:extLst xmlns:a="http://schemas.openxmlformats.org/drawingml/2006/main">
              <a:ext uri="{FF2B5EF4-FFF2-40B4-BE49-F238E27FC236}">
                <a16:creationId xmlns:a16="http://schemas.microsoft.com/office/drawing/2014/main" id="{037B896F-CF32-41D2-888E-BC00B741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3/73/23</a:t>
            </a:r>
          </a:p>
        </p:txBody>
      </p:sp>
      <p:sp>
        <p:nvSpPr>
          <p:cNvPr id="35" name="mobility-4-2">
            <a:extLst xmlns:a="http://schemas.openxmlformats.org/drawingml/2006/main">
              <a:ext uri="{FF2B5EF4-FFF2-40B4-BE49-F238E27FC236}">
                <a16:creationId xmlns:a16="http://schemas.microsoft.com/office/drawing/2014/main" id="{C10BA336-8F0D-438E-8D10-0795FD71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36" name="mobility-4-3">
            <a:extLst xmlns:a="http://schemas.openxmlformats.org/drawingml/2006/main">
              <a:ext uri="{FF2B5EF4-FFF2-40B4-BE49-F238E27FC236}">
                <a16:creationId xmlns:a16="http://schemas.microsoft.com/office/drawing/2014/main" id="{4D9DC740-ACA9-40C6-8E5A-3F7D9D5E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10/80/30</a:t>
            </a:r>
          </a:p>
        </p:txBody>
      </p:sp>
      <p:sp>
        <p:nvSpPr>
          <p:cNvPr id="37" name="mobility-4-4">
            <a:extLst xmlns:a="http://schemas.openxmlformats.org/drawingml/2006/main">
              <a:ext uri="{FF2B5EF4-FFF2-40B4-BE49-F238E27FC236}">
                <a16:creationId xmlns:a16="http://schemas.microsoft.com/office/drawing/2014/main" id="{32238C39-5D59-487A-9E1B-2A7C480E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290</a:t>
            </a:r>
          </a:p>
        </p:txBody>
      </p:sp>
      <p:sp>
        <p:nvSpPr>
          <p:cNvPr id="38" name="mobility-4-5">
            <a:extLst xmlns:a="http://schemas.openxmlformats.org/drawingml/2006/main">
              <a:ext uri="{FF2B5EF4-FFF2-40B4-BE49-F238E27FC236}">
                <a16:creationId xmlns:a16="http://schemas.microsoft.com/office/drawing/2014/main" id="{15F807E1-B173-43C1-8349-15F3F613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5/75/25</a:t>
            </a:r>
          </a:p>
        </p:txBody>
      </p:sp>
      <p:sp>
        <p:nvSpPr>
          <p:cNvPr id="39" name="mobility-4-6">
            <a:extLst xmlns:a="http://schemas.openxmlformats.org/drawingml/2006/main">
              <a:ext uri="{FF2B5EF4-FFF2-40B4-BE49-F238E27FC236}">
                <a16:creationId xmlns:a16="http://schemas.microsoft.com/office/drawing/2014/main" id="{D612A7B2-2754-4168-A506-440FAA31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32194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40" name="mobility-5-1">
            <a:extLst xmlns:a="http://schemas.openxmlformats.org/drawingml/2006/main">
              <a:ext uri="{FF2B5EF4-FFF2-40B4-BE49-F238E27FC236}">
                <a16:creationId xmlns:a16="http://schemas.microsoft.com/office/drawing/2014/main" id="{0DA2F94D-E0D8-4867-8F81-15A7C967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41" name="mobility-5-2">
            <a:extLst xmlns:a="http://schemas.openxmlformats.org/drawingml/2006/main">
              <a:ext uri="{FF2B5EF4-FFF2-40B4-BE49-F238E27FC236}">
                <a16:creationId xmlns:a16="http://schemas.microsoft.com/office/drawing/2014/main" id="{56D25620-5037-48DC-9094-5C0A81FF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42" name="mobility-5-3">
            <a:extLst xmlns:a="http://schemas.openxmlformats.org/drawingml/2006/main">
              <a:ext uri="{FF2B5EF4-FFF2-40B4-BE49-F238E27FC236}">
                <a16:creationId xmlns:a16="http://schemas.microsoft.com/office/drawing/2014/main" id="{AD325D92-25CA-4DC2-854A-60DC98F0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43" name="mobility-5-4">
            <a:extLst xmlns:a="http://schemas.openxmlformats.org/drawingml/2006/main">
              <a:ext uri="{FF2B5EF4-FFF2-40B4-BE49-F238E27FC236}">
                <a16:creationId xmlns:a16="http://schemas.microsoft.com/office/drawing/2014/main" id="{E980B295-DE70-43D9-9B4A-ECACC4BF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6/76/26</a:t>
            </a:r>
          </a:p>
        </p:txBody>
      </p:sp>
      <p:sp>
        <p:nvSpPr>
          <p:cNvPr id="44" name="mobility-5-5">
            <a:extLst xmlns:a="http://schemas.openxmlformats.org/drawingml/2006/main">
              <a:ext uri="{FF2B5EF4-FFF2-40B4-BE49-F238E27FC236}">
                <a16:creationId xmlns:a16="http://schemas.microsoft.com/office/drawing/2014/main" id="{43F9DAF3-F570-4368-8598-E74E521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220</a:t>
            </a:r>
          </a:p>
        </p:txBody>
      </p:sp>
      <p:sp>
        <p:nvSpPr>
          <p:cNvPr id="45" name="mobility-5-6">
            <a:extLst xmlns:a="http://schemas.openxmlformats.org/drawingml/2006/main">
              <a:ext uri="{FF2B5EF4-FFF2-40B4-BE49-F238E27FC236}">
                <a16:creationId xmlns:a16="http://schemas.microsoft.com/office/drawing/2014/main" id="{FA34B455-AF9F-4DB2-897B-38AFEB85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373380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3/73/23</a:t>
            </a:r>
          </a:p>
        </p:txBody>
      </p:sp>
      <p:sp>
        <p:nvSpPr>
          <p:cNvPr id="46" name="mobility-6-1">
            <a:extLst xmlns:a="http://schemas.openxmlformats.org/drawingml/2006/main">
              <a:ext uri="{FF2B5EF4-FFF2-40B4-BE49-F238E27FC236}">
                <a16:creationId xmlns:a16="http://schemas.microsoft.com/office/drawing/2014/main" id="{AD3809DA-66A0-4D11-8CA9-08704175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○</a:t>
            </a:r>
          </a:p>
        </p:txBody>
      </p:sp>
      <p:sp>
        <p:nvSpPr>
          <p:cNvPr id="47" name="mobility-6-2">
            <a:extLst xmlns:a="http://schemas.openxmlformats.org/drawingml/2006/main">
              <a:ext uri="{FF2B5EF4-FFF2-40B4-BE49-F238E27FC236}">
                <a16:creationId xmlns:a16="http://schemas.microsoft.com/office/drawing/2014/main" id="{5FA31EF3-2FAC-4BF3-9EE6-0E0EEF37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48" name="mobility-6-3">
            <a:extLst xmlns:a="http://schemas.openxmlformats.org/drawingml/2006/main">
              <a:ext uri="{FF2B5EF4-FFF2-40B4-BE49-F238E27FC236}">
                <a16:creationId xmlns:a16="http://schemas.microsoft.com/office/drawing/2014/main" id="{97DEF84E-66B9-430D-ACE2-DF38AEF1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1/71/21</a:t>
            </a:r>
          </a:p>
        </p:txBody>
      </p:sp>
      <p:sp>
        <p:nvSpPr>
          <p:cNvPr id="49" name="mobility-6-4">
            <a:extLst xmlns:a="http://schemas.openxmlformats.org/drawingml/2006/main">
              <a:ext uri="{FF2B5EF4-FFF2-40B4-BE49-F238E27FC236}">
                <a16:creationId xmlns:a16="http://schemas.microsoft.com/office/drawing/2014/main" id="{F1C8D535-A4E6-4E07-8741-3269F1D6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2/72/22</a:t>
            </a:r>
          </a:p>
        </p:txBody>
      </p:sp>
      <p:sp>
        <p:nvSpPr>
          <p:cNvPr id="50" name="mobility-6-5">
            <a:extLst xmlns:a="http://schemas.openxmlformats.org/drawingml/2006/main">
              <a:ext uri="{FF2B5EF4-FFF2-40B4-BE49-F238E27FC236}">
                <a16:creationId xmlns:a16="http://schemas.microsoft.com/office/drawing/2014/main" id="{7C28AAE5-3A9E-4C6A-BDA3-3C1369DE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4/74/24</a:t>
            </a:r>
          </a:p>
        </p:txBody>
      </p:sp>
      <p:sp>
        <p:nvSpPr>
          <p:cNvPr id="51" name="mobility-6-6">
            <a:extLst xmlns:a="http://schemas.openxmlformats.org/drawingml/2006/main">
              <a:ext uri="{FF2B5EF4-FFF2-40B4-BE49-F238E27FC236}">
                <a16:creationId xmlns:a16="http://schemas.microsoft.com/office/drawing/2014/main" id="{2E7941A3-7FF9-4A75-B60E-227FEA34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4248150"/>
            <a:ext cx="9556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180</a:t>
            </a:r>
          </a:p>
        </p:txBody>
      </p:sp>
      <p:sp>
        <p:nvSpPr>
          <p:cNvPr id="52" name="mob-total-label">
            <a:extLst xmlns:a="http://schemas.openxmlformats.org/drawingml/2006/main">
              <a:ext uri="{FF2B5EF4-FFF2-40B4-BE49-F238E27FC236}">
                <a16:creationId xmlns:a16="http://schemas.microsoft.com/office/drawing/2014/main" id="{D1E22D26-7FFC-4FF6-9E62-87B61F5E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流入合计</a:t>
            </a:r>
          </a:p>
        </p:txBody>
      </p:sp>
      <p:sp>
        <p:nvSpPr>
          <p:cNvPr id="53" name="mob-total-1">
            <a:extLst xmlns:a="http://schemas.openxmlformats.org/drawingml/2006/main">
              <a:ext uri="{FF2B5EF4-FFF2-40B4-BE49-F238E27FC236}">
                <a16:creationId xmlns:a16="http://schemas.microsoft.com/office/drawing/2014/main" id="{BA20F531-266E-4D90-8300-95B17712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435</a:t>
            </a:r>
          </a:p>
        </p:txBody>
      </p:sp>
      <p:sp>
        <p:nvSpPr>
          <p:cNvPr id="54" name="mob-total-2">
            <a:extLst xmlns:a="http://schemas.openxmlformats.org/drawingml/2006/main">
              <a:ext uri="{FF2B5EF4-FFF2-40B4-BE49-F238E27FC236}">
                <a16:creationId xmlns:a16="http://schemas.microsoft.com/office/drawing/2014/main" id="{31B721B2-9E8A-4DD0-92E5-F312C102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298</a:t>
            </a:r>
          </a:p>
        </p:txBody>
      </p:sp>
      <p:sp>
        <p:nvSpPr>
          <p:cNvPr id="55" name="mob-total-3">
            <a:extLst xmlns:a="http://schemas.openxmlformats.org/drawingml/2006/main">
              <a:ext uri="{FF2B5EF4-FFF2-40B4-BE49-F238E27FC236}">
                <a16:creationId xmlns:a16="http://schemas.microsoft.com/office/drawing/2014/main" id="{A44AB345-EAA8-4E24-A102-1921D1E1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350</a:t>
            </a:r>
          </a:p>
        </p:txBody>
      </p:sp>
      <p:sp>
        <p:nvSpPr>
          <p:cNvPr id="56" name="mob-total-4">
            <a:extLst xmlns:a="http://schemas.openxmlformats.org/drawingml/2006/main">
              <a:ext uri="{FF2B5EF4-FFF2-40B4-BE49-F238E27FC236}">
                <a16:creationId xmlns:a16="http://schemas.microsoft.com/office/drawing/2014/main" id="{42D10CC5-E552-4CE8-B209-E798B4E0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310</a:t>
            </a:r>
          </a:p>
        </p:txBody>
      </p:sp>
      <p:sp>
        <p:nvSpPr>
          <p:cNvPr id="57" name="mob-total-5">
            <a:extLst xmlns:a="http://schemas.openxmlformats.org/drawingml/2006/main">
              <a:ext uri="{FF2B5EF4-FFF2-40B4-BE49-F238E27FC236}">
                <a16:creationId xmlns:a16="http://schemas.microsoft.com/office/drawing/2014/main" id="{9ABDF249-E942-44EF-B3A0-2D02AA3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233</a:t>
            </a:r>
          </a:p>
        </p:txBody>
      </p:sp>
      <p:sp>
        <p:nvSpPr>
          <p:cNvPr id="58" name="mob-total-6">
            <a:extLst xmlns:a="http://schemas.openxmlformats.org/drawingml/2006/main">
              <a:ext uri="{FF2B5EF4-FFF2-40B4-BE49-F238E27FC236}">
                <a16:creationId xmlns:a16="http://schemas.microsoft.com/office/drawing/2014/main" id="{5C1D9645-B4C7-475A-94EC-31267B8B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125" y="4781550"/>
            <a:ext cx="955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186</a:t>
            </a:r>
          </a:p>
        </p:txBody>
      </p:sp>
      <p:sp>
        <p:nvSpPr>
          <p:cNvPr id="59" name="mobility-cell-legend">
            <a:extLst xmlns:a="http://schemas.openxmlformats.org/drawingml/2006/main">
              <a:ext uri="{FF2B5EF4-FFF2-40B4-BE49-F238E27FC236}">
                <a16:creationId xmlns:a16="http://schemas.microsoft.com/office/drawing/2014/main" id="{D221A32F-C96E-43A2-BBC5-3809E557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81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格内顺序：人数 / 12 月留存率 / 绩效提升比例（%）；对角线为留任人数</a:t>
            </a:r>
          </a:p>
        </p:txBody>
      </p:sp>
      <p:sp>
        <p:nvSpPr>
          <p:cNvPr id="60" name="mob-node-1">
            <a:extLst xmlns:a="http://schemas.openxmlformats.org/drawingml/2006/main">
              <a:ext uri="{FF2B5EF4-FFF2-40B4-BE49-F238E27FC236}">
                <a16:creationId xmlns:a16="http://schemas.microsoft.com/office/drawing/2014/main" id="{3CA21909-E68E-48D1-8B34-8D2BCCD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504950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销售</a:t>
            </a:r>
          </a:p>
        </p:txBody>
      </p:sp>
      <p:sp>
        <p:nvSpPr>
          <p:cNvPr id="61" name="mob-node-2">
            <a:extLst xmlns:a="http://schemas.openxmlformats.org/drawingml/2006/main">
              <a:ext uri="{FF2B5EF4-FFF2-40B4-BE49-F238E27FC236}">
                <a16:creationId xmlns:a16="http://schemas.microsoft.com/office/drawing/2014/main" id="{8388CB9E-106B-41CD-BB19-E2057D06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0244" y="2066925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产品</a:t>
            </a:r>
          </a:p>
        </p:txBody>
      </p:sp>
      <p:sp>
        <p:nvSpPr>
          <p:cNvPr id="62" name="mob-node-3">
            <a:extLst xmlns:a="http://schemas.openxmlformats.org/drawingml/2006/main">
              <a:ext uri="{FF2B5EF4-FFF2-40B4-BE49-F238E27FC236}">
                <a16:creationId xmlns:a16="http://schemas.microsoft.com/office/drawing/2014/main" id="{5C7EFB19-B6D4-485F-921A-8C5AC646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0244" y="3190875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研发</a:t>
            </a:r>
          </a:p>
        </p:txBody>
      </p:sp>
      <p:sp>
        <p:nvSpPr>
          <p:cNvPr id="63" name="mob-node-4">
            <a:extLst xmlns:a="http://schemas.openxmlformats.org/drawingml/2006/main">
              <a:ext uri="{FF2B5EF4-FFF2-40B4-BE49-F238E27FC236}">
                <a16:creationId xmlns:a16="http://schemas.microsoft.com/office/drawing/2014/main" id="{972031E9-1D89-4210-B469-59B8BEAB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752850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交付</a:t>
            </a:r>
          </a:p>
        </p:txBody>
      </p:sp>
      <p:sp>
        <p:nvSpPr>
          <p:cNvPr id="64" name="mob-node-5">
            <a:extLst xmlns:a="http://schemas.openxmlformats.org/drawingml/2006/main">
              <a:ext uri="{FF2B5EF4-FFF2-40B4-BE49-F238E27FC236}">
                <a16:creationId xmlns:a16="http://schemas.microsoft.com/office/drawing/2014/main" id="{8278B423-9E37-4F9E-A926-F58D7B6C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3506" y="3190875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运营</a:t>
            </a:r>
          </a:p>
        </p:txBody>
      </p:sp>
      <p:sp>
        <p:nvSpPr>
          <p:cNvPr id="65" name="mob-node-6">
            <a:extLst xmlns:a="http://schemas.openxmlformats.org/drawingml/2006/main">
              <a:ext uri="{FF2B5EF4-FFF2-40B4-BE49-F238E27FC236}">
                <a16:creationId xmlns:a16="http://schemas.microsoft.com/office/drawing/2014/main" id="{A79AD75A-A75D-4C8B-97E3-614A77A0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3506" y="2066925"/>
            <a:ext cx="7239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职能</a:t>
            </a:r>
          </a:p>
        </p:txBody>
      </p:sp>
      <p:sp>
        <p:nvSpPr>
          <p:cNvPr id="69" name="mob-insight-1">
            <a:extLst xmlns:a="http://schemas.openxmlformats.org/drawingml/2006/main">
              <a:ext uri="{FF2B5EF4-FFF2-40B4-BE49-F238E27FC236}">
                <a16:creationId xmlns:a16="http://schemas.microsoft.com/office/drawing/2014/main" id="{C66926E3-48DA-40D0-B326-3DD14726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191000"/>
            <a:ext cx="3752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  销售与产品之间形成主要人才通道</a:t>
            </a:r>
          </a:p>
        </p:txBody>
      </p:sp>
      <p:sp>
        <p:nvSpPr>
          <p:cNvPr id="70" name="mob-insight-2">
            <a:extLst xmlns:a="http://schemas.openxmlformats.org/drawingml/2006/main">
              <a:ext uri="{FF2B5EF4-FFF2-40B4-BE49-F238E27FC236}">
                <a16:creationId xmlns:a16="http://schemas.microsoft.com/office/drawing/2014/main" id="{5CDA9F23-1814-4AE0-B235-E1325FFA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10100"/>
            <a:ext cx="3752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研发与交付存在单向输出</a:t>
            </a:r>
          </a:p>
        </p:txBody>
      </p:sp>
      <p:sp>
        <p:nvSpPr>
          <p:cNvPr id="71" name="mob-insight-3">
            <a:extLst xmlns:a="http://schemas.openxmlformats.org/drawingml/2006/main">
              <a:ext uri="{FF2B5EF4-FFF2-40B4-BE49-F238E27FC236}">
                <a16:creationId xmlns:a16="http://schemas.microsoft.com/office/drawing/2014/main" id="{74FC087B-31E2-43AA-B79B-596D8162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029200"/>
            <a:ext cx="3752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职能部门几乎没有跨部门流动</a:t>
            </a:r>
          </a:p>
        </p:txBody>
      </p:sp>
      <p:sp>
        <p:nvSpPr>
          <p:cNvPr id="72" name="bottom">
            <a:extLst xmlns:a="http://schemas.openxmlformats.org/drawingml/2006/main">
              <a:ext uri="{FF2B5EF4-FFF2-40B4-BE49-F238E27FC236}">
                <a16:creationId xmlns:a16="http://schemas.microsoft.com/office/drawing/2014/main" id="{21958E99-02D6-492A-84EA-3B0A72CA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打通研发→产品通道并设立内部人才市场，目标转岗率提升至 12%</a:t>
            </a:r>
          </a:p>
        </p:txBody>
      </p:sp>
      <p:cxnSp>
        <p:nvCxnSpPr>
          <p:cNvPr id="142" name=""/>
          <p:cNvCxnSpPr>
            <a:stCxn xmlns:a="http://schemas.openxmlformats.org/drawingml/2006/main" id="63" idx="7"/>
            <a:endCxn xmlns:a="http://schemas.openxmlformats.org/drawingml/2006/main" id="62" idx="3"/>
          </p:cNvCxnSpPr>
          <p:nvPr/>
        </p:nvCxnSpPr>
        <p:spPr>
          <a:xfrm xmlns:a="http://schemas.openxmlformats.org/drawingml/2006/main" rot="5400000">
            <a:off x="10002696" y="3450665"/>
            <a:ext cx="265627" cy="461494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30956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143" name=""/>
          <p:cNvCxnSpPr>
            <a:stCxn xmlns:a="http://schemas.openxmlformats.org/drawingml/2006/main" id="61" idx="1"/>
            <a:endCxn xmlns:a="http://schemas.openxmlformats.org/drawingml/2006/main" id="60" idx="5"/>
          </p:cNvCxnSpPr>
          <p:nvPr/>
        </p:nvCxnSpPr>
        <p:spPr>
          <a:xfrm xmlns:a="http://schemas.openxmlformats.org/drawingml/2006/main" rot="16200000" flipH="1">
            <a:off x="10002696" y="1764740"/>
            <a:ext cx="265627" cy="461494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41672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144" name=""/>
          <p:cNvCxnSpPr>
            <a:stCxn xmlns:a="http://schemas.openxmlformats.org/drawingml/2006/main" id="60" idx="5"/>
            <a:endCxn xmlns:a="http://schemas.openxmlformats.org/drawingml/2006/main" id="61" idx="1"/>
          </p:cNvCxnSpPr>
          <p:nvPr/>
        </p:nvCxnSpPr>
        <p:spPr>
          <a:xfrm xmlns:a="http://schemas.openxmlformats.org/drawingml/2006/main" rot="16200000" flipH="1">
            <a:off x="10002696" y="1764740"/>
            <a:ext cx="265627" cy="461494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52388">
            <a:solidFill>
              <a:srgbClr val="E8872D"/>
            </a:solidFill>
            <a:prstDash val="soli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9993547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2026-07-31T20:33:37.2910000Z</dcterms:created>
  <dcterms:modified xsi:type="dcterms:W3CDTF">2026-07-31T20:33:37.2910000Z</dcterms:modified>
</coreProperties>
</file>