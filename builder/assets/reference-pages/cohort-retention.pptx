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0715f8ee754eb8" /><Relationship Type="http://schemas.openxmlformats.org/officeDocument/2006/relationships/extended-properties" Target="/docProps/app.xml" Id="R6dea02d847e042e0" /><Relationship Type="http://schemas.openxmlformats.org/officeDocument/2006/relationships/officeDocument" Target="/ppt/presentation.xml" Id="R9f0b4bb9bc694e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0a0067b9fb430a"/>
  </p:sldMasterIdLst>
  <p:notesMasterIdLst>
    <p:notesMasterId xmlns:r="http://schemas.openxmlformats.org/officeDocument/2006/relationships" r:id="R9136625cba0c4b35"/>
  </p:notesMasterIdLst>
  <p:sldIdLst>
    <p:sldId xmlns:r="http://schemas.openxmlformats.org/officeDocument/2006/relationships" id="256" r:id="R0933c4577ad4469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480ff6c0a14c3e" /><Relationship Type="http://schemas.openxmlformats.org/officeDocument/2006/relationships/slideMaster" Target="/ppt/slideMasters/slideMaster1.xml" Id="Ra10a0067b9fb430a" /><Relationship Type="http://schemas.openxmlformats.org/officeDocument/2006/relationships/notesMaster" Target="/ppt/notesMasters/notesMaster1.xml" Id="R9136625cba0c4b35" /><Relationship Type="http://schemas.openxmlformats.org/officeDocument/2006/relationships/presProps" Target="/ppt/presProps.xml" Id="Re18b6cd35ec248ae" /><Relationship Type="http://schemas.openxmlformats.org/officeDocument/2006/relationships/tableStyles" Target="/ppt/tableStyles.xml" Id="R4cc7cc9b5e944b67" /><Relationship Type="http://schemas.openxmlformats.org/officeDocument/2006/relationships/slide" Target="/ppt/slides/slide1.xml" Id="R0933c4577ad446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49586de3a143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8245bca83f4646" /><Relationship Type="http://schemas.openxmlformats.org/officeDocument/2006/relationships/notesMaster" Target="/ppt/notesMasters/notesMaster1.xml" Id="R2217dcce5ec247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8b3901df5a45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1e03eccc854076" /><Relationship Type="http://schemas.openxmlformats.org/officeDocument/2006/relationships/slideLayout" Target="/ppt/slideLayouts/slideLayout1.xml" Id="Rb9df32039b3a41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df32039b3a41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a89c22873d46a9" /><Relationship Type="http://schemas.openxmlformats.org/officeDocument/2006/relationships/notesSlide" Target="/ppt/notesSlides/notesSlide1.xml" Id="R49cb4eb73629476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page-title">
            <a:extLst xmlns:a="http://schemas.openxmlformats.org/drawingml/2006/main">
              <a:ext uri="{FF2B5EF4-FFF2-40B4-BE49-F238E27FC236}">
                <a16:creationId xmlns:a16="http://schemas.microsoft.com/office/drawing/2014/main" id="{47F53DFA-C119-42A6-B119-8DA7F25A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375F"/>
                </a:solidFill>
              </a:defRPr>
            </a:pPr>
            <a:r>
              <a:rPr sz="3000" b="1">
                <a:solidFill>
                  <a:srgbClr val="15375F"/>
                </a:solidFill>
              </a:rPr>
              <a:t>All batches were obviously lost in the first week, and the February batch continued to lag behind; the immature cycle of newer batches was left blank.</a:t>
            </a:r>
          </a:p>
        </p:txBody>
      </p:sp>
      <p:sp>
        <p:nvSpPr>
          <p:cNvPr id="2" name="cohort-chart-frame">
            <a:extLst xmlns:a="http://schemas.openxmlformats.org/drawingml/2006/main">
              <a:ext uri="{FF2B5EF4-FFF2-40B4-BE49-F238E27FC236}">
                <a16:creationId xmlns:a16="http://schemas.microsoft.com/office/drawing/2014/main" id="{8B6BC49A-8158-4A57-A3E3-B45D42FF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843915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" name="cohort-definition">
            <a:extLst xmlns:a="http://schemas.openxmlformats.org/drawingml/2006/main">
              <a:ext uri="{FF2B5EF4-FFF2-40B4-BE49-F238E27FC236}">
                <a16:creationId xmlns:a16="http://schemas.microsoft.com/office/drawing/2014/main" id="{41E26E90-65F8-4682-BAC7-EF3D4A18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15375F"/>
                </a:solidFill>
              </a:defRPr>
            </a:pPr>
            <a:r>
              <a:rPr sz="1400" b="1">
                <a:solidFill>
                  <a:srgbClr val="15375F"/>
                </a:solidFill>
              </a:rPr>
              <a:t>Batch: Grouped by first activation month</a:t>
            </a:r>
          </a:p>
        </p:txBody>
      </p:sp>
      <p:sp>
        <p:nvSpPr>
          <p:cNvPr id="4" name="measure-definition">
            <a:extLst xmlns:a="http://schemas.openxmlformats.org/drawingml/2006/main">
              <a:ext uri="{FF2B5EF4-FFF2-40B4-BE49-F238E27FC236}">
                <a16:creationId xmlns:a16="http://schemas.microsoft.com/office/drawing/2014/main" id="{E3DC8693-5544-4127-A1B1-90B26BE5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3335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697386"/>
                </a:solidFill>
              </a:defRPr>
            </a:pPr>
            <a:r>
              <a:rPr sz="1400" b="0">
                <a:solidFill>
                  <a:srgbClr val="697386"/>
                </a:solidFill>
              </a:rPr>
              <a:t>Indicator: The number of customers who are still active in each relative week and their proportion to the initial base</a:t>
            </a:r>
          </a:p>
        </p:txBody>
      </p:sp>
      <p:sp>
        <p:nvSpPr>
          <p:cNvPr id="5" name="denominator-definition">
            <a:extLst xmlns:a="http://schemas.openxmlformats.org/drawingml/2006/main">
              <a:ext uri="{FF2B5EF4-FFF2-40B4-BE49-F238E27FC236}">
                <a16:creationId xmlns:a16="http://schemas.microsoft.com/office/drawing/2014/main" id="{6989ABC4-B5E7-4EF0-A3AE-495CF7D9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3335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697386"/>
                </a:solidFill>
              </a:defRPr>
            </a:pPr>
            <a:r>
              <a:rPr sz="1400" b="0">
                <a:solidFill>
                  <a:srgbClr val="697386"/>
                </a:solidFill>
              </a:rPr>
              <a:t>Denominator: Number of first-time activated customers in each batch</a:t>
            </a:r>
          </a:p>
        </p:txBody>
      </p:sp>
      <p:sp>
        <p:nvSpPr>
          <p:cNvPr id="6" name="grid-0">
            <a:extLst xmlns:a="http://schemas.openxmlformats.org/drawingml/2006/main">
              <a:ext uri="{FF2B5EF4-FFF2-40B4-BE49-F238E27FC236}">
                <a16:creationId xmlns:a16="http://schemas.microsoft.com/office/drawing/2014/main" id="{65E3D2CF-96D4-4191-B10A-A6B0ABA3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7486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solid"/>
          </a:ln>
        </p:spPr>
      </p:sp>
      <p:sp>
        <p:nvSpPr>
          <p:cNvPr id="7" name="y-axis-0">
            <a:extLst xmlns:a="http://schemas.openxmlformats.org/drawingml/2006/main">
              <a:ext uri="{FF2B5EF4-FFF2-40B4-BE49-F238E27FC236}">
                <a16:creationId xmlns:a16="http://schemas.microsoft.com/office/drawing/2014/main" id="{FF851CD4-3420-4042-81AE-96332AF9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624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0%</a:t>
            </a:r>
          </a:p>
        </p:txBody>
      </p:sp>
      <p:sp>
        <p:nvSpPr>
          <p:cNvPr id="8" name="grid-25">
            <a:extLst xmlns:a="http://schemas.openxmlformats.org/drawingml/2006/main">
              <a:ext uri="{FF2B5EF4-FFF2-40B4-BE49-F238E27FC236}">
                <a16:creationId xmlns:a16="http://schemas.microsoft.com/office/drawing/2014/main" id="{F34240B3-9451-4091-BC71-18A456E4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7486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dash"/>
          </a:ln>
        </p:spPr>
      </p:sp>
      <p:sp>
        <p:nvSpPr>
          <p:cNvPr id="9" name="y-axis-25">
            <a:extLst xmlns:a="http://schemas.openxmlformats.org/drawingml/2006/main">
              <a:ext uri="{FF2B5EF4-FFF2-40B4-BE49-F238E27FC236}">
                <a16:creationId xmlns:a16="http://schemas.microsoft.com/office/drawing/2014/main" id="{B24EC240-19D7-49C7-82D0-FE335863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623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25%</a:t>
            </a:r>
          </a:p>
        </p:txBody>
      </p:sp>
      <p:sp>
        <p:nvSpPr>
          <p:cNvPr id="10" name="grid-50">
            <a:extLst xmlns:a="http://schemas.openxmlformats.org/drawingml/2006/main">
              <a:ext uri="{FF2B5EF4-FFF2-40B4-BE49-F238E27FC236}">
                <a16:creationId xmlns:a16="http://schemas.microsoft.com/office/drawing/2014/main" id="{06FA586F-5360-42F2-8251-EF117A9B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57550"/>
            <a:ext cx="7486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dash"/>
          </a:ln>
        </p:spPr>
      </p:sp>
      <p:sp>
        <p:nvSpPr>
          <p:cNvPr id="11" name="y-axis-50">
            <a:extLst xmlns:a="http://schemas.openxmlformats.org/drawingml/2006/main">
              <a:ext uri="{FF2B5EF4-FFF2-40B4-BE49-F238E27FC236}">
                <a16:creationId xmlns:a16="http://schemas.microsoft.com/office/drawing/2014/main" id="{2A617E80-A0D2-405F-8A7E-900E60C9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623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50%</a:t>
            </a:r>
          </a:p>
        </p:txBody>
      </p:sp>
      <p:sp>
        <p:nvSpPr>
          <p:cNvPr id="12" name="grid-75">
            <a:extLst xmlns:a="http://schemas.openxmlformats.org/drawingml/2006/main">
              <a:ext uri="{FF2B5EF4-FFF2-40B4-BE49-F238E27FC236}">
                <a16:creationId xmlns:a16="http://schemas.microsoft.com/office/drawing/2014/main" id="{FF2482E0-7B9A-40BF-95E7-F5F01524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57475"/>
            <a:ext cx="7486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dash"/>
          </a:ln>
        </p:spPr>
      </p:sp>
      <p:sp>
        <p:nvSpPr>
          <p:cNvPr id="13" name="y-axis-75">
            <a:extLst xmlns:a="http://schemas.openxmlformats.org/drawingml/2006/main">
              <a:ext uri="{FF2B5EF4-FFF2-40B4-BE49-F238E27FC236}">
                <a16:creationId xmlns:a16="http://schemas.microsoft.com/office/drawing/2014/main" id="{B7603A2B-1859-4F87-8F06-CB0E595B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622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75%</a:t>
            </a:r>
          </a:p>
        </p:txBody>
      </p:sp>
      <p:sp>
        <p:nvSpPr>
          <p:cNvPr id="14" name="grid-100">
            <a:extLst xmlns:a="http://schemas.openxmlformats.org/drawingml/2006/main">
              <a:ext uri="{FF2B5EF4-FFF2-40B4-BE49-F238E27FC236}">
                <a16:creationId xmlns:a16="http://schemas.microsoft.com/office/drawing/2014/main" id="{A3108255-3BE7-4235-83E0-F2A70AFD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57400"/>
            <a:ext cx="7486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dash"/>
          </a:ln>
        </p:spPr>
      </p:sp>
      <p:sp>
        <p:nvSpPr>
          <p:cNvPr id="15" name="y-axis-100">
            <a:extLst xmlns:a="http://schemas.openxmlformats.org/drawingml/2006/main">
              <a:ext uri="{FF2B5EF4-FFF2-40B4-BE49-F238E27FC236}">
                <a16:creationId xmlns:a16="http://schemas.microsoft.com/office/drawing/2014/main" id="{24F8679B-F120-43C0-ABAD-A9F57F28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100%</a:t>
            </a:r>
          </a:p>
        </p:txBody>
      </p:sp>
      <p:sp>
        <p:nvSpPr>
          <p:cNvPr id="16" name="x-tick-1">
            <a:extLst xmlns:a="http://schemas.openxmlformats.org/drawingml/2006/main">
              <a:ext uri="{FF2B5EF4-FFF2-40B4-BE49-F238E27FC236}">
                <a16:creationId xmlns:a16="http://schemas.microsoft.com/office/drawing/2014/main" id="{D9043302-C98A-4605-9F2A-5FAEDA99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EB8C6"/>
            </a:solidFill>
            <a:prstDash val="solid"/>
          </a:ln>
        </p:spPr>
      </p:sp>
      <p:sp>
        <p:nvSpPr>
          <p:cNvPr id="17" name="x-label-1">
            <a:extLst xmlns:a="http://schemas.openxmlformats.org/drawingml/2006/main">
              <a:ext uri="{FF2B5EF4-FFF2-40B4-BE49-F238E27FC236}">
                <a16:creationId xmlns:a16="http://schemas.microsoft.com/office/drawing/2014/main" id="{D9562ACC-CBCA-4AFB-AF76-40929E62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33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No.0week</a:t>
            </a:r>
          </a:p>
        </p:txBody>
      </p:sp>
      <p:sp>
        <p:nvSpPr>
          <p:cNvPr id="18" name="x-tick-2">
            <a:extLst xmlns:a="http://schemas.openxmlformats.org/drawingml/2006/main">
              <a:ext uri="{FF2B5EF4-FFF2-40B4-BE49-F238E27FC236}">
                <a16:creationId xmlns:a16="http://schemas.microsoft.com/office/drawing/2014/main" id="{E4003CCE-1EE2-483C-8510-A334E34E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330" y="4457700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EB8C6"/>
            </a:solidFill>
            <a:prstDash val="solid"/>
          </a:ln>
        </p:spPr>
      </p:sp>
      <p:sp>
        <p:nvSpPr>
          <p:cNvPr id="19" name="x-label-2">
            <a:extLst xmlns:a="http://schemas.openxmlformats.org/drawingml/2006/main">
              <a:ext uri="{FF2B5EF4-FFF2-40B4-BE49-F238E27FC236}">
                <a16:creationId xmlns:a16="http://schemas.microsoft.com/office/drawing/2014/main" id="{BB97BE44-B2D3-4A31-B848-03B9F8B4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6480" y="4533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No.1week</a:t>
            </a:r>
          </a:p>
        </p:txBody>
      </p:sp>
      <p:sp>
        <p:nvSpPr>
          <p:cNvPr id="20" name="x-tick-3">
            <a:extLst xmlns:a="http://schemas.openxmlformats.org/drawingml/2006/main">
              <a:ext uri="{FF2B5EF4-FFF2-40B4-BE49-F238E27FC236}">
                <a16:creationId xmlns:a16="http://schemas.microsoft.com/office/drawing/2014/main" id="{52EA6702-4A68-4A69-992A-DE46A741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660" y="4457700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EB8C6"/>
            </a:solidFill>
            <a:prstDash val="solid"/>
          </a:ln>
        </p:spPr>
      </p:sp>
      <p:sp>
        <p:nvSpPr>
          <p:cNvPr id="21" name="x-label-3">
            <a:extLst xmlns:a="http://schemas.openxmlformats.org/drawingml/2006/main">
              <a:ext uri="{FF2B5EF4-FFF2-40B4-BE49-F238E27FC236}">
                <a16:creationId xmlns:a16="http://schemas.microsoft.com/office/drawing/2014/main" id="{4BB22E1E-62BD-4E6D-973F-B940FD70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810" y="4533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No.2week</a:t>
            </a:r>
          </a:p>
        </p:txBody>
      </p:sp>
      <p:sp>
        <p:nvSpPr>
          <p:cNvPr id="22" name="x-tick-4">
            <a:extLst xmlns:a="http://schemas.openxmlformats.org/drawingml/2006/main">
              <a:ext uri="{FF2B5EF4-FFF2-40B4-BE49-F238E27FC236}">
                <a16:creationId xmlns:a16="http://schemas.microsoft.com/office/drawing/2014/main" id="{C39C33D5-2498-4E32-B166-7B6C874D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990" y="4457700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EB8C6"/>
            </a:solidFill>
            <a:prstDash val="solid"/>
          </a:ln>
        </p:spPr>
      </p:sp>
      <p:sp>
        <p:nvSpPr>
          <p:cNvPr id="23" name="x-label-4">
            <a:extLst xmlns:a="http://schemas.openxmlformats.org/drawingml/2006/main">
              <a:ext uri="{FF2B5EF4-FFF2-40B4-BE49-F238E27FC236}">
                <a16:creationId xmlns:a16="http://schemas.microsoft.com/office/drawing/2014/main" id="{E26BA368-8F93-4101-80C8-5458ADE6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140" y="4533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No.4week</a:t>
            </a:r>
          </a:p>
        </p:txBody>
      </p:sp>
      <p:sp>
        <p:nvSpPr>
          <p:cNvPr id="24" name="x-tick-5">
            <a:extLst xmlns:a="http://schemas.openxmlformats.org/drawingml/2006/main">
              <a:ext uri="{FF2B5EF4-FFF2-40B4-BE49-F238E27FC236}">
                <a16:creationId xmlns:a16="http://schemas.microsoft.com/office/drawing/2014/main" id="{4D44F4C8-28EA-4722-A38D-7B7C5508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457700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EB8C6"/>
            </a:solidFill>
            <a:prstDash val="solid"/>
          </a:ln>
        </p:spPr>
      </p:sp>
      <p:sp>
        <p:nvSpPr>
          <p:cNvPr id="25" name="x-label-5">
            <a:extLst xmlns:a="http://schemas.openxmlformats.org/drawingml/2006/main">
              <a:ext uri="{FF2B5EF4-FFF2-40B4-BE49-F238E27FC236}">
                <a16:creationId xmlns:a16="http://schemas.microsoft.com/office/drawing/2014/main" id="{7F1401A0-EA7A-4A9F-BDBC-98ABF6C4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470" y="4533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No.8week</a:t>
            </a:r>
          </a:p>
        </p:txBody>
      </p:sp>
      <p:sp>
        <p:nvSpPr>
          <p:cNvPr id="26" name="x-tick-6">
            <a:extLst xmlns:a="http://schemas.openxmlformats.org/drawingml/2006/main">
              <a:ext uri="{FF2B5EF4-FFF2-40B4-BE49-F238E27FC236}">
                <a16:creationId xmlns:a16="http://schemas.microsoft.com/office/drawing/2014/main" id="{E2820FE1-BD2D-4845-9826-F2218C81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457700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EB8C6"/>
            </a:solidFill>
            <a:prstDash val="solid"/>
          </a:ln>
        </p:spPr>
      </p:sp>
      <p:sp>
        <p:nvSpPr>
          <p:cNvPr id="27" name="x-label-6">
            <a:extLst xmlns:a="http://schemas.openxmlformats.org/drawingml/2006/main">
              <a:ext uri="{FF2B5EF4-FFF2-40B4-BE49-F238E27FC236}">
                <a16:creationId xmlns:a16="http://schemas.microsoft.com/office/drawing/2014/main" id="{21F1FB4C-794C-4FA9-86DC-2DBF4A72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33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No.12week</a:t>
            </a:r>
          </a:p>
        </p:txBody>
      </p:sp>
      <p:sp>
        <p:nvSpPr>
          <p:cNvPr id="28" name="x-axis-unit">
            <a:extLst xmlns:a="http://schemas.openxmlformats.org/drawingml/2006/main">
              <a:ext uri="{FF2B5EF4-FFF2-40B4-BE49-F238E27FC236}">
                <a16:creationId xmlns:a16="http://schemas.microsoft.com/office/drawing/2014/main" id="{29CED2D3-EFF9-4B00-952A-6017A28A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752975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Relative period (week)</a:t>
            </a:r>
          </a:p>
        </p:txBody>
      </p:sp>
      <p:sp>
        <p:nvSpPr>
          <p:cNvPr id="29" name="cohort-line-1-1">
            <a:extLst xmlns:a="http://schemas.openxmlformats.org/drawingml/2006/main">
              <a:ext uri="{FF2B5EF4-FFF2-40B4-BE49-F238E27FC236}">
                <a16:creationId xmlns:a16="http://schemas.microsoft.com/office/drawing/2014/main" id="{F1CC61D5-741F-46C9-9514-13032DB8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57400"/>
            <a:ext cx="1497330" cy="3600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15375F"/>
            </a:solidFill>
            <a:prstDash val="solid"/>
          </a:ln>
        </p:spPr>
      </p:sp>
      <p:sp>
        <p:nvSpPr>
          <p:cNvPr id="30" name="cohort-line-1-2">
            <a:extLst xmlns:a="http://schemas.openxmlformats.org/drawingml/2006/main">
              <a:ext uri="{FF2B5EF4-FFF2-40B4-BE49-F238E27FC236}">
                <a16:creationId xmlns:a16="http://schemas.microsoft.com/office/drawing/2014/main" id="{E308A70A-C0B0-4EB9-B2D6-28D8BC62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330" y="2417445"/>
            <a:ext cx="1497330" cy="16802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15375F"/>
            </a:solidFill>
            <a:prstDash val="solid"/>
          </a:ln>
        </p:spPr>
      </p:sp>
      <p:sp>
        <p:nvSpPr>
          <p:cNvPr id="31" name="cohort-line-1-3">
            <a:extLst xmlns:a="http://schemas.openxmlformats.org/drawingml/2006/main">
              <a:ext uri="{FF2B5EF4-FFF2-40B4-BE49-F238E27FC236}">
                <a16:creationId xmlns:a16="http://schemas.microsoft.com/office/drawing/2014/main" id="{2BE57A59-7182-4206-BB58-7A22639A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660" y="2585466"/>
            <a:ext cx="1497330" cy="1920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15375F"/>
            </a:solidFill>
            <a:prstDash val="solid"/>
          </a:ln>
        </p:spPr>
      </p:sp>
      <p:sp>
        <p:nvSpPr>
          <p:cNvPr id="32" name="cohort-line-1-4">
            <a:extLst xmlns:a="http://schemas.openxmlformats.org/drawingml/2006/main">
              <a:ext uri="{FF2B5EF4-FFF2-40B4-BE49-F238E27FC236}">
                <a16:creationId xmlns:a16="http://schemas.microsoft.com/office/drawing/2014/main" id="{9CC3CB9F-D8F4-49FC-A09F-D35DF217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990" y="2777490"/>
            <a:ext cx="1497330" cy="1920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15375F"/>
            </a:solidFill>
            <a:prstDash val="solid"/>
          </a:ln>
        </p:spPr>
      </p:sp>
      <p:sp>
        <p:nvSpPr>
          <p:cNvPr id="33" name="cohort-line-1-5">
            <a:extLst xmlns:a="http://schemas.openxmlformats.org/drawingml/2006/main">
              <a:ext uri="{FF2B5EF4-FFF2-40B4-BE49-F238E27FC236}">
                <a16:creationId xmlns:a16="http://schemas.microsoft.com/office/drawing/2014/main" id="{194F75C2-AD1A-458E-868F-F2923102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969514"/>
            <a:ext cx="1497330" cy="960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15375F"/>
            </a:solidFill>
            <a:prstDash val="solid"/>
          </a:ln>
        </p:spPr>
      </p:sp>
      <p:sp>
        <p:nvSpPr>
          <p:cNvPr id="34" name="cohort-point-1-1">
            <a:extLst xmlns:a="http://schemas.openxmlformats.org/drawingml/2006/main">
              <a:ext uri="{FF2B5EF4-FFF2-40B4-BE49-F238E27FC236}">
                <a16:creationId xmlns:a16="http://schemas.microsoft.com/office/drawing/2014/main" id="{FB183781-7457-4606-B0A8-E5C8D165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19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14288">
            <a:solidFill>
              <a:srgbClr val="15375F"/>
            </a:solidFill>
            <a:prstDash val="solid"/>
          </a:ln>
        </p:spPr>
      </p:sp>
      <p:sp>
        <p:nvSpPr>
          <p:cNvPr id="35" name="cohort-point-1-2">
            <a:extLst xmlns:a="http://schemas.openxmlformats.org/drawingml/2006/main">
              <a:ext uri="{FF2B5EF4-FFF2-40B4-BE49-F238E27FC236}">
                <a16:creationId xmlns:a16="http://schemas.microsoft.com/office/drawing/2014/main" id="{E6A39FDC-77DC-408F-854E-4AD2AEAD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2230" y="237934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14288">
            <a:solidFill>
              <a:srgbClr val="15375F"/>
            </a:solidFill>
            <a:prstDash val="solid"/>
          </a:ln>
        </p:spPr>
      </p:sp>
      <p:sp>
        <p:nvSpPr>
          <p:cNvPr id="36" name="cohort-point-1-3">
            <a:extLst xmlns:a="http://schemas.openxmlformats.org/drawingml/2006/main">
              <a:ext uri="{FF2B5EF4-FFF2-40B4-BE49-F238E27FC236}">
                <a16:creationId xmlns:a16="http://schemas.microsoft.com/office/drawing/2014/main" id="{12257137-8D20-4BE0-90AC-42D82C44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9560" y="254736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14288">
            <a:solidFill>
              <a:srgbClr val="15375F"/>
            </a:solidFill>
            <a:prstDash val="solid"/>
          </a:ln>
        </p:spPr>
      </p:sp>
      <p:sp>
        <p:nvSpPr>
          <p:cNvPr id="37" name="cohort-point-1-4">
            <a:extLst xmlns:a="http://schemas.openxmlformats.org/drawingml/2006/main">
              <a:ext uri="{FF2B5EF4-FFF2-40B4-BE49-F238E27FC236}">
                <a16:creationId xmlns:a16="http://schemas.microsoft.com/office/drawing/2014/main" id="{8248F32E-00DD-412C-9DFD-CEC58846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890" y="273939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14288">
            <a:solidFill>
              <a:srgbClr val="15375F"/>
            </a:solidFill>
            <a:prstDash val="solid"/>
          </a:ln>
        </p:spPr>
      </p:sp>
      <p:sp>
        <p:nvSpPr>
          <p:cNvPr id="38" name="cohort-point-1-5">
            <a:extLst xmlns:a="http://schemas.openxmlformats.org/drawingml/2006/main">
              <a:ext uri="{FF2B5EF4-FFF2-40B4-BE49-F238E27FC236}">
                <a16:creationId xmlns:a16="http://schemas.microsoft.com/office/drawing/2014/main" id="{2481734B-F000-4EC5-AAC7-6B9D7711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293141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14288">
            <a:solidFill>
              <a:srgbClr val="15375F"/>
            </a:solidFill>
            <a:prstDash val="solid"/>
          </a:ln>
        </p:spPr>
      </p:sp>
      <p:sp>
        <p:nvSpPr>
          <p:cNvPr id="39" name="cohort-point-1-6">
            <a:extLst xmlns:a="http://schemas.openxmlformats.org/drawingml/2006/main">
              <a:ext uri="{FF2B5EF4-FFF2-40B4-BE49-F238E27FC236}">
                <a16:creationId xmlns:a16="http://schemas.microsoft.com/office/drawing/2014/main" id="{CD2259FA-88E6-4179-8411-754E1211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2742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14288">
            <a:solidFill>
              <a:srgbClr val="15375F"/>
            </a:solidFill>
            <a:prstDash val="solid"/>
          </a:ln>
        </p:spPr>
      </p:sp>
      <p:sp>
        <p:nvSpPr>
          <p:cNvPr id="40" name="cohort-end-1">
            <a:extLst xmlns:a="http://schemas.openxmlformats.org/drawingml/2006/main">
              <a:ext uri="{FF2B5EF4-FFF2-40B4-BE49-F238E27FC236}">
                <a16:creationId xmlns:a16="http://schemas.microsoft.com/office/drawing/2014/main" id="{15FE43AC-C224-4386-8E29-7DFBAD6D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51226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375F"/>
                </a:solidFill>
              </a:defRPr>
            </a:pPr>
            <a:r>
              <a:rPr sz="1200" b="1">
                <a:solidFill>
                  <a:srgbClr val="15375F"/>
                </a:solidFill>
              </a:rPr>
              <a:t>58%</a:t>
            </a:r>
          </a:p>
        </p:txBody>
      </p:sp>
      <p:sp>
        <p:nvSpPr>
          <p:cNvPr id="41" name="cohort-line-2-1">
            <a:extLst xmlns:a="http://schemas.openxmlformats.org/drawingml/2006/main">
              <a:ext uri="{FF2B5EF4-FFF2-40B4-BE49-F238E27FC236}">
                <a16:creationId xmlns:a16="http://schemas.microsoft.com/office/drawing/2014/main" id="{1BE56BA7-3181-4208-8365-4DA424F2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57400"/>
            <a:ext cx="1497330" cy="439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E8872D"/>
            </a:solidFill>
            <a:prstDash val="solid"/>
          </a:ln>
        </p:spPr>
      </p:sp>
      <p:sp>
        <p:nvSpPr>
          <p:cNvPr id="42" name="cohort-line-2-2">
            <a:extLst xmlns:a="http://schemas.openxmlformats.org/drawingml/2006/main">
              <a:ext uri="{FF2B5EF4-FFF2-40B4-BE49-F238E27FC236}">
                <a16:creationId xmlns:a16="http://schemas.microsoft.com/office/drawing/2014/main" id="{2365F8EE-6DD6-48D0-9C24-0FE44082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330" y="2497375"/>
            <a:ext cx="1497330" cy="18674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E8872D"/>
            </a:solidFill>
            <a:prstDash val="solid"/>
          </a:ln>
        </p:spPr>
      </p:sp>
      <p:sp>
        <p:nvSpPr>
          <p:cNvPr id="43" name="cohort-line-2-3">
            <a:extLst xmlns:a="http://schemas.openxmlformats.org/drawingml/2006/main">
              <a:ext uri="{FF2B5EF4-FFF2-40B4-BE49-F238E27FC236}">
                <a16:creationId xmlns:a16="http://schemas.microsoft.com/office/drawing/2014/main" id="{348664BA-3228-4308-881B-B8CA5015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660" y="2684118"/>
            <a:ext cx="1497330" cy="21338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E8872D"/>
            </a:solidFill>
            <a:prstDash val="solid"/>
          </a:ln>
        </p:spPr>
      </p:sp>
      <p:sp>
        <p:nvSpPr>
          <p:cNvPr id="44" name="cohort-line-2-4">
            <a:extLst xmlns:a="http://schemas.openxmlformats.org/drawingml/2006/main">
              <a:ext uri="{FF2B5EF4-FFF2-40B4-BE49-F238E27FC236}">
                <a16:creationId xmlns:a16="http://schemas.microsoft.com/office/drawing/2014/main" id="{36D33005-F459-433A-92D0-DA07E14C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990" y="2897505"/>
            <a:ext cx="1497330" cy="2400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E8872D"/>
            </a:solidFill>
            <a:prstDash val="solid"/>
          </a:ln>
        </p:spPr>
      </p:sp>
      <p:sp>
        <p:nvSpPr>
          <p:cNvPr id="45" name="cohort-line-2-5">
            <a:extLst xmlns:a="http://schemas.openxmlformats.org/drawingml/2006/main">
              <a:ext uri="{FF2B5EF4-FFF2-40B4-BE49-F238E27FC236}">
                <a16:creationId xmlns:a16="http://schemas.microsoft.com/office/drawing/2014/main" id="{216ABA3B-9FC0-4091-9C7A-60C5DE37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137535"/>
            <a:ext cx="1497330" cy="12001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E8872D"/>
            </a:solidFill>
            <a:prstDash val="solid"/>
          </a:ln>
        </p:spPr>
      </p:sp>
      <p:sp>
        <p:nvSpPr>
          <p:cNvPr id="46" name="cohort-point-2-1">
            <a:extLst xmlns:a="http://schemas.openxmlformats.org/drawingml/2006/main">
              <a:ext uri="{FF2B5EF4-FFF2-40B4-BE49-F238E27FC236}">
                <a16:creationId xmlns:a16="http://schemas.microsoft.com/office/drawing/2014/main" id="{6D3B2AE1-B9A6-4560-9759-5245E4EA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19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14288">
            <a:solidFill>
              <a:srgbClr val="E8872D"/>
            </a:solidFill>
            <a:prstDash val="solid"/>
          </a:ln>
        </p:spPr>
      </p:sp>
      <p:sp>
        <p:nvSpPr>
          <p:cNvPr id="47" name="cohort-point-2-2">
            <a:extLst xmlns:a="http://schemas.openxmlformats.org/drawingml/2006/main">
              <a:ext uri="{FF2B5EF4-FFF2-40B4-BE49-F238E27FC236}">
                <a16:creationId xmlns:a16="http://schemas.microsoft.com/office/drawing/2014/main" id="{E75855F7-E8A6-49B6-9547-AA07539D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2230" y="2459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14288">
            <a:solidFill>
              <a:srgbClr val="E8872D"/>
            </a:solidFill>
            <a:prstDash val="solid"/>
          </a:ln>
        </p:spPr>
      </p:sp>
      <p:sp>
        <p:nvSpPr>
          <p:cNvPr id="48" name="cohort-point-2-3">
            <a:extLst xmlns:a="http://schemas.openxmlformats.org/drawingml/2006/main">
              <a:ext uri="{FF2B5EF4-FFF2-40B4-BE49-F238E27FC236}">
                <a16:creationId xmlns:a16="http://schemas.microsoft.com/office/drawing/2014/main" id="{B9019036-65AE-4A31-9FD9-E0077444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9560" y="264601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14288">
            <a:solidFill>
              <a:srgbClr val="E8872D"/>
            </a:solidFill>
            <a:prstDash val="solid"/>
          </a:ln>
        </p:spPr>
      </p:sp>
      <p:sp>
        <p:nvSpPr>
          <p:cNvPr id="49" name="cohort-point-2-4">
            <a:extLst xmlns:a="http://schemas.openxmlformats.org/drawingml/2006/main">
              <a:ext uri="{FF2B5EF4-FFF2-40B4-BE49-F238E27FC236}">
                <a16:creationId xmlns:a16="http://schemas.microsoft.com/office/drawing/2014/main" id="{7330CA28-092B-40AE-82F5-E7A69B24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890" y="285940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14288">
            <a:solidFill>
              <a:srgbClr val="E8872D"/>
            </a:solidFill>
            <a:prstDash val="solid"/>
          </a:ln>
        </p:spPr>
      </p:sp>
      <p:sp>
        <p:nvSpPr>
          <p:cNvPr id="50" name="cohort-point-2-5">
            <a:extLst xmlns:a="http://schemas.openxmlformats.org/drawingml/2006/main">
              <a:ext uri="{FF2B5EF4-FFF2-40B4-BE49-F238E27FC236}">
                <a16:creationId xmlns:a16="http://schemas.microsoft.com/office/drawing/2014/main" id="{9B39572E-3C1E-4FF7-9ADF-3F49E51D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309943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14288">
            <a:solidFill>
              <a:srgbClr val="E8872D"/>
            </a:solidFill>
            <a:prstDash val="solid"/>
          </a:ln>
        </p:spPr>
      </p:sp>
      <p:sp>
        <p:nvSpPr>
          <p:cNvPr id="51" name="cohort-point-2-6">
            <a:extLst xmlns:a="http://schemas.openxmlformats.org/drawingml/2006/main">
              <a:ext uri="{FF2B5EF4-FFF2-40B4-BE49-F238E27FC236}">
                <a16:creationId xmlns:a16="http://schemas.microsoft.com/office/drawing/2014/main" id="{D7F5B7E6-848D-421B-BE64-C28EBAFE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19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14288">
            <a:solidFill>
              <a:srgbClr val="E8872D"/>
            </a:solidFill>
            <a:prstDash val="solid"/>
          </a:ln>
        </p:spPr>
      </p:sp>
      <p:sp>
        <p:nvSpPr>
          <p:cNvPr id="52" name="cohort-end-2">
            <a:extLst xmlns:a="http://schemas.openxmlformats.org/drawingml/2006/main">
              <a:ext uri="{FF2B5EF4-FFF2-40B4-BE49-F238E27FC236}">
                <a16:creationId xmlns:a16="http://schemas.microsoft.com/office/drawing/2014/main" id="{5BDC1141-C593-49D6-9351-49CC5217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432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872D"/>
                </a:solidFill>
              </a:defRPr>
            </a:pPr>
            <a:r>
              <a:rPr sz="1200" b="1">
                <a:solidFill>
                  <a:srgbClr val="E8872D"/>
                </a:solidFill>
              </a:rPr>
              <a:t>50%</a:t>
            </a:r>
          </a:p>
        </p:txBody>
      </p:sp>
      <p:sp>
        <p:nvSpPr>
          <p:cNvPr id="53" name="cohort-line-3-1">
            <a:extLst xmlns:a="http://schemas.openxmlformats.org/drawingml/2006/main">
              <a:ext uri="{FF2B5EF4-FFF2-40B4-BE49-F238E27FC236}">
                <a16:creationId xmlns:a16="http://schemas.microsoft.com/office/drawing/2014/main" id="{DADF582D-1B5A-4FC0-971B-454101B9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57400"/>
            <a:ext cx="1497330" cy="3886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2F6FB2"/>
            </a:solidFill>
            <a:prstDash val="solid"/>
          </a:ln>
        </p:spPr>
      </p:sp>
      <p:sp>
        <p:nvSpPr>
          <p:cNvPr id="54" name="cohort-line-3-2">
            <a:extLst xmlns:a="http://schemas.openxmlformats.org/drawingml/2006/main">
              <a:ext uri="{FF2B5EF4-FFF2-40B4-BE49-F238E27FC236}">
                <a16:creationId xmlns:a16="http://schemas.microsoft.com/office/drawing/2014/main" id="{4A338FA4-9308-496E-8018-41BB83CD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330" y="2446009"/>
            <a:ext cx="1497330" cy="1485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2F6FB2"/>
            </a:solidFill>
            <a:prstDash val="solid"/>
          </a:ln>
        </p:spPr>
      </p:sp>
      <p:sp>
        <p:nvSpPr>
          <p:cNvPr id="55" name="cohort-line-3-3">
            <a:extLst xmlns:a="http://schemas.openxmlformats.org/drawingml/2006/main">
              <a:ext uri="{FF2B5EF4-FFF2-40B4-BE49-F238E27FC236}">
                <a16:creationId xmlns:a16="http://schemas.microsoft.com/office/drawing/2014/main" id="{53ADBF18-AEE9-4DC2-A941-0C9E8C3B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660" y="2594587"/>
            <a:ext cx="1497330" cy="1372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2F6FB2"/>
            </a:solidFill>
            <a:prstDash val="solid"/>
          </a:ln>
        </p:spPr>
      </p:sp>
      <p:sp>
        <p:nvSpPr>
          <p:cNvPr id="56" name="cohort-line-3-4">
            <a:extLst xmlns:a="http://schemas.openxmlformats.org/drawingml/2006/main">
              <a:ext uri="{FF2B5EF4-FFF2-40B4-BE49-F238E27FC236}">
                <a16:creationId xmlns:a16="http://schemas.microsoft.com/office/drawing/2014/main" id="{3BF34CDB-444F-4267-96B3-DF0971B0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990" y="2731884"/>
            <a:ext cx="1497330" cy="1826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2F6FB2"/>
            </a:solidFill>
            <a:prstDash val="solid"/>
          </a:ln>
        </p:spPr>
      </p:sp>
      <p:sp>
        <p:nvSpPr>
          <p:cNvPr id="57" name="cohort-point-3-1">
            <a:extLst xmlns:a="http://schemas.openxmlformats.org/drawingml/2006/main">
              <a:ext uri="{FF2B5EF4-FFF2-40B4-BE49-F238E27FC236}">
                <a16:creationId xmlns:a16="http://schemas.microsoft.com/office/drawing/2014/main" id="{49EE0DBB-0833-421E-B913-C23D26E6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19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14288">
            <a:solidFill>
              <a:srgbClr val="2F6FB2"/>
            </a:solidFill>
            <a:prstDash val="solid"/>
          </a:ln>
        </p:spPr>
      </p:sp>
      <p:sp>
        <p:nvSpPr>
          <p:cNvPr id="58" name="cohort-point-3-2">
            <a:extLst xmlns:a="http://schemas.openxmlformats.org/drawingml/2006/main">
              <a:ext uri="{FF2B5EF4-FFF2-40B4-BE49-F238E27FC236}">
                <a16:creationId xmlns:a16="http://schemas.microsoft.com/office/drawing/2014/main" id="{F972585F-BBC9-40A1-AE63-F881CF8E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2230" y="240790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14288">
            <a:solidFill>
              <a:srgbClr val="2F6FB2"/>
            </a:solidFill>
            <a:prstDash val="solid"/>
          </a:ln>
        </p:spPr>
      </p:sp>
      <p:sp>
        <p:nvSpPr>
          <p:cNvPr id="59" name="cohort-point-3-3">
            <a:extLst xmlns:a="http://schemas.openxmlformats.org/drawingml/2006/main">
              <a:ext uri="{FF2B5EF4-FFF2-40B4-BE49-F238E27FC236}">
                <a16:creationId xmlns:a16="http://schemas.microsoft.com/office/drawing/2014/main" id="{4923265A-0486-4C2A-A242-4FA71757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9560" y="255648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14288">
            <a:solidFill>
              <a:srgbClr val="2F6FB2"/>
            </a:solidFill>
            <a:prstDash val="solid"/>
          </a:ln>
        </p:spPr>
      </p:sp>
      <p:sp>
        <p:nvSpPr>
          <p:cNvPr id="60" name="cohort-point-3-4">
            <a:extLst xmlns:a="http://schemas.openxmlformats.org/drawingml/2006/main">
              <a:ext uri="{FF2B5EF4-FFF2-40B4-BE49-F238E27FC236}">
                <a16:creationId xmlns:a16="http://schemas.microsoft.com/office/drawing/2014/main" id="{1154FDF4-77DE-4502-B1BF-D4D4F891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890" y="269378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14288">
            <a:solidFill>
              <a:srgbClr val="2F6FB2"/>
            </a:solidFill>
            <a:prstDash val="solid"/>
          </a:ln>
        </p:spPr>
      </p:sp>
      <p:sp>
        <p:nvSpPr>
          <p:cNvPr id="61" name="cohort-point-3-5">
            <a:extLst xmlns:a="http://schemas.openxmlformats.org/drawingml/2006/main">
              <a:ext uri="{FF2B5EF4-FFF2-40B4-BE49-F238E27FC236}">
                <a16:creationId xmlns:a16="http://schemas.microsoft.com/office/drawing/2014/main" id="{4AEF0A63-F652-4F32-9AD8-211DE532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287644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6FB2"/>
            </a:solidFill>
            <a:prstDash val="solid"/>
          </a:ln>
        </p:spPr>
      </p:sp>
      <p:sp>
        <p:nvSpPr>
          <p:cNvPr id="62" name="cohort-end-3">
            <a:extLst xmlns:a="http://schemas.openxmlformats.org/drawingml/2006/main">
              <a:ext uri="{FF2B5EF4-FFF2-40B4-BE49-F238E27FC236}">
                <a16:creationId xmlns:a16="http://schemas.microsoft.com/office/drawing/2014/main" id="{64C44A8D-25D6-4786-A028-167CD296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9945" y="2800247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FB2"/>
                </a:solidFill>
              </a:defRPr>
            </a:pPr>
            <a:r>
              <a:rPr sz="1200" b="1">
                <a:solidFill>
                  <a:srgbClr val="2F6FB2"/>
                </a:solidFill>
              </a:rPr>
              <a:t>64%</a:t>
            </a:r>
          </a:p>
        </p:txBody>
      </p:sp>
      <p:sp>
        <p:nvSpPr>
          <p:cNvPr id="63" name="cohort-line-4-1">
            <a:extLst xmlns:a="http://schemas.openxmlformats.org/drawingml/2006/main">
              <a:ext uri="{FF2B5EF4-FFF2-40B4-BE49-F238E27FC236}">
                <a16:creationId xmlns:a16="http://schemas.microsoft.com/office/drawing/2014/main" id="{75E9B588-86B4-4B57-B197-5D818EC5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57400"/>
            <a:ext cx="1497330" cy="4500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5B8E7D"/>
            </a:solidFill>
            <a:prstDash val="solid"/>
          </a:ln>
        </p:spPr>
      </p:sp>
      <p:sp>
        <p:nvSpPr>
          <p:cNvPr id="64" name="cohort-line-4-2">
            <a:extLst xmlns:a="http://schemas.openxmlformats.org/drawingml/2006/main">
              <a:ext uri="{FF2B5EF4-FFF2-40B4-BE49-F238E27FC236}">
                <a16:creationId xmlns:a16="http://schemas.microsoft.com/office/drawing/2014/main" id="{F8BE4B13-119D-4CAE-AC24-B2DBC353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330" y="2507456"/>
            <a:ext cx="1497330" cy="16490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5B8E7D"/>
            </a:solidFill>
            <a:prstDash val="solid"/>
          </a:ln>
        </p:spPr>
      </p:sp>
      <p:sp>
        <p:nvSpPr>
          <p:cNvPr id="65" name="cohort-line-4-3">
            <a:extLst xmlns:a="http://schemas.openxmlformats.org/drawingml/2006/main">
              <a:ext uri="{FF2B5EF4-FFF2-40B4-BE49-F238E27FC236}">
                <a16:creationId xmlns:a16="http://schemas.microsoft.com/office/drawing/2014/main" id="{9922FE43-ADAB-47A0-AD61-005A6910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660" y="2672357"/>
            <a:ext cx="1497330" cy="2251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5B8E7D"/>
            </a:solidFill>
            <a:prstDash val="solid"/>
          </a:ln>
        </p:spPr>
      </p:sp>
      <p:sp>
        <p:nvSpPr>
          <p:cNvPr id="66" name="cohort-point-4-1">
            <a:extLst xmlns:a="http://schemas.openxmlformats.org/drawingml/2006/main">
              <a:ext uri="{FF2B5EF4-FFF2-40B4-BE49-F238E27FC236}">
                <a16:creationId xmlns:a16="http://schemas.microsoft.com/office/drawing/2014/main" id="{D3997C07-73C2-4062-94D0-27127C8C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19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E7D"/>
          </a:solidFill>
          <a:ln xmlns:a="http://schemas.openxmlformats.org/drawingml/2006/main" w="14288">
            <a:solidFill>
              <a:srgbClr val="5B8E7D"/>
            </a:solidFill>
            <a:prstDash val="solid"/>
          </a:ln>
        </p:spPr>
      </p:sp>
      <p:sp>
        <p:nvSpPr>
          <p:cNvPr id="67" name="cohort-point-4-2">
            <a:extLst xmlns:a="http://schemas.openxmlformats.org/drawingml/2006/main">
              <a:ext uri="{FF2B5EF4-FFF2-40B4-BE49-F238E27FC236}">
                <a16:creationId xmlns:a16="http://schemas.microsoft.com/office/drawing/2014/main" id="{873ADD5C-0F39-4886-B6E6-67E23204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2230" y="246935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E7D"/>
          </a:solidFill>
          <a:ln xmlns:a="http://schemas.openxmlformats.org/drawingml/2006/main" w="14288">
            <a:solidFill>
              <a:srgbClr val="5B8E7D"/>
            </a:solidFill>
            <a:prstDash val="solid"/>
          </a:ln>
        </p:spPr>
      </p:sp>
      <p:sp>
        <p:nvSpPr>
          <p:cNvPr id="68" name="cohort-point-4-3">
            <a:extLst xmlns:a="http://schemas.openxmlformats.org/drawingml/2006/main">
              <a:ext uri="{FF2B5EF4-FFF2-40B4-BE49-F238E27FC236}">
                <a16:creationId xmlns:a16="http://schemas.microsoft.com/office/drawing/2014/main" id="{3259424C-4F13-4DA2-9238-F70AAB40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9560" y="263425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E7D"/>
          </a:solidFill>
          <a:ln xmlns:a="http://schemas.openxmlformats.org/drawingml/2006/main" w="14288">
            <a:solidFill>
              <a:srgbClr val="5B8E7D"/>
            </a:solidFill>
            <a:prstDash val="solid"/>
          </a:ln>
        </p:spPr>
      </p:sp>
      <p:sp>
        <p:nvSpPr>
          <p:cNvPr id="69" name="cohort-point-4-4">
            <a:extLst xmlns:a="http://schemas.openxmlformats.org/drawingml/2006/main">
              <a:ext uri="{FF2B5EF4-FFF2-40B4-BE49-F238E27FC236}">
                <a16:creationId xmlns:a16="http://schemas.microsoft.com/office/drawing/2014/main" id="{C46FADE8-4D47-47E1-BEA6-92BB579E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890" y="285940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B8E7D"/>
            </a:solidFill>
            <a:prstDash val="solid"/>
          </a:ln>
        </p:spPr>
      </p:sp>
      <p:sp>
        <p:nvSpPr>
          <p:cNvPr id="70" name="cohort-end-4">
            <a:extLst xmlns:a="http://schemas.openxmlformats.org/drawingml/2006/main">
              <a:ext uri="{FF2B5EF4-FFF2-40B4-BE49-F238E27FC236}">
                <a16:creationId xmlns:a16="http://schemas.microsoft.com/office/drawing/2014/main" id="{971F939F-9A57-441E-84D4-A49FFA5C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2615" y="278320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8E7D"/>
                </a:solidFill>
              </a:defRPr>
            </a:pPr>
            <a:r>
              <a:rPr sz="1200" b="1">
                <a:solidFill>
                  <a:srgbClr val="5B8E7D"/>
                </a:solidFill>
              </a:rPr>
              <a:t>65%</a:t>
            </a:r>
          </a:p>
        </p:txBody>
      </p:sp>
      <p:sp>
        <p:nvSpPr>
          <p:cNvPr id="71" name="cohort-line-5-1">
            <a:extLst xmlns:a="http://schemas.openxmlformats.org/drawingml/2006/main">
              <a:ext uri="{FF2B5EF4-FFF2-40B4-BE49-F238E27FC236}">
                <a16:creationId xmlns:a16="http://schemas.microsoft.com/office/drawing/2014/main" id="{BCC0A577-4FA7-4AA3-BD37-64F294AC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57400"/>
            <a:ext cx="1497330" cy="3410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6A5D8C"/>
            </a:solidFill>
            <a:prstDash val="solid"/>
          </a:ln>
        </p:spPr>
      </p:sp>
      <p:sp>
        <p:nvSpPr>
          <p:cNvPr id="72" name="cohort-line-5-2">
            <a:extLst xmlns:a="http://schemas.openxmlformats.org/drawingml/2006/main">
              <a:ext uri="{FF2B5EF4-FFF2-40B4-BE49-F238E27FC236}">
                <a16:creationId xmlns:a16="http://schemas.microsoft.com/office/drawing/2014/main" id="{608DC562-85B5-480F-BCF7-F1051EE3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330" y="2398483"/>
            <a:ext cx="1497330" cy="1896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6A5D8C"/>
            </a:solidFill>
            <a:prstDash val="solid"/>
          </a:ln>
        </p:spPr>
      </p:sp>
      <p:sp>
        <p:nvSpPr>
          <p:cNvPr id="73" name="cohort-point-5-1">
            <a:extLst xmlns:a="http://schemas.openxmlformats.org/drawingml/2006/main">
              <a:ext uri="{FF2B5EF4-FFF2-40B4-BE49-F238E27FC236}">
                <a16:creationId xmlns:a16="http://schemas.microsoft.com/office/drawing/2014/main" id="{1B6D5B90-C115-47E9-8A26-97BE13E6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19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5D8C"/>
          </a:solidFill>
          <a:ln xmlns:a="http://schemas.openxmlformats.org/drawingml/2006/main" w="14288">
            <a:solidFill>
              <a:srgbClr val="6A5D8C"/>
            </a:solidFill>
            <a:prstDash val="solid"/>
          </a:ln>
        </p:spPr>
      </p:sp>
      <p:sp>
        <p:nvSpPr>
          <p:cNvPr id="74" name="cohort-point-5-2">
            <a:extLst xmlns:a="http://schemas.openxmlformats.org/drawingml/2006/main">
              <a:ext uri="{FF2B5EF4-FFF2-40B4-BE49-F238E27FC236}">
                <a16:creationId xmlns:a16="http://schemas.microsoft.com/office/drawing/2014/main" id="{165D4652-037D-4EFB-A713-6B280CE5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2230" y="236038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5D8C"/>
          </a:solidFill>
          <a:ln xmlns:a="http://schemas.openxmlformats.org/drawingml/2006/main" w="14288">
            <a:solidFill>
              <a:srgbClr val="6A5D8C"/>
            </a:solidFill>
            <a:prstDash val="solid"/>
          </a:ln>
        </p:spPr>
      </p:sp>
      <p:sp>
        <p:nvSpPr>
          <p:cNvPr id="75" name="cohort-point-5-3">
            <a:extLst xmlns:a="http://schemas.openxmlformats.org/drawingml/2006/main">
              <a:ext uri="{FF2B5EF4-FFF2-40B4-BE49-F238E27FC236}">
                <a16:creationId xmlns:a16="http://schemas.microsoft.com/office/drawing/2014/main" id="{A8F566B7-49FD-40CB-8C2C-B05FAF1C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9560" y="255000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A5D8C"/>
            </a:solidFill>
            <a:prstDash val="solid"/>
          </a:ln>
        </p:spPr>
      </p:sp>
      <p:sp>
        <p:nvSpPr>
          <p:cNvPr id="76" name="cohort-end-5">
            <a:extLst xmlns:a="http://schemas.openxmlformats.org/drawingml/2006/main">
              <a:ext uri="{FF2B5EF4-FFF2-40B4-BE49-F238E27FC236}">
                <a16:creationId xmlns:a16="http://schemas.microsoft.com/office/drawing/2014/main" id="{EAB6C850-12CD-44B8-BB11-7439838F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5" y="2473806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A5D8C"/>
                </a:solidFill>
              </a:defRPr>
            </a:pPr>
            <a:r>
              <a:rPr sz="1200" b="1">
                <a:solidFill>
                  <a:srgbClr val="6A5D8C"/>
                </a:solidFill>
              </a:rPr>
              <a:t>78%</a:t>
            </a:r>
          </a:p>
        </p:txBody>
      </p:sp>
      <p:sp>
        <p:nvSpPr>
          <p:cNvPr id="77" name="cohort-legend-1">
            <a:extLst xmlns:a="http://schemas.openxmlformats.org/drawingml/2006/main">
              <a:ext uri="{FF2B5EF4-FFF2-40B4-BE49-F238E27FC236}">
                <a16:creationId xmlns:a16="http://schemas.microsoft.com/office/drawing/2014/main" id="{F493797F-2B96-49D2-B8EA-7F14F173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375F"/>
                </a:solidFill>
              </a:defRPr>
            </a:pPr>
            <a:r>
              <a:rPr sz="1200" b="1">
                <a:solidFill>
                  <a:srgbClr val="15375F"/>
                </a:solidFill>
              </a:rPr>
              <a:t>2026year1month</a:t>
            </a:r>
          </a:p>
          <a:p xmlns:a="http://schemas.openxmlformats.org/drawingml/2006/main">
            <a:pPr algn="ctr">
              <a:defRPr sz="1200" b="1">
                <a:solidFill>
                  <a:srgbClr val="15375F"/>
                </a:solidFill>
              </a:defRPr>
            </a:pPr>
            <a:r>
              <a:rPr sz="1200" b="1">
                <a:solidFill>
                  <a:srgbClr val="15375F"/>
                </a:solidFill>
              </a:rPr>
              <a:t>n=200 · Observed completely</a:t>
            </a:r>
          </a:p>
        </p:txBody>
      </p:sp>
      <p:sp>
        <p:nvSpPr>
          <p:cNvPr id="78" name="cohort-legend-2">
            <a:extLst xmlns:a="http://schemas.openxmlformats.org/drawingml/2006/main">
              <a:ext uri="{FF2B5EF4-FFF2-40B4-BE49-F238E27FC236}">
                <a16:creationId xmlns:a16="http://schemas.microsoft.com/office/drawing/2014/main" id="{6242847C-E946-4BDD-B7DF-57F571B7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8672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8872D"/>
                </a:solidFill>
              </a:defRPr>
            </a:pPr>
            <a:r>
              <a:rPr sz="1200" b="1">
                <a:solidFill>
                  <a:srgbClr val="E8872D"/>
                </a:solidFill>
              </a:rPr>
              <a:t>2026year2month</a:t>
            </a:r>
          </a:p>
          <a:p xmlns:a="http://schemas.openxmlformats.org/drawingml/2006/main">
            <a:pPr algn="ctr">
              <a:defRPr sz="1200" b="1">
                <a:solidFill>
                  <a:srgbClr val="E8872D"/>
                </a:solidFill>
              </a:defRPr>
            </a:pPr>
            <a:r>
              <a:rPr sz="1200" b="1">
                <a:solidFill>
                  <a:srgbClr val="E8872D"/>
                </a:solidFill>
              </a:rPr>
              <a:t>n=180 · Observed completely</a:t>
            </a:r>
          </a:p>
        </p:txBody>
      </p:sp>
      <p:sp>
        <p:nvSpPr>
          <p:cNvPr id="79" name="cohort-legend-3">
            <a:extLst xmlns:a="http://schemas.openxmlformats.org/drawingml/2006/main">
              <a:ext uri="{FF2B5EF4-FFF2-40B4-BE49-F238E27FC236}">
                <a16:creationId xmlns:a16="http://schemas.microsoft.com/office/drawing/2014/main" id="{B98D2D37-A775-41AF-9E4D-23B401C4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8672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6FB2"/>
                </a:solidFill>
              </a:defRPr>
            </a:pPr>
            <a:r>
              <a:rPr sz="1200" b="1">
                <a:solidFill>
                  <a:srgbClr val="2F6FB2"/>
                </a:solidFill>
              </a:rPr>
              <a:t>2026year3month</a:t>
            </a:r>
          </a:p>
          <a:p xmlns:a="http://schemas.openxmlformats.org/drawingml/2006/main">
            <a:pPr algn="ctr">
              <a:defRPr sz="1200" b="1">
                <a:solidFill>
                  <a:srgbClr val="2F6FB2"/>
                </a:solidFill>
              </a:defRPr>
            </a:pPr>
            <a:r>
              <a:rPr sz="1200" b="1">
                <a:solidFill>
                  <a:srgbClr val="2F6FB2"/>
                </a:solidFill>
              </a:rPr>
              <a:t>n=210 · Observed to the first8week</a:t>
            </a:r>
          </a:p>
        </p:txBody>
      </p:sp>
      <p:sp>
        <p:nvSpPr>
          <p:cNvPr id="80" name="cohort-legend-4">
            <a:extLst xmlns:a="http://schemas.openxmlformats.org/drawingml/2006/main">
              <a:ext uri="{FF2B5EF4-FFF2-40B4-BE49-F238E27FC236}">
                <a16:creationId xmlns:a16="http://schemas.microsoft.com/office/drawing/2014/main" id="{EB3D7509-A920-4D80-B894-9568740B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8672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8E7D"/>
                </a:solidFill>
              </a:defRPr>
            </a:pPr>
            <a:r>
              <a:rPr sz="1200" b="1">
                <a:solidFill>
                  <a:srgbClr val="5B8E7D"/>
                </a:solidFill>
              </a:rPr>
              <a:t>2026year4month</a:t>
            </a:r>
          </a:p>
          <a:p xmlns:a="http://schemas.openxmlformats.org/drawingml/2006/main">
            <a:pPr algn="ctr">
              <a:defRPr sz="1200" b="1">
                <a:solidFill>
                  <a:srgbClr val="5B8E7D"/>
                </a:solidFill>
              </a:defRPr>
            </a:pPr>
            <a:r>
              <a:rPr sz="1200" b="1">
                <a:solidFill>
                  <a:srgbClr val="5B8E7D"/>
                </a:solidFill>
              </a:rPr>
              <a:t>n=160 · Observed to the first4week</a:t>
            </a:r>
          </a:p>
        </p:txBody>
      </p:sp>
      <p:sp>
        <p:nvSpPr>
          <p:cNvPr id="81" name="cohort-legend-5">
            <a:extLst xmlns:a="http://schemas.openxmlformats.org/drawingml/2006/main">
              <a:ext uri="{FF2B5EF4-FFF2-40B4-BE49-F238E27FC236}">
                <a16:creationId xmlns:a16="http://schemas.microsoft.com/office/drawing/2014/main" id="{7305713C-7514-4DD9-A8A7-1B583BB6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8672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A5D8C"/>
                </a:solidFill>
              </a:defRPr>
            </a:pPr>
            <a:r>
              <a:rPr sz="1200" b="1">
                <a:solidFill>
                  <a:srgbClr val="6A5D8C"/>
                </a:solidFill>
              </a:rPr>
              <a:t>2026year5month</a:t>
            </a:r>
          </a:p>
          <a:p xmlns:a="http://schemas.openxmlformats.org/drawingml/2006/main">
            <a:pPr algn="ctr">
              <a:defRPr sz="1200" b="1">
                <a:solidFill>
                  <a:srgbClr val="6A5D8C"/>
                </a:solidFill>
              </a:defRPr>
            </a:pPr>
            <a:r>
              <a:rPr sz="1200" b="1">
                <a:solidFill>
                  <a:srgbClr val="6A5D8C"/>
                </a:solidFill>
              </a:rPr>
              <a:t>n=190 · Observed to the first2week</a:t>
            </a:r>
          </a:p>
        </p:txBody>
      </p:sp>
      <p:sp>
        <p:nvSpPr>
          <p:cNvPr id="82" name="insight-rail">
            <a:extLst xmlns:a="http://schemas.openxmlformats.org/drawingml/2006/main">
              <a:ext uri="{FF2B5EF4-FFF2-40B4-BE49-F238E27FC236}">
                <a16:creationId xmlns:a16="http://schemas.microsoft.com/office/drawing/2014/main" id="{90FDFEA4-C9AF-4BEF-818D-F5596C64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200150"/>
            <a:ext cx="247650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3" name="insight-title">
            <a:extLst xmlns:a="http://schemas.openxmlformats.org/drawingml/2006/main">
              <a:ext uri="{FF2B5EF4-FFF2-40B4-BE49-F238E27FC236}">
                <a16:creationId xmlns:a16="http://schemas.microsoft.com/office/drawing/2014/main" id="{3D0869C1-B825-413B-8B27-57CBDEC5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3525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75F"/>
                </a:solidFill>
              </a:defRPr>
            </a:pPr>
            <a:r>
              <a:rPr sz="1800" b="1">
                <a:solidFill>
                  <a:srgbClr val="15375F"/>
                </a:solidFill>
              </a:rPr>
              <a:t>Conclusion of picture reading</a:t>
            </a:r>
          </a:p>
        </p:txBody>
      </p:sp>
      <p:sp>
        <p:nvSpPr>
          <p:cNvPr id="84" name="insight-index-1">
            <a:extLst xmlns:a="http://schemas.openxmlformats.org/drawingml/2006/main">
              <a:ext uri="{FF2B5EF4-FFF2-40B4-BE49-F238E27FC236}">
                <a16:creationId xmlns:a16="http://schemas.microsoft.com/office/drawing/2014/main" id="{327712FD-D245-4AB8-A597-E2065DE7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7907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E8872D"/>
                </a:solidFill>
              </a:defRPr>
            </a:pPr>
            <a:r>
              <a:rPr sz="1400" b="1">
                <a:solidFill>
                  <a:srgbClr val="E8872D"/>
                </a:solidFill>
              </a:rPr>
              <a:t>01</a:t>
            </a:r>
          </a:p>
        </p:txBody>
      </p:sp>
      <p:sp>
        <p:nvSpPr>
          <p:cNvPr id="85" name="insight-1">
            <a:extLst xmlns:a="http://schemas.openxmlformats.org/drawingml/2006/main">
              <a:ext uri="{FF2B5EF4-FFF2-40B4-BE49-F238E27FC236}">
                <a16:creationId xmlns:a16="http://schemas.microsoft.com/office/drawing/2014/main" id="{5EF1D369-B852-4076-848F-BDBCB0F8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733550"/>
            <a:ext cx="1771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First week churn is the common breaking point for all batches</a:t>
            </a:r>
          </a:p>
        </p:txBody>
      </p:sp>
      <p:sp>
        <p:nvSpPr>
          <p:cNvPr id="86" name="insight-index-2">
            <a:extLst xmlns:a="http://schemas.openxmlformats.org/drawingml/2006/main">
              <a:ext uri="{FF2B5EF4-FFF2-40B4-BE49-F238E27FC236}">
                <a16:creationId xmlns:a16="http://schemas.microsoft.com/office/drawing/2014/main" id="{785427A0-754B-4818-B864-76BE2306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813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2F6FB2"/>
                </a:solidFill>
              </a:defRPr>
            </a:pPr>
            <a:r>
              <a:rPr sz="1400" b="1">
                <a:solidFill>
                  <a:srgbClr val="2F6FB2"/>
                </a:solidFill>
              </a:rPr>
              <a:t>02</a:t>
            </a:r>
          </a:p>
        </p:txBody>
      </p:sp>
      <p:sp>
        <p:nvSpPr>
          <p:cNvPr id="87" name="insight-2">
            <a:extLst xmlns:a="http://schemas.openxmlformats.org/drawingml/2006/main">
              <a:ext uri="{FF2B5EF4-FFF2-40B4-BE49-F238E27FC236}">
                <a16:creationId xmlns:a16="http://schemas.microsoft.com/office/drawing/2014/main" id="{89659355-A74C-486D-B069-56F61D5B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724150"/>
            <a:ext cx="1771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The February batch is lower than the January batch in every observed period</a:t>
            </a:r>
          </a:p>
        </p:txBody>
      </p:sp>
      <p:sp>
        <p:nvSpPr>
          <p:cNvPr id="88" name="insight-index-3">
            <a:extLst xmlns:a="http://schemas.openxmlformats.org/drawingml/2006/main">
              <a:ext uri="{FF2B5EF4-FFF2-40B4-BE49-F238E27FC236}">
                <a16:creationId xmlns:a16="http://schemas.microsoft.com/office/drawing/2014/main" id="{FA52D41B-D9C5-4507-9117-D45AA355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719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2F6FB2"/>
                </a:solidFill>
              </a:defRPr>
            </a:pPr>
            <a:r>
              <a:rPr sz="1400" b="1">
                <a:solidFill>
                  <a:srgbClr val="2F6FB2"/>
                </a:solidFill>
              </a:rPr>
              <a:t>03</a:t>
            </a:r>
          </a:p>
        </p:txBody>
      </p:sp>
      <p:sp>
        <p:nvSpPr>
          <p:cNvPr id="89" name="insight-3">
            <a:extLst xmlns:a="http://schemas.openxmlformats.org/drawingml/2006/main">
              <a:ext uri="{FF2B5EF4-FFF2-40B4-BE49-F238E27FC236}">
                <a16:creationId xmlns:a16="http://schemas.microsoft.com/office/drawing/2014/main" id="{1EAFF3CE-D5D2-4769-B71A-643A725E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714750"/>
            <a:ext cx="1771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3The long-term performance of batches after 3 months cannot be directly concluded from the earlier batches.</a:t>
            </a:r>
          </a:p>
        </p:txBody>
      </p:sp>
      <p:sp>
        <p:nvSpPr>
          <p:cNvPr id="90" name="censoring-legend">
            <a:extLst xmlns:a="http://schemas.openxmlformats.org/drawingml/2006/main">
              <a:ext uri="{FF2B5EF4-FFF2-40B4-BE49-F238E27FC236}">
                <a16:creationId xmlns:a16="http://schemas.microsoft.com/office/drawing/2014/main" id="{CBFBB09C-3333-48AC-8BE9-589136F9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876800"/>
            <a:ext cx="2171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E8872D"/>
                </a:solidFill>
              </a:defRPr>
            </a:pPr>
            <a:r>
              <a:rPr sz="1400" b="1">
                <a:solidFill>
                  <a:srgbClr val="E8872D"/>
                </a:solidFill>
              </a:rPr>
              <a:t>Blank indicates that the batch has not yet matured or the cycle has not been observed and is not equal to0</a:t>
            </a:r>
          </a:p>
        </p:txBody>
      </p:sp>
      <p:sp>
        <p:nvSpPr>
          <p:cNvPr id="91" name="source-note">
            <a:extLst xmlns:a="http://schemas.openxmlformats.org/drawingml/2006/main">
              <a:ext uri="{FF2B5EF4-FFF2-40B4-BE49-F238E27FC236}">
                <a16:creationId xmlns:a16="http://schemas.microsoft.com/office/drawing/2014/main" id="{F3FDE3B1-FDFF-425C-A00B-05FD0BCD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11163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8872D"/>
                </a:solidFill>
              </a:defRPr>
            </a:pPr>
            <a:r>
              <a:rPr sz="1200" b="0">
                <a:solidFill>
                  <a:srgbClr val="E8872D"/>
                </a:solidFill>
              </a:rPr>
              <a:t>Data period:2026year1solstice5Month, the unit is the number of customers, the relative period is weekly; synthetic sample data, not real customer data</a:t>
            </a:r>
          </a:p>
        </p:txBody>
      </p:sp>
      <p:sp>
        <p:nvSpPr>
          <p:cNvPr id="92" name="cohort-conclusion">
            <a:extLst xmlns:a="http://schemas.openxmlformats.org/drawingml/2006/main">
              <a:ext uri="{FF2B5EF4-FFF2-40B4-BE49-F238E27FC236}">
                <a16:creationId xmlns:a16="http://schemas.microsoft.com/office/drawing/2014/main" id="{4A1B9296-608D-4E94-970D-609CC5C7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76950"/>
            <a:ext cx="11163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9525">
            <a:solidFill>
              <a:srgbClr val="E8872D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Prioritize verification of the activation experience in the first week, and wait for the newer batches to mature before comparing long-term retention</a:t>
            </a:r>
          </a:p>
        </p:txBody>
      </p:sp>
    </p:spTree>
    <p:extLst>
      <p:ext uri="{BB962C8B-B14F-4D97-AF65-F5344CB8AC3E}">
        <p14:creationId xmlns:p14="http://schemas.microsoft.com/office/powerpoint/2010/main" val="19600742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2026-08-08T16:25:55.2970000Z</dcterms:created>
  <dcterms:modified xsi:type="dcterms:W3CDTF">2026-08-08T16:25:55.2970000Z</dcterms:modified>
</coreProperties>
</file>