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796ed5ef50742d4" /><Relationship Type="http://schemas.openxmlformats.org/officeDocument/2006/relationships/extended-properties" Target="/docProps/app.xml" Id="Rbeeec5aa712541e8" /><Relationship Type="http://schemas.openxmlformats.org/officeDocument/2006/relationships/officeDocument" Target="/ppt/presentation.xml" Id="Ra62b7198427342d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14755a3c4d04738"/>
  </p:sldMasterIdLst>
  <p:notesMasterIdLst>
    <p:notesMasterId xmlns:r="http://schemas.openxmlformats.org/officeDocument/2006/relationships" r:id="Rd8b8eac7f78046d0"/>
  </p:notesMasterIdLst>
  <p:sldIdLst>
    <p:sldId xmlns:r="http://schemas.openxmlformats.org/officeDocument/2006/relationships" id="256" r:id="R6249ed1aa0054e8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23938c14bc24840" /><Relationship Type="http://schemas.openxmlformats.org/officeDocument/2006/relationships/slideMaster" Target="/ppt/slideMasters/slideMaster1.xml" Id="Rc14755a3c4d04738" /><Relationship Type="http://schemas.openxmlformats.org/officeDocument/2006/relationships/notesMaster" Target="/ppt/notesMasters/notesMaster1.xml" Id="Rd8b8eac7f78046d0" /><Relationship Type="http://schemas.openxmlformats.org/officeDocument/2006/relationships/presProps" Target="/ppt/presProps.xml" Id="R69837da05aa24d22" /><Relationship Type="http://schemas.openxmlformats.org/officeDocument/2006/relationships/tableStyles" Target="/ppt/tableStyles.xml" Id="R61bf3172bbde46c8" /><Relationship Type="http://schemas.openxmlformats.org/officeDocument/2006/relationships/slide" Target="/ppt/slides/slide1.xml" Id="R6249ed1aa0054e8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8560995da6f457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df7daef2a54419f" /><Relationship Type="http://schemas.openxmlformats.org/officeDocument/2006/relationships/notesMaster" Target="/ppt/notesMasters/notesMaster1.xml" Id="R0e5c31787f7b431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8600bd017e452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3b74b4e11b841c4" /><Relationship Type="http://schemas.openxmlformats.org/officeDocument/2006/relationships/slideLayout" Target="/ppt/slideLayouts/slideLayout1.xml" Id="R30a706032c364d6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0a706032c364d6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823bf14e424801" /><Relationship Type="http://schemas.openxmlformats.org/officeDocument/2006/relationships/notesSlide" Target="/ppt/notesSlides/notesSlide1.xml" Id="Rf4224afa463f41e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30" name=""/>
          <p:cNvCxnSpPr>
            <a:stCxn xmlns:a="http://schemas.openxmlformats.org/drawingml/2006/main" id="16" idx="2"/>
            <a:endCxn xmlns:a="http://schemas.openxmlformats.org/drawingml/2006/main" id="27" idx="0"/>
          </p:cNvCxnSpPr>
          <p:nvPr/>
        </p:nvCxnSpPr>
        <p:spPr>
          <a:xfrm xmlns:a="http://schemas.openxmlformats.org/drawingml/2006/main">
            <a:off x="9886950" y="5410200"/>
            <a:ext cx="685800" cy="2667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1430">
            <a:solidFill>
              <a:srgbClr val="E8872D"/>
            </a:solidFill>
            <a:prstDash val="dash"/>
          </a:ln>
        </p:spPr>
      </p:cxnSp>
      <p:cxnSp>
        <p:nvCxnSpPr>
          <p:cNvPr id="31" name=""/>
          <p:cNvCxnSpPr>
            <a:stCxn xmlns:a="http://schemas.openxmlformats.org/drawingml/2006/main" id="2" idx="2"/>
            <a:endCxn xmlns:a="http://schemas.openxmlformats.org/drawingml/2006/main" id="27" idx="0"/>
          </p:cNvCxnSpPr>
          <p:nvPr/>
        </p:nvCxnSpPr>
        <p:spPr>
          <a:xfrm xmlns:a="http://schemas.openxmlformats.org/drawingml/2006/main">
            <a:off x="2305050" y="5410200"/>
            <a:ext cx="8267700" cy="2667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1430">
            <a:solidFill>
              <a:srgbClr val="E8872D"/>
            </a:solidFill>
            <a:prstDash val="dash"/>
          </a:ln>
        </p:spPr>
      </p:cxnSp>
      <p:cxnSp>
        <p:nvCxnSpPr>
          <p:cNvPr id="32" name=""/>
          <p:cNvCxnSpPr>
            <a:stCxn xmlns:a="http://schemas.openxmlformats.org/drawingml/2006/main" id="16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 flipH="1">
            <a:off x="4895850" y="5410200"/>
            <a:ext cx="4991100" cy="26670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2F6FB2"/>
            </a:solidFill>
            <a:prstDash val="solid"/>
            <a:tailEnd type="triangle" w="med" len="med"/>
          </a:ln>
        </p:spPr>
      </p:cxnSp>
      <p:cxnSp>
        <p:nvCxnSpPr>
          <p:cNvPr id="33" name=""/>
          <p:cNvCxnSpPr>
            <a:stCxn xmlns:a="http://schemas.openxmlformats.org/drawingml/2006/main" id="9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 flipH="1">
            <a:off x="4895850" y="5410200"/>
            <a:ext cx="1200150" cy="26670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2F6FB2"/>
            </a:solidFill>
            <a:prstDash val="solid"/>
            <a:tailEnd type="triangle" w="med" len="med"/>
          </a:ln>
        </p:spPr>
      </p:cxnSp>
      <p:cxnSp>
        <p:nvCxnSpPr>
          <p:cNvPr id="34" name=""/>
          <p:cNvCxnSpPr>
            <a:stCxn xmlns:a="http://schemas.openxmlformats.org/drawingml/2006/main" id="2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>
            <a:off x="2305050" y="5410200"/>
            <a:ext cx="2590800" cy="26670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2F6FB2"/>
            </a:solidFill>
            <a:prstDash val="solid"/>
            <a:tailEnd type="triangle" w="med" len="med"/>
          </a:ln>
        </p:spPr>
      </p:cxnSp>
      <p:sp>
        <p:nvSpPr>
          <p:cNvPr id="35" name="page-title">
            <a:extLst xmlns:a="http://schemas.openxmlformats.org/drawingml/2006/main">
              <a:ext uri="{FF2B5EF4-FFF2-40B4-BE49-F238E27FC236}">
                <a16:creationId xmlns:a16="http://schemas.microsoft.com/office/drawing/2014/main" id="{0ADF6B2D-34FE-4936-AD41-F47C417B7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1163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375F"/>
                </a:solidFill>
              </a:defRPr>
            </a:pPr>
            <a:r>
              <a:rPr sz="2550" b="1">
                <a:solidFill>
                  <a:srgbClr val="15375F"/>
                </a:solidFill>
              </a:rPr>
              <a:t>Four things you need to do first in all three situations to form a no-regrets move</a:t>
            </a:r>
          </a:p>
        </p:txBody>
      </p:sp>
      <p:sp>
        <p:nvSpPr>
          <p:cNvPr id="2" name="scenario-1">
            <a:extLst xmlns:a="http://schemas.openxmlformats.org/drawingml/2006/main">
              <a:ext uri="{FF2B5EF4-FFF2-40B4-BE49-F238E27FC236}">
                <a16:creationId xmlns:a16="http://schemas.microsoft.com/office/drawing/2014/main" id="{08450377-CC3C-4652-8973-7E9BFAC8E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09700"/>
            <a:ext cx="3581400" cy="4000500"/>
          </a:xfrm>
          <a:prstGeom xmlns:a="http://schemas.openxmlformats.org/drawingml/2006/main" prst="roundRect">
            <a:avLst>
              <a:gd name="adj" fmla="val 2128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14288">
            <a:solidFill>
              <a:srgbClr val="AEB8C6"/>
            </a:solidFill>
            <a:prstDash val="solid"/>
          </a:ln>
        </p:spPr>
      </p:sp>
      <p:sp>
        <p:nvSpPr>
          <p:cNvPr id="3" name="scenario-title-1">
            <a:extLst xmlns:a="http://schemas.openxmlformats.org/drawingml/2006/main">
              <a:ext uri="{FF2B5EF4-FFF2-40B4-BE49-F238E27FC236}">
                <a16:creationId xmlns:a16="http://schemas.microsoft.com/office/drawing/2014/main" id="{4BEF31BA-E181-4CA0-9A02-F3A9087F7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3276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5375F"/>
                </a:solidFill>
              </a:defRPr>
            </a:pPr>
            <a:r>
              <a:rPr sz="1650" b="1">
                <a:solidFill>
                  <a:srgbClr val="15375F"/>
                </a:solidFill>
              </a:rPr>
              <a:t>pessimistic scenario｜25%</a:t>
            </a:r>
          </a:p>
        </p:txBody>
      </p:sp>
      <p:sp>
        <p:nvSpPr>
          <p:cNvPr id="4" name="scenario-1-section-1">
            <a:extLst xmlns:a="http://schemas.openxmlformats.org/drawingml/2006/main">
              <a:ext uri="{FF2B5EF4-FFF2-40B4-BE49-F238E27FC236}">
                <a16:creationId xmlns:a16="http://schemas.microsoft.com/office/drawing/2014/main" id="{79B05E95-3221-4391-88A2-54598135B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323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key assumptions</a:t>
            </a:r>
          </a:p>
          <a:p xmlns:a="http://schemas.openxmlformats.org/drawingml/2006/main">
            <a:pPr algn="l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Policy support delayed; demand reduced</a:t>
            </a:r>
          </a:p>
        </p:txBody>
      </p:sp>
      <p:sp>
        <p:nvSpPr>
          <p:cNvPr id="5" name="scenario-1-section-2">
            <a:extLst xmlns:a="http://schemas.openxmlformats.org/drawingml/2006/main">
              <a:ext uri="{FF2B5EF4-FFF2-40B4-BE49-F238E27FC236}">
                <a16:creationId xmlns:a16="http://schemas.microsoft.com/office/drawing/2014/main" id="{2BD9C94E-12D7-4DCB-BDE5-72639108E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9850"/>
            <a:ext cx="3238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172033"/>
                </a:solidFill>
              </a:defRPr>
            </a:pPr>
            <a:r>
              <a:rPr sz="1600" b="1">
                <a:solidFill>
                  <a:srgbClr val="172033"/>
                </a:solidFill>
              </a:rPr>
              <a:t>core indicators</a:t>
            </a:r>
          </a:p>
          <a:p xmlns:a="http://schemas.openxmlformats.org/drawingml/2006/main">
            <a:pPr algn="l">
              <a:defRPr sz="1600" b="1">
                <a:solidFill>
                  <a:srgbClr val="172033"/>
                </a:solidFill>
              </a:defRPr>
            </a:pPr>
            <a:r>
              <a:rPr sz="1600" b="1">
                <a:solidFill>
                  <a:srgbClr val="172033"/>
                </a:solidFill>
              </a:rPr>
              <a:t>Market growth rate -5%   client budget -12%   Project gross profit 16%</a:t>
            </a:r>
          </a:p>
        </p:txBody>
      </p:sp>
      <p:sp>
        <p:nvSpPr>
          <p:cNvPr id="6" name="scenario-1-section-3">
            <a:extLst xmlns:a="http://schemas.openxmlformats.org/drawingml/2006/main">
              <a:ext uri="{FF2B5EF4-FFF2-40B4-BE49-F238E27FC236}">
                <a16:creationId xmlns:a16="http://schemas.microsoft.com/office/drawing/2014/main" id="{46FEF13D-C1F9-4039-98A8-B2DD28222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57550"/>
            <a:ext cx="323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business impact</a:t>
            </a:r>
          </a:p>
          <a:p xmlns:a="http://schemas.openxmlformats.org/drawingml/2006/main">
            <a:pPr algn="l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Fewer new projects</a:t>
            </a:r>
          </a:p>
        </p:txBody>
      </p:sp>
      <p:sp>
        <p:nvSpPr>
          <p:cNvPr id="7" name="scenario-1-section-4">
            <a:extLst xmlns:a="http://schemas.openxmlformats.org/drawingml/2006/main">
              <a:ext uri="{FF2B5EF4-FFF2-40B4-BE49-F238E27FC236}">
                <a16:creationId xmlns:a16="http://schemas.microsoft.com/office/drawing/2014/main" id="{AAAB3F40-B310-4DA0-AA9B-1E91833E2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323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leading indicators</a:t>
            </a:r>
          </a:p>
          <a:p xmlns:a="http://schemas.openxmlformats.org/drawingml/2006/main">
            <a:pPr algn="l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sales pipeline below 70%</a:t>
            </a:r>
          </a:p>
        </p:txBody>
      </p:sp>
      <p:sp>
        <p:nvSpPr>
          <p:cNvPr id="8" name="scenario-1-section-5">
            <a:extLst xmlns:a="http://schemas.openxmlformats.org/drawingml/2006/main">
              <a:ext uri="{FF2B5EF4-FFF2-40B4-BE49-F238E27FC236}">
                <a16:creationId xmlns:a16="http://schemas.microsoft.com/office/drawing/2014/main" id="{E716AFB7-1B36-4925-AF8F-366313F22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52950"/>
            <a:ext cx="323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coping strategies</a:t>
            </a:r>
          </a:p>
          <a:p xmlns:a="http://schemas.openxmlformats.org/drawingml/2006/main">
            <a:pPr algn="l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Preserve cash and focus on high-certainty customers</a:t>
            </a:r>
          </a:p>
        </p:txBody>
      </p:sp>
      <p:sp>
        <p:nvSpPr>
          <p:cNvPr id="9" name="scenario-2">
            <a:extLst xmlns:a="http://schemas.openxmlformats.org/drawingml/2006/main">
              <a:ext uri="{FF2B5EF4-FFF2-40B4-BE49-F238E27FC236}">
                <a16:creationId xmlns:a16="http://schemas.microsoft.com/office/drawing/2014/main" id="{64C8DCE4-8217-4FB7-864A-3224CE347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409700"/>
            <a:ext cx="3581400" cy="4000500"/>
          </a:xfrm>
          <a:prstGeom xmlns:a="http://schemas.openxmlformats.org/drawingml/2006/main" prst="roundRect">
            <a:avLst>
              <a:gd name="adj" fmla="val 2128"/>
            </a:avLst>
          </a:prstGeom>
          <a:solidFill xmlns:a="http://schemas.openxmlformats.org/drawingml/2006/main">
            <a:srgbClr val="E9F1FA"/>
          </a:solidFill>
          <a:ln xmlns:a="http://schemas.openxmlformats.org/drawingml/2006/main" w="14288">
            <a:solidFill>
              <a:srgbClr val="2F6FB2"/>
            </a:solidFill>
            <a:prstDash val="solid"/>
          </a:ln>
        </p:spPr>
      </p:sp>
      <p:sp>
        <p:nvSpPr>
          <p:cNvPr id="10" name="scenario-title-2">
            <a:extLst xmlns:a="http://schemas.openxmlformats.org/drawingml/2006/main">
              <a:ext uri="{FF2B5EF4-FFF2-40B4-BE49-F238E27FC236}">
                <a16:creationId xmlns:a16="http://schemas.microsoft.com/office/drawing/2014/main" id="{7224EAD1-54B4-4579-899F-817F2B5FA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524000"/>
            <a:ext cx="3276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5375F"/>
                </a:solidFill>
              </a:defRPr>
            </a:pPr>
            <a:r>
              <a:rPr sz="1650" b="1">
                <a:solidFill>
                  <a:srgbClr val="15375F"/>
                </a:solidFill>
              </a:rPr>
              <a:t>Baseline scenario｜55%</a:t>
            </a:r>
          </a:p>
        </p:txBody>
      </p:sp>
      <p:sp>
        <p:nvSpPr>
          <p:cNvPr id="11" name="scenario-2-section-1">
            <a:extLst xmlns:a="http://schemas.openxmlformats.org/drawingml/2006/main">
              <a:ext uri="{FF2B5EF4-FFF2-40B4-BE49-F238E27FC236}">
                <a16:creationId xmlns:a16="http://schemas.microsoft.com/office/drawing/2014/main" id="{4408DAC6-494F-45C6-8D82-E0E5A6A13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962150"/>
            <a:ext cx="323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key assumptions</a:t>
            </a:r>
          </a:p>
          <a:p xmlns:a="http://schemas.openxmlformats.org/drawingml/2006/main">
            <a:pPr algn="l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Policies are gradually implemented; demand recovers moderately</a:t>
            </a:r>
          </a:p>
        </p:txBody>
      </p:sp>
      <p:sp>
        <p:nvSpPr>
          <p:cNvPr id="12" name="scenario-2-section-2">
            <a:extLst xmlns:a="http://schemas.openxmlformats.org/drawingml/2006/main">
              <a:ext uri="{FF2B5EF4-FFF2-40B4-BE49-F238E27FC236}">
                <a16:creationId xmlns:a16="http://schemas.microsoft.com/office/drawing/2014/main" id="{7B5F3D1A-CBA7-4F82-A1A3-019BD08E0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09850"/>
            <a:ext cx="3238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172033"/>
                </a:solidFill>
              </a:defRPr>
            </a:pPr>
            <a:r>
              <a:rPr sz="1600" b="1">
                <a:solidFill>
                  <a:srgbClr val="172033"/>
                </a:solidFill>
              </a:rPr>
              <a:t>core indicators</a:t>
            </a:r>
          </a:p>
          <a:p xmlns:a="http://schemas.openxmlformats.org/drawingml/2006/main">
            <a:pPr algn="l">
              <a:defRPr sz="1600" b="1">
                <a:solidFill>
                  <a:srgbClr val="172033"/>
                </a:solidFill>
              </a:defRPr>
            </a:pPr>
            <a:r>
              <a:rPr sz="1600" b="1">
                <a:solidFill>
                  <a:srgbClr val="172033"/>
                </a:solidFill>
              </a:rPr>
              <a:t>Market growth rate +8%   client budget +5%   Project gross profit 22%</a:t>
            </a:r>
          </a:p>
        </p:txBody>
      </p:sp>
      <p:sp>
        <p:nvSpPr>
          <p:cNvPr id="13" name="scenario-2-section-3">
            <a:extLst xmlns:a="http://schemas.openxmlformats.org/drawingml/2006/main">
              <a:ext uri="{FF2B5EF4-FFF2-40B4-BE49-F238E27FC236}">
                <a16:creationId xmlns:a16="http://schemas.microsoft.com/office/drawing/2014/main" id="{CF1F74CD-B3E7-4F81-91C6-1D0BF252A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257550"/>
            <a:ext cx="323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business impact</a:t>
            </a:r>
          </a:p>
          <a:p xmlns:a="http://schemas.openxmlformats.org/drawingml/2006/main">
            <a:pPr algn="l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Demand recovers steadily</a:t>
            </a:r>
          </a:p>
        </p:txBody>
      </p:sp>
      <p:sp>
        <p:nvSpPr>
          <p:cNvPr id="14" name="scenario-2-section-4">
            <a:extLst xmlns:a="http://schemas.openxmlformats.org/drawingml/2006/main">
              <a:ext uri="{FF2B5EF4-FFF2-40B4-BE49-F238E27FC236}">
                <a16:creationId xmlns:a16="http://schemas.microsoft.com/office/drawing/2014/main" id="{AF8BA3B5-2A76-4B79-8BE4-18C6041EF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905250"/>
            <a:ext cx="323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leading indicators</a:t>
            </a:r>
          </a:p>
          <a:p xmlns:a="http://schemas.openxmlformats.org/drawingml/2006/main">
            <a:pPr algn="l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sales pipeline target 90%–110%</a:t>
            </a:r>
          </a:p>
        </p:txBody>
      </p:sp>
      <p:sp>
        <p:nvSpPr>
          <p:cNvPr id="15" name="scenario-2-section-5">
            <a:extLst xmlns:a="http://schemas.openxmlformats.org/drawingml/2006/main">
              <a:ext uri="{FF2B5EF4-FFF2-40B4-BE49-F238E27FC236}">
                <a16:creationId xmlns:a16="http://schemas.microsoft.com/office/drawing/2014/main" id="{E6D923A8-E3F5-442B-9463-8B601F68B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552950"/>
            <a:ext cx="323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coping strategies</a:t>
            </a:r>
          </a:p>
          <a:p xmlns:a="http://schemas.openxmlformats.org/drawingml/2006/main">
            <a:pPr algn="l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Copy standard scheme</a:t>
            </a:r>
          </a:p>
        </p:txBody>
      </p:sp>
      <p:sp>
        <p:nvSpPr>
          <p:cNvPr id="16" name="scenario-3">
            <a:extLst xmlns:a="http://schemas.openxmlformats.org/drawingml/2006/main">
              <a:ext uri="{FF2B5EF4-FFF2-40B4-BE49-F238E27FC236}">
                <a16:creationId xmlns:a16="http://schemas.microsoft.com/office/drawing/2014/main" id="{BA28E446-3CE0-44AE-9D8B-4E9A32867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409700"/>
            <a:ext cx="3581400" cy="4000500"/>
          </a:xfrm>
          <a:prstGeom xmlns:a="http://schemas.openxmlformats.org/drawingml/2006/main" prst="roundRect">
            <a:avLst>
              <a:gd name="adj" fmla="val 2128"/>
            </a:avLst>
          </a:prstGeom>
          <a:solidFill xmlns:a="http://schemas.openxmlformats.org/drawingml/2006/main">
            <a:srgbClr val="FFF0E2"/>
          </a:solidFill>
          <a:ln xmlns:a="http://schemas.openxmlformats.org/drawingml/2006/main" w="14288">
            <a:solidFill>
              <a:srgbClr val="E8872D"/>
            </a:solidFill>
            <a:prstDash val="solid"/>
          </a:ln>
        </p:spPr>
      </p:sp>
      <p:sp>
        <p:nvSpPr>
          <p:cNvPr id="17" name="scenario-title-3">
            <a:extLst xmlns:a="http://schemas.openxmlformats.org/drawingml/2006/main">
              <a:ext uri="{FF2B5EF4-FFF2-40B4-BE49-F238E27FC236}">
                <a16:creationId xmlns:a16="http://schemas.microsoft.com/office/drawing/2014/main" id="{6D8B90CB-4D97-4A1E-A669-F94AEA95E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524000"/>
            <a:ext cx="3276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E8872D"/>
                </a:solidFill>
              </a:defRPr>
            </a:pPr>
            <a:r>
              <a:rPr sz="1650" b="1">
                <a:solidFill>
                  <a:srgbClr val="E8872D"/>
                </a:solidFill>
              </a:rPr>
              <a:t>optimistic scenario｜20%</a:t>
            </a:r>
          </a:p>
        </p:txBody>
      </p:sp>
      <p:sp>
        <p:nvSpPr>
          <p:cNvPr id="18" name="scenario-3-section-1">
            <a:extLst xmlns:a="http://schemas.openxmlformats.org/drawingml/2006/main">
              <a:ext uri="{FF2B5EF4-FFF2-40B4-BE49-F238E27FC236}">
                <a16:creationId xmlns:a16="http://schemas.microsoft.com/office/drawing/2014/main" id="{CBBE4BC3-7410-4EA0-B04E-9E33254F2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962150"/>
            <a:ext cx="323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key assumptions</a:t>
            </a:r>
          </a:p>
          <a:p xmlns:a="http://schemas.openxmlformats.org/drawingml/2006/main">
            <a:pPr algn="l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Policy incentives are accelerating; demand is concentrated and released</a:t>
            </a:r>
          </a:p>
        </p:txBody>
      </p:sp>
      <p:sp>
        <p:nvSpPr>
          <p:cNvPr id="19" name="scenario-3-section-2">
            <a:extLst xmlns:a="http://schemas.openxmlformats.org/drawingml/2006/main">
              <a:ext uri="{FF2B5EF4-FFF2-40B4-BE49-F238E27FC236}">
                <a16:creationId xmlns:a16="http://schemas.microsoft.com/office/drawing/2014/main" id="{09DCE751-A590-408E-91B5-D7853E772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609850"/>
            <a:ext cx="3238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172033"/>
                </a:solidFill>
              </a:defRPr>
            </a:pPr>
            <a:r>
              <a:rPr sz="1600" b="1">
                <a:solidFill>
                  <a:srgbClr val="172033"/>
                </a:solidFill>
              </a:rPr>
              <a:t>core indicators</a:t>
            </a:r>
          </a:p>
          <a:p xmlns:a="http://schemas.openxmlformats.org/drawingml/2006/main">
            <a:pPr algn="l">
              <a:defRPr sz="1600" b="1">
                <a:solidFill>
                  <a:srgbClr val="172033"/>
                </a:solidFill>
              </a:defRPr>
            </a:pPr>
            <a:r>
              <a:rPr sz="1600" b="1">
                <a:solidFill>
                  <a:srgbClr val="172033"/>
                </a:solidFill>
              </a:rPr>
              <a:t>Market growth rate +20%   client budget +18%   Project gross profit 28%</a:t>
            </a:r>
          </a:p>
        </p:txBody>
      </p:sp>
      <p:sp>
        <p:nvSpPr>
          <p:cNvPr id="20" name="scenario-3-section-3">
            <a:extLst xmlns:a="http://schemas.openxmlformats.org/drawingml/2006/main">
              <a:ext uri="{FF2B5EF4-FFF2-40B4-BE49-F238E27FC236}">
                <a16:creationId xmlns:a16="http://schemas.microsoft.com/office/drawing/2014/main" id="{DA5A22D1-5040-473F-B9DD-1D776315D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257550"/>
            <a:ext cx="323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business impact</a:t>
            </a:r>
          </a:p>
          <a:p xmlns:a="http://schemas.openxmlformats.org/drawingml/2006/main">
            <a:pPr algn="l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Orders grow rapidly</a:t>
            </a:r>
          </a:p>
        </p:txBody>
      </p:sp>
      <p:sp>
        <p:nvSpPr>
          <p:cNvPr id="21" name="scenario-3-section-4">
            <a:extLst xmlns:a="http://schemas.openxmlformats.org/drawingml/2006/main">
              <a:ext uri="{FF2B5EF4-FFF2-40B4-BE49-F238E27FC236}">
                <a16:creationId xmlns:a16="http://schemas.microsoft.com/office/drawing/2014/main" id="{D75B9F5B-3558-4B31-9AAD-2F0B589BC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905250"/>
            <a:ext cx="323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leading indicators</a:t>
            </a:r>
          </a:p>
          <a:p xmlns:a="http://schemas.openxmlformats.org/drawingml/2006/main">
            <a:pPr algn="l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Sales pipeline exceeds 130%</a:t>
            </a:r>
          </a:p>
        </p:txBody>
      </p:sp>
      <p:sp>
        <p:nvSpPr>
          <p:cNvPr id="22" name="scenario-3-section-5">
            <a:extLst xmlns:a="http://schemas.openxmlformats.org/drawingml/2006/main">
              <a:ext uri="{FF2B5EF4-FFF2-40B4-BE49-F238E27FC236}">
                <a16:creationId xmlns:a16="http://schemas.microsoft.com/office/drawing/2014/main" id="{E3850317-9CEC-414B-B495-7AB24EDBF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552950"/>
            <a:ext cx="323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coping strategies</a:t>
            </a:r>
          </a:p>
          <a:p xmlns:a="http://schemas.openxmlformats.org/drawingml/2006/main">
            <a:pPr algn="l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Lock in production capacity in advance</a:t>
            </a:r>
          </a:p>
        </p:txBody>
      </p:sp>
      <p:sp>
        <p:nvSpPr>
          <p:cNvPr id="23" name="no-regret">
            <a:extLst xmlns:a="http://schemas.openxmlformats.org/drawingml/2006/main">
              <a:ext uri="{FF2B5EF4-FFF2-40B4-BE49-F238E27FC236}">
                <a16:creationId xmlns:a16="http://schemas.microsoft.com/office/drawing/2014/main" id="{E548B4D2-1CD5-4EDB-BC25-DD7B4EC50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76900"/>
            <a:ext cx="87630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15375F"/>
          </a:solidFill>
          <a:ln xmlns:a="http://schemas.openxmlformats.org/drawingml/2006/main" w="14288">
            <a:solidFill>
              <a:srgbClr val="15375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FFFFFF"/>
                </a:solidFill>
              </a:defRPr>
            </a:pPr>
            <a:r>
              <a:rPr sz="1600" b="1">
                <a:solidFill>
                  <a:srgbClr val="FFFFFF"/>
                </a:solidFill>
              </a:rPr>
              <a:t>No-regret measures: unified data caliber, standardized plan, reserve key talents, rolling monitoring of leading indicators</a:t>
            </a:r>
          </a:p>
        </p:txBody>
      </p:sp>
      <p:sp>
        <p:nvSpPr>
          <p:cNvPr id="27" name="contingent">
            <a:extLst xmlns:a="http://schemas.openxmlformats.org/drawingml/2006/main">
              <a:ext uri="{FF2B5EF4-FFF2-40B4-BE49-F238E27FC236}">
                <a16:creationId xmlns:a16="http://schemas.microsoft.com/office/drawing/2014/main" id="{83C6B2C6-7B6D-459C-A14A-A4ED42C5D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5676900"/>
            <a:ext cx="22098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E8872D"/>
            </a:solidFill>
            <a:prstDash val="dash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E8872D"/>
                </a:solidFill>
              </a:defRPr>
            </a:pPr>
            <a:r>
              <a:rPr sz="1600" b="1">
                <a:solidFill>
                  <a:srgbClr val="E8872D"/>
                </a:solidFill>
              </a:rPr>
              <a:t>If the sales pipeline is below 70% or exceed 130%, start the flexible resource plan</a:t>
            </a:r>
          </a:p>
        </p:txBody>
      </p:sp>
    </p:spTree>
    <p:extLst>
      <p:ext uri="{BB962C8B-B14F-4D97-AF65-F5344CB8AC3E}">
        <p14:creationId xmlns:p14="http://schemas.microsoft.com/office/powerpoint/2010/main" val="168201821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2026-07-31T20:15:29.7070000Z</dcterms:created>
  <dcterms:modified xsi:type="dcterms:W3CDTF">2026-07-31T20:15:29.7070000Z</dcterms:modified>
</coreProperties>
</file>