
<file path=[Content_Types].xml><?xml version="1.0" encoding="utf-8"?>
<Types xmlns="http://schemas.openxmlformats.org/package/2006/content-types">
  <Default Extension="xml" ContentType="application/vnd.openxmlformats-package.core-properties+xml"/>
  <Default Extension="rels" ContentType="application/vnd.openxmlformats-package.relationships+xml"/>
  <Override PartName="/docProps/app.xml" ContentType="application/vnd.openxmlformats-officedocument.extended-properties+xml"/>
  <Override PartName="/ppt/presentation.xml" ContentType="application/vnd.openxmlformats-officedocument.presentationml.presentation.main+xml"/>
  <Override PartName="/ppt/theme/theme1.xml" ContentType="application/vnd.openxmlformats-officedocument.theme+xml"/>
  <Override PartName="/ppt/slideMasters/slideMaster1.xml" ContentType="application/vnd.openxmlformats-officedocument.presentationml.slideMaster+xml"/>
  <Override PartName="/ppt/slideMasters/theme/theme2.xml" ContentType="application/vnd.openxmlformats-officedocument.theme+xml"/>
  <Override PartName="/ppt/slideLayouts/slideLayout1.xml" ContentType="application/vnd.openxmlformats-officedocument.presentationml.slideLayout+xml"/>
  <Override PartName="/ppt/notesMasters/notesMaster1.xml" ContentType="application/vnd.openxmlformats-officedocument.presentationml.notesMaster+xml"/>
  <Override PartName="/ppt/notesMasters/theme/theme3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ppt/slides/slide1.xml" ContentType="application/vnd.openxmlformats-officedocument.presentationml.slide+xml"/>
  <Override PartName="/ppt/notesSlides/notesSlide1.xml" ContentType="application/vnd.openxmlformats-officedocument.presentationml.notesSlide+xml"/>
</Types>
</file>

<file path=_rels/.rels>&#65279;<?xml version="1.0" encoding="utf-8"?><Relationships xmlns="http://schemas.openxmlformats.org/package/2006/relationships"><Relationship Type="http://schemas.openxmlformats.org/package/2006/relationships/metadata/core-properties" Target="/docProps/core.xml" Id="R6f584f5c4c0b44c9" /><Relationship Type="http://schemas.openxmlformats.org/officeDocument/2006/relationships/extended-properties" Target="/docProps/app.xml" Id="R762994b163034250" /><Relationship Type="http://schemas.openxmlformats.org/officeDocument/2006/relationships/officeDocument" Target="/ppt/presentation.xml" Id="R49eaa3e696aa4beb" /></Relationships>
</file>

<file path=ppt/presentation.xml><?xml version="1.0" encoding="utf-8"?>
<p:presentation xmlns:p="http://schemas.openxmlformats.org/presentationml/2006/main">
  <p:sldMasterIdLst>
    <p:sldMasterId xmlns:r="http://schemas.openxmlformats.org/officeDocument/2006/relationships" id="2147483648" r:id="R1e00990926f54895"/>
  </p:sldMasterIdLst>
  <p:notesMasterIdLst>
    <p:notesMasterId xmlns:r="http://schemas.openxmlformats.org/officeDocument/2006/relationships" r:id="R9b922e4ac31747e5"/>
  </p:notesMasterIdLst>
  <p:sldIdLst>
    <p:sldId xmlns:r="http://schemas.openxmlformats.org/officeDocument/2006/relationships" id="256" r:id="R0fa8a358deb04b17"/>
  </p:sldIdLst>
  <p:sldSz cx="12192000" cy="6858000"/>
  <p:notesSz cx="6858000" cy="9144000"/>
</p:presentation>
</file>

<file path=ppt/presProps.xml><?xml version="1.0" encoding="utf-8"?>
<p:presentationPr xmlns:p="http://schemas.openxmlformats.org/presentationml/2006/main">
  <p:extLst>
    <p:ext xmlns:p14="http://schemas.microsoft.com/office/powerpoint/2010/main" uri="{E76CE94A-603C-4142-B9EB-6D1370010A27}">
      <p14:discardImageEditData val="0"/>
    </p:ext>
    <p:ext xmlns:p14="http://schemas.microsoft.com/office/powerpoint/2010/main" uri="{D31A062A-798A-4329-ABDD-BBA856620510}">
      <p14:defaultImageDpi val="32767"/>
    </p:ext>
    <p:ext xmlns:p15="http://schemas.microsoft.com/office/powerpoint/2012/main" uri="{FD5EFAAD-0ECE-453E-9831-46B23BE46B34}">
      <p15:chartTrackingRefBased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_rels/presentation.xml.rels>&#65279;<?xml version="1.0" encoding="utf-8"?><Relationships xmlns="http://schemas.openxmlformats.org/package/2006/relationships"><Relationship Type="http://schemas.openxmlformats.org/officeDocument/2006/relationships/theme" Target="/ppt/theme/theme1.xml" Id="Rf75117000eb44a3f" /><Relationship Type="http://schemas.openxmlformats.org/officeDocument/2006/relationships/slideMaster" Target="/ppt/slideMasters/slideMaster1.xml" Id="R1e00990926f54895" /><Relationship Type="http://schemas.openxmlformats.org/officeDocument/2006/relationships/notesMaster" Target="/ppt/notesMasters/notesMaster1.xml" Id="R9b922e4ac31747e5" /><Relationship Type="http://schemas.openxmlformats.org/officeDocument/2006/relationships/presProps" Target="/ppt/presProps.xml" Id="Re51e08c9a518455c" /><Relationship Type="http://schemas.openxmlformats.org/officeDocument/2006/relationships/tableStyles" Target="/ppt/tableStyles.xml" Id="R4e62e15f68734f9b" /><Relationship Type="http://schemas.openxmlformats.org/officeDocument/2006/relationships/slide" Target="/ppt/slides/slide1.xml" Id="R0fa8a358deb04b17" /></Relationships>
</file>

<file path=ppt/notesMasters/_rels/notesMaster1.xml.rels>&#65279;<?xml version="1.0" encoding="utf-8"?><Relationships xmlns="http://schemas.openxmlformats.org/package/2006/relationships"><Relationship Type="http://schemas.openxmlformats.org/officeDocument/2006/relationships/theme" Target="/ppt/notesMasters/theme/theme3.xml" Id="R58f732c0a2ab4571" /></Relationships>
</file>

<file path=ppt/notesMasters/notesMaster1.xml><?xml version="1.0" encoding="utf-8"?>
<p:notesMaster xmlns:p="http://schemas.openxmlformats.org/presentationml/2006/main">
  <p:cSld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Header Placeholder"/>
          <p:cNvSpPr/>
          <p:nvPr>
            <p:ph type="hdr" sz="quarter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" name="Date Placeholder"/>
          <p:cNvSpPr/>
          <p:nvPr>
            <p:ph type="dt" sz="quarter" idx="1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Image Placeholder"/>
          <p:cNvSpPr/>
          <p:nvPr>
            <p:ph type="sldImg" idx="2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5" name="Notes Placeholder"/>
          <p:cNvSpPr/>
          <p:nvPr>
            <p:ph type="body" sz="quarter" idx="3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6" name="Footer Placeholder"/>
          <p:cNvSpPr/>
          <p:nvPr>
            <p:ph type="ftr" sz="quarter" idx="4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7" name="Slide Number Placeholder"/>
          <p:cNvSpPr/>
          <p:nvPr>
            <p:ph type="sldNum" sz="quarter" idx="5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xmlns:a="http://schemas.openxmlformats.org/drawingml/2006/main" marL="0" algn="l" defTabSz="914400" rtl="0" eaLnBrk="1" latinLnBrk="0" hangingPunct="1">
      <a:defRPr sz="1200" kern="1200"/>
    </a:lvl1pPr>
  </p:notesStyle>
</p:notesMaster>
</file>

<file path=ppt/notesMasters/theme/theme3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notesSlides/_rels/notesSlide1.xml.rels>&#65279;<?xml version="1.0" encoding="utf-8"?><Relationships xmlns="http://schemas.openxmlformats.org/package/2006/relationships"><Relationship Type="http://schemas.openxmlformats.org/officeDocument/2006/relationships/slide" Target="/ppt/slides/slide1.xml" Id="Racd67057cf034199" /><Relationship Type="http://schemas.openxmlformats.org/officeDocument/2006/relationships/notesMaster" Target="/ppt/notesMasters/notesMaster1.xml" Id="R124834860cc94d0f" /></Relationships>
</file>

<file path=ppt/notesSlides/notesSlide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slideLayouts/_rels/slideLayout1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a48c1551fb5344a1" /></Relationships>
</file>

<file path=ppt/slideLayouts/slideLayout1.xml><?xml version="1.0" encoding="utf-8"?>
<p:sldLayout xmlns:p="http://schemas.openxmlformats.org/presentationml/2006/main" type="title">
  <p:cSld name="Title Slide"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</p:sldLayout>
</file>

<file path=ppt/slideMasters/_rels/slideMaster1.xml.rels>&#65279;<?xml version="1.0" encoding="utf-8"?><Relationships xmlns="http://schemas.openxmlformats.org/package/2006/relationships"><Relationship Type="http://schemas.openxmlformats.org/officeDocument/2006/relationships/theme" Target="/ppt/slideMasters/theme/theme2.xml" Id="R65b31ba557da46a4" /><Relationship Type="http://schemas.openxmlformats.org/officeDocument/2006/relationships/slideLayout" Target="/ppt/slideLayouts/slideLayout1.xml" Id="Rbff6d191731245c8" /></Relationships>
</file>

<file path=ppt/slideMasters/slideMaster1.xml><?xml version="1.0" encoding="utf-8"?>
<p:sldMaster xmlns:p="http://schemas.openxmlformats.org/presentationml/2006/main">
  <p:cSld name="Master"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xmlns:r="http://schemas.openxmlformats.org/officeDocument/2006/relationships" id="2147483649" r:id="Rbff6d191731245c8"/>
  </p:sldLayoutIdLst>
  <p:txStyles>
    <p:titleStyle>
      <a:lvl1pPr xmlns:a="http://schemas.openxmlformats.org/drawingml/2006/main" algn="l">
        <a:lnSpc>
          <a:spcPct val="90000"/>
        </a:lnSpc>
        <a:spcBef>
          <a:spcPts val="0"/>
        </a:spcBef>
        <a:buNone/>
        <a:defRPr sz="4400">
          <a:solidFill>
            <a:schemeClr val="tx1"/>
          </a:solidFill>
          <a:latin typeface="+mj-lt"/>
          <a:ea typeface="+mj-lt"/>
          <a:cs typeface="+mj-lt"/>
        </a:defRPr>
      </a:lvl1pPr>
    </p:titleStyle>
    <p:bodyStyle>
      <a:lvl1pPr xmlns:a="http://schemas.openxmlformats.org/drawingml/2006/main" marL="228600" indent="-228600" algn="l">
        <a:lnSpc>
          <a:spcPct val="90000"/>
        </a:lnSpc>
        <a:spcBef>
          <a:spcPts val="1000"/>
        </a:spcBef>
        <a:buChar char="•"/>
        <a:defRPr sz="2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685800" indent="-228600" algn="l">
        <a:lnSpc>
          <a:spcPct val="90000"/>
        </a:lnSpc>
        <a:spcBef>
          <a:spcPts val="500"/>
        </a:spcBef>
        <a:buChar char="•"/>
        <a:defRPr sz="24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1143000" indent="-228600" algn="l">
        <a:lnSpc>
          <a:spcPct val="90000"/>
        </a:lnSpc>
        <a:spcBef>
          <a:spcPts val="500"/>
        </a:spcBef>
        <a:buChar char="•"/>
        <a:defRPr sz="20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600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20574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5146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9718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4290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886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9pPr>
    </p:bodyStyle>
    <p:otherStyle>
      <a:lvl1pPr xmlns:a="http://schemas.openxmlformats.org/drawingml/2006/main" marL="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457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914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371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18288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2860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743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200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657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9pPr>
    </p:otherStyle>
  </p:txStyles>
</p:sldMaster>
</file>

<file path=ppt/slideMasters/theme/theme2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slides/_rels/slide1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67e86c384cdc4203" /><Relationship Type="http://schemas.openxmlformats.org/officeDocument/2006/relationships/notesSlide" Target="/ppt/notesSlides/notesSlide1.xml" Id="Rf10cd3d1548346e1" /></Relationships>
</file>

<file path=ppt/slides/slide1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44" name="page-title">
            <a:extLst xmlns:a="http://schemas.openxmlformats.org/drawingml/2006/main">
              <a:ext uri="{FF2B5EF4-FFF2-40B4-BE49-F238E27FC236}">
                <a16:creationId xmlns:a16="http://schemas.microsoft.com/office/drawing/2014/main" id="{948C8E5D-DE8C-461C-9118-4F2BCA76EE4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266700"/>
            <a:ext cx="11163300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l">
              <a:defRPr sz="2550" b="1">
                <a:solidFill>
                  <a:srgbClr val="15375F"/>
                </a:solidFill>
              </a:defRPr>
            </a:pPr>
            <a:r>
              <a:rPr sz="2550" b="1">
                <a:solidFill>
                  <a:srgbClr val="15375F"/>
                </a:solidFill>
              </a:rPr>
              <a:t>三年间前十榜单换位明显，上升者都完成了产品标准化</a:t>
            </a:r>
          </a:p>
        </p:txBody>
      </p:sp>
      <p:sp>
        <p:nvSpPr>
          <p:cNvPr id="2" name="slope-frame">
            <a:extLst xmlns:a="http://schemas.openxmlformats.org/drawingml/2006/main">
              <a:ext uri="{FF2B5EF4-FFF2-40B4-BE49-F238E27FC236}">
                <a16:creationId xmlns:a16="http://schemas.microsoft.com/office/drawing/2014/main" id="{734211F5-830D-46D6-8F5C-93F5B6CD460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295400"/>
            <a:ext cx="8172450" cy="4305300"/>
          </a:xfrm>
          <a:prstGeom xmlns:a="http://schemas.openxmlformats.org/drawingml/2006/main" prst="roundRect">
            <a:avLst>
              <a:gd name="adj" fmla="val 1770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10478">
            <a:solidFill>
              <a:srgbClr val="D7DEE8"/>
            </a:solidFill>
            <a:prstDash val="solid"/>
          </a:ln>
        </p:spPr>
      </p:sp>
      <p:sp>
        <p:nvSpPr>
          <p:cNvPr id="3" name="period-left">
            <a:extLst xmlns:a="http://schemas.openxmlformats.org/drawingml/2006/main">
              <a:ext uri="{FF2B5EF4-FFF2-40B4-BE49-F238E27FC236}">
                <a16:creationId xmlns:a16="http://schemas.microsoft.com/office/drawing/2014/main" id="{C14C25AC-1887-4E2C-9F01-049E26A6B08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905000" y="1409700"/>
            <a:ext cx="190500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defRPr sz="1600" b="1">
                <a:solidFill>
                  <a:srgbClr val="15375F"/>
                </a:solidFill>
              </a:defRPr>
            </a:pPr>
            <a:r>
              <a:rPr sz="1600" b="1">
                <a:solidFill>
                  <a:srgbClr val="15375F"/>
                </a:solidFill>
              </a:rPr>
              <a:t>2023 年</a:t>
            </a:r>
          </a:p>
        </p:txBody>
      </p:sp>
      <p:sp>
        <p:nvSpPr>
          <p:cNvPr id="4" name="period-right">
            <a:extLst xmlns:a="http://schemas.openxmlformats.org/drawingml/2006/main">
              <a:ext uri="{FF2B5EF4-FFF2-40B4-BE49-F238E27FC236}">
                <a16:creationId xmlns:a16="http://schemas.microsoft.com/office/drawing/2014/main" id="{73E61062-961A-45D9-9B82-F8893ECB8D4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05450" y="1409700"/>
            <a:ext cx="190500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defRPr sz="1600" b="1">
                <a:solidFill>
                  <a:srgbClr val="15375F"/>
                </a:solidFill>
              </a:defRPr>
            </a:pPr>
            <a:r>
              <a:rPr sz="1600" b="1">
                <a:solidFill>
                  <a:srgbClr val="15375F"/>
                </a:solidFill>
              </a:rPr>
              <a:t>2026 年</a:t>
            </a:r>
          </a:p>
        </p:txBody>
      </p:sp>
      <p:sp>
        <p:nvSpPr>
          <p:cNvPr id="5" name="slope-1">
            <a:extLst xmlns:a="http://schemas.openxmlformats.org/drawingml/2006/main">
              <a:ext uri="{FF2B5EF4-FFF2-40B4-BE49-F238E27FC236}">
                <a16:creationId xmlns:a16="http://schemas.microsoft.com/office/drawing/2014/main" id="{FFC66F3A-E4CD-4737-A1BD-5E3255B0E30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flipV="1">
            <a:off x="2857500" y="1847850"/>
            <a:ext cx="3600450" cy="2696633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33338">
            <a:solidFill>
              <a:srgbClr val="2F6FB2"/>
            </a:solidFill>
            <a:prstDash val="solid"/>
          </a:ln>
        </p:spPr>
      </p:sp>
      <p:sp>
        <p:nvSpPr>
          <p:cNvPr id="6" name="slope-left-1">
            <a:extLst xmlns:a="http://schemas.openxmlformats.org/drawingml/2006/main">
              <a:ext uri="{FF2B5EF4-FFF2-40B4-BE49-F238E27FC236}">
                <a16:creationId xmlns:a16="http://schemas.microsoft.com/office/drawing/2014/main" id="{27B89E85-4328-41E0-8B1D-C9CA0F54FB0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" y="4411133"/>
            <a:ext cx="20002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r">
              <a:defRPr sz="1600" b="1">
                <a:solidFill>
                  <a:srgbClr val="2F6FB2"/>
                </a:solidFill>
              </a:defRPr>
            </a:pPr>
            <a:r>
              <a:rPr sz="1600" b="1">
                <a:solidFill>
                  <a:srgbClr val="2F6FB2"/>
                </a:solidFill>
              </a:rPr>
              <a:t>8. 业务 A  120</a:t>
            </a:r>
          </a:p>
        </p:txBody>
      </p:sp>
      <p:sp>
        <p:nvSpPr>
          <p:cNvPr id="7" name="slope-right-1">
            <a:extLst xmlns:a="http://schemas.openxmlformats.org/drawingml/2006/main">
              <a:ext uri="{FF2B5EF4-FFF2-40B4-BE49-F238E27FC236}">
                <a16:creationId xmlns:a16="http://schemas.microsoft.com/office/drawing/2014/main" id="{F4BDF9F6-4D7A-4917-AE12-0A22A607CF1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10350" y="1714500"/>
            <a:ext cx="20193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l">
              <a:defRPr sz="1600" b="1">
                <a:solidFill>
                  <a:srgbClr val="2F6FB2"/>
                </a:solidFill>
              </a:defRPr>
            </a:pPr>
            <a:r>
              <a:rPr sz="1600" b="1">
                <a:solidFill>
                  <a:srgbClr val="2F6FB2"/>
                </a:solidFill>
              </a:rPr>
              <a:t>1. 业务 A  150  +7</a:t>
            </a:r>
          </a:p>
        </p:txBody>
      </p:sp>
      <p:sp>
        <p:nvSpPr>
          <p:cNvPr id="8" name="slope-reason-1">
            <a:extLst xmlns:a="http://schemas.openxmlformats.org/drawingml/2006/main">
              <a:ext uri="{FF2B5EF4-FFF2-40B4-BE49-F238E27FC236}">
                <a16:creationId xmlns:a16="http://schemas.microsoft.com/office/drawing/2014/main" id="{72BDA127-3D94-4826-AD50-2DFD2B78947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29000" y="2495550"/>
            <a:ext cx="1066800" cy="323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2F6FB2"/>
            </a:solidFill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defRPr sz="1600" b="1">
                <a:solidFill>
                  <a:srgbClr val="15375F"/>
                </a:solidFill>
              </a:defRPr>
            </a:pPr>
            <a:r>
              <a:rPr sz="1600" b="1">
                <a:solidFill>
                  <a:srgbClr val="15375F"/>
                </a:solidFill>
              </a:rPr>
              <a:t>产品标准化推动增长</a:t>
            </a:r>
          </a:p>
        </p:txBody>
      </p:sp>
      <p:sp>
        <p:nvSpPr>
          <p:cNvPr id="9" name="slope-2">
            <a:extLst xmlns:a="http://schemas.openxmlformats.org/drawingml/2006/main">
              <a:ext uri="{FF2B5EF4-FFF2-40B4-BE49-F238E27FC236}">
                <a16:creationId xmlns:a16="http://schemas.microsoft.com/office/drawing/2014/main" id="{76AFABF9-006D-4188-934C-713293A95B3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flipV="1">
            <a:off x="2857500" y="2233083"/>
            <a:ext cx="3600450" cy="1540933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33338">
            <a:solidFill>
              <a:srgbClr val="2F6FB2"/>
            </a:solidFill>
            <a:prstDash val="solid"/>
          </a:ln>
        </p:spPr>
      </p:sp>
      <p:sp>
        <p:nvSpPr>
          <p:cNvPr id="10" name="slope-left-2">
            <a:extLst xmlns:a="http://schemas.openxmlformats.org/drawingml/2006/main">
              <a:ext uri="{FF2B5EF4-FFF2-40B4-BE49-F238E27FC236}">
                <a16:creationId xmlns:a16="http://schemas.microsoft.com/office/drawing/2014/main" id="{3FDC1080-52FE-429D-A8BA-62749AE77F4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" y="3640667"/>
            <a:ext cx="20002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r">
              <a:defRPr sz="1600" b="1">
                <a:solidFill>
                  <a:srgbClr val="2F6FB2"/>
                </a:solidFill>
              </a:defRPr>
            </a:pPr>
            <a:r>
              <a:rPr sz="1600" b="1">
                <a:solidFill>
                  <a:srgbClr val="2F6FB2"/>
                </a:solidFill>
              </a:rPr>
              <a:t>6. 业务 B  116</a:t>
            </a:r>
          </a:p>
        </p:txBody>
      </p:sp>
      <p:sp>
        <p:nvSpPr>
          <p:cNvPr id="11" name="slope-right-2">
            <a:extLst xmlns:a="http://schemas.openxmlformats.org/drawingml/2006/main">
              <a:ext uri="{FF2B5EF4-FFF2-40B4-BE49-F238E27FC236}">
                <a16:creationId xmlns:a16="http://schemas.microsoft.com/office/drawing/2014/main" id="{641AFCD9-C5C8-4F3C-B869-07988E8B39E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10350" y="2099733"/>
            <a:ext cx="20193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l">
              <a:defRPr sz="1600" b="1">
                <a:solidFill>
                  <a:srgbClr val="2F6FB2"/>
                </a:solidFill>
              </a:defRPr>
            </a:pPr>
            <a:r>
              <a:rPr sz="1600" b="1">
                <a:solidFill>
                  <a:srgbClr val="2F6FB2"/>
                </a:solidFill>
              </a:rPr>
              <a:t>2. 业务 B  147  +4</a:t>
            </a:r>
          </a:p>
        </p:txBody>
      </p:sp>
      <p:sp>
        <p:nvSpPr>
          <p:cNvPr id="12" name="slope-reason-2">
            <a:extLst xmlns:a="http://schemas.openxmlformats.org/drawingml/2006/main">
              <a:ext uri="{FF2B5EF4-FFF2-40B4-BE49-F238E27FC236}">
                <a16:creationId xmlns:a16="http://schemas.microsoft.com/office/drawing/2014/main" id="{1DD5F942-B3FD-4281-A780-583BDCCC82D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52950" y="2990850"/>
            <a:ext cx="1066800" cy="323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2F6FB2"/>
            </a:solidFill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defRPr sz="1600" b="1">
                <a:solidFill>
                  <a:srgbClr val="15375F"/>
                </a:solidFill>
              </a:defRPr>
            </a:pPr>
            <a:r>
              <a:rPr sz="1600" b="1">
                <a:solidFill>
                  <a:srgbClr val="15375F"/>
                </a:solidFill>
              </a:rPr>
              <a:t>产品标准化推动增长</a:t>
            </a:r>
          </a:p>
        </p:txBody>
      </p:sp>
      <p:sp>
        <p:nvSpPr>
          <p:cNvPr id="13" name="slope-3">
            <a:extLst xmlns:a="http://schemas.openxmlformats.org/drawingml/2006/main">
              <a:ext uri="{FF2B5EF4-FFF2-40B4-BE49-F238E27FC236}">
                <a16:creationId xmlns:a16="http://schemas.microsoft.com/office/drawing/2014/main" id="{6332933D-6D61-4F0D-9688-C9E3544D66A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flipV="1">
            <a:off x="2857500" y="2618317"/>
            <a:ext cx="3600450" cy="231140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33338">
            <a:solidFill>
              <a:srgbClr val="2F6FB2"/>
            </a:solidFill>
            <a:prstDash val="solid"/>
          </a:ln>
        </p:spPr>
      </p:sp>
      <p:sp>
        <p:nvSpPr>
          <p:cNvPr id="14" name="slope-left-3">
            <a:extLst xmlns:a="http://schemas.openxmlformats.org/drawingml/2006/main">
              <a:ext uri="{FF2B5EF4-FFF2-40B4-BE49-F238E27FC236}">
                <a16:creationId xmlns:a16="http://schemas.microsoft.com/office/drawing/2014/main" id="{42EF149D-D5C7-4C3E-94CF-8BE2BC8A362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" y="4796367"/>
            <a:ext cx="20002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r">
              <a:defRPr sz="1600" b="1">
                <a:solidFill>
                  <a:srgbClr val="2F6FB2"/>
                </a:solidFill>
              </a:defRPr>
            </a:pPr>
            <a:r>
              <a:rPr sz="1600" b="1">
                <a:solidFill>
                  <a:srgbClr val="2F6FB2"/>
                </a:solidFill>
              </a:rPr>
              <a:t>9. 业务 C  112</a:t>
            </a:r>
          </a:p>
        </p:txBody>
      </p:sp>
      <p:sp>
        <p:nvSpPr>
          <p:cNvPr id="15" name="slope-right-3">
            <a:extLst xmlns:a="http://schemas.openxmlformats.org/drawingml/2006/main">
              <a:ext uri="{FF2B5EF4-FFF2-40B4-BE49-F238E27FC236}">
                <a16:creationId xmlns:a16="http://schemas.microsoft.com/office/drawing/2014/main" id="{0454D353-F0BE-483F-987F-3A02C3B8D82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10350" y="2484967"/>
            <a:ext cx="20193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l">
              <a:defRPr sz="1600" b="1">
                <a:solidFill>
                  <a:srgbClr val="2F6FB2"/>
                </a:solidFill>
              </a:defRPr>
            </a:pPr>
            <a:r>
              <a:rPr sz="1600" b="1">
                <a:solidFill>
                  <a:srgbClr val="2F6FB2"/>
                </a:solidFill>
              </a:rPr>
              <a:t>3. 业务 C  144  +6</a:t>
            </a:r>
          </a:p>
        </p:txBody>
      </p:sp>
      <p:sp>
        <p:nvSpPr>
          <p:cNvPr id="16" name="slope-reason-3">
            <a:extLst xmlns:a="http://schemas.openxmlformats.org/drawingml/2006/main">
              <a:ext uri="{FF2B5EF4-FFF2-40B4-BE49-F238E27FC236}">
                <a16:creationId xmlns:a16="http://schemas.microsoft.com/office/drawing/2014/main" id="{C93D862F-F1B0-40CC-90F5-D7D68878696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676900" y="3486150"/>
            <a:ext cx="1066800" cy="323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2F6FB2"/>
            </a:solidFill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defRPr sz="1600" b="1">
                <a:solidFill>
                  <a:srgbClr val="15375F"/>
                </a:solidFill>
              </a:defRPr>
            </a:pPr>
            <a:r>
              <a:rPr sz="1600" b="1">
                <a:solidFill>
                  <a:srgbClr val="15375F"/>
                </a:solidFill>
              </a:rPr>
              <a:t>产品标准化推动增长</a:t>
            </a:r>
          </a:p>
        </p:txBody>
      </p:sp>
      <p:sp>
        <p:nvSpPr>
          <p:cNvPr id="17" name="slope-4">
            <a:extLst xmlns:a="http://schemas.openxmlformats.org/drawingml/2006/main">
              <a:ext uri="{FF2B5EF4-FFF2-40B4-BE49-F238E27FC236}">
                <a16:creationId xmlns:a16="http://schemas.microsoft.com/office/drawing/2014/main" id="{6800FE3A-7B96-478B-999C-362D944C83D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57500" y="1847850"/>
            <a:ext cx="3600450" cy="115570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7145">
            <a:solidFill>
              <a:srgbClr val="E8872D"/>
            </a:solidFill>
            <a:prstDash val="solid"/>
          </a:ln>
        </p:spPr>
      </p:sp>
      <p:sp>
        <p:nvSpPr>
          <p:cNvPr id="18" name="slope-left-4">
            <a:extLst xmlns:a="http://schemas.openxmlformats.org/drawingml/2006/main">
              <a:ext uri="{FF2B5EF4-FFF2-40B4-BE49-F238E27FC236}">
                <a16:creationId xmlns:a16="http://schemas.microsoft.com/office/drawing/2014/main" id="{1EE04B0B-4764-40EF-B5F8-842D44BE1DA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" y="1714500"/>
            <a:ext cx="20002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r">
              <a:defRPr sz="1600" b="0">
                <a:solidFill>
                  <a:srgbClr val="E8872D"/>
                </a:solidFill>
              </a:defRPr>
            </a:pPr>
            <a:r>
              <a:rPr sz="1600" b="0">
                <a:solidFill>
                  <a:srgbClr val="E8872D"/>
                </a:solidFill>
              </a:rPr>
              <a:t>1. 业务 D  108</a:t>
            </a:r>
          </a:p>
        </p:txBody>
      </p:sp>
      <p:sp>
        <p:nvSpPr>
          <p:cNvPr id="19" name="slope-right-4">
            <a:extLst xmlns:a="http://schemas.openxmlformats.org/drawingml/2006/main">
              <a:ext uri="{FF2B5EF4-FFF2-40B4-BE49-F238E27FC236}">
                <a16:creationId xmlns:a16="http://schemas.microsoft.com/office/drawing/2014/main" id="{9630F9C7-289F-45C0-BCB6-B10E79020BC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10350" y="2870200"/>
            <a:ext cx="20193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l">
              <a:defRPr sz="1600" b="0">
                <a:solidFill>
                  <a:srgbClr val="E8872D"/>
                </a:solidFill>
              </a:defRPr>
            </a:pPr>
            <a:r>
              <a:rPr sz="1600" b="0">
                <a:solidFill>
                  <a:srgbClr val="E8872D"/>
                </a:solidFill>
              </a:rPr>
              <a:t>4. 业务 D  141  -3</a:t>
            </a:r>
          </a:p>
        </p:txBody>
      </p:sp>
      <p:sp>
        <p:nvSpPr>
          <p:cNvPr id="20" name="slope-5">
            <a:extLst xmlns:a="http://schemas.openxmlformats.org/drawingml/2006/main">
              <a:ext uri="{FF2B5EF4-FFF2-40B4-BE49-F238E27FC236}">
                <a16:creationId xmlns:a16="http://schemas.microsoft.com/office/drawing/2014/main" id="{AFDF7644-71DE-4921-BA8E-A668DB3FEB4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57500" y="2233083"/>
            <a:ext cx="3600450" cy="115570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7145">
            <a:solidFill>
              <a:srgbClr val="E8872D"/>
            </a:solidFill>
            <a:prstDash val="solid"/>
          </a:ln>
        </p:spPr>
      </p:sp>
      <p:sp>
        <p:nvSpPr>
          <p:cNvPr id="21" name="slope-left-5">
            <a:extLst xmlns:a="http://schemas.openxmlformats.org/drawingml/2006/main">
              <a:ext uri="{FF2B5EF4-FFF2-40B4-BE49-F238E27FC236}">
                <a16:creationId xmlns:a16="http://schemas.microsoft.com/office/drawing/2014/main" id="{0BB8A4EC-3C32-47C1-935F-AA33CB85897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" y="2099733"/>
            <a:ext cx="20002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r">
              <a:defRPr sz="1600" b="0">
                <a:solidFill>
                  <a:srgbClr val="E8872D"/>
                </a:solidFill>
              </a:defRPr>
            </a:pPr>
            <a:r>
              <a:rPr sz="1600" b="0">
                <a:solidFill>
                  <a:srgbClr val="E8872D"/>
                </a:solidFill>
              </a:rPr>
              <a:t>2. 业务 E  104</a:t>
            </a:r>
          </a:p>
        </p:txBody>
      </p:sp>
      <p:sp>
        <p:nvSpPr>
          <p:cNvPr id="22" name="slope-right-5">
            <a:extLst xmlns:a="http://schemas.openxmlformats.org/drawingml/2006/main">
              <a:ext uri="{FF2B5EF4-FFF2-40B4-BE49-F238E27FC236}">
                <a16:creationId xmlns:a16="http://schemas.microsoft.com/office/drawing/2014/main" id="{354941DB-1D20-4900-AD73-D981077328F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10350" y="3255433"/>
            <a:ext cx="20193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l">
              <a:defRPr sz="1600" b="0">
                <a:solidFill>
                  <a:srgbClr val="E8872D"/>
                </a:solidFill>
              </a:defRPr>
            </a:pPr>
            <a:r>
              <a:rPr sz="1600" b="0">
                <a:solidFill>
                  <a:srgbClr val="E8872D"/>
                </a:solidFill>
              </a:rPr>
              <a:t>5. 业务 E  138  -3</a:t>
            </a:r>
          </a:p>
        </p:txBody>
      </p:sp>
      <p:sp>
        <p:nvSpPr>
          <p:cNvPr id="23" name="slope-6">
            <a:extLst xmlns:a="http://schemas.openxmlformats.org/drawingml/2006/main">
              <a:ext uri="{FF2B5EF4-FFF2-40B4-BE49-F238E27FC236}">
                <a16:creationId xmlns:a16="http://schemas.microsoft.com/office/drawing/2014/main" id="{F3517A1E-739E-4C8C-B842-822DC51FE5F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57500" y="2618317"/>
            <a:ext cx="3600450" cy="115570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7145">
            <a:solidFill>
              <a:srgbClr val="E8872D"/>
            </a:solidFill>
            <a:prstDash val="solid"/>
          </a:ln>
        </p:spPr>
      </p:sp>
      <p:sp>
        <p:nvSpPr>
          <p:cNvPr id="24" name="slope-left-6">
            <a:extLst xmlns:a="http://schemas.openxmlformats.org/drawingml/2006/main">
              <a:ext uri="{FF2B5EF4-FFF2-40B4-BE49-F238E27FC236}">
                <a16:creationId xmlns:a16="http://schemas.microsoft.com/office/drawing/2014/main" id="{6CA2AC8A-2346-415A-925C-F033203E4B9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" y="2484967"/>
            <a:ext cx="20002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r">
              <a:defRPr sz="1600" b="0">
                <a:solidFill>
                  <a:srgbClr val="E8872D"/>
                </a:solidFill>
              </a:defRPr>
            </a:pPr>
            <a:r>
              <a:rPr sz="1600" b="0">
                <a:solidFill>
                  <a:srgbClr val="E8872D"/>
                </a:solidFill>
              </a:rPr>
              <a:t>3. 业务 F  100</a:t>
            </a:r>
          </a:p>
        </p:txBody>
      </p:sp>
      <p:sp>
        <p:nvSpPr>
          <p:cNvPr id="25" name="slope-right-6">
            <a:extLst xmlns:a="http://schemas.openxmlformats.org/drawingml/2006/main">
              <a:ext uri="{FF2B5EF4-FFF2-40B4-BE49-F238E27FC236}">
                <a16:creationId xmlns:a16="http://schemas.microsoft.com/office/drawing/2014/main" id="{3D7FCCCC-8813-4A96-B7D2-4D20051101C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10350" y="3640667"/>
            <a:ext cx="20193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l">
              <a:defRPr sz="1600" b="0">
                <a:solidFill>
                  <a:srgbClr val="E8872D"/>
                </a:solidFill>
              </a:defRPr>
            </a:pPr>
            <a:r>
              <a:rPr sz="1600" b="0">
                <a:solidFill>
                  <a:srgbClr val="E8872D"/>
                </a:solidFill>
              </a:rPr>
              <a:t>6. 业务 F  135  -3</a:t>
            </a:r>
          </a:p>
        </p:txBody>
      </p:sp>
      <p:sp>
        <p:nvSpPr>
          <p:cNvPr id="26" name="slope-7">
            <a:extLst xmlns:a="http://schemas.openxmlformats.org/drawingml/2006/main">
              <a:ext uri="{FF2B5EF4-FFF2-40B4-BE49-F238E27FC236}">
                <a16:creationId xmlns:a16="http://schemas.microsoft.com/office/drawing/2014/main" id="{92F756A4-B263-44B2-B984-3F2C48889E4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57500" y="3003550"/>
            <a:ext cx="3600450" cy="115570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7145">
            <a:solidFill>
              <a:srgbClr val="E8872D"/>
            </a:solidFill>
            <a:prstDash val="solid"/>
          </a:ln>
        </p:spPr>
      </p:sp>
      <p:sp>
        <p:nvSpPr>
          <p:cNvPr id="27" name="slope-left-7">
            <a:extLst xmlns:a="http://schemas.openxmlformats.org/drawingml/2006/main">
              <a:ext uri="{FF2B5EF4-FFF2-40B4-BE49-F238E27FC236}">
                <a16:creationId xmlns:a16="http://schemas.microsoft.com/office/drawing/2014/main" id="{E05AE545-3899-452E-9FBE-D7C8B8119E1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" y="2870200"/>
            <a:ext cx="20002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r">
              <a:defRPr sz="1600" b="0">
                <a:solidFill>
                  <a:srgbClr val="E8872D"/>
                </a:solidFill>
              </a:defRPr>
            </a:pPr>
            <a:r>
              <a:rPr sz="1600" b="0">
                <a:solidFill>
                  <a:srgbClr val="E8872D"/>
                </a:solidFill>
              </a:rPr>
              <a:t>4. 业务 G  96</a:t>
            </a:r>
          </a:p>
        </p:txBody>
      </p:sp>
      <p:sp>
        <p:nvSpPr>
          <p:cNvPr id="28" name="slope-right-7">
            <a:extLst xmlns:a="http://schemas.openxmlformats.org/drawingml/2006/main">
              <a:ext uri="{FF2B5EF4-FFF2-40B4-BE49-F238E27FC236}">
                <a16:creationId xmlns:a16="http://schemas.microsoft.com/office/drawing/2014/main" id="{234D4EF8-E74E-45AC-AE01-138FF156997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10350" y="4025900"/>
            <a:ext cx="20193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l">
              <a:defRPr sz="1600" b="0">
                <a:solidFill>
                  <a:srgbClr val="E8872D"/>
                </a:solidFill>
              </a:defRPr>
            </a:pPr>
            <a:r>
              <a:rPr sz="1600" b="0">
                <a:solidFill>
                  <a:srgbClr val="E8872D"/>
                </a:solidFill>
              </a:rPr>
              <a:t>7. 业务 G  132  -3</a:t>
            </a:r>
          </a:p>
        </p:txBody>
      </p:sp>
      <p:sp>
        <p:nvSpPr>
          <p:cNvPr id="29" name="slope-8">
            <a:extLst xmlns:a="http://schemas.openxmlformats.org/drawingml/2006/main">
              <a:ext uri="{FF2B5EF4-FFF2-40B4-BE49-F238E27FC236}">
                <a16:creationId xmlns:a16="http://schemas.microsoft.com/office/drawing/2014/main" id="{DF89581F-2C70-4A8F-ADD0-956A78D9C03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57500" y="3388783"/>
            <a:ext cx="3600450" cy="115570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7145">
            <a:solidFill>
              <a:srgbClr val="E8872D"/>
            </a:solidFill>
            <a:prstDash val="solid"/>
          </a:ln>
        </p:spPr>
      </p:sp>
      <p:sp>
        <p:nvSpPr>
          <p:cNvPr id="30" name="slope-left-8">
            <a:extLst xmlns:a="http://schemas.openxmlformats.org/drawingml/2006/main">
              <a:ext uri="{FF2B5EF4-FFF2-40B4-BE49-F238E27FC236}">
                <a16:creationId xmlns:a16="http://schemas.microsoft.com/office/drawing/2014/main" id="{0A7D6982-7C3C-41F0-AE99-F77B047782E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" y="3255433"/>
            <a:ext cx="20002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r">
              <a:defRPr sz="1600" b="0">
                <a:solidFill>
                  <a:srgbClr val="E8872D"/>
                </a:solidFill>
              </a:defRPr>
            </a:pPr>
            <a:r>
              <a:rPr sz="1600" b="0">
                <a:solidFill>
                  <a:srgbClr val="E8872D"/>
                </a:solidFill>
              </a:rPr>
              <a:t>5. 业务 H  92</a:t>
            </a:r>
          </a:p>
        </p:txBody>
      </p:sp>
      <p:sp>
        <p:nvSpPr>
          <p:cNvPr id="31" name="slope-right-8">
            <a:extLst xmlns:a="http://schemas.openxmlformats.org/drawingml/2006/main">
              <a:ext uri="{FF2B5EF4-FFF2-40B4-BE49-F238E27FC236}">
                <a16:creationId xmlns:a16="http://schemas.microsoft.com/office/drawing/2014/main" id="{43AF8081-5189-4A09-912E-22CD995B823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10350" y="4411133"/>
            <a:ext cx="20193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l">
              <a:defRPr sz="1600" b="0">
                <a:solidFill>
                  <a:srgbClr val="E8872D"/>
                </a:solidFill>
              </a:defRPr>
            </a:pPr>
            <a:r>
              <a:rPr sz="1600" b="0">
                <a:solidFill>
                  <a:srgbClr val="E8872D"/>
                </a:solidFill>
              </a:rPr>
              <a:t>8. 业务 H  129  -3</a:t>
            </a:r>
          </a:p>
        </p:txBody>
      </p:sp>
      <p:sp>
        <p:nvSpPr>
          <p:cNvPr id="32" name="slope-9">
            <a:extLst xmlns:a="http://schemas.openxmlformats.org/drawingml/2006/main">
              <a:ext uri="{FF2B5EF4-FFF2-40B4-BE49-F238E27FC236}">
                <a16:creationId xmlns:a16="http://schemas.microsoft.com/office/drawing/2014/main" id="{7A19FBF9-B086-404B-A56F-F4C5DF324DC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57500" y="4159250"/>
            <a:ext cx="3600450" cy="770467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7145">
            <a:solidFill>
              <a:srgbClr val="E8872D"/>
            </a:solidFill>
            <a:prstDash val="solid"/>
          </a:ln>
        </p:spPr>
      </p:sp>
      <p:sp>
        <p:nvSpPr>
          <p:cNvPr id="33" name="slope-left-9">
            <a:extLst xmlns:a="http://schemas.openxmlformats.org/drawingml/2006/main">
              <a:ext uri="{FF2B5EF4-FFF2-40B4-BE49-F238E27FC236}">
                <a16:creationId xmlns:a16="http://schemas.microsoft.com/office/drawing/2014/main" id="{A041B9A4-84DF-40A8-8774-3F9009FC858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" y="4025900"/>
            <a:ext cx="20002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r">
              <a:defRPr sz="1600" b="0">
                <a:solidFill>
                  <a:srgbClr val="E8872D"/>
                </a:solidFill>
              </a:defRPr>
            </a:pPr>
            <a:r>
              <a:rPr sz="1600" b="0">
                <a:solidFill>
                  <a:srgbClr val="E8872D"/>
                </a:solidFill>
              </a:rPr>
              <a:t>7. 业务 I  88</a:t>
            </a:r>
          </a:p>
        </p:txBody>
      </p:sp>
      <p:sp>
        <p:nvSpPr>
          <p:cNvPr id="34" name="slope-right-9">
            <a:extLst xmlns:a="http://schemas.openxmlformats.org/drawingml/2006/main">
              <a:ext uri="{FF2B5EF4-FFF2-40B4-BE49-F238E27FC236}">
                <a16:creationId xmlns:a16="http://schemas.microsoft.com/office/drawing/2014/main" id="{644BCC5E-8304-4E6A-A59C-7973909C7C2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10350" y="4796367"/>
            <a:ext cx="20193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l">
              <a:defRPr sz="1600" b="0">
                <a:solidFill>
                  <a:srgbClr val="E8872D"/>
                </a:solidFill>
              </a:defRPr>
            </a:pPr>
            <a:r>
              <a:rPr sz="1600" b="0">
                <a:solidFill>
                  <a:srgbClr val="E8872D"/>
                </a:solidFill>
              </a:rPr>
              <a:t>9. 业务 I  126  -2</a:t>
            </a:r>
          </a:p>
        </p:txBody>
      </p:sp>
      <p:sp>
        <p:nvSpPr>
          <p:cNvPr id="35" name="slope-10">
            <a:extLst xmlns:a="http://schemas.openxmlformats.org/drawingml/2006/main">
              <a:ext uri="{FF2B5EF4-FFF2-40B4-BE49-F238E27FC236}">
                <a16:creationId xmlns:a16="http://schemas.microsoft.com/office/drawing/2014/main" id="{BE55DD35-D3E4-4505-B90A-D887364B66A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57500" y="5314950"/>
            <a:ext cx="360045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7145">
            <a:solidFill>
              <a:srgbClr val="697386"/>
            </a:solidFill>
            <a:prstDash val="solid"/>
          </a:ln>
        </p:spPr>
      </p:sp>
      <p:sp>
        <p:nvSpPr>
          <p:cNvPr id="36" name="slope-left-10">
            <a:extLst xmlns:a="http://schemas.openxmlformats.org/drawingml/2006/main">
              <a:ext uri="{FF2B5EF4-FFF2-40B4-BE49-F238E27FC236}">
                <a16:creationId xmlns:a16="http://schemas.microsoft.com/office/drawing/2014/main" id="{E1E63E0E-D8C9-46E2-AF76-80BB7F11BBC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" y="5181600"/>
            <a:ext cx="20002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r">
              <a:defRPr sz="1600" b="0">
                <a:solidFill>
                  <a:srgbClr val="697386"/>
                </a:solidFill>
              </a:defRPr>
            </a:pPr>
            <a:r>
              <a:rPr sz="1600" b="0">
                <a:solidFill>
                  <a:srgbClr val="697386"/>
                </a:solidFill>
              </a:rPr>
              <a:t>10. 业务 J  84</a:t>
            </a:r>
          </a:p>
        </p:txBody>
      </p:sp>
      <p:sp>
        <p:nvSpPr>
          <p:cNvPr id="37" name="slope-right-10">
            <a:extLst xmlns:a="http://schemas.openxmlformats.org/drawingml/2006/main">
              <a:ext uri="{FF2B5EF4-FFF2-40B4-BE49-F238E27FC236}">
                <a16:creationId xmlns:a16="http://schemas.microsoft.com/office/drawing/2014/main" id="{BE088D2E-4545-46EA-A26F-2AA30522371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10350" y="5181600"/>
            <a:ext cx="20193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l">
              <a:defRPr sz="1600" b="0">
                <a:solidFill>
                  <a:srgbClr val="697386"/>
                </a:solidFill>
              </a:defRPr>
            </a:pPr>
            <a:r>
              <a:rPr sz="1600" b="0">
                <a:solidFill>
                  <a:srgbClr val="697386"/>
                </a:solidFill>
              </a:rPr>
              <a:t>10. 业务 J  123  0</a:t>
            </a:r>
          </a:p>
        </p:txBody>
      </p:sp>
      <p:sp>
        <p:nvSpPr>
          <p:cNvPr id="38" name="关键洞察-rail">
            <a:extLst xmlns:a="http://schemas.openxmlformats.org/drawingml/2006/main">
              <a:ext uri="{FF2B5EF4-FFF2-40B4-BE49-F238E27FC236}">
                <a16:creationId xmlns:a16="http://schemas.microsoft.com/office/drawing/2014/main" id="{D87B4E6C-E400-4417-94B9-A2BB28250F8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10650" y="1219200"/>
            <a:ext cx="2667000" cy="4438650"/>
          </a:xfrm>
          <a:prstGeom xmlns:a="http://schemas.openxmlformats.org/drawingml/2006/main" prst="roundRect">
            <a:avLst>
              <a:gd name="adj" fmla="val 2857"/>
            </a:avLst>
          </a:prstGeom>
          <a:solidFill xmlns:a="http://schemas.openxmlformats.org/drawingml/2006/main">
            <a:srgbClr val="F4F6F8"/>
          </a:solidFill>
          <a:ln xmlns:a="http://schemas.openxmlformats.org/drawingml/2006/main" w="10478">
            <a:solidFill>
              <a:srgbClr val="D7DEE8"/>
            </a:solidFill>
            <a:prstDash val="solid"/>
          </a:ln>
        </p:spPr>
      </p:sp>
      <p:sp>
        <p:nvSpPr>
          <p:cNvPr id="39" name="关键洞察-title">
            <a:extLst xmlns:a="http://schemas.openxmlformats.org/drawingml/2006/main">
              <a:ext uri="{FF2B5EF4-FFF2-40B4-BE49-F238E27FC236}">
                <a16:creationId xmlns:a16="http://schemas.microsoft.com/office/drawing/2014/main" id="{91C5100A-DA77-4FF2-8863-A22435BA591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82100" y="1352550"/>
            <a:ext cx="23241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l">
              <a:defRPr sz="1600" b="1">
                <a:solidFill>
                  <a:srgbClr val="15375F"/>
                </a:solidFill>
              </a:defRPr>
            </a:pPr>
            <a:r>
              <a:rPr sz="1600" b="1">
                <a:solidFill>
                  <a:srgbClr val="15375F"/>
                </a:solidFill>
              </a:rPr>
              <a:t>关键洞察</a:t>
            </a:r>
          </a:p>
        </p:txBody>
      </p:sp>
      <p:sp>
        <p:nvSpPr>
          <p:cNvPr id="40" name="关键洞察-item-1">
            <a:extLst xmlns:a="http://schemas.openxmlformats.org/drawingml/2006/main">
              <a:ext uri="{FF2B5EF4-FFF2-40B4-BE49-F238E27FC236}">
                <a16:creationId xmlns:a16="http://schemas.microsoft.com/office/drawing/2014/main" id="{62A6AAAF-941A-4025-83F3-25B870986E7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63050" y="1790700"/>
            <a:ext cx="2362200" cy="914400"/>
          </a:xfrm>
          <a:prstGeom xmlns:a="http://schemas.openxmlformats.org/drawingml/2006/main" prst="roundRect">
            <a:avLst>
              <a:gd name="adj" fmla="val 8333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16193">
            <a:solidFill>
              <a:srgbClr val="E8872D"/>
            </a:solidFill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l">
              <a:defRPr sz="1600" b="1">
                <a:solidFill>
                  <a:srgbClr val="172033"/>
                </a:solidFill>
              </a:defRPr>
            </a:pPr>
            <a:r>
              <a:rPr sz="1600" b="1">
                <a:solidFill>
                  <a:srgbClr val="172033"/>
                </a:solidFill>
              </a:rPr>
              <a:t>业务 A 上升七个位次</a:t>
            </a:r>
          </a:p>
        </p:txBody>
      </p:sp>
      <p:sp>
        <p:nvSpPr>
          <p:cNvPr id="41" name="关键洞察-item-2">
            <a:extLst xmlns:a="http://schemas.openxmlformats.org/drawingml/2006/main">
              <a:ext uri="{FF2B5EF4-FFF2-40B4-BE49-F238E27FC236}">
                <a16:creationId xmlns:a16="http://schemas.microsoft.com/office/drawing/2014/main" id="{EAC514A3-FDF9-4988-9810-327D01EBEA8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63050" y="2952750"/>
            <a:ext cx="2362200" cy="914400"/>
          </a:xfrm>
          <a:prstGeom xmlns:a="http://schemas.openxmlformats.org/drawingml/2006/main" prst="roundRect">
            <a:avLst>
              <a:gd name="adj" fmla="val 8333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7DEE8"/>
            </a:solidFill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l">
              <a:defRPr sz="1600" b="0">
                <a:solidFill>
                  <a:srgbClr val="172033"/>
                </a:solidFill>
              </a:defRPr>
            </a:pPr>
            <a:r>
              <a:rPr sz="1600" b="0">
                <a:solidFill>
                  <a:srgbClr val="172033"/>
                </a:solidFill>
              </a:rPr>
              <a:t>前三名均完成产品标准化</a:t>
            </a:r>
          </a:p>
        </p:txBody>
      </p:sp>
      <p:sp>
        <p:nvSpPr>
          <p:cNvPr id="42" name="关键洞察-item-3">
            <a:extLst xmlns:a="http://schemas.openxmlformats.org/drawingml/2006/main">
              <a:ext uri="{FF2B5EF4-FFF2-40B4-BE49-F238E27FC236}">
                <a16:creationId xmlns:a16="http://schemas.microsoft.com/office/drawing/2014/main" id="{2DA59F9D-196F-4BBD-9E99-413189074B9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63050" y="4114800"/>
            <a:ext cx="2362200" cy="914400"/>
          </a:xfrm>
          <a:prstGeom xmlns:a="http://schemas.openxmlformats.org/drawingml/2006/main" prst="roundRect">
            <a:avLst>
              <a:gd name="adj" fmla="val 8333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7DEE8"/>
            </a:solidFill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l">
              <a:defRPr sz="1600" b="0">
                <a:solidFill>
                  <a:srgbClr val="172033"/>
                </a:solidFill>
              </a:defRPr>
            </a:pPr>
            <a:r>
              <a:rPr sz="1600" b="0">
                <a:solidFill>
                  <a:srgbClr val="172033"/>
                </a:solidFill>
              </a:rPr>
              <a:t>原头部业务排名普遍回落</a:t>
            </a:r>
          </a:p>
        </p:txBody>
      </p:sp>
      <p:sp>
        <p:nvSpPr>
          <p:cNvPr id="43" name="bottom-conclusion">
            <a:extLst xmlns:a="http://schemas.openxmlformats.org/drawingml/2006/main">
              <a:ext uri="{FF2B5EF4-FFF2-40B4-BE49-F238E27FC236}">
                <a16:creationId xmlns:a16="http://schemas.microsoft.com/office/drawing/2014/main" id="{3E08A4E8-4F79-455E-A394-C08667A4327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5943600"/>
            <a:ext cx="11163300" cy="381000"/>
          </a:xfrm>
          <a:prstGeom xmlns:a="http://schemas.openxmlformats.org/drawingml/2006/main" prst="roundRect">
            <a:avLst>
              <a:gd name="adj" fmla="val 20000"/>
            </a:avLst>
          </a:prstGeom>
          <a:solidFill xmlns:a="http://schemas.openxmlformats.org/drawingml/2006/main">
            <a:srgbClr val="FFF0E2"/>
          </a:solidFill>
          <a:ln xmlns:a="http://schemas.openxmlformats.org/drawingml/2006/main" w="12383">
            <a:solidFill>
              <a:srgbClr val="E8872D"/>
            </a:solidFill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defRPr sz="1600" b="1">
                <a:solidFill>
                  <a:srgbClr val="15375F"/>
                </a:solidFill>
              </a:defRPr>
            </a:pPr>
            <a:r>
              <a:rPr sz="1600" b="1">
                <a:solidFill>
                  <a:srgbClr val="15375F"/>
                </a:solidFill>
              </a:rPr>
              <a:t>启示：复制产品标准化与渠道协同两项动作</a:t>
            </a:r>
          </a:p>
        </p:txBody>
      </p:sp>
    </p:spTree>
    <p:extLst>
      <p:ext uri="{BB962C8B-B14F-4D97-AF65-F5344CB8AC3E}">
        <p14:creationId xmlns:p14="http://schemas.microsoft.com/office/powerpoint/2010/main" val="1863421097"/>
      </p:ext>
    </p:extLst>
  </p:cSld>
</p:sld>
</file>

<file path=ppt/theme/theme1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docProps/app.xml><?xml version="1.0" encoding="utf-8"?>
<ap:Properties xmlns:ap="http://schemas.openxmlformats.org/officeDocument/2006/extended-properties">
  <ap:Application>Walnut Exporter</ap:Application>
  <ap:PresentationFormat>Converted Presentation</ap:PresentationFormat>
  <ap:Slides>0</ap:Slides>
  <ap:Notes>0</ap:Notes>
  <ap:HiddenSlides>0</ap:HiddenSlides>
  <ap:SharedDoc>false</ap:SharedDoc>
  <ap:DocSecurity>0</ap:DocSecurity>
</ap:Properties>
</file>

<file path=docProps/core.xml><?xml version="1.0" encoding="utf-8"?>
<coreProperties xmlns:dc="http://purl.org/dc/elements/1.1/" xmlns:dcterms="http://purl.org/dc/terms/" xmlns:xsi="http://www.w3.org/2001/XMLSchema-instance" xmlns="http://schemas.openxmlformats.org/package/2006/metadata/core-properties">
  <dc:creator>Walnut Exporter</dc:creator>
  <lastModifiedBy>Walnut Exporter</lastModifiedBy>
  <dc:title>Presentation</dc:title>
  <dcterms:created xsi:type="dcterms:W3CDTF">2026-07-31T20:16:23.4420000Z</dcterms:created>
  <dcterms:modified xsi:type="dcterms:W3CDTF">2026-07-31T20:16:23.4420000Z</dcterms:modified>
</coreProperties>
</file>