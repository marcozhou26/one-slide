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84f5c4c0b44c9" /><Relationship Type="http://schemas.openxmlformats.org/officeDocument/2006/relationships/extended-properties" Target="/docProps/app.xml" Id="R762994b163034250" /><Relationship Type="http://schemas.openxmlformats.org/officeDocument/2006/relationships/officeDocument" Target="/ppt/presentation.xml" Id="R49eaa3e696aa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00990926f54895"/>
  </p:sldMasterIdLst>
  <p:notesMasterIdLst>
    <p:notesMasterId xmlns:r="http://schemas.openxmlformats.org/officeDocument/2006/relationships" r:id="R9b922e4ac31747e5"/>
  </p:notesMasterIdLst>
  <p:sldIdLst>
    <p:sldId xmlns:r="http://schemas.openxmlformats.org/officeDocument/2006/relationships" id="256" r:id="R0fa8a358deb04b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5117000eb44a3f" /><Relationship Type="http://schemas.openxmlformats.org/officeDocument/2006/relationships/slideMaster" Target="/ppt/slideMasters/slideMaster1.xml" Id="R1e00990926f54895" /><Relationship Type="http://schemas.openxmlformats.org/officeDocument/2006/relationships/notesMaster" Target="/ppt/notesMasters/notesMaster1.xml" Id="R9b922e4ac31747e5" /><Relationship Type="http://schemas.openxmlformats.org/officeDocument/2006/relationships/presProps" Target="/ppt/presProps.xml" Id="Re51e08c9a518455c" /><Relationship Type="http://schemas.openxmlformats.org/officeDocument/2006/relationships/tableStyles" Target="/ppt/tableStyles.xml" Id="R4e62e15f68734f9b" /><Relationship Type="http://schemas.openxmlformats.org/officeDocument/2006/relationships/slide" Target="/ppt/slides/slide1.xml" Id="R0fa8a358deb04b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f732c0a2ab45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d67057cf034199" /><Relationship Type="http://schemas.openxmlformats.org/officeDocument/2006/relationships/notesMaster" Target="/ppt/notesMasters/notesMaster1.xml" Id="R124834860cc94d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c1551fb5344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b31ba557da46a4" /><Relationship Type="http://schemas.openxmlformats.org/officeDocument/2006/relationships/slideLayout" Target="/ppt/slideLayouts/slideLayout1.xml" Id="Rbff6d191731245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6d191731245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86c384cdc4203" /><Relationship Type="http://schemas.openxmlformats.org/officeDocument/2006/relationships/notesSlide" Target="/ppt/notesSlides/notesSlide1.xml" Id="Rf10cd3d1548346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page-title">
            <a:extLst xmlns:a="http://schemas.openxmlformats.org/drawingml/2006/main">
              <a:ext uri="{FF2B5EF4-FFF2-40B4-BE49-F238E27FC236}">
                <a16:creationId xmlns:a16="http://schemas.microsoft.com/office/drawing/2014/main" id="{948C8E5D-DE8C-461C-9118-4F2BCA76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The top ten lists have changed significantly in the past three years, and those who have risen have completed product standardization.</a:t>
            </a:r>
          </a:p>
        </p:txBody>
      </p:sp>
      <p:sp>
        <p:nvSpPr>
          <p:cNvPr id="2" name="slope-frame">
            <a:extLst xmlns:a="http://schemas.openxmlformats.org/drawingml/2006/main">
              <a:ext uri="{FF2B5EF4-FFF2-40B4-BE49-F238E27FC236}">
                <a16:creationId xmlns:a16="http://schemas.microsoft.com/office/drawing/2014/main" id="{734211F5-830D-46D6-8F5C-93F5B6C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8172450" cy="4305300"/>
          </a:xfrm>
          <a:prstGeom xmlns:a="http://schemas.openxmlformats.org/drawingml/2006/main" prst="roundRect">
            <a:avLst>
              <a:gd name="adj" fmla="val 17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period-left">
            <a:extLst xmlns:a="http://schemas.openxmlformats.org/drawingml/2006/main">
              <a:ext uri="{FF2B5EF4-FFF2-40B4-BE49-F238E27FC236}">
                <a16:creationId xmlns:a16="http://schemas.microsoft.com/office/drawing/2014/main" id="{C14C25AC-1887-4E2C-9F01-049E26A6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409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2023 year</a:t>
            </a:r>
          </a:p>
        </p:txBody>
      </p:sp>
      <p:sp>
        <p:nvSpPr>
          <p:cNvPr id="4" name="period-right">
            <a:extLst xmlns:a="http://schemas.openxmlformats.org/drawingml/2006/main">
              <a:ext uri="{FF2B5EF4-FFF2-40B4-BE49-F238E27FC236}">
                <a16:creationId xmlns:a16="http://schemas.microsoft.com/office/drawing/2014/main" id="{73E61062-961A-45D9-9B82-F8893ECB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409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2026 year</a:t>
            </a:r>
          </a:p>
        </p:txBody>
      </p:sp>
      <p:sp>
        <p:nvSpPr>
          <p:cNvPr id="5" name="slope-1">
            <a:extLst xmlns:a="http://schemas.openxmlformats.org/drawingml/2006/main">
              <a:ext uri="{FF2B5EF4-FFF2-40B4-BE49-F238E27FC236}">
                <a16:creationId xmlns:a16="http://schemas.microsoft.com/office/drawing/2014/main" id="{FFC66F3A-E4CD-4737-A1BD-5E3255B0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57500" y="1847850"/>
            <a:ext cx="3600450" cy="26966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6" name="slope-left-1">
            <a:extLst xmlns:a="http://schemas.openxmlformats.org/drawingml/2006/main">
              <a:ext uri="{FF2B5EF4-FFF2-40B4-BE49-F238E27FC236}">
                <a16:creationId xmlns:a16="http://schemas.microsoft.com/office/drawing/2014/main" id="{27B89E85-4328-41E0-8B1D-C9CA0F54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1133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8. business A  120</a:t>
            </a:r>
          </a:p>
        </p:txBody>
      </p:sp>
      <p:sp>
        <p:nvSpPr>
          <p:cNvPr id="7" name="slope-right-1">
            <a:extLst xmlns:a="http://schemas.openxmlformats.org/drawingml/2006/main">
              <a:ext uri="{FF2B5EF4-FFF2-40B4-BE49-F238E27FC236}">
                <a16:creationId xmlns:a16="http://schemas.microsoft.com/office/drawing/2014/main" id="{F4BDF9F6-4D7A-4917-AE12-0A22A607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1. business A  150  +7</a:t>
            </a:r>
          </a:p>
        </p:txBody>
      </p:sp>
      <p:sp>
        <p:nvSpPr>
          <p:cNvPr id="8" name="slope-reason-1">
            <a:extLst xmlns:a="http://schemas.openxmlformats.org/drawingml/2006/main">
              <a:ext uri="{FF2B5EF4-FFF2-40B4-BE49-F238E27FC236}">
                <a16:creationId xmlns:a16="http://schemas.microsoft.com/office/drawing/2014/main" id="{72BDA127-3D94-4826-AD50-2DFD2B78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955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Product standardization drives growth</a:t>
            </a:r>
          </a:p>
        </p:txBody>
      </p:sp>
      <p:sp>
        <p:nvSpPr>
          <p:cNvPr id="9" name="slope-2">
            <a:extLst xmlns:a="http://schemas.openxmlformats.org/drawingml/2006/main">
              <a:ext uri="{FF2B5EF4-FFF2-40B4-BE49-F238E27FC236}">
                <a16:creationId xmlns:a16="http://schemas.microsoft.com/office/drawing/2014/main" id="{76AFABF9-006D-4188-934C-713293A9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57500" y="2233083"/>
            <a:ext cx="3600450" cy="15409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10" name="slope-left-2">
            <a:extLst xmlns:a="http://schemas.openxmlformats.org/drawingml/2006/main">
              <a:ext uri="{FF2B5EF4-FFF2-40B4-BE49-F238E27FC236}">
                <a16:creationId xmlns:a16="http://schemas.microsoft.com/office/drawing/2014/main" id="{3FDC1080-52FE-429D-A8BA-62749AE7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40667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6. business B  116</a:t>
            </a:r>
          </a:p>
        </p:txBody>
      </p:sp>
      <p:sp>
        <p:nvSpPr>
          <p:cNvPr id="11" name="slope-right-2">
            <a:extLst xmlns:a="http://schemas.openxmlformats.org/drawingml/2006/main">
              <a:ext uri="{FF2B5EF4-FFF2-40B4-BE49-F238E27FC236}">
                <a16:creationId xmlns:a16="http://schemas.microsoft.com/office/drawing/2014/main" id="{641AFCD9-C5C8-4F3C-B869-07988E8B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9733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2. business B  147  +4</a:t>
            </a:r>
          </a:p>
        </p:txBody>
      </p:sp>
      <p:sp>
        <p:nvSpPr>
          <p:cNvPr id="12" name="slope-reason-2">
            <a:extLst xmlns:a="http://schemas.openxmlformats.org/drawingml/2006/main">
              <a:ext uri="{FF2B5EF4-FFF2-40B4-BE49-F238E27FC236}">
                <a16:creationId xmlns:a16="http://schemas.microsoft.com/office/drawing/2014/main" id="{1DD5F942-B3FD-4281-A780-583BDCCC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908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Product standardization drives growth</a:t>
            </a:r>
          </a:p>
        </p:txBody>
      </p:sp>
      <p:sp>
        <p:nvSpPr>
          <p:cNvPr id="13" name="slope-3">
            <a:extLst xmlns:a="http://schemas.openxmlformats.org/drawingml/2006/main">
              <a:ext uri="{FF2B5EF4-FFF2-40B4-BE49-F238E27FC236}">
                <a16:creationId xmlns:a16="http://schemas.microsoft.com/office/drawing/2014/main" id="{6332933D-6D61-4F0D-9688-C9E3544D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857500" y="2618317"/>
            <a:ext cx="3600450" cy="2311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2F6FB2"/>
            </a:solidFill>
            <a:prstDash val="solid"/>
          </a:ln>
        </p:spPr>
      </p:sp>
      <p:sp>
        <p:nvSpPr>
          <p:cNvPr id="14" name="slope-left-3">
            <a:extLst xmlns:a="http://schemas.openxmlformats.org/drawingml/2006/main">
              <a:ext uri="{FF2B5EF4-FFF2-40B4-BE49-F238E27FC236}">
                <a16:creationId xmlns:a16="http://schemas.microsoft.com/office/drawing/2014/main" id="{42EF149D-D5C7-4C3E-94CF-8BE2BC8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96367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9. business C  112</a:t>
            </a:r>
          </a:p>
        </p:txBody>
      </p:sp>
      <p:sp>
        <p:nvSpPr>
          <p:cNvPr id="15" name="slope-right-3">
            <a:extLst xmlns:a="http://schemas.openxmlformats.org/drawingml/2006/main">
              <a:ext uri="{FF2B5EF4-FFF2-40B4-BE49-F238E27FC236}">
                <a16:creationId xmlns:a16="http://schemas.microsoft.com/office/drawing/2014/main" id="{0454D353-F0BE-483F-987F-3A02C3B8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84967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3. business C  144  +6</a:t>
            </a:r>
          </a:p>
        </p:txBody>
      </p:sp>
      <p:sp>
        <p:nvSpPr>
          <p:cNvPr id="16" name="slope-reason-3">
            <a:extLst xmlns:a="http://schemas.openxmlformats.org/drawingml/2006/main">
              <a:ext uri="{FF2B5EF4-FFF2-40B4-BE49-F238E27FC236}">
                <a16:creationId xmlns:a16="http://schemas.microsoft.com/office/drawing/2014/main" id="{C93D862F-F1B0-40CC-90F5-D7D68878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861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FB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Product standardization drives growth</a:t>
            </a:r>
          </a:p>
        </p:txBody>
      </p:sp>
      <p:sp>
        <p:nvSpPr>
          <p:cNvPr id="17" name="slope-4">
            <a:extLst xmlns:a="http://schemas.openxmlformats.org/drawingml/2006/main">
              <a:ext uri="{FF2B5EF4-FFF2-40B4-BE49-F238E27FC236}">
                <a16:creationId xmlns:a16="http://schemas.microsoft.com/office/drawing/2014/main" id="{6800FE3A-7B96-478B-999C-362D944C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47850"/>
            <a:ext cx="3600450" cy="115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8" name="slope-left-4">
            <a:extLst xmlns:a="http://schemas.openxmlformats.org/drawingml/2006/main">
              <a:ext uri="{FF2B5EF4-FFF2-40B4-BE49-F238E27FC236}">
                <a16:creationId xmlns:a16="http://schemas.microsoft.com/office/drawing/2014/main" id="{1EE04B0B-4764-40EF-B5F8-842D44BE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1. business D  108</a:t>
            </a:r>
          </a:p>
        </p:txBody>
      </p:sp>
      <p:sp>
        <p:nvSpPr>
          <p:cNvPr id="19" name="slope-right-4">
            <a:extLst xmlns:a="http://schemas.openxmlformats.org/drawingml/2006/main">
              <a:ext uri="{FF2B5EF4-FFF2-40B4-BE49-F238E27FC236}">
                <a16:creationId xmlns:a16="http://schemas.microsoft.com/office/drawing/2014/main" id="{9630F9C7-289F-45C0-BCB6-B10E7902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02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4. business D  141  -3</a:t>
            </a:r>
          </a:p>
        </p:txBody>
      </p:sp>
      <p:sp>
        <p:nvSpPr>
          <p:cNvPr id="20" name="slope-5">
            <a:extLst xmlns:a="http://schemas.openxmlformats.org/drawingml/2006/main">
              <a:ext uri="{FF2B5EF4-FFF2-40B4-BE49-F238E27FC236}">
                <a16:creationId xmlns:a16="http://schemas.microsoft.com/office/drawing/2014/main" id="{AFDF7644-71DE-4921-BA8E-A668DB3F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3083"/>
            <a:ext cx="3600450" cy="115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21" name="slope-left-5">
            <a:extLst xmlns:a="http://schemas.openxmlformats.org/drawingml/2006/main">
              <a:ext uri="{FF2B5EF4-FFF2-40B4-BE49-F238E27FC236}">
                <a16:creationId xmlns:a16="http://schemas.microsoft.com/office/drawing/2014/main" id="{0BB8A4EC-3C32-47C1-935F-AA33CB85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9733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2. business E  104</a:t>
            </a:r>
          </a:p>
        </p:txBody>
      </p:sp>
      <p:sp>
        <p:nvSpPr>
          <p:cNvPr id="22" name="slope-right-5">
            <a:extLst xmlns:a="http://schemas.openxmlformats.org/drawingml/2006/main">
              <a:ext uri="{FF2B5EF4-FFF2-40B4-BE49-F238E27FC236}">
                <a16:creationId xmlns:a16="http://schemas.microsoft.com/office/drawing/2014/main" id="{354941DB-1D20-4900-AD73-D9810773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5433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5. business E  138  -3</a:t>
            </a:r>
          </a:p>
        </p:txBody>
      </p:sp>
      <p:sp>
        <p:nvSpPr>
          <p:cNvPr id="23" name="slope-6">
            <a:extLst xmlns:a="http://schemas.openxmlformats.org/drawingml/2006/main">
              <a:ext uri="{FF2B5EF4-FFF2-40B4-BE49-F238E27FC236}">
                <a16:creationId xmlns:a16="http://schemas.microsoft.com/office/drawing/2014/main" id="{F3517A1E-739E-4C8C-B842-822DC51F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18317"/>
            <a:ext cx="3600450" cy="115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24" name="slope-left-6">
            <a:extLst xmlns:a="http://schemas.openxmlformats.org/drawingml/2006/main">
              <a:ext uri="{FF2B5EF4-FFF2-40B4-BE49-F238E27FC236}">
                <a16:creationId xmlns:a16="http://schemas.microsoft.com/office/drawing/2014/main" id="{6CA2AC8A-2346-415A-925C-F033203E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84967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3. business F  100</a:t>
            </a:r>
          </a:p>
        </p:txBody>
      </p:sp>
      <p:sp>
        <p:nvSpPr>
          <p:cNvPr id="25" name="slope-right-6">
            <a:extLst xmlns:a="http://schemas.openxmlformats.org/drawingml/2006/main">
              <a:ext uri="{FF2B5EF4-FFF2-40B4-BE49-F238E27FC236}">
                <a16:creationId xmlns:a16="http://schemas.microsoft.com/office/drawing/2014/main" id="{3D7FCCCC-8813-4A96-B7D2-4D200511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40667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6. business F  135  -3</a:t>
            </a:r>
          </a:p>
        </p:txBody>
      </p:sp>
      <p:sp>
        <p:nvSpPr>
          <p:cNvPr id="26" name="slope-7">
            <a:extLst xmlns:a="http://schemas.openxmlformats.org/drawingml/2006/main">
              <a:ext uri="{FF2B5EF4-FFF2-40B4-BE49-F238E27FC236}">
                <a16:creationId xmlns:a16="http://schemas.microsoft.com/office/drawing/2014/main" id="{92F756A4-B263-44B2-B984-3F2C4888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3550"/>
            <a:ext cx="3600450" cy="115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27" name="slope-left-7">
            <a:extLst xmlns:a="http://schemas.openxmlformats.org/drawingml/2006/main">
              <a:ext uri="{FF2B5EF4-FFF2-40B4-BE49-F238E27FC236}">
                <a16:creationId xmlns:a16="http://schemas.microsoft.com/office/drawing/2014/main" id="{E05AE545-3899-452E-9FBE-D7C8B811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0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4. business G  96</a:t>
            </a:r>
          </a:p>
        </p:txBody>
      </p:sp>
      <p:sp>
        <p:nvSpPr>
          <p:cNvPr id="28" name="slope-right-7">
            <a:extLst xmlns:a="http://schemas.openxmlformats.org/drawingml/2006/main">
              <a:ext uri="{FF2B5EF4-FFF2-40B4-BE49-F238E27FC236}">
                <a16:creationId xmlns:a16="http://schemas.microsoft.com/office/drawing/2014/main" id="{234D4EF8-E74E-45AC-AE01-138FF15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259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7. business G  132  -3</a:t>
            </a:r>
          </a:p>
        </p:txBody>
      </p:sp>
      <p:sp>
        <p:nvSpPr>
          <p:cNvPr id="29" name="slope-8">
            <a:extLst xmlns:a="http://schemas.openxmlformats.org/drawingml/2006/main">
              <a:ext uri="{FF2B5EF4-FFF2-40B4-BE49-F238E27FC236}">
                <a16:creationId xmlns:a16="http://schemas.microsoft.com/office/drawing/2014/main" id="{DF89581F-2C70-4A8F-ADD0-956A78D9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88783"/>
            <a:ext cx="3600450" cy="115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30" name="slope-left-8">
            <a:extLst xmlns:a="http://schemas.openxmlformats.org/drawingml/2006/main">
              <a:ext uri="{FF2B5EF4-FFF2-40B4-BE49-F238E27FC236}">
                <a16:creationId xmlns:a16="http://schemas.microsoft.com/office/drawing/2014/main" id="{0A7D6982-7C3C-41F0-AE99-F77B047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5433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5. business H  92</a:t>
            </a:r>
          </a:p>
        </p:txBody>
      </p:sp>
      <p:sp>
        <p:nvSpPr>
          <p:cNvPr id="31" name="slope-right-8">
            <a:extLst xmlns:a="http://schemas.openxmlformats.org/drawingml/2006/main">
              <a:ext uri="{FF2B5EF4-FFF2-40B4-BE49-F238E27FC236}">
                <a16:creationId xmlns:a16="http://schemas.microsoft.com/office/drawing/2014/main" id="{43AF8081-5189-4A09-912E-22CD995B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1133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8. business H  129  -3</a:t>
            </a:r>
          </a:p>
        </p:txBody>
      </p:sp>
      <p:sp>
        <p:nvSpPr>
          <p:cNvPr id="32" name="slope-9">
            <a:extLst xmlns:a="http://schemas.openxmlformats.org/drawingml/2006/main">
              <a:ext uri="{FF2B5EF4-FFF2-40B4-BE49-F238E27FC236}">
                <a16:creationId xmlns:a16="http://schemas.microsoft.com/office/drawing/2014/main" id="{7A19FBF9-B086-404B-A56F-F4C5DF32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59250"/>
            <a:ext cx="3600450" cy="77046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33" name="slope-left-9">
            <a:extLst xmlns:a="http://schemas.openxmlformats.org/drawingml/2006/main">
              <a:ext uri="{FF2B5EF4-FFF2-40B4-BE49-F238E27FC236}">
                <a16:creationId xmlns:a16="http://schemas.microsoft.com/office/drawing/2014/main" id="{A041B9A4-84DF-40A8-8774-3F9009FC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5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7. business I  88</a:t>
            </a:r>
          </a:p>
        </p:txBody>
      </p:sp>
      <p:sp>
        <p:nvSpPr>
          <p:cNvPr id="34" name="slope-right-9">
            <a:extLst xmlns:a="http://schemas.openxmlformats.org/drawingml/2006/main">
              <a:ext uri="{FF2B5EF4-FFF2-40B4-BE49-F238E27FC236}">
                <a16:creationId xmlns:a16="http://schemas.microsoft.com/office/drawing/2014/main" id="{644BCC5E-8304-4E6A-A59C-7973909C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96367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E8872D"/>
                </a:solidFill>
              </a:defRPr>
            </a:pPr>
            <a:r>
              <a:rPr sz="1600" b="0">
                <a:solidFill>
                  <a:srgbClr val="E8872D"/>
                </a:solidFill>
              </a:rPr>
              <a:t>9. business I  126  -2</a:t>
            </a:r>
          </a:p>
        </p:txBody>
      </p:sp>
      <p:sp>
        <p:nvSpPr>
          <p:cNvPr id="35" name="slope-10">
            <a:extLst xmlns:a="http://schemas.openxmlformats.org/drawingml/2006/main">
              <a:ext uri="{FF2B5EF4-FFF2-40B4-BE49-F238E27FC236}">
                <a16:creationId xmlns:a16="http://schemas.microsoft.com/office/drawing/2014/main" id="{BE55DD35-D3E4-4505-B90A-D887364B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14950"/>
            <a:ext cx="3600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97386"/>
            </a:solidFill>
            <a:prstDash val="solid"/>
          </a:ln>
        </p:spPr>
      </p:sp>
      <p:sp>
        <p:nvSpPr>
          <p:cNvPr id="36" name="slope-left-10">
            <a:extLst xmlns:a="http://schemas.openxmlformats.org/drawingml/2006/main">
              <a:ext uri="{FF2B5EF4-FFF2-40B4-BE49-F238E27FC236}">
                <a16:creationId xmlns:a16="http://schemas.microsoft.com/office/drawing/2014/main" id="{E1E63E0E-D8C9-46E2-AF76-80BB7F1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10. business J  84</a:t>
            </a:r>
          </a:p>
        </p:txBody>
      </p:sp>
      <p:sp>
        <p:nvSpPr>
          <p:cNvPr id="37" name="slope-right-10">
            <a:extLst xmlns:a="http://schemas.openxmlformats.org/drawingml/2006/main">
              <a:ext uri="{FF2B5EF4-FFF2-40B4-BE49-F238E27FC236}">
                <a16:creationId xmlns:a16="http://schemas.microsoft.com/office/drawing/2014/main" id="{BE088D2E-4545-46EA-A26F-2AA30522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8160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10. business J  123  0</a:t>
            </a:r>
          </a:p>
        </p:txBody>
      </p:sp>
      <p:sp>
        <p:nvSpPr>
          <p:cNvPr id="38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D87B4E6C-E400-4417-94B9-A2BB282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19200"/>
            <a:ext cx="2667000" cy="44386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9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91C5100A-DA77-4FF2-8863-A22435BA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3525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40" name="key insights-item-1">
            <a:extLst xmlns:a="http://schemas.openxmlformats.org/drawingml/2006/main">
              <a:ext uri="{FF2B5EF4-FFF2-40B4-BE49-F238E27FC236}">
                <a16:creationId xmlns:a16="http://schemas.microsoft.com/office/drawing/2014/main" id="{62A6AAAF-941A-4025-83F3-25B8709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90700"/>
            <a:ext cx="2362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business A Up seven places</a:t>
            </a:r>
          </a:p>
        </p:txBody>
      </p:sp>
      <p:sp>
        <p:nvSpPr>
          <p:cNvPr id="41" name="key insights-item-2">
            <a:extLst xmlns:a="http://schemas.openxmlformats.org/drawingml/2006/main">
              <a:ext uri="{FF2B5EF4-FFF2-40B4-BE49-F238E27FC236}">
                <a16:creationId xmlns:a16="http://schemas.microsoft.com/office/drawing/2014/main" id="{EAC514A3-FDF9-4988-9810-327D01EB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2362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top three have all completed product standardization</a:t>
            </a:r>
          </a:p>
        </p:txBody>
      </p:sp>
      <p:sp>
        <p:nvSpPr>
          <p:cNvPr id="42" name="key insights-item-3">
            <a:extLst xmlns:a="http://schemas.openxmlformats.org/drawingml/2006/main">
              <a:ext uri="{FF2B5EF4-FFF2-40B4-BE49-F238E27FC236}">
                <a16:creationId xmlns:a16="http://schemas.microsoft.com/office/drawing/2014/main" id="{2DA59F9D-196F-4BBD-9E99-41318907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14800"/>
            <a:ext cx="2362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original top business rankings generally fell back</a:t>
            </a:r>
          </a:p>
        </p:txBody>
      </p:sp>
      <p:sp>
        <p:nvSpPr>
          <p:cNvPr id="43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3E08A4E8-4F79-455E-A394-C08667A4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Enlightenment: Copy the two actions of product standardization and channel collaboration</a:t>
            </a:r>
          </a:p>
        </p:txBody>
      </p:sp>
    </p:spTree>
    <p:extLst>
      <p:ext uri="{BB962C8B-B14F-4D97-AF65-F5344CB8AC3E}">
        <p14:creationId xmlns:p14="http://schemas.microsoft.com/office/powerpoint/2010/main" val="18634210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2026-07-31T20:16:23.4420000Z</dcterms:created>
  <dcterms:modified xsi:type="dcterms:W3CDTF">2026-07-31T20:16:23.4420000Z</dcterms:modified>
</coreProperties>
</file>