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2f9c2811d47b3" /><Relationship Type="http://schemas.openxmlformats.org/officeDocument/2006/relationships/extended-properties" Target="/docProps/app.xml" Id="Rc90e7af4260349d2" /><Relationship Type="http://schemas.openxmlformats.org/officeDocument/2006/relationships/officeDocument" Target="/ppt/presentation.xml" Id="Rbe59a42a3e81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5d785875e49d2"/>
  </p:sldMasterIdLst>
  <p:notesMasterIdLst>
    <p:notesMasterId xmlns:r="http://schemas.openxmlformats.org/officeDocument/2006/relationships" r:id="R8a9037ebc12140cd"/>
  </p:notesMasterIdLst>
  <p:sldIdLst>
    <p:sldId xmlns:r="http://schemas.openxmlformats.org/officeDocument/2006/relationships" id="256" r:id="R7883dac95646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d92f9e28d2499a" /><Relationship Type="http://schemas.openxmlformats.org/officeDocument/2006/relationships/slideMaster" Target="/ppt/slideMasters/slideMaster1.xml" Id="R3d45d785875e49d2" /><Relationship Type="http://schemas.openxmlformats.org/officeDocument/2006/relationships/notesMaster" Target="/ppt/notesMasters/notesMaster1.xml" Id="R8a9037ebc12140cd" /><Relationship Type="http://schemas.openxmlformats.org/officeDocument/2006/relationships/presProps" Target="/ppt/presProps.xml" Id="R011c957e33854549" /><Relationship Type="http://schemas.openxmlformats.org/officeDocument/2006/relationships/tableStyles" Target="/ppt/tableStyles.xml" Id="Recb9d2872513408d" /><Relationship Type="http://schemas.openxmlformats.org/officeDocument/2006/relationships/slide" Target="/ppt/slides/slide1.xml" Id="R7883dac95646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eb7d30f1c2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4039afaa4428c" /><Relationship Type="http://schemas.openxmlformats.org/officeDocument/2006/relationships/notesMaster" Target="/ppt/notesMasters/notesMaster1.xml" Id="R02b54cb5efa3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df9c8343e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9673e57c24c57" /><Relationship Type="http://schemas.openxmlformats.org/officeDocument/2006/relationships/slideLayout" Target="/ppt/slideLayouts/slideLayout1.xml" Id="R625b0c4cd8d3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b0c4cd8d3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9dd222064452" /><Relationship Type="http://schemas.openxmlformats.org/officeDocument/2006/relationships/notesSlide" Target="/ppt/notesSlides/notesSlide1.xml" Id="R326dbecd45c14f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page-title">
            <a:extLst xmlns:a="http://schemas.openxmlformats.org/drawingml/2006/main">
              <a:ext uri="{FF2B5EF4-FFF2-40B4-BE49-F238E27FC236}">
                <a16:creationId xmlns:a16="http://schemas.microsoft.com/office/drawing/2014/main" id="{B41B0A43-1829-4358-9439-61F10CD1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三年后关键岗位需求 452 人，内部自然供给仅 284 人，缺口 168 人</a:t>
            </a:r>
          </a:p>
        </p:txBody>
      </p:sp>
      <p:sp>
        <p:nvSpPr>
          <p:cNvPr id="2" name="supply-frame">
            <a:extLst xmlns:a="http://schemas.openxmlformats.org/drawingml/2006/main">
              <a:ext uri="{FF2B5EF4-FFF2-40B4-BE49-F238E27FC236}">
                <a16:creationId xmlns:a16="http://schemas.microsoft.com/office/drawing/2014/main" id="{4FD4AC9C-0557-4331-8EF2-079BF24A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3820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supply-grid-300">
            <a:extLst xmlns:a="http://schemas.openxmlformats.org/drawingml/2006/main">
              <a:ext uri="{FF2B5EF4-FFF2-40B4-BE49-F238E27FC236}">
                <a16:creationId xmlns:a16="http://schemas.microsoft.com/office/drawing/2014/main" id="{74884854-A30C-4137-B531-B9DB67CF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4" name="supply-axis-300">
            <a:extLst xmlns:a="http://schemas.openxmlformats.org/drawingml/2006/main">
              <a:ext uri="{FF2B5EF4-FFF2-40B4-BE49-F238E27FC236}">
                <a16:creationId xmlns:a16="http://schemas.microsoft.com/office/drawing/2014/main" id="{CD745B2D-E2A7-4694-93D3-48DA9914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300</a:t>
            </a:r>
          </a:p>
        </p:txBody>
      </p:sp>
      <p:sp>
        <p:nvSpPr>
          <p:cNvPr id="5" name="supply-grid-350">
            <a:extLst xmlns:a="http://schemas.openxmlformats.org/drawingml/2006/main">
              <a:ext uri="{FF2B5EF4-FFF2-40B4-BE49-F238E27FC236}">
                <a16:creationId xmlns:a16="http://schemas.microsoft.com/office/drawing/2014/main" id="{EF5B09C4-D40C-4B71-8632-E9A8A038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6" name="supply-axis-350">
            <a:extLst xmlns:a="http://schemas.openxmlformats.org/drawingml/2006/main">
              <a:ext uri="{FF2B5EF4-FFF2-40B4-BE49-F238E27FC236}">
                <a16:creationId xmlns:a16="http://schemas.microsoft.com/office/drawing/2014/main" id="{A4085BFD-F904-4638-A1A0-08A740B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717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350</a:t>
            </a:r>
          </a:p>
        </p:txBody>
      </p:sp>
      <p:sp>
        <p:nvSpPr>
          <p:cNvPr id="7" name="supply-grid-400">
            <a:extLst xmlns:a="http://schemas.openxmlformats.org/drawingml/2006/main">
              <a:ext uri="{FF2B5EF4-FFF2-40B4-BE49-F238E27FC236}">
                <a16:creationId xmlns:a16="http://schemas.microsoft.com/office/drawing/2014/main" id="{C603AD70-5AA6-429A-9410-24DBCDE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8" name="supply-axis-400">
            <a:extLst xmlns:a="http://schemas.openxmlformats.org/drawingml/2006/main">
              <a:ext uri="{FF2B5EF4-FFF2-40B4-BE49-F238E27FC236}">
                <a16:creationId xmlns:a16="http://schemas.microsoft.com/office/drawing/2014/main" id="{D80F0916-5317-4D32-A2BE-0F102D6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05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400</a:t>
            </a:r>
          </a:p>
        </p:txBody>
      </p:sp>
      <p:sp>
        <p:nvSpPr>
          <p:cNvPr id="9" name="supply-grid-450">
            <a:extLst xmlns:a="http://schemas.openxmlformats.org/drawingml/2006/main">
              <a:ext uri="{FF2B5EF4-FFF2-40B4-BE49-F238E27FC236}">
                <a16:creationId xmlns:a16="http://schemas.microsoft.com/office/drawing/2014/main" id="{A7A45BDE-EC8A-42BB-B221-D2F0977D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10" name="supply-axis-450">
            <a:extLst xmlns:a="http://schemas.openxmlformats.org/drawingml/2006/main">
              <a:ext uri="{FF2B5EF4-FFF2-40B4-BE49-F238E27FC236}">
                <a16:creationId xmlns:a16="http://schemas.microsoft.com/office/drawing/2014/main" id="{6DC695F4-F49D-4E84-9EA1-508B0EA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38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450</a:t>
            </a:r>
          </a:p>
        </p:txBody>
      </p:sp>
      <p:sp>
        <p:nvSpPr>
          <p:cNvPr id="11" name="demand-band-1">
            <a:extLst xmlns:a="http://schemas.openxmlformats.org/drawingml/2006/main">
              <a:ext uri="{FF2B5EF4-FFF2-40B4-BE49-F238E27FC236}">
                <a16:creationId xmlns:a16="http://schemas.microsoft.com/office/drawing/2014/main" id="{CA525764-89D5-48C7-B7E2-708DBB8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406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gap-1">
            <a:extLst xmlns:a="http://schemas.openxmlformats.org/drawingml/2006/main">
              <a:ext uri="{FF2B5EF4-FFF2-40B4-BE49-F238E27FC236}">
                <a16:creationId xmlns:a16="http://schemas.microsoft.com/office/drawing/2014/main" id="{1BF37F6F-8E8A-4F17-88F0-E2711331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2765"/>
            <a:ext cx="571500" cy="354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38</a:t>
            </a:r>
          </a:p>
        </p:txBody>
      </p:sp>
      <p:sp>
        <p:nvSpPr>
          <p:cNvPr id="13" name="period-1">
            <a:extLst xmlns:a="http://schemas.openxmlformats.org/drawingml/2006/main">
              <a:ext uri="{FF2B5EF4-FFF2-40B4-BE49-F238E27FC236}">
                <a16:creationId xmlns:a16="http://schemas.microsoft.com/office/drawing/2014/main" id="{9956A5D5-9DC0-46A5-A035-B0310F8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H1</a:t>
            </a:r>
          </a:p>
        </p:txBody>
      </p:sp>
      <p:sp>
        <p:nvSpPr>
          <p:cNvPr id="14" name="demand-band-2">
            <a:extLst xmlns:a="http://schemas.openxmlformats.org/drawingml/2006/main">
              <a:ext uri="{FF2B5EF4-FFF2-40B4-BE49-F238E27FC236}">
                <a16:creationId xmlns:a16="http://schemas.microsoft.com/office/drawing/2014/main" id="{BC6628BD-390C-4317-94A4-B70319E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80716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gap-2">
            <a:extLst xmlns:a="http://schemas.openxmlformats.org/drawingml/2006/main">
              <a:ext uri="{FF2B5EF4-FFF2-40B4-BE49-F238E27FC236}">
                <a16:creationId xmlns:a16="http://schemas.microsoft.com/office/drawing/2014/main" id="{E5967BAA-77DE-4874-A24E-F82795E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86075"/>
            <a:ext cx="571500" cy="597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64</a:t>
            </a:r>
          </a:p>
        </p:txBody>
      </p:sp>
      <p:sp>
        <p:nvSpPr>
          <p:cNvPr id="16" name="demand-1">
            <a:extLst xmlns:a="http://schemas.openxmlformats.org/drawingml/2006/main">
              <a:ext uri="{FF2B5EF4-FFF2-40B4-BE49-F238E27FC236}">
                <a16:creationId xmlns:a16="http://schemas.microsoft.com/office/drawing/2014/main" id="{931ECDCC-801C-42D2-820A-5BB2E424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700" y="2886075"/>
            <a:ext cx="1504950" cy="186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5375F"/>
            </a:solidFill>
            <a:prstDash val="solid"/>
          </a:ln>
        </p:spPr>
      </p:sp>
      <p:sp>
        <p:nvSpPr>
          <p:cNvPr id="17" name="supply-1">
            <a:extLst xmlns:a="http://schemas.openxmlformats.org/drawingml/2006/main">
              <a:ext uri="{FF2B5EF4-FFF2-40B4-BE49-F238E27FC236}">
                <a16:creationId xmlns:a16="http://schemas.microsoft.com/office/drawing/2014/main" id="{51078D3C-2AA0-4BD9-826B-69218E0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7476"/>
            <a:ext cx="1504950" cy="560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dash"/>
          </a:ln>
        </p:spPr>
      </p:sp>
      <p:sp>
        <p:nvSpPr>
          <p:cNvPr id="18" name="period-2">
            <a:extLst xmlns:a="http://schemas.openxmlformats.org/drawingml/2006/main">
              <a:ext uri="{FF2B5EF4-FFF2-40B4-BE49-F238E27FC236}">
                <a16:creationId xmlns:a16="http://schemas.microsoft.com/office/drawing/2014/main" id="{A1005435-57B7-4D3B-B374-B1262D63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H2</a:t>
            </a:r>
          </a:p>
        </p:txBody>
      </p:sp>
      <p:sp>
        <p:nvSpPr>
          <p:cNvPr id="19" name="demand-band-3">
            <a:extLst xmlns:a="http://schemas.openxmlformats.org/drawingml/2006/main">
              <a:ext uri="{FF2B5EF4-FFF2-40B4-BE49-F238E27FC236}">
                <a16:creationId xmlns:a16="http://schemas.microsoft.com/office/drawing/2014/main" id="{A8CCBFB6-2030-4E88-A689-799751A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681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gap-3">
            <a:extLst xmlns:a="http://schemas.openxmlformats.org/drawingml/2006/main">
              <a:ext uri="{FF2B5EF4-FFF2-40B4-BE49-F238E27FC236}">
                <a16:creationId xmlns:a16="http://schemas.microsoft.com/office/drawing/2014/main" id="{2FAD1EB8-4F31-413C-B760-8AB49FAD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6040"/>
            <a:ext cx="571500" cy="9241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99</a:t>
            </a:r>
          </a:p>
        </p:txBody>
      </p:sp>
      <p:sp>
        <p:nvSpPr>
          <p:cNvPr id="21" name="demand-2">
            <a:extLst xmlns:a="http://schemas.openxmlformats.org/drawingml/2006/main">
              <a:ext uri="{FF2B5EF4-FFF2-40B4-BE49-F238E27FC236}">
                <a16:creationId xmlns:a16="http://schemas.microsoft.com/office/drawing/2014/main" id="{2CC55BBF-B4A7-488E-B859-77E7476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33650" y="2606040"/>
            <a:ext cx="1504950" cy="280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5375F"/>
            </a:solidFill>
            <a:prstDash val="solid"/>
          </a:ln>
        </p:spPr>
      </p:sp>
      <p:sp>
        <p:nvSpPr>
          <p:cNvPr id="22" name="supply-2">
            <a:extLst xmlns:a="http://schemas.openxmlformats.org/drawingml/2006/main">
              <a:ext uri="{FF2B5EF4-FFF2-40B4-BE49-F238E27FC236}">
                <a16:creationId xmlns:a16="http://schemas.microsoft.com/office/drawing/2014/main" id="{CCF4F918-00DA-46E7-9E4D-7C066F2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3483"/>
            <a:ext cx="1504950" cy="46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dash"/>
          </a:ln>
        </p:spPr>
      </p:sp>
      <p:sp>
        <p:nvSpPr>
          <p:cNvPr id="23" name="period-3">
            <a:extLst xmlns:a="http://schemas.openxmlformats.org/drawingml/2006/main">
              <a:ext uri="{FF2B5EF4-FFF2-40B4-BE49-F238E27FC236}">
                <a16:creationId xmlns:a16="http://schemas.microsoft.com/office/drawing/2014/main" id="{8F51B40B-4038-42F8-B5A9-45AF0EA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H3</a:t>
            </a:r>
          </a:p>
        </p:txBody>
      </p:sp>
      <p:sp>
        <p:nvSpPr>
          <p:cNvPr id="24" name="demand-band-4">
            <a:extLst xmlns:a="http://schemas.openxmlformats.org/drawingml/2006/main">
              <a:ext uri="{FF2B5EF4-FFF2-40B4-BE49-F238E27FC236}">
                <a16:creationId xmlns:a16="http://schemas.microsoft.com/office/drawing/2014/main" id="{F8DE9B69-67B4-4086-8BAC-89731D6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20646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gap-4">
            <a:extLst xmlns:a="http://schemas.openxmlformats.org/drawingml/2006/main">
              <a:ext uri="{FF2B5EF4-FFF2-40B4-BE49-F238E27FC236}">
                <a16:creationId xmlns:a16="http://schemas.microsoft.com/office/drawing/2014/main" id="{0FDAEFAC-0D00-4FFA-8B0B-FD4D5736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6005"/>
            <a:ext cx="571500" cy="1222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131</a:t>
            </a:r>
          </a:p>
        </p:txBody>
      </p:sp>
      <p:sp>
        <p:nvSpPr>
          <p:cNvPr id="26" name="demand-3">
            <a:extLst xmlns:a="http://schemas.openxmlformats.org/drawingml/2006/main">
              <a:ext uri="{FF2B5EF4-FFF2-40B4-BE49-F238E27FC236}">
                <a16:creationId xmlns:a16="http://schemas.microsoft.com/office/drawing/2014/main" id="{AAA81C0E-1AB3-4243-8CFD-4841600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38600" y="2326005"/>
            <a:ext cx="1504950" cy="280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5375F"/>
            </a:solidFill>
            <a:prstDash val="solid"/>
          </a:ln>
        </p:spPr>
      </p:sp>
      <p:sp>
        <p:nvSpPr>
          <p:cNvPr id="27" name="supply-3">
            <a:extLst xmlns:a="http://schemas.openxmlformats.org/drawingml/2006/main">
              <a:ext uri="{FF2B5EF4-FFF2-40B4-BE49-F238E27FC236}">
                <a16:creationId xmlns:a16="http://schemas.microsoft.com/office/drawing/2014/main" id="{824E86B4-6605-4EE8-AB7C-62919D6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30156"/>
            <a:ext cx="150495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dash"/>
          </a:ln>
        </p:spPr>
      </p:sp>
      <p:sp>
        <p:nvSpPr>
          <p:cNvPr id="28" name="period-4">
            <a:extLst xmlns:a="http://schemas.openxmlformats.org/drawingml/2006/main">
              <a:ext uri="{FF2B5EF4-FFF2-40B4-BE49-F238E27FC236}">
                <a16:creationId xmlns:a16="http://schemas.microsoft.com/office/drawing/2014/main" id="{2D197CD0-60E9-41B4-A4B2-6A78CB6E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H4</a:t>
            </a:r>
          </a:p>
        </p:txBody>
      </p:sp>
      <p:sp>
        <p:nvSpPr>
          <p:cNvPr id="29" name="demand-band-5">
            <a:extLst xmlns:a="http://schemas.openxmlformats.org/drawingml/2006/main">
              <a:ext uri="{FF2B5EF4-FFF2-40B4-BE49-F238E27FC236}">
                <a16:creationId xmlns:a16="http://schemas.microsoft.com/office/drawing/2014/main" id="{95BF7DCE-8CF8-4E57-A14D-64F65143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3939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gap-5">
            <a:extLst xmlns:a="http://schemas.openxmlformats.org/drawingml/2006/main">
              <a:ext uri="{FF2B5EF4-FFF2-40B4-BE49-F238E27FC236}">
                <a16:creationId xmlns:a16="http://schemas.microsoft.com/office/drawing/2014/main" id="{CFEF0DEE-7F86-431B-ADB9-D2C3198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99298"/>
            <a:ext cx="571500" cy="1540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165</a:t>
            </a:r>
          </a:p>
        </p:txBody>
      </p:sp>
      <p:sp>
        <p:nvSpPr>
          <p:cNvPr id="31" name="demand-4">
            <a:extLst xmlns:a="http://schemas.openxmlformats.org/drawingml/2006/main">
              <a:ext uri="{FF2B5EF4-FFF2-40B4-BE49-F238E27FC236}">
                <a16:creationId xmlns:a16="http://schemas.microsoft.com/office/drawing/2014/main" id="{64130A82-5CE9-433B-B4E9-31E18D1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3550" y="1999298"/>
            <a:ext cx="1504950" cy="326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5375F"/>
            </a:solidFill>
            <a:prstDash val="solid"/>
          </a:ln>
        </p:spPr>
      </p:sp>
      <p:sp>
        <p:nvSpPr>
          <p:cNvPr id="32" name="supply-4">
            <a:extLst xmlns:a="http://schemas.openxmlformats.org/drawingml/2006/main">
              <a:ext uri="{FF2B5EF4-FFF2-40B4-BE49-F238E27FC236}">
                <a16:creationId xmlns:a16="http://schemas.microsoft.com/office/drawing/2014/main" id="{01FD0728-16ED-43E0-A166-1CBB027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3550" y="3539490"/>
            <a:ext cx="1504950" cy="93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dash"/>
          </a:ln>
        </p:spPr>
      </p:sp>
      <p:sp>
        <p:nvSpPr>
          <p:cNvPr id="33" name="period-5">
            <a:extLst xmlns:a="http://schemas.openxmlformats.org/drawingml/2006/main">
              <a:ext uri="{FF2B5EF4-FFF2-40B4-BE49-F238E27FC236}">
                <a16:creationId xmlns:a16="http://schemas.microsoft.com/office/drawing/2014/main" id="{A004058E-4C21-4C19-9694-60ED146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H5</a:t>
            </a:r>
          </a:p>
        </p:txBody>
      </p:sp>
      <p:sp>
        <p:nvSpPr>
          <p:cNvPr id="34" name="demand-band-6">
            <a:extLst xmlns:a="http://schemas.openxmlformats.org/drawingml/2006/main">
              <a:ext uri="{FF2B5EF4-FFF2-40B4-BE49-F238E27FC236}">
                <a16:creationId xmlns:a16="http://schemas.microsoft.com/office/drawing/2014/main" id="{2F896738-5294-45BD-9333-7BE4CBB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8597"/>
            <a:ext cx="342900" cy="392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gap-6">
            <a:extLst xmlns:a="http://schemas.openxmlformats.org/drawingml/2006/main">
              <a:ext uri="{FF2B5EF4-FFF2-40B4-BE49-F238E27FC236}">
                <a16:creationId xmlns:a16="http://schemas.microsoft.com/office/drawing/2014/main" id="{6C6DFC3A-2B8A-4D0A-ABE8-C3683D1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33956"/>
            <a:ext cx="571500" cy="1568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168</a:t>
            </a:r>
          </a:p>
        </p:txBody>
      </p:sp>
      <p:sp>
        <p:nvSpPr>
          <p:cNvPr id="36" name="demand-5">
            <a:extLst xmlns:a="http://schemas.openxmlformats.org/drawingml/2006/main">
              <a:ext uri="{FF2B5EF4-FFF2-40B4-BE49-F238E27FC236}">
                <a16:creationId xmlns:a16="http://schemas.microsoft.com/office/drawing/2014/main" id="{8CD63BF9-08E2-4A2C-B1BC-BAA60D40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1933956"/>
            <a:ext cx="1504950" cy="653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5375F"/>
            </a:solidFill>
            <a:prstDash val="solid"/>
          </a:ln>
        </p:spPr>
      </p:sp>
      <p:sp>
        <p:nvSpPr>
          <p:cNvPr id="37" name="supply-5">
            <a:extLst xmlns:a="http://schemas.openxmlformats.org/drawingml/2006/main">
              <a:ext uri="{FF2B5EF4-FFF2-40B4-BE49-F238E27FC236}">
                <a16:creationId xmlns:a16="http://schemas.microsoft.com/office/drawing/2014/main" id="{FA257CEC-A983-4C00-854D-5732AAA8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3502152"/>
            <a:ext cx="150495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dash"/>
          </a:ln>
        </p:spPr>
      </p:sp>
      <p:sp>
        <p:nvSpPr>
          <p:cNvPr id="38" name="period-6">
            <a:extLst xmlns:a="http://schemas.openxmlformats.org/drawingml/2006/main">
              <a:ext uri="{FF2B5EF4-FFF2-40B4-BE49-F238E27FC236}">
                <a16:creationId xmlns:a16="http://schemas.microsoft.com/office/drawing/2014/main" id="{8561F7D6-5476-4679-B38D-25FB630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H6</a:t>
            </a:r>
          </a:p>
        </p:txBody>
      </p:sp>
      <p:sp>
        <p:nvSpPr>
          <p:cNvPr id="39" name="supply-row-label-1">
            <a:extLst xmlns:a="http://schemas.openxmlformats.org/drawingml/2006/main">
              <a:ext uri="{FF2B5EF4-FFF2-40B4-BE49-F238E27FC236}">
                <a16:creationId xmlns:a16="http://schemas.microsoft.com/office/drawing/2014/main" id="{7F39392D-DA62-41D1-8EE5-854F631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期初</a:t>
            </a:r>
          </a:p>
        </p:txBody>
      </p:sp>
      <p:sp>
        <p:nvSpPr>
          <p:cNvPr id="40" name="supply-cell-1-1">
            <a:extLst xmlns:a="http://schemas.openxmlformats.org/drawingml/2006/main">
              <a:ext uri="{FF2B5EF4-FFF2-40B4-BE49-F238E27FC236}">
                <a16:creationId xmlns:a16="http://schemas.microsoft.com/office/drawing/2014/main" id="{F84F016A-4C6E-48F9-B4F5-8B5397FD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300</a:t>
            </a:r>
          </a:p>
        </p:txBody>
      </p:sp>
      <p:sp>
        <p:nvSpPr>
          <p:cNvPr id="41" name="supply-cell-1-2">
            <a:extLst xmlns:a="http://schemas.openxmlformats.org/drawingml/2006/main">
              <a:ext uri="{FF2B5EF4-FFF2-40B4-BE49-F238E27FC236}">
                <a16:creationId xmlns:a16="http://schemas.microsoft.com/office/drawing/2014/main" id="{3918A381-7BCC-4DB7-B2A5-4765C64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292</a:t>
            </a:r>
          </a:p>
        </p:txBody>
      </p:sp>
      <p:sp>
        <p:nvSpPr>
          <p:cNvPr id="42" name="supply-cell-1-3">
            <a:extLst xmlns:a="http://schemas.openxmlformats.org/drawingml/2006/main">
              <a:ext uri="{FF2B5EF4-FFF2-40B4-BE49-F238E27FC236}">
                <a16:creationId xmlns:a16="http://schemas.microsoft.com/office/drawing/2014/main" id="{A65A02B4-5A8E-44E8-818C-28900B55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286</a:t>
            </a:r>
          </a:p>
        </p:txBody>
      </p:sp>
      <p:sp>
        <p:nvSpPr>
          <p:cNvPr id="43" name="supply-cell-1-4">
            <a:extLst xmlns:a="http://schemas.openxmlformats.org/drawingml/2006/main">
              <a:ext uri="{FF2B5EF4-FFF2-40B4-BE49-F238E27FC236}">
                <a16:creationId xmlns:a16="http://schemas.microsoft.com/office/drawing/2014/main" id="{8F844F84-74EC-48CA-9C6E-893F7E4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281</a:t>
            </a:r>
          </a:p>
        </p:txBody>
      </p:sp>
      <p:sp>
        <p:nvSpPr>
          <p:cNvPr id="44" name="supply-cell-1-5">
            <a:extLst xmlns:a="http://schemas.openxmlformats.org/drawingml/2006/main">
              <a:ext uri="{FF2B5EF4-FFF2-40B4-BE49-F238E27FC236}">
                <a16:creationId xmlns:a16="http://schemas.microsoft.com/office/drawing/2014/main" id="{8300BD18-31D7-4C97-A3E2-71277F1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279</a:t>
            </a:r>
          </a:p>
        </p:txBody>
      </p:sp>
      <p:sp>
        <p:nvSpPr>
          <p:cNvPr id="45" name="supply-cell-1-6">
            <a:extLst xmlns:a="http://schemas.openxmlformats.org/drawingml/2006/main">
              <a:ext uri="{FF2B5EF4-FFF2-40B4-BE49-F238E27FC236}">
                <a16:creationId xmlns:a16="http://schemas.microsoft.com/office/drawing/2014/main" id="{EA5B3286-54B2-4078-AF94-E3638B0A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3053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280</a:t>
            </a:r>
          </a:p>
        </p:txBody>
      </p:sp>
      <p:sp>
        <p:nvSpPr>
          <p:cNvPr id="46" name="supply-row-label-2">
            <a:extLst xmlns:a="http://schemas.openxmlformats.org/drawingml/2006/main">
              <a:ext uri="{FF2B5EF4-FFF2-40B4-BE49-F238E27FC236}">
                <a16:creationId xmlns:a16="http://schemas.microsoft.com/office/drawing/2014/main" id="{8E71EEC7-E260-4392-9F94-308C17F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流失</a:t>
            </a:r>
          </a:p>
        </p:txBody>
      </p:sp>
      <p:sp>
        <p:nvSpPr>
          <p:cNvPr id="47" name="supply-cell-2-1">
            <a:extLst xmlns:a="http://schemas.openxmlformats.org/drawingml/2006/main">
              <a:ext uri="{FF2B5EF4-FFF2-40B4-BE49-F238E27FC236}">
                <a16:creationId xmlns:a16="http://schemas.microsoft.com/office/drawing/2014/main" id="{E3854551-13D9-4ACD-B1CB-96F3B2D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15</a:t>
            </a:r>
          </a:p>
        </p:txBody>
      </p:sp>
      <p:sp>
        <p:nvSpPr>
          <p:cNvPr id="48" name="supply-cell-2-2">
            <a:extLst xmlns:a="http://schemas.openxmlformats.org/drawingml/2006/main">
              <a:ext uri="{FF2B5EF4-FFF2-40B4-BE49-F238E27FC236}">
                <a16:creationId xmlns:a16="http://schemas.microsoft.com/office/drawing/2014/main" id="{892F8B31-088A-45A8-A0EB-58A7BE66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16</a:t>
            </a:r>
          </a:p>
        </p:txBody>
      </p:sp>
      <p:sp>
        <p:nvSpPr>
          <p:cNvPr id="49" name="supply-cell-2-3">
            <a:extLst xmlns:a="http://schemas.openxmlformats.org/drawingml/2006/main">
              <a:ext uri="{FF2B5EF4-FFF2-40B4-BE49-F238E27FC236}">
                <a16:creationId xmlns:a16="http://schemas.microsoft.com/office/drawing/2014/main" id="{C3851267-7187-46C1-BA3E-7FCD4A93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17</a:t>
            </a:r>
          </a:p>
        </p:txBody>
      </p:sp>
      <p:sp>
        <p:nvSpPr>
          <p:cNvPr id="50" name="supply-cell-2-4">
            <a:extLst xmlns:a="http://schemas.openxmlformats.org/drawingml/2006/main">
              <a:ext uri="{FF2B5EF4-FFF2-40B4-BE49-F238E27FC236}">
                <a16:creationId xmlns:a16="http://schemas.microsoft.com/office/drawing/2014/main" id="{9696AA6E-D395-4017-B82B-2C6B8563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</a:t>
            </a:r>
          </a:p>
        </p:txBody>
      </p:sp>
      <p:sp>
        <p:nvSpPr>
          <p:cNvPr id="51" name="supply-cell-2-5">
            <a:extLst xmlns:a="http://schemas.openxmlformats.org/drawingml/2006/main">
              <a:ext uri="{FF2B5EF4-FFF2-40B4-BE49-F238E27FC236}">
                <a16:creationId xmlns:a16="http://schemas.microsoft.com/office/drawing/2014/main" id="{37D7DD5F-4753-4E7F-8FB6-EC84CAEF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19</a:t>
            </a:r>
          </a:p>
        </p:txBody>
      </p:sp>
      <p:sp>
        <p:nvSpPr>
          <p:cNvPr id="52" name="supply-cell-2-6">
            <a:extLst xmlns:a="http://schemas.openxmlformats.org/drawingml/2006/main">
              <a:ext uri="{FF2B5EF4-FFF2-40B4-BE49-F238E27FC236}">
                <a16:creationId xmlns:a16="http://schemas.microsoft.com/office/drawing/2014/main" id="{EFCBB7E2-63E9-421F-AB99-D9D10D2B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5148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</a:t>
            </a:r>
          </a:p>
        </p:txBody>
      </p:sp>
      <p:sp>
        <p:nvSpPr>
          <p:cNvPr id="53" name="supply-row-label-3">
            <a:extLst xmlns:a="http://schemas.openxmlformats.org/drawingml/2006/main">
              <a:ext uri="{FF2B5EF4-FFF2-40B4-BE49-F238E27FC236}">
                <a16:creationId xmlns:a16="http://schemas.microsoft.com/office/drawing/2014/main" id="{F7A6F448-765C-41AC-9E37-147C4278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退休</a:t>
            </a:r>
          </a:p>
        </p:txBody>
      </p:sp>
      <p:sp>
        <p:nvSpPr>
          <p:cNvPr id="54" name="supply-cell-3-1">
            <a:extLst xmlns:a="http://schemas.openxmlformats.org/drawingml/2006/main">
              <a:ext uri="{FF2B5EF4-FFF2-40B4-BE49-F238E27FC236}">
                <a16:creationId xmlns:a16="http://schemas.microsoft.com/office/drawing/2014/main" id="{2EB022C8-C873-43A5-B0B7-020F452B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55" name="supply-cell-3-2">
            <a:extLst xmlns:a="http://schemas.openxmlformats.org/drawingml/2006/main">
              <a:ext uri="{FF2B5EF4-FFF2-40B4-BE49-F238E27FC236}">
                <a16:creationId xmlns:a16="http://schemas.microsoft.com/office/drawing/2014/main" id="{3238CDF6-8AD2-4A18-A674-31EB2F5D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56" name="supply-cell-3-3">
            <a:extLst xmlns:a="http://schemas.openxmlformats.org/drawingml/2006/main">
              <a:ext uri="{FF2B5EF4-FFF2-40B4-BE49-F238E27FC236}">
                <a16:creationId xmlns:a16="http://schemas.microsoft.com/office/drawing/2014/main" id="{469632F1-3250-4D68-9EF7-DF382EE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57" name="supply-cell-3-4">
            <a:extLst xmlns:a="http://schemas.openxmlformats.org/drawingml/2006/main">
              <a:ext uri="{FF2B5EF4-FFF2-40B4-BE49-F238E27FC236}">
                <a16:creationId xmlns:a16="http://schemas.microsoft.com/office/drawing/2014/main" id="{8737FBE7-CFD0-4F53-A603-1EF0FCD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58" name="supply-cell-3-5">
            <a:extLst xmlns:a="http://schemas.openxmlformats.org/drawingml/2006/main">
              <a:ext uri="{FF2B5EF4-FFF2-40B4-BE49-F238E27FC236}">
                <a16:creationId xmlns:a16="http://schemas.microsoft.com/office/drawing/2014/main" id="{511983C9-A314-421C-B3A9-09D1780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59" name="supply-cell-3-6">
            <a:extLst xmlns:a="http://schemas.openxmlformats.org/drawingml/2006/main">
              <a:ext uri="{FF2B5EF4-FFF2-40B4-BE49-F238E27FC236}">
                <a16:creationId xmlns:a16="http://schemas.microsoft.com/office/drawing/2014/main" id="{B4137CA4-7091-4C56-9B22-F0B0D5A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7244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60" name="supply-row-label-4">
            <a:extLst xmlns:a="http://schemas.openxmlformats.org/drawingml/2006/main">
              <a:ext uri="{FF2B5EF4-FFF2-40B4-BE49-F238E27FC236}">
                <a16:creationId xmlns:a16="http://schemas.microsoft.com/office/drawing/2014/main" id="{BEA22903-872F-4180-B64B-494A4C2C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晋升</a:t>
            </a:r>
          </a:p>
        </p:txBody>
      </p:sp>
      <p:sp>
        <p:nvSpPr>
          <p:cNvPr id="61" name="supply-cell-4-1">
            <a:extLst xmlns:a="http://schemas.openxmlformats.org/drawingml/2006/main">
              <a:ext uri="{FF2B5EF4-FFF2-40B4-BE49-F238E27FC236}">
                <a16:creationId xmlns:a16="http://schemas.microsoft.com/office/drawing/2014/main" id="{BFB82C47-C8E4-4147-A15E-CD28F227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62" name="supply-cell-4-2">
            <a:extLst xmlns:a="http://schemas.openxmlformats.org/drawingml/2006/main">
              <a:ext uri="{FF2B5EF4-FFF2-40B4-BE49-F238E27FC236}">
                <a16:creationId xmlns:a16="http://schemas.microsoft.com/office/drawing/2014/main" id="{F754B7B9-A4C1-409F-8FB8-01BB86D1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10</a:t>
            </a:r>
          </a:p>
        </p:txBody>
      </p:sp>
      <p:sp>
        <p:nvSpPr>
          <p:cNvPr id="63" name="supply-cell-4-3">
            <a:extLst xmlns:a="http://schemas.openxmlformats.org/drawingml/2006/main">
              <a:ext uri="{FF2B5EF4-FFF2-40B4-BE49-F238E27FC236}">
                <a16:creationId xmlns:a16="http://schemas.microsoft.com/office/drawing/2014/main" id="{E00030A4-40D3-4184-92CF-94603DF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</a:t>
            </a:r>
          </a:p>
        </p:txBody>
      </p:sp>
      <p:sp>
        <p:nvSpPr>
          <p:cNvPr id="64" name="supply-cell-4-4">
            <a:extLst xmlns:a="http://schemas.openxmlformats.org/drawingml/2006/main">
              <a:ext uri="{FF2B5EF4-FFF2-40B4-BE49-F238E27FC236}">
                <a16:creationId xmlns:a16="http://schemas.microsoft.com/office/drawing/2014/main" id="{52BBBDAD-60C3-4000-86CA-0208AEA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15</a:t>
            </a:r>
          </a:p>
        </p:txBody>
      </p:sp>
      <p:sp>
        <p:nvSpPr>
          <p:cNvPr id="65" name="supply-cell-4-5">
            <a:extLst xmlns:a="http://schemas.openxmlformats.org/drawingml/2006/main">
              <a:ext uri="{FF2B5EF4-FFF2-40B4-BE49-F238E27FC236}">
                <a16:creationId xmlns:a16="http://schemas.microsoft.com/office/drawing/2014/main" id="{4428EF20-8203-4666-82E2-650F667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</a:t>
            </a:r>
          </a:p>
        </p:txBody>
      </p:sp>
      <p:sp>
        <p:nvSpPr>
          <p:cNvPr id="66" name="supply-cell-4-6">
            <a:extLst xmlns:a="http://schemas.openxmlformats.org/drawingml/2006/main">
              <a:ext uri="{FF2B5EF4-FFF2-40B4-BE49-F238E27FC236}">
                <a16:creationId xmlns:a16="http://schemas.microsoft.com/office/drawing/2014/main" id="{7A1C39EC-7EB4-473F-B89B-D6AFC03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9339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22</a:t>
            </a:r>
          </a:p>
        </p:txBody>
      </p:sp>
      <p:sp>
        <p:nvSpPr>
          <p:cNvPr id="67" name="supply-row-label-5">
            <a:extLst xmlns:a="http://schemas.openxmlformats.org/drawingml/2006/main">
              <a:ext uri="{FF2B5EF4-FFF2-40B4-BE49-F238E27FC236}">
                <a16:creationId xmlns:a16="http://schemas.microsoft.com/office/drawing/2014/main" id="{756A3621-596F-4E4D-BCF5-34FE325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转岗</a:t>
            </a:r>
          </a:p>
        </p:txBody>
      </p:sp>
      <p:sp>
        <p:nvSpPr>
          <p:cNvPr id="68" name="supply-cell-5-1">
            <a:extLst xmlns:a="http://schemas.openxmlformats.org/drawingml/2006/main">
              <a:ext uri="{FF2B5EF4-FFF2-40B4-BE49-F238E27FC236}">
                <a16:creationId xmlns:a16="http://schemas.microsoft.com/office/drawing/2014/main" id="{557C4DAC-799E-4C12-895E-344FD2D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69" name="supply-cell-5-2">
            <a:extLst xmlns:a="http://schemas.openxmlformats.org/drawingml/2006/main">
              <a:ext uri="{FF2B5EF4-FFF2-40B4-BE49-F238E27FC236}">
                <a16:creationId xmlns:a16="http://schemas.microsoft.com/office/drawing/2014/main" id="{B5DFD168-A09E-42F9-8795-24C1020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70" name="supply-cell-5-3">
            <a:extLst xmlns:a="http://schemas.openxmlformats.org/drawingml/2006/main">
              <a:ext uri="{FF2B5EF4-FFF2-40B4-BE49-F238E27FC236}">
                <a16:creationId xmlns:a16="http://schemas.microsoft.com/office/drawing/2014/main" id="{54D61402-84E3-4449-BBE7-DA9F253A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71" name="supply-cell-5-4">
            <a:extLst xmlns:a="http://schemas.openxmlformats.org/drawingml/2006/main">
              <a:ext uri="{FF2B5EF4-FFF2-40B4-BE49-F238E27FC236}">
                <a16:creationId xmlns:a16="http://schemas.microsoft.com/office/drawing/2014/main" id="{D13F3BBB-1D34-49CC-8D6A-E51F719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72" name="supply-cell-5-5">
            <a:extLst xmlns:a="http://schemas.openxmlformats.org/drawingml/2006/main">
              <a:ext uri="{FF2B5EF4-FFF2-40B4-BE49-F238E27FC236}">
                <a16:creationId xmlns:a16="http://schemas.microsoft.com/office/drawing/2014/main" id="{4EC9BCC2-6477-4AE4-981F-13AEF2E6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73" name="supply-cell-5-6">
            <a:extLst xmlns:a="http://schemas.openxmlformats.org/drawingml/2006/main">
              <a:ext uri="{FF2B5EF4-FFF2-40B4-BE49-F238E27FC236}">
                <a16:creationId xmlns:a16="http://schemas.microsoft.com/office/drawing/2014/main" id="{3D40E568-334B-4496-A532-82762E76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1435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10</a:t>
            </a:r>
          </a:p>
        </p:txBody>
      </p:sp>
      <p:sp>
        <p:nvSpPr>
          <p:cNvPr id="74" name="supply-row-label-6">
            <a:extLst xmlns:a="http://schemas.openxmlformats.org/drawingml/2006/main">
              <a:ext uri="{FF2B5EF4-FFF2-40B4-BE49-F238E27FC236}">
                <a16:creationId xmlns:a16="http://schemas.microsoft.com/office/drawing/2014/main" id="{E2E0486D-8257-47CC-9A0B-687915A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内部供给</a:t>
            </a:r>
          </a:p>
        </p:txBody>
      </p:sp>
      <p:sp>
        <p:nvSpPr>
          <p:cNvPr id="75" name="supply-cell-6-1">
            <a:extLst xmlns:a="http://schemas.openxmlformats.org/drawingml/2006/main">
              <a:ext uri="{FF2B5EF4-FFF2-40B4-BE49-F238E27FC236}">
                <a16:creationId xmlns:a16="http://schemas.microsoft.com/office/drawing/2014/main" id="{E045AF3C-F7A9-4DB1-8010-03E140B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292</a:t>
            </a:r>
          </a:p>
        </p:txBody>
      </p:sp>
      <p:sp>
        <p:nvSpPr>
          <p:cNvPr id="76" name="supply-cell-6-2">
            <a:extLst xmlns:a="http://schemas.openxmlformats.org/drawingml/2006/main">
              <a:ext uri="{FF2B5EF4-FFF2-40B4-BE49-F238E27FC236}">
                <a16:creationId xmlns:a16="http://schemas.microsoft.com/office/drawing/2014/main" id="{03FBEFC4-D222-4C78-8BB3-34ED9F62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286</a:t>
            </a:r>
          </a:p>
        </p:txBody>
      </p:sp>
      <p:sp>
        <p:nvSpPr>
          <p:cNvPr id="77" name="supply-cell-6-3">
            <a:extLst xmlns:a="http://schemas.openxmlformats.org/drawingml/2006/main">
              <a:ext uri="{FF2B5EF4-FFF2-40B4-BE49-F238E27FC236}">
                <a16:creationId xmlns:a16="http://schemas.microsoft.com/office/drawing/2014/main" id="{F8EB901F-8D77-4DBA-96B3-8065663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281</a:t>
            </a:r>
          </a:p>
        </p:txBody>
      </p:sp>
      <p:sp>
        <p:nvSpPr>
          <p:cNvPr id="78" name="supply-cell-6-4">
            <a:extLst xmlns:a="http://schemas.openxmlformats.org/drawingml/2006/main">
              <a:ext uri="{FF2B5EF4-FFF2-40B4-BE49-F238E27FC236}">
                <a16:creationId xmlns:a16="http://schemas.microsoft.com/office/drawing/2014/main" id="{FE40E896-F4C1-4BCF-B5DD-F6C3C6F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279</a:t>
            </a:r>
          </a:p>
        </p:txBody>
      </p:sp>
      <p:sp>
        <p:nvSpPr>
          <p:cNvPr id="79" name="supply-cell-6-5">
            <a:extLst xmlns:a="http://schemas.openxmlformats.org/drawingml/2006/main">
              <a:ext uri="{FF2B5EF4-FFF2-40B4-BE49-F238E27FC236}">
                <a16:creationId xmlns:a16="http://schemas.microsoft.com/office/drawing/2014/main" id="{2711FD96-5956-4D59-99E0-DF5C0C7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280</a:t>
            </a:r>
          </a:p>
        </p:txBody>
      </p:sp>
      <p:sp>
        <p:nvSpPr>
          <p:cNvPr id="80" name="supply-cell-6-6">
            <a:extLst xmlns:a="http://schemas.openxmlformats.org/drawingml/2006/main">
              <a:ext uri="{FF2B5EF4-FFF2-40B4-BE49-F238E27FC236}">
                <a16:creationId xmlns:a16="http://schemas.microsoft.com/office/drawing/2014/main" id="{962EEEC7-3FDE-4ED3-BCB2-5A9C263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35305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284</a:t>
            </a:r>
          </a:p>
        </p:txBody>
      </p:sp>
      <p:sp>
        <p:nvSpPr>
          <p:cNvPr id="81" name="supply-row-label-7">
            <a:extLst xmlns:a="http://schemas.openxmlformats.org/drawingml/2006/main">
              <a:ext uri="{FF2B5EF4-FFF2-40B4-BE49-F238E27FC236}">
                <a16:creationId xmlns:a16="http://schemas.microsoft.com/office/drawing/2014/main" id="{D6A4167B-3E0C-4DB6-A670-6EB0EF4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需外补</a:t>
            </a:r>
          </a:p>
        </p:txBody>
      </p:sp>
      <p:sp>
        <p:nvSpPr>
          <p:cNvPr id="82" name="supply-cell-7-1">
            <a:extLst xmlns:a="http://schemas.openxmlformats.org/drawingml/2006/main">
              <a:ext uri="{FF2B5EF4-FFF2-40B4-BE49-F238E27FC236}">
                <a16:creationId xmlns:a16="http://schemas.microsoft.com/office/drawing/2014/main" id="{53F0DB6A-64B8-45C0-856F-3CFBD41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38</a:t>
            </a:r>
          </a:p>
        </p:txBody>
      </p:sp>
      <p:sp>
        <p:nvSpPr>
          <p:cNvPr id="83" name="supply-cell-7-2">
            <a:extLst xmlns:a="http://schemas.openxmlformats.org/drawingml/2006/main">
              <a:ext uri="{FF2B5EF4-FFF2-40B4-BE49-F238E27FC236}">
                <a16:creationId xmlns:a16="http://schemas.microsoft.com/office/drawing/2014/main" id="{31DF7B1E-6F97-476C-A07E-2CBE8154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64</a:t>
            </a:r>
          </a:p>
        </p:txBody>
      </p:sp>
      <p:sp>
        <p:nvSpPr>
          <p:cNvPr id="84" name="supply-cell-7-3">
            <a:extLst xmlns:a="http://schemas.openxmlformats.org/drawingml/2006/main">
              <a:ext uri="{FF2B5EF4-FFF2-40B4-BE49-F238E27FC236}">
                <a16:creationId xmlns:a16="http://schemas.microsoft.com/office/drawing/2014/main" id="{59AA9935-B046-433E-B6E2-D0CACA5B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99</a:t>
            </a:r>
          </a:p>
        </p:txBody>
      </p:sp>
      <p:sp>
        <p:nvSpPr>
          <p:cNvPr id="85" name="supply-cell-7-4">
            <a:extLst xmlns:a="http://schemas.openxmlformats.org/drawingml/2006/main">
              <a:ext uri="{FF2B5EF4-FFF2-40B4-BE49-F238E27FC236}">
                <a16:creationId xmlns:a16="http://schemas.microsoft.com/office/drawing/2014/main" id="{F09C3EC1-2E3B-4951-B90D-A9303FF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131</a:t>
            </a:r>
          </a:p>
        </p:txBody>
      </p:sp>
      <p:sp>
        <p:nvSpPr>
          <p:cNvPr id="86" name="supply-cell-7-5">
            <a:extLst xmlns:a="http://schemas.openxmlformats.org/drawingml/2006/main">
              <a:ext uri="{FF2B5EF4-FFF2-40B4-BE49-F238E27FC236}">
                <a16:creationId xmlns:a16="http://schemas.microsoft.com/office/drawing/2014/main" id="{7F5FBA57-1592-4178-B52C-CDBCBC7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165</a:t>
            </a:r>
          </a:p>
        </p:txBody>
      </p:sp>
      <p:sp>
        <p:nvSpPr>
          <p:cNvPr id="87" name="supply-cell-7-6">
            <a:extLst xmlns:a="http://schemas.openxmlformats.org/drawingml/2006/main">
              <a:ext uri="{FF2B5EF4-FFF2-40B4-BE49-F238E27FC236}">
                <a16:creationId xmlns:a16="http://schemas.microsoft.com/office/drawing/2014/main" id="{8A7FC8C0-05E9-4FB9-90DC-6608DDBB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562600"/>
            <a:ext cx="114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168</a:t>
            </a:r>
          </a:p>
        </p:txBody>
      </p:sp>
      <p:sp>
        <p:nvSpPr>
          <p:cNvPr id="88" name="strategy-rail">
            <a:extLst xmlns:a="http://schemas.openxmlformats.org/drawingml/2006/main">
              <a:ext uri="{FF2B5EF4-FFF2-40B4-BE49-F238E27FC236}">
                <a16:creationId xmlns:a16="http://schemas.microsoft.com/office/drawing/2014/main" id="{F4B7C80B-B8FB-4DD3-9FA3-508752D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533650" cy="44577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89" name="strategy-title">
            <a:extLst xmlns:a="http://schemas.openxmlformats.org/drawingml/2006/main">
              <a:ext uri="{FF2B5EF4-FFF2-40B4-BE49-F238E27FC236}">
                <a16:creationId xmlns:a16="http://schemas.microsoft.com/office/drawing/2014/main" id="{DC425276-1D40-4EA3-BA61-A2D765C2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33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补充策略</a:t>
            </a:r>
          </a:p>
        </p:txBody>
      </p:sp>
      <p:sp>
        <p:nvSpPr>
          <p:cNvPr id="90" name="strategy-1">
            <a:extLst xmlns:a="http://schemas.openxmlformats.org/drawingml/2006/main">
              <a:ext uri="{FF2B5EF4-FFF2-40B4-BE49-F238E27FC236}">
                <a16:creationId xmlns:a16="http://schemas.microsoft.com/office/drawing/2014/main" id="{E19D74F2-F364-419A-BAE2-4A592B9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内部培养｜80 人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周期 12–18月｜8万/人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风险：转化不及预期</a:t>
            </a:r>
          </a:p>
        </p:txBody>
      </p:sp>
      <p:sp>
        <p:nvSpPr>
          <p:cNvPr id="91" name="strategy-2">
            <a:extLst xmlns:a="http://schemas.openxmlformats.org/drawingml/2006/main">
              <a:ext uri="{FF2B5EF4-FFF2-40B4-BE49-F238E27FC236}">
                <a16:creationId xmlns:a16="http://schemas.microsoft.com/office/drawing/2014/main" id="{9FB24E94-1406-4487-9500-A5E44B6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外部招聘｜60 人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周期 6–9月｜12万/人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风险：市场供给紧张</a:t>
            </a:r>
          </a:p>
        </p:txBody>
      </p:sp>
      <p:sp>
        <p:nvSpPr>
          <p:cNvPr id="92" name="strategy-3">
            <a:extLst xmlns:a="http://schemas.openxmlformats.org/drawingml/2006/main">
              <a:ext uri="{FF2B5EF4-FFF2-40B4-BE49-F238E27FC236}">
                <a16:creationId xmlns:a16="http://schemas.microsoft.com/office/drawing/2014/main" id="{E3766E99-32E3-4849-BD4B-58CFEA49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外包或 AI 替代｜28 人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周期 3–6月｜6万/人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风险：质量与采用风险</a:t>
            </a:r>
          </a:p>
        </p:txBody>
      </p:sp>
      <p:sp>
        <p:nvSpPr>
          <p:cNvPr id="93" name="bottom">
            <a:extLst xmlns:a="http://schemas.openxmlformats.org/drawingml/2006/main">
              <a:ext uri="{FF2B5EF4-FFF2-40B4-BE49-F238E27FC236}">
                <a16:creationId xmlns:a16="http://schemas.microsoft.com/office/drawing/2014/main" id="{6AB3CE7B-E0FC-4B30-BB5F-D6D846C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用内部培养 80 人、外部招聘 60 人、外包或 AI 替代 28 人关闭缺口</a:t>
            </a:r>
          </a:p>
        </p:txBody>
      </p:sp>
    </p:spTree>
    <p:extLst>
      <p:ext uri="{BB962C8B-B14F-4D97-AF65-F5344CB8AC3E}">
        <p14:creationId xmlns:p14="http://schemas.microsoft.com/office/powerpoint/2010/main" val="908006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2026-07-31T20:38:16.9600000Z</dcterms:created>
  <dcterms:modified xsi:type="dcterms:W3CDTF">2026-07-31T20:38:16.9600000Z</dcterms:modified>
</coreProperties>
</file>