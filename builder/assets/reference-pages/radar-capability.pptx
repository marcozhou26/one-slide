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885acef956d459a" /><Relationship Type="http://schemas.openxmlformats.org/officeDocument/2006/relationships/extended-properties" Target="/docProps/app.xml" Id="R8bd02dca49b34939" /><Relationship Type="http://schemas.openxmlformats.org/officeDocument/2006/relationships/officeDocument" Target="/ppt/presentation.xml" Id="R33dea353736a443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a5b050112594123"/>
  </p:sldMasterIdLst>
  <p:notesMasterIdLst>
    <p:notesMasterId xmlns:r="http://schemas.openxmlformats.org/officeDocument/2006/relationships" r:id="Rd94ead12ec744025"/>
  </p:notesMasterIdLst>
  <p:sldIdLst>
    <p:sldId xmlns:r="http://schemas.openxmlformats.org/officeDocument/2006/relationships" id="256" r:id="R78d25025efc8429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577754745c349dd" /><Relationship Type="http://schemas.openxmlformats.org/officeDocument/2006/relationships/slideMaster" Target="/ppt/slideMasters/slideMaster1.xml" Id="R7a5b050112594123" /><Relationship Type="http://schemas.openxmlformats.org/officeDocument/2006/relationships/notesMaster" Target="/ppt/notesMasters/notesMaster1.xml" Id="Rd94ead12ec744025" /><Relationship Type="http://schemas.openxmlformats.org/officeDocument/2006/relationships/presProps" Target="/ppt/presProps.xml" Id="R50bb4f1c5a494b12" /><Relationship Type="http://schemas.openxmlformats.org/officeDocument/2006/relationships/tableStyles" Target="/ppt/tableStyles.xml" Id="R8b79cb30ba4e47fb" /><Relationship Type="http://schemas.openxmlformats.org/officeDocument/2006/relationships/slide" Target="/ppt/slides/slide1.xml" Id="R78d25025efc8429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0f515d95e19464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8f9dc7d5b674d1a" /><Relationship Type="http://schemas.openxmlformats.org/officeDocument/2006/relationships/notesMaster" Target="/ppt/notesMasters/notesMaster1.xml" Id="Ra3f51f9bb18a45f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1943adbd884f7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62845a112f04510" /><Relationship Type="http://schemas.openxmlformats.org/officeDocument/2006/relationships/slideLayout" Target="/ppt/slideLayouts/slideLayout1.xml" Id="R920eacb36c9e428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20eacb36c9e428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0a86cf4ec24f15" /><Relationship Type="http://schemas.openxmlformats.org/officeDocument/2006/relationships/notesSlide" Target="/ppt/notesSlides/notesSlide1.xml" Id="R36613b6390744bd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page-title">
            <a:extLst xmlns:a="http://schemas.openxmlformats.org/drawingml/2006/main">
              <a:ext uri="{FF2B5EF4-FFF2-40B4-BE49-F238E27FC236}">
                <a16:creationId xmlns:a16="http://schemas.microsoft.com/office/drawing/2014/main" id="{187472D9-7C9A-45A4-BA00-C4505B847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1163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375F"/>
                </a:solidFill>
              </a:defRPr>
            </a:pPr>
            <a:r>
              <a:rPr sz="2550" b="1">
                <a:solidFill>
                  <a:srgbClr val="15375F"/>
                </a:solidFill>
              </a:rPr>
              <a:t>九项能力中四项落后标杆 2 档以上，治理、数据、平台与变革需优先补齐</a:t>
            </a:r>
          </a:p>
        </p:txBody>
      </p:sp>
      <p:sp>
        <p:nvSpPr>
          <p:cNvPr id="2" name="radar-grid-1">
            <a:extLst xmlns:a="http://schemas.openxmlformats.org/drawingml/2006/main">
              <a:ext uri="{FF2B5EF4-FFF2-40B4-BE49-F238E27FC236}">
                <a16:creationId xmlns:a16="http://schemas.microsoft.com/office/drawing/2014/main" id="{7C1328AA-7AC5-46EC-BD21-8C4C90352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381250"/>
            <a:ext cx="2286000" cy="2286000"/>
          </a:xfrm>
          <a:custGeom xmlns:a="http://schemas.openxmlformats.org/drawingml/2006/main">
            <a:pathLst>
              <a:path w="2286000" h="2286000">
                <a:moveTo>
                  <a:pt x="1143000" y="914400"/>
                </a:moveTo>
                <a:lnTo>
                  <a:pt x="1289941" y="967882"/>
                </a:lnTo>
                <a:lnTo>
                  <a:pt x="1368127" y="1103304"/>
                </a:lnTo>
                <a:lnTo>
                  <a:pt x="1340973" y="1257300"/>
                </a:lnTo>
                <a:lnTo>
                  <a:pt x="1221186" y="1357814"/>
                </a:lnTo>
                <a:lnTo>
                  <a:pt x="1064814" y="1357814"/>
                </a:lnTo>
                <a:lnTo>
                  <a:pt x="945027" y="1257300"/>
                </a:lnTo>
                <a:lnTo>
                  <a:pt x="917873" y="1103304"/>
                </a:lnTo>
                <a:lnTo>
                  <a:pt x="996059" y="96788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D7DEE8"/>
            </a:solidFill>
            <a:prstDash val="solid"/>
          </a:ln>
        </p:spPr>
      </p:sp>
      <p:sp>
        <p:nvSpPr>
          <p:cNvPr id="3" name="radar-grid-2">
            <a:extLst xmlns:a="http://schemas.openxmlformats.org/drawingml/2006/main">
              <a:ext uri="{FF2B5EF4-FFF2-40B4-BE49-F238E27FC236}">
                <a16:creationId xmlns:a16="http://schemas.microsoft.com/office/drawing/2014/main" id="{6D812D38-2E99-4A4E-8DD8-30F2A1A7F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381250"/>
            <a:ext cx="2286000" cy="2286000"/>
          </a:xfrm>
          <a:custGeom xmlns:a="http://schemas.openxmlformats.org/drawingml/2006/main">
            <a:pathLst>
              <a:path w="2286000" h="2286000">
                <a:moveTo>
                  <a:pt x="1143000" y="685800"/>
                </a:moveTo>
                <a:lnTo>
                  <a:pt x="1436882" y="792764"/>
                </a:lnTo>
                <a:lnTo>
                  <a:pt x="1593254" y="1063608"/>
                </a:lnTo>
                <a:lnTo>
                  <a:pt x="1538947" y="1371600"/>
                </a:lnTo>
                <a:lnTo>
                  <a:pt x="1299372" y="1572627"/>
                </a:lnTo>
                <a:lnTo>
                  <a:pt x="986628" y="1572627"/>
                </a:lnTo>
                <a:lnTo>
                  <a:pt x="747053" y="1371600"/>
                </a:lnTo>
                <a:lnTo>
                  <a:pt x="692746" y="1063608"/>
                </a:lnTo>
                <a:lnTo>
                  <a:pt x="849118" y="79276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D7DEE8"/>
            </a:solidFill>
            <a:prstDash val="solid"/>
          </a:ln>
        </p:spPr>
      </p:sp>
      <p:sp>
        <p:nvSpPr>
          <p:cNvPr id="4" name="radar-grid-3">
            <a:extLst xmlns:a="http://schemas.openxmlformats.org/drawingml/2006/main">
              <a:ext uri="{FF2B5EF4-FFF2-40B4-BE49-F238E27FC236}">
                <a16:creationId xmlns:a16="http://schemas.microsoft.com/office/drawing/2014/main" id="{99155607-A1A3-44B4-9380-32C9EF2F1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381250"/>
            <a:ext cx="2286000" cy="2286000"/>
          </a:xfrm>
          <a:custGeom xmlns:a="http://schemas.openxmlformats.org/drawingml/2006/main">
            <a:pathLst>
              <a:path w="2286000" h="2286000">
                <a:moveTo>
                  <a:pt x="1143000" y="457200"/>
                </a:moveTo>
                <a:lnTo>
                  <a:pt x="1583824" y="617647"/>
                </a:lnTo>
                <a:lnTo>
                  <a:pt x="1818381" y="1023912"/>
                </a:lnTo>
                <a:lnTo>
                  <a:pt x="1736920" y="1485900"/>
                </a:lnTo>
                <a:lnTo>
                  <a:pt x="1377557" y="1787441"/>
                </a:lnTo>
                <a:lnTo>
                  <a:pt x="908443" y="1787441"/>
                </a:lnTo>
                <a:lnTo>
                  <a:pt x="549080" y="1485900"/>
                </a:lnTo>
                <a:lnTo>
                  <a:pt x="467619" y="1023912"/>
                </a:lnTo>
                <a:lnTo>
                  <a:pt x="702176" y="61764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D7DEE8"/>
            </a:solidFill>
            <a:prstDash val="solid"/>
          </a:ln>
        </p:spPr>
      </p:sp>
      <p:sp>
        <p:nvSpPr>
          <p:cNvPr id="5" name="radar-grid-4">
            <a:extLst xmlns:a="http://schemas.openxmlformats.org/drawingml/2006/main">
              <a:ext uri="{FF2B5EF4-FFF2-40B4-BE49-F238E27FC236}">
                <a16:creationId xmlns:a16="http://schemas.microsoft.com/office/drawing/2014/main" id="{D1616578-38D7-45B7-9EA2-E290B614F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381250"/>
            <a:ext cx="2286000" cy="2286000"/>
          </a:xfrm>
          <a:custGeom xmlns:a="http://schemas.openxmlformats.org/drawingml/2006/main">
            <a:pathLst>
              <a:path w="2286000" h="2286000">
                <a:moveTo>
                  <a:pt x="1143000" y="228600"/>
                </a:moveTo>
                <a:lnTo>
                  <a:pt x="1730765" y="442529"/>
                </a:lnTo>
                <a:lnTo>
                  <a:pt x="2043508" y="984216"/>
                </a:lnTo>
                <a:lnTo>
                  <a:pt x="1934894" y="1600200"/>
                </a:lnTo>
                <a:lnTo>
                  <a:pt x="1455743" y="2002255"/>
                </a:lnTo>
                <a:lnTo>
                  <a:pt x="830257" y="2002255"/>
                </a:lnTo>
                <a:lnTo>
                  <a:pt x="351106" y="1600200"/>
                </a:lnTo>
                <a:lnTo>
                  <a:pt x="242492" y="984216"/>
                </a:lnTo>
                <a:lnTo>
                  <a:pt x="555235" y="44252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D7DEE8"/>
            </a:solidFill>
            <a:prstDash val="solid"/>
          </a:ln>
        </p:spPr>
      </p:sp>
      <p:sp>
        <p:nvSpPr>
          <p:cNvPr id="6" name="radar-grid-5">
            <a:extLst xmlns:a="http://schemas.openxmlformats.org/drawingml/2006/main">
              <a:ext uri="{FF2B5EF4-FFF2-40B4-BE49-F238E27FC236}">
                <a16:creationId xmlns:a16="http://schemas.microsoft.com/office/drawing/2014/main" id="{7220540A-31E4-4262-B8FB-DBFC82E20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381250"/>
            <a:ext cx="2286000" cy="2286000"/>
          </a:xfrm>
          <a:custGeom xmlns:a="http://schemas.openxmlformats.org/drawingml/2006/main">
            <a:pathLst>
              <a:path w="2286000" h="2286000">
                <a:moveTo>
                  <a:pt x="1143000" y="0"/>
                </a:moveTo>
                <a:lnTo>
                  <a:pt x="1877706" y="267411"/>
                </a:lnTo>
                <a:lnTo>
                  <a:pt x="2268635" y="944520"/>
                </a:lnTo>
                <a:lnTo>
                  <a:pt x="2132867" y="1714500"/>
                </a:lnTo>
                <a:lnTo>
                  <a:pt x="1533929" y="2217069"/>
                </a:lnTo>
                <a:lnTo>
                  <a:pt x="752071" y="2217069"/>
                </a:lnTo>
                <a:lnTo>
                  <a:pt x="153133" y="1714500"/>
                </a:lnTo>
                <a:lnTo>
                  <a:pt x="17365" y="944520"/>
                </a:lnTo>
                <a:lnTo>
                  <a:pt x="408294" y="26741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D7DEE8"/>
            </a:solidFill>
            <a:prstDash val="solid"/>
          </a:ln>
        </p:spPr>
      </p:sp>
      <p:sp>
        <p:nvSpPr>
          <p:cNvPr id="7" name="radar-axis-1">
            <a:extLst xmlns:a="http://schemas.openxmlformats.org/drawingml/2006/main">
              <a:ext uri="{FF2B5EF4-FFF2-40B4-BE49-F238E27FC236}">
                <a16:creationId xmlns:a16="http://schemas.microsoft.com/office/drawing/2014/main" id="{EC8BC798-EE80-4BA1-B4E1-CA5978675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381250"/>
            <a:ext cx="0" cy="1143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AEB8C6"/>
            </a:solidFill>
            <a:prstDash val="solid"/>
          </a:ln>
        </p:spPr>
      </p:sp>
      <p:sp>
        <p:nvSpPr>
          <p:cNvPr id="8" name="radar-axis-2">
            <a:extLst xmlns:a="http://schemas.openxmlformats.org/drawingml/2006/main">
              <a:ext uri="{FF2B5EF4-FFF2-40B4-BE49-F238E27FC236}">
                <a16:creationId xmlns:a16="http://schemas.microsoft.com/office/drawing/2014/main" id="{55BB9F08-3FA1-48B4-936C-75277CD24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562475" y="2648661"/>
            <a:ext cx="734706" cy="87558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AEB8C6"/>
            </a:solidFill>
            <a:prstDash val="solid"/>
          </a:ln>
        </p:spPr>
      </p:sp>
      <p:sp>
        <p:nvSpPr>
          <p:cNvPr id="9" name="radar-axis-3">
            <a:extLst xmlns:a="http://schemas.openxmlformats.org/drawingml/2006/main">
              <a:ext uri="{FF2B5EF4-FFF2-40B4-BE49-F238E27FC236}">
                <a16:creationId xmlns:a16="http://schemas.microsoft.com/office/drawing/2014/main" id="{1D9D9400-B81F-4811-8CD4-F18F6697B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562475" y="3325770"/>
            <a:ext cx="1125635" cy="1984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AEB8C6"/>
            </a:solidFill>
            <a:prstDash val="solid"/>
          </a:ln>
        </p:spPr>
      </p:sp>
      <p:sp>
        <p:nvSpPr>
          <p:cNvPr id="10" name="radar-axis-4">
            <a:extLst xmlns:a="http://schemas.openxmlformats.org/drawingml/2006/main">
              <a:ext uri="{FF2B5EF4-FFF2-40B4-BE49-F238E27FC236}">
                <a16:creationId xmlns:a16="http://schemas.microsoft.com/office/drawing/2014/main" id="{14547DAA-B465-4C30-AA03-D376CFEDB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524250"/>
            <a:ext cx="989867" cy="571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AEB8C6"/>
            </a:solidFill>
            <a:prstDash val="solid"/>
          </a:ln>
        </p:spPr>
      </p:sp>
      <p:sp>
        <p:nvSpPr>
          <p:cNvPr id="11" name="radar-axis-5">
            <a:extLst xmlns:a="http://schemas.openxmlformats.org/drawingml/2006/main">
              <a:ext uri="{FF2B5EF4-FFF2-40B4-BE49-F238E27FC236}">
                <a16:creationId xmlns:a16="http://schemas.microsoft.com/office/drawing/2014/main" id="{DE610A88-6587-40EB-921C-6D001D02C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524250"/>
            <a:ext cx="390929" cy="107406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AEB8C6"/>
            </a:solidFill>
            <a:prstDash val="solid"/>
          </a:ln>
        </p:spPr>
      </p:sp>
      <p:sp>
        <p:nvSpPr>
          <p:cNvPr id="12" name="radar-axis-6">
            <a:extLst xmlns:a="http://schemas.openxmlformats.org/drawingml/2006/main">
              <a:ext uri="{FF2B5EF4-FFF2-40B4-BE49-F238E27FC236}">
                <a16:creationId xmlns:a16="http://schemas.microsoft.com/office/drawing/2014/main" id="{2C383E01-2A20-4802-AE8D-C2E0DACF3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171546" y="3524250"/>
            <a:ext cx="390929" cy="107406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AEB8C6"/>
            </a:solidFill>
            <a:prstDash val="solid"/>
          </a:ln>
        </p:spPr>
      </p:sp>
      <p:sp>
        <p:nvSpPr>
          <p:cNvPr id="13" name="radar-axis-7">
            <a:extLst xmlns:a="http://schemas.openxmlformats.org/drawingml/2006/main">
              <a:ext uri="{FF2B5EF4-FFF2-40B4-BE49-F238E27FC236}">
                <a16:creationId xmlns:a16="http://schemas.microsoft.com/office/drawing/2014/main" id="{BB695A95-F155-4A3D-9AA2-4F873454A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572608" y="3524250"/>
            <a:ext cx="989867" cy="571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AEB8C6"/>
            </a:solidFill>
            <a:prstDash val="solid"/>
          </a:ln>
        </p:spPr>
      </p:sp>
      <p:sp>
        <p:nvSpPr>
          <p:cNvPr id="14" name="radar-axis-8">
            <a:extLst xmlns:a="http://schemas.openxmlformats.org/drawingml/2006/main">
              <a:ext uri="{FF2B5EF4-FFF2-40B4-BE49-F238E27FC236}">
                <a16:creationId xmlns:a16="http://schemas.microsoft.com/office/drawing/2014/main" id="{6770D8DB-2165-43BB-9160-E05EDE352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6840" y="3325770"/>
            <a:ext cx="1125635" cy="1984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AEB8C6"/>
            </a:solidFill>
            <a:prstDash val="solid"/>
          </a:ln>
        </p:spPr>
      </p:sp>
      <p:sp>
        <p:nvSpPr>
          <p:cNvPr id="15" name="radar-axis-9">
            <a:extLst xmlns:a="http://schemas.openxmlformats.org/drawingml/2006/main">
              <a:ext uri="{FF2B5EF4-FFF2-40B4-BE49-F238E27FC236}">
                <a16:creationId xmlns:a16="http://schemas.microsoft.com/office/drawing/2014/main" id="{5A130FE7-0FDC-480B-A119-909E9045C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7769" y="2648661"/>
            <a:ext cx="734706" cy="87558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AEB8C6"/>
            </a:solidFill>
            <a:prstDash val="solid"/>
          </a:ln>
        </p:spPr>
      </p:sp>
      <p:sp>
        <p:nvSpPr>
          <p:cNvPr id="16" name="radar-target">
            <a:extLst xmlns:a="http://schemas.openxmlformats.org/drawingml/2006/main">
              <a:ext uri="{FF2B5EF4-FFF2-40B4-BE49-F238E27FC236}">
                <a16:creationId xmlns:a16="http://schemas.microsoft.com/office/drawing/2014/main" id="{AE80A5DD-7A8A-4713-9E06-33F4A809F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381250"/>
            <a:ext cx="2286000" cy="2286000"/>
          </a:xfrm>
          <a:custGeom xmlns:a="http://schemas.openxmlformats.org/drawingml/2006/main">
            <a:pathLst>
              <a:path w="2286000" h="2286000">
                <a:moveTo>
                  <a:pt x="1143000" y="182880"/>
                </a:moveTo>
                <a:lnTo>
                  <a:pt x="1730765" y="442529"/>
                </a:lnTo>
                <a:lnTo>
                  <a:pt x="2043508" y="984216"/>
                </a:lnTo>
                <a:lnTo>
                  <a:pt x="1974488" y="1623060"/>
                </a:lnTo>
                <a:lnTo>
                  <a:pt x="1455743" y="2002255"/>
                </a:lnTo>
                <a:lnTo>
                  <a:pt x="830257" y="2002255"/>
                </a:lnTo>
                <a:lnTo>
                  <a:pt x="351106" y="1600200"/>
                </a:lnTo>
                <a:lnTo>
                  <a:pt x="242492" y="984216"/>
                </a:lnTo>
                <a:lnTo>
                  <a:pt x="555235" y="442529"/>
                </a:lnTo>
                <a:close/>
              </a:path>
            </a:pathLst>
          </a:custGeom>
          <a:solidFill xmlns:a="http://schemas.openxmlformats.org/drawingml/2006/main">
            <a:srgbClr val="FFF0E2"/>
          </a:solidFill>
          <a:ln xmlns:a="http://schemas.openxmlformats.org/drawingml/2006/main" w="19050">
            <a:solidFill>
              <a:srgbClr val="E8872D"/>
            </a:solidFill>
            <a:prstDash val="dot"/>
          </a:ln>
        </p:spPr>
      </p:sp>
      <p:sp>
        <p:nvSpPr>
          <p:cNvPr id="17" name="radar-benchmark">
            <a:extLst xmlns:a="http://schemas.openxmlformats.org/drawingml/2006/main">
              <a:ext uri="{FF2B5EF4-FFF2-40B4-BE49-F238E27FC236}">
                <a16:creationId xmlns:a16="http://schemas.microsoft.com/office/drawing/2014/main" id="{80F298AE-2000-49CB-AA8C-862D1CB2F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381250"/>
            <a:ext cx="2286000" cy="2286000"/>
          </a:xfrm>
          <a:custGeom xmlns:a="http://schemas.openxmlformats.org/drawingml/2006/main">
            <a:pathLst>
              <a:path w="2286000" h="2286000">
                <a:moveTo>
                  <a:pt x="1143000" y="228600"/>
                </a:moveTo>
                <a:lnTo>
                  <a:pt x="1701377" y="477553"/>
                </a:lnTo>
                <a:lnTo>
                  <a:pt x="2043508" y="984216"/>
                </a:lnTo>
                <a:lnTo>
                  <a:pt x="1895299" y="1577340"/>
                </a:lnTo>
                <a:lnTo>
                  <a:pt x="1455743" y="2002255"/>
                </a:lnTo>
                <a:lnTo>
                  <a:pt x="845894" y="1959292"/>
                </a:lnTo>
                <a:lnTo>
                  <a:pt x="410498" y="1565910"/>
                </a:lnTo>
                <a:lnTo>
                  <a:pt x="332543" y="1000094"/>
                </a:lnTo>
                <a:lnTo>
                  <a:pt x="555235" y="44252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697386"/>
            </a:solidFill>
            <a:prstDash val="dash"/>
          </a:ln>
        </p:spPr>
      </p:sp>
      <p:sp>
        <p:nvSpPr>
          <p:cNvPr id="18" name="radar-current">
            <a:extLst xmlns:a="http://schemas.openxmlformats.org/drawingml/2006/main">
              <a:ext uri="{FF2B5EF4-FFF2-40B4-BE49-F238E27FC236}">
                <a16:creationId xmlns:a16="http://schemas.microsoft.com/office/drawing/2014/main" id="{36E8A744-9B71-4C19-B4D1-CEDA268EF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381250"/>
            <a:ext cx="2286000" cy="2286000"/>
          </a:xfrm>
          <a:custGeom xmlns:a="http://schemas.openxmlformats.org/drawingml/2006/main">
            <a:pathLst>
              <a:path w="2286000" h="2286000">
                <a:moveTo>
                  <a:pt x="1143000" y="411480"/>
                </a:moveTo>
                <a:lnTo>
                  <a:pt x="1583824" y="617647"/>
                </a:lnTo>
                <a:lnTo>
                  <a:pt x="1548229" y="1071547"/>
                </a:lnTo>
                <a:lnTo>
                  <a:pt x="1756718" y="1497330"/>
                </a:lnTo>
                <a:lnTo>
                  <a:pt x="1268097" y="1486702"/>
                </a:lnTo>
                <a:lnTo>
                  <a:pt x="1010084" y="1508183"/>
                </a:lnTo>
                <a:lnTo>
                  <a:pt x="549080" y="1485900"/>
                </a:lnTo>
                <a:lnTo>
                  <a:pt x="490132" y="1027882"/>
                </a:lnTo>
                <a:lnTo>
                  <a:pt x="863812" y="810276"/>
                </a:lnTo>
                <a:close/>
              </a:path>
            </a:pathLst>
          </a:custGeom>
          <a:solidFill xmlns:a="http://schemas.openxmlformats.org/drawingml/2006/main">
            <a:srgbClr val="E9F1FA"/>
          </a:solidFill>
          <a:ln xmlns:a="http://schemas.openxmlformats.org/drawingml/2006/main" w="22860">
            <a:solidFill>
              <a:srgbClr val="15375F"/>
            </a:solidFill>
            <a:prstDash val="solid"/>
          </a:ln>
        </p:spPr>
      </p:sp>
      <p:sp>
        <p:nvSpPr>
          <p:cNvPr id="19" name="radar-label-leader-1">
            <a:extLst xmlns:a="http://schemas.openxmlformats.org/drawingml/2006/main">
              <a:ext uri="{FF2B5EF4-FFF2-40B4-BE49-F238E27FC236}">
                <a16:creationId xmlns:a16="http://schemas.microsoft.com/office/drawing/2014/main" id="{9A859A66-A690-46CE-A53C-A528DD5F7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1638300"/>
            <a:ext cx="0" cy="742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7DEE8"/>
            </a:solidFill>
            <a:prstDash val="solid"/>
          </a:ln>
        </p:spPr>
      </p:sp>
      <p:sp>
        <p:nvSpPr>
          <p:cNvPr id="20" name="radar-label-1">
            <a:extLst xmlns:a="http://schemas.openxmlformats.org/drawingml/2006/main">
              <a:ext uri="{FF2B5EF4-FFF2-40B4-BE49-F238E27FC236}">
                <a16:creationId xmlns:a16="http://schemas.microsoft.com/office/drawing/2014/main" id="{CF277866-3DCD-4BCE-9F9F-4CC324DFA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1200150"/>
            <a:ext cx="16764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战略清晰度</a:t>
            </a:r>
          </a:p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3.2/5｜-0.8</a:t>
            </a:r>
          </a:p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战略方向未充分量化</a:t>
            </a:r>
          </a:p>
        </p:txBody>
      </p:sp>
      <p:sp>
        <p:nvSpPr>
          <p:cNvPr id="21" name="radar-label-leader-2">
            <a:extLst xmlns:a="http://schemas.openxmlformats.org/drawingml/2006/main">
              <a:ext uri="{FF2B5EF4-FFF2-40B4-BE49-F238E27FC236}">
                <a16:creationId xmlns:a16="http://schemas.microsoft.com/office/drawing/2014/main" id="{6DC85DB4-AA78-4D69-A1B9-65A6AFD22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297181" y="1943100"/>
            <a:ext cx="1865619" cy="70556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7DEE8"/>
            </a:solidFill>
            <a:prstDash val="solid"/>
          </a:ln>
        </p:spPr>
      </p:sp>
      <p:sp>
        <p:nvSpPr>
          <p:cNvPr id="22" name="radar-label-2">
            <a:extLst xmlns:a="http://schemas.openxmlformats.org/drawingml/2006/main">
              <a:ext uri="{FF2B5EF4-FFF2-40B4-BE49-F238E27FC236}">
                <a16:creationId xmlns:a16="http://schemas.microsoft.com/office/drawing/2014/main" id="{C58B26E3-7994-43C5-9300-7B87C585F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04950"/>
            <a:ext cx="16764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组织架构</a:t>
            </a:r>
          </a:p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3/5｜-0.8</a:t>
            </a:r>
          </a:p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职责边界仍有重叠</a:t>
            </a:r>
          </a:p>
        </p:txBody>
      </p:sp>
      <p:sp>
        <p:nvSpPr>
          <p:cNvPr id="23" name="radar-label-leader-3">
            <a:extLst xmlns:a="http://schemas.openxmlformats.org/drawingml/2006/main">
              <a:ext uri="{FF2B5EF4-FFF2-40B4-BE49-F238E27FC236}">
                <a16:creationId xmlns:a16="http://schemas.microsoft.com/office/drawing/2014/main" id="{AC74A538-9A7B-4D78-9AFB-BBE64F950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688110" y="2952750"/>
            <a:ext cx="2008090" cy="3730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7DEE8"/>
            </a:solidFill>
            <a:prstDash val="solid"/>
          </a:ln>
        </p:spPr>
      </p:sp>
      <p:sp>
        <p:nvSpPr>
          <p:cNvPr id="24" name="radar-label-3">
            <a:extLst xmlns:a="http://schemas.openxmlformats.org/drawingml/2006/main">
              <a:ext uri="{FF2B5EF4-FFF2-40B4-BE49-F238E27FC236}">
                <a16:creationId xmlns:a16="http://schemas.microsoft.com/office/drawing/2014/main" id="{4535DFAA-F85F-4DCF-BB83-D4372D3FB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514600"/>
            <a:ext cx="16764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2"/>
          </a:solidFill>
          <a:ln xmlns:a="http://schemas.openxmlformats.org/drawingml/2006/main" w="13335">
            <a:solidFill>
              <a:srgbClr val="E8872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E8872D"/>
                </a:solidFill>
              </a:defRPr>
            </a:pPr>
            <a:r>
              <a:rPr sz="1600" b="1">
                <a:solidFill>
                  <a:srgbClr val="E8872D"/>
                </a:solidFill>
              </a:rPr>
              <a:t>★ 治理机制</a:t>
            </a:r>
          </a:p>
          <a:p xmlns:a="http://schemas.openxmlformats.org/drawingml/2006/main">
            <a:pPr algn="ctr">
              <a:defRPr sz="1600" b="1">
                <a:solidFill>
                  <a:srgbClr val="E8872D"/>
                </a:solidFill>
              </a:defRPr>
            </a:pPr>
            <a:r>
              <a:rPr sz="1600" b="1">
                <a:solidFill>
                  <a:srgbClr val="E8872D"/>
                </a:solidFill>
              </a:rPr>
              <a:t>1.8/5｜-2.2</a:t>
            </a:r>
          </a:p>
          <a:p xmlns:a="http://schemas.openxmlformats.org/drawingml/2006/main">
            <a:pPr algn="ctr">
              <a:defRPr sz="1600" b="1">
                <a:solidFill>
                  <a:srgbClr val="E8872D"/>
                </a:solidFill>
              </a:defRPr>
            </a:pPr>
            <a:r>
              <a:rPr sz="1600" b="1">
                <a:solidFill>
                  <a:srgbClr val="E8872D"/>
                </a:solidFill>
              </a:rPr>
              <a:t>跨部门决策机制缺失</a:t>
            </a:r>
          </a:p>
        </p:txBody>
      </p:sp>
      <p:sp>
        <p:nvSpPr>
          <p:cNvPr id="25" name="radar-label-leader-4">
            <a:extLst xmlns:a="http://schemas.openxmlformats.org/drawingml/2006/main">
              <a:ext uri="{FF2B5EF4-FFF2-40B4-BE49-F238E27FC236}">
                <a16:creationId xmlns:a16="http://schemas.microsoft.com/office/drawing/2014/main" id="{AB500672-7688-4823-AB29-3C704ECFA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2342" y="4095750"/>
            <a:ext cx="1896208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7DEE8"/>
            </a:solidFill>
            <a:prstDash val="solid"/>
          </a:ln>
        </p:spPr>
      </p:sp>
      <p:sp>
        <p:nvSpPr>
          <p:cNvPr id="26" name="radar-label-4">
            <a:extLst xmlns:a="http://schemas.openxmlformats.org/drawingml/2006/main">
              <a:ext uri="{FF2B5EF4-FFF2-40B4-BE49-F238E27FC236}">
                <a16:creationId xmlns:a16="http://schemas.microsoft.com/office/drawing/2014/main" id="{5E35E13E-D765-4754-9302-1750214ED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771900"/>
            <a:ext cx="16764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流程标准化</a:t>
            </a:r>
          </a:p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3.1/5｜-0.7</a:t>
            </a:r>
          </a:p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关键流程口径不一</a:t>
            </a:r>
          </a:p>
        </p:txBody>
      </p:sp>
      <p:sp>
        <p:nvSpPr>
          <p:cNvPr id="27" name="radar-label-leader-5">
            <a:extLst xmlns:a="http://schemas.openxmlformats.org/drawingml/2006/main">
              <a:ext uri="{FF2B5EF4-FFF2-40B4-BE49-F238E27FC236}">
                <a16:creationId xmlns:a16="http://schemas.microsoft.com/office/drawing/2014/main" id="{E3840F7D-B0DB-4D78-A3DF-3559395EA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404" y="4598319"/>
            <a:ext cx="856846" cy="52613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7DEE8"/>
            </a:solidFill>
            <a:prstDash val="solid"/>
          </a:ln>
        </p:spPr>
      </p:sp>
      <p:sp>
        <p:nvSpPr>
          <p:cNvPr id="28" name="radar-label-5">
            <a:extLst xmlns:a="http://schemas.openxmlformats.org/drawingml/2006/main">
              <a:ext uri="{FF2B5EF4-FFF2-40B4-BE49-F238E27FC236}">
                <a16:creationId xmlns:a16="http://schemas.microsoft.com/office/drawing/2014/main" id="{3355601F-D96C-4E57-9967-E583C6785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686300"/>
            <a:ext cx="16764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2"/>
          </a:solidFill>
          <a:ln xmlns:a="http://schemas.openxmlformats.org/drawingml/2006/main" w="13335">
            <a:solidFill>
              <a:srgbClr val="E8872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E8872D"/>
                </a:solidFill>
              </a:defRPr>
            </a:pPr>
            <a:r>
              <a:rPr sz="1600" b="1">
                <a:solidFill>
                  <a:srgbClr val="E8872D"/>
                </a:solidFill>
              </a:rPr>
              <a:t>★ 数据基础</a:t>
            </a:r>
          </a:p>
          <a:p xmlns:a="http://schemas.openxmlformats.org/drawingml/2006/main">
            <a:pPr algn="ctr">
              <a:defRPr sz="1600" b="1">
                <a:solidFill>
                  <a:srgbClr val="E8872D"/>
                </a:solidFill>
              </a:defRPr>
            </a:pPr>
            <a:r>
              <a:rPr sz="1600" b="1">
                <a:solidFill>
                  <a:srgbClr val="E8872D"/>
                </a:solidFill>
              </a:rPr>
              <a:t>1.6/5｜-2.4</a:t>
            </a:r>
          </a:p>
          <a:p xmlns:a="http://schemas.openxmlformats.org/drawingml/2006/main">
            <a:pPr algn="ctr">
              <a:defRPr sz="1600" b="1">
                <a:solidFill>
                  <a:srgbClr val="E8872D"/>
                </a:solidFill>
              </a:defRPr>
            </a:pPr>
            <a:r>
              <a:rPr sz="1600" b="1">
                <a:solidFill>
                  <a:srgbClr val="E8872D"/>
                </a:solidFill>
              </a:rPr>
              <a:t>主数据尚未统一</a:t>
            </a:r>
          </a:p>
        </p:txBody>
      </p:sp>
      <p:sp>
        <p:nvSpPr>
          <p:cNvPr id="29" name="radar-label-leader-6">
            <a:extLst xmlns:a="http://schemas.openxmlformats.org/drawingml/2006/main">
              <a:ext uri="{FF2B5EF4-FFF2-40B4-BE49-F238E27FC236}">
                <a16:creationId xmlns:a16="http://schemas.microsoft.com/office/drawing/2014/main" id="{A8CE666B-B5DB-4DFF-89FA-009DC2AFC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314700" y="4598319"/>
            <a:ext cx="856846" cy="52613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7DEE8"/>
            </a:solidFill>
            <a:prstDash val="solid"/>
          </a:ln>
        </p:spPr>
      </p:sp>
      <p:sp>
        <p:nvSpPr>
          <p:cNvPr id="30" name="radar-label-6">
            <a:extLst xmlns:a="http://schemas.openxmlformats.org/drawingml/2006/main">
              <a:ext uri="{FF2B5EF4-FFF2-40B4-BE49-F238E27FC236}">
                <a16:creationId xmlns:a16="http://schemas.microsoft.com/office/drawing/2014/main" id="{17D46E23-FBE0-48F6-85A8-908A41A00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686300"/>
            <a:ext cx="16764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2"/>
          </a:solidFill>
          <a:ln xmlns:a="http://schemas.openxmlformats.org/drawingml/2006/main" w="13335">
            <a:solidFill>
              <a:srgbClr val="E8872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E8872D"/>
                </a:solidFill>
              </a:defRPr>
            </a:pPr>
            <a:r>
              <a:rPr sz="1600" b="1">
                <a:solidFill>
                  <a:srgbClr val="E8872D"/>
                </a:solidFill>
              </a:rPr>
              <a:t>★ 工具平台</a:t>
            </a:r>
          </a:p>
          <a:p xmlns:a="http://schemas.openxmlformats.org/drawingml/2006/main">
            <a:pPr algn="ctr">
              <a:defRPr sz="1600" b="1">
                <a:solidFill>
                  <a:srgbClr val="E8872D"/>
                </a:solidFill>
              </a:defRPr>
            </a:pPr>
            <a:r>
              <a:rPr sz="1600" b="1">
                <a:solidFill>
                  <a:srgbClr val="E8872D"/>
                </a:solidFill>
              </a:rPr>
              <a:t>1.7/5｜-2.1</a:t>
            </a:r>
          </a:p>
          <a:p xmlns:a="http://schemas.openxmlformats.org/drawingml/2006/main">
            <a:pPr algn="ctr">
              <a:defRPr sz="1600" b="1">
                <a:solidFill>
                  <a:srgbClr val="E8872D"/>
                </a:solidFill>
              </a:defRPr>
            </a:pPr>
            <a:r>
              <a:rPr sz="1600" b="1">
                <a:solidFill>
                  <a:srgbClr val="E8872D"/>
                </a:solidFill>
              </a:rPr>
              <a:t>系统接口重复建设</a:t>
            </a:r>
          </a:p>
        </p:txBody>
      </p:sp>
      <p:sp>
        <p:nvSpPr>
          <p:cNvPr id="31" name="radar-label-leader-7">
            <a:extLst xmlns:a="http://schemas.openxmlformats.org/drawingml/2006/main">
              <a:ext uri="{FF2B5EF4-FFF2-40B4-BE49-F238E27FC236}">
                <a16:creationId xmlns:a16="http://schemas.microsoft.com/office/drawing/2014/main" id="{9892CEC1-2729-41E3-AF52-0DAC26670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676400" y="4095750"/>
            <a:ext cx="1896208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7DEE8"/>
            </a:solidFill>
            <a:prstDash val="solid"/>
          </a:ln>
        </p:spPr>
      </p:sp>
      <p:sp>
        <p:nvSpPr>
          <p:cNvPr id="32" name="radar-label-7">
            <a:extLst xmlns:a="http://schemas.openxmlformats.org/drawingml/2006/main">
              <a:ext uri="{FF2B5EF4-FFF2-40B4-BE49-F238E27FC236}">
                <a16:creationId xmlns:a16="http://schemas.microsoft.com/office/drawing/2014/main" id="{CDDFEE7F-C27F-4656-9BF9-D264BAE2F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71900"/>
            <a:ext cx="16764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人才结构</a:t>
            </a:r>
          </a:p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3/5｜-0.7</a:t>
            </a:r>
          </a:p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关键岗位供给偏紧</a:t>
            </a:r>
          </a:p>
        </p:txBody>
      </p:sp>
      <p:sp>
        <p:nvSpPr>
          <p:cNvPr id="33" name="radar-label-leader-8">
            <a:extLst xmlns:a="http://schemas.openxmlformats.org/drawingml/2006/main">
              <a:ext uri="{FF2B5EF4-FFF2-40B4-BE49-F238E27FC236}">
                <a16:creationId xmlns:a16="http://schemas.microsoft.com/office/drawing/2014/main" id="{650DCF18-8D6E-4168-9702-45E8FD188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52750"/>
            <a:ext cx="2008090" cy="3730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7DEE8"/>
            </a:solidFill>
            <a:prstDash val="solid"/>
          </a:ln>
        </p:spPr>
      </p:sp>
      <p:sp>
        <p:nvSpPr>
          <p:cNvPr id="34" name="radar-label-8">
            <a:extLst xmlns:a="http://schemas.openxmlformats.org/drawingml/2006/main">
              <a:ext uri="{FF2B5EF4-FFF2-40B4-BE49-F238E27FC236}">
                <a16:creationId xmlns:a16="http://schemas.microsoft.com/office/drawing/2014/main" id="{4F52228E-3469-408B-85A0-25810180F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14600"/>
            <a:ext cx="16764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能力发展</a:t>
            </a:r>
          </a:p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2.9/5｜-0.7</a:t>
            </a:r>
          </a:p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培养路径不够清楚</a:t>
            </a:r>
          </a:p>
        </p:txBody>
      </p:sp>
      <p:sp>
        <p:nvSpPr>
          <p:cNvPr id="35" name="radar-label-leader-9">
            <a:extLst xmlns:a="http://schemas.openxmlformats.org/drawingml/2006/main">
              <a:ext uri="{FF2B5EF4-FFF2-40B4-BE49-F238E27FC236}">
                <a16:creationId xmlns:a16="http://schemas.microsoft.com/office/drawing/2014/main" id="{E4DDF7C6-6534-4142-BEA1-A9349FAD8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943100"/>
            <a:ext cx="1865619" cy="70556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7DEE8"/>
            </a:solidFill>
            <a:prstDash val="solid"/>
          </a:ln>
        </p:spPr>
      </p:sp>
      <p:sp>
        <p:nvSpPr>
          <p:cNvPr id="36" name="radar-label-9">
            <a:extLst xmlns:a="http://schemas.openxmlformats.org/drawingml/2006/main">
              <a:ext uri="{FF2B5EF4-FFF2-40B4-BE49-F238E27FC236}">
                <a16:creationId xmlns:a16="http://schemas.microsoft.com/office/drawing/2014/main" id="{BDD8FB8B-307E-4D6E-AA52-7A53D55B1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504950"/>
            <a:ext cx="16764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2"/>
          </a:solidFill>
          <a:ln xmlns:a="http://schemas.openxmlformats.org/drawingml/2006/main" w="13335">
            <a:solidFill>
              <a:srgbClr val="E8872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E8872D"/>
                </a:solidFill>
              </a:defRPr>
            </a:pPr>
            <a:r>
              <a:rPr sz="1600" b="1">
                <a:solidFill>
                  <a:srgbClr val="E8872D"/>
                </a:solidFill>
              </a:rPr>
              <a:t>★ 变革文化</a:t>
            </a:r>
          </a:p>
          <a:p xmlns:a="http://schemas.openxmlformats.org/drawingml/2006/main">
            <a:pPr algn="ctr">
              <a:defRPr sz="1600" b="1">
                <a:solidFill>
                  <a:srgbClr val="E8872D"/>
                </a:solidFill>
              </a:defRPr>
            </a:pPr>
            <a:r>
              <a:rPr sz="1600" b="1">
                <a:solidFill>
                  <a:srgbClr val="E8872D"/>
                </a:solidFill>
              </a:rPr>
              <a:t>1.9/5｜-2.1</a:t>
            </a:r>
          </a:p>
          <a:p xmlns:a="http://schemas.openxmlformats.org/drawingml/2006/main">
            <a:pPr algn="ctr">
              <a:defRPr sz="1600" b="1">
                <a:solidFill>
                  <a:srgbClr val="E8872D"/>
                </a:solidFill>
              </a:defRPr>
            </a:pPr>
            <a:r>
              <a:rPr sz="1600" b="1">
                <a:solidFill>
                  <a:srgbClr val="E8872D"/>
                </a:solidFill>
              </a:rPr>
              <a:t>一线采用动力不足</a:t>
            </a:r>
          </a:p>
        </p:txBody>
      </p:sp>
      <p:sp>
        <p:nvSpPr>
          <p:cNvPr id="37" name="radar-rail">
            <a:extLst xmlns:a="http://schemas.openxmlformats.org/drawingml/2006/main">
              <a:ext uri="{FF2B5EF4-FFF2-40B4-BE49-F238E27FC236}">
                <a16:creationId xmlns:a16="http://schemas.microsoft.com/office/drawing/2014/main" id="{D9AD51DF-6463-41F6-92E4-497774C71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200150"/>
            <a:ext cx="2781300" cy="45720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10478">
            <a:solidFill>
              <a:srgbClr val="D7DEE8"/>
            </a:solidFill>
            <a:prstDash val="solid"/>
          </a:ln>
        </p:spPr>
      </p:sp>
      <p:sp>
        <p:nvSpPr>
          <p:cNvPr id="38" name="group-card-1">
            <a:extLst xmlns:a="http://schemas.openxmlformats.org/drawingml/2006/main">
              <a:ext uri="{FF2B5EF4-FFF2-40B4-BE49-F238E27FC236}">
                <a16:creationId xmlns:a16="http://schemas.microsoft.com/office/drawing/2014/main" id="{DDC4616A-2F88-4E8B-B213-C8298DEA2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371600"/>
            <a:ext cx="24765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E8872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172033"/>
                </a:solidFill>
              </a:defRPr>
            </a:pPr>
            <a:r>
              <a:rPr sz="1600" b="1">
                <a:solidFill>
                  <a:srgbClr val="172033"/>
                </a:solidFill>
              </a:rPr>
              <a:t>战略与治理群</a:t>
            </a:r>
          </a:p>
          <a:p xmlns:a="http://schemas.openxmlformats.org/drawingml/2006/main">
            <a:pPr algn="l">
              <a:defRPr sz="1600" b="1">
                <a:solidFill>
                  <a:srgbClr val="172033"/>
                </a:solidFill>
              </a:defRPr>
            </a:pPr>
            <a:r>
              <a:rPr sz="1600" b="1">
                <a:solidFill>
                  <a:srgbClr val="172033"/>
                </a:solidFill>
              </a:rPr>
              <a:t>均分 2.7</a:t>
            </a:r>
          </a:p>
          <a:p xmlns:a="http://schemas.openxmlformats.org/drawingml/2006/main">
            <a:pPr algn="l">
              <a:defRPr sz="1600" b="1">
                <a:solidFill>
                  <a:srgbClr val="172033"/>
                </a:solidFill>
              </a:defRPr>
            </a:pPr>
            <a:r>
              <a:rPr sz="1600" b="1">
                <a:solidFill>
                  <a:srgbClr val="172033"/>
                </a:solidFill>
              </a:rPr>
              <a:t>治理机制不完整</a:t>
            </a:r>
          </a:p>
          <a:p xmlns:a="http://schemas.openxmlformats.org/drawingml/2006/main">
            <a:pPr algn="l">
              <a:defRPr sz="1600" b="1">
                <a:solidFill>
                  <a:srgbClr val="172033"/>
                </a:solidFill>
              </a:defRPr>
            </a:pPr>
            <a:r>
              <a:rPr sz="1600" b="1">
                <a:solidFill>
                  <a:srgbClr val="172033"/>
                </a:solidFill>
              </a:rPr>
              <a:t>建立跨部门治理例会</a:t>
            </a:r>
          </a:p>
        </p:txBody>
      </p:sp>
      <p:sp>
        <p:nvSpPr>
          <p:cNvPr id="39" name="group-card-2">
            <a:extLst xmlns:a="http://schemas.openxmlformats.org/drawingml/2006/main">
              <a:ext uri="{FF2B5EF4-FFF2-40B4-BE49-F238E27FC236}">
                <a16:creationId xmlns:a16="http://schemas.microsoft.com/office/drawing/2014/main" id="{2EC67449-A4B8-4FA4-A64A-54805F117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00350"/>
            <a:ext cx="24765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运营与流程群</a:t>
            </a:r>
          </a:p>
          <a:p xmlns:a="http://schemas.openxmlformats.org/drawingml/2006/main">
            <a:pPr algn="l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均分 2.1</a:t>
            </a:r>
          </a:p>
          <a:p xmlns:a="http://schemas.openxmlformats.org/drawingml/2006/main">
            <a:pPr algn="l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数据与平台基础薄弱</a:t>
            </a:r>
          </a:p>
          <a:p xmlns:a="http://schemas.openxmlformats.org/drawingml/2006/main">
            <a:pPr algn="l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统一主数据与接口</a:t>
            </a:r>
          </a:p>
        </p:txBody>
      </p:sp>
      <p:sp>
        <p:nvSpPr>
          <p:cNvPr id="40" name="group-card-3">
            <a:extLst xmlns:a="http://schemas.openxmlformats.org/drawingml/2006/main">
              <a:ext uri="{FF2B5EF4-FFF2-40B4-BE49-F238E27FC236}">
                <a16:creationId xmlns:a16="http://schemas.microsoft.com/office/drawing/2014/main" id="{785034CF-97C0-46FF-85F1-1C73453F8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229100"/>
            <a:ext cx="24765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人才与文化群</a:t>
            </a:r>
          </a:p>
          <a:p xmlns:a="http://schemas.openxmlformats.org/drawingml/2006/main">
            <a:pPr algn="l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均分 2.6</a:t>
            </a:r>
          </a:p>
          <a:p xmlns:a="http://schemas.openxmlformats.org/drawingml/2006/main">
            <a:pPr algn="l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变革采用不足</a:t>
            </a:r>
          </a:p>
          <a:p xmlns:a="http://schemas.openxmlformats.org/drawingml/2006/main">
            <a:pPr algn="l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设置业务采用目标</a:t>
            </a:r>
          </a:p>
        </p:txBody>
      </p:sp>
      <p:sp>
        <p:nvSpPr>
          <p:cNvPr id="41" name="bottom-conclusion">
            <a:extLst xmlns:a="http://schemas.openxmlformats.org/drawingml/2006/main">
              <a:ext uri="{FF2B5EF4-FFF2-40B4-BE49-F238E27FC236}">
                <a16:creationId xmlns:a16="http://schemas.microsoft.com/office/drawing/2014/main" id="{6CD1FB5C-E3C1-4163-97C4-FE3CD18DE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81700"/>
            <a:ext cx="111633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0E2"/>
          </a:solidFill>
          <a:ln xmlns:a="http://schemas.openxmlformats.org/drawingml/2006/main" w="12383">
            <a:solidFill>
              <a:srgbClr val="E8872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整体成熟度 2.5/5，12 个月目标 4.0/5</a:t>
            </a:r>
          </a:p>
        </p:txBody>
      </p:sp>
    </p:spTree>
    <p:extLst>
      <p:ext uri="{BB962C8B-B14F-4D97-AF65-F5344CB8AC3E}">
        <p14:creationId xmlns:p14="http://schemas.microsoft.com/office/powerpoint/2010/main" val="4474257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2026-07-31T20:40:27.6700000Z</dcterms:created>
  <dcterms:modified xsi:type="dcterms:W3CDTF">2026-07-31T20:40:27.6700000Z</dcterms:modified>
</coreProperties>
</file>