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bc7bb4377d45aa" /><Relationship Type="http://schemas.openxmlformats.org/officeDocument/2006/relationships/extended-properties" Target="/docProps/app.xml" Id="R2295aabd17d14d08" /><Relationship Type="http://schemas.openxmlformats.org/officeDocument/2006/relationships/officeDocument" Target="/ppt/presentation.xml" Id="R896a0a5140674b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bbdf351553400c"/>
  </p:sldMasterIdLst>
  <p:notesMasterIdLst>
    <p:notesMasterId xmlns:r="http://schemas.openxmlformats.org/officeDocument/2006/relationships" r:id="Rdb69fc10d2ce4758"/>
  </p:notesMasterIdLst>
  <p:sldIdLst>
    <p:sldId xmlns:r="http://schemas.openxmlformats.org/officeDocument/2006/relationships" id="256" r:id="R5f8d94ece1bf47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f6b7c3c5fc41c6" /><Relationship Type="http://schemas.openxmlformats.org/officeDocument/2006/relationships/slideMaster" Target="/ppt/slideMasters/slideMaster1.xml" Id="R17bbdf351553400c" /><Relationship Type="http://schemas.openxmlformats.org/officeDocument/2006/relationships/notesMaster" Target="/ppt/notesMasters/notesMaster1.xml" Id="Rdb69fc10d2ce4758" /><Relationship Type="http://schemas.openxmlformats.org/officeDocument/2006/relationships/presProps" Target="/ppt/presProps.xml" Id="R098893fbaf0f492e" /><Relationship Type="http://schemas.openxmlformats.org/officeDocument/2006/relationships/tableStyles" Target="/ppt/tableStyles.xml" Id="Rd770601a8a634433" /><Relationship Type="http://schemas.openxmlformats.org/officeDocument/2006/relationships/slide" Target="/ppt/slides/slide1.xml" Id="R5f8d94ece1bf47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bcfe7ed38a48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361c6a8895455a" /><Relationship Type="http://schemas.openxmlformats.org/officeDocument/2006/relationships/notesMaster" Target="/ppt/notesMasters/notesMaster1.xml" Id="Re49513008d7542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04068890b144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b0c42a57274159" /><Relationship Type="http://schemas.openxmlformats.org/officeDocument/2006/relationships/slideLayout" Target="/ppt/slideLayouts/slideLayout1.xml" Id="R6018d13af37f4f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18d13af37f4f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cd453e78841db" /><Relationship Type="http://schemas.openxmlformats.org/officeDocument/2006/relationships/notesSlide" Target="/ppt/notesSlides/notesSlide1.xml" Id="R435be9394dd041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page-title">
            <a:extLst xmlns:a="http://schemas.openxmlformats.org/drawingml/2006/main">
              <a:ext uri="{FF2B5EF4-FFF2-40B4-BE49-F238E27FC236}">
                <a16:creationId xmlns:a16="http://schemas.microsoft.com/office/drawing/2014/main" id="{86D44EFD-C353-490F-979E-CEF6E173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75F"/>
                </a:solidFill>
              </a:defRPr>
            </a:pPr>
            <a:r>
              <a:rPr sz="2550" b="1">
                <a:solidFill>
                  <a:srgbClr val="15375F"/>
                </a:solidFill>
              </a:rPr>
              <a:t>分类准确率 86.5%、改判率 13.5%，其他标签把工单推向二次分派</a:t>
            </a:r>
          </a:p>
        </p:txBody>
      </p:sp>
      <p:sp>
        <p:nvSpPr>
          <p:cNvPr id="2" name="metric-1">
            <a:extLst xmlns:a="http://schemas.openxmlformats.org/drawingml/2006/main">
              <a:ext uri="{FF2B5EF4-FFF2-40B4-BE49-F238E27FC236}">
                <a16:creationId xmlns:a16="http://schemas.microsoft.com/office/drawing/2014/main" id="{7813FFD9-FC56-4F6C-A895-1FB3F84F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26733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9525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分类准确率</a:t>
            </a:r>
          </a:p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86.5%</a:t>
            </a:r>
          </a:p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目标 92%</a:t>
            </a:r>
          </a:p>
        </p:txBody>
      </p:sp>
      <p:sp>
        <p:nvSpPr>
          <p:cNvPr id="3" name="metric-2">
            <a:extLst xmlns:a="http://schemas.openxmlformats.org/drawingml/2006/main">
              <a:ext uri="{FF2B5EF4-FFF2-40B4-BE49-F238E27FC236}">
                <a16:creationId xmlns:a16="http://schemas.microsoft.com/office/drawing/2014/main" id="{BD3B2EAC-EF83-450A-A436-DD6BA38E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0" y="1200150"/>
            <a:ext cx="26733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改判率</a:t>
            </a:r>
          </a:p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13.5%</a:t>
            </a:r>
          </a:p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目标 &lt;8%</a:t>
            </a:r>
          </a:p>
        </p:txBody>
      </p:sp>
      <p:sp>
        <p:nvSpPr>
          <p:cNvPr id="4" name="metric-3">
            <a:extLst xmlns:a="http://schemas.openxmlformats.org/drawingml/2006/main">
              <a:ext uri="{FF2B5EF4-FFF2-40B4-BE49-F238E27FC236}">
                <a16:creationId xmlns:a16="http://schemas.microsoft.com/office/drawing/2014/main" id="{ED4E058A-C580-4342-835A-84B41BF6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650" y="1200150"/>
            <a:ext cx="26733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其他标签占比</a:t>
            </a:r>
          </a:p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9.2%</a:t>
            </a:r>
          </a:p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目标 &lt;5%</a:t>
            </a:r>
          </a:p>
        </p:txBody>
      </p:sp>
      <p:sp>
        <p:nvSpPr>
          <p:cNvPr id="5" name="classification-flow">
            <a:extLst xmlns:a="http://schemas.openxmlformats.org/drawingml/2006/main">
              <a:ext uri="{FF2B5EF4-FFF2-40B4-BE49-F238E27FC236}">
                <a16:creationId xmlns:a16="http://schemas.microsoft.com/office/drawing/2014/main" id="{37D50B64-1ADB-4BDE-B9AB-6B7F558C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1700"/>
            <a:ext cx="82486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6" name="class-head">
            <a:extLst xmlns:a="http://schemas.openxmlformats.org/drawingml/2006/main">
              <a:ext uri="{FF2B5EF4-FFF2-40B4-BE49-F238E27FC236}">
                <a16:creationId xmlns:a16="http://schemas.microsoft.com/office/drawing/2014/main" id="{92B15EE4-3395-409F-B06E-51F8FB79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28850"/>
            <a:ext cx="710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模型输入                      AI 初分                     最终分类</a:t>
            </a:r>
          </a:p>
        </p:txBody>
      </p:sp>
      <p:sp>
        <p:nvSpPr>
          <p:cNvPr id="7" name="class-input-1">
            <a:extLst xmlns:a="http://schemas.openxmlformats.org/drawingml/2006/main">
              <a:ext uri="{FF2B5EF4-FFF2-40B4-BE49-F238E27FC236}">
                <a16:creationId xmlns:a16="http://schemas.microsoft.com/office/drawing/2014/main" id="{A4B8F886-F801-4960-A9C2-83EFEF78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1619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薪资</a:t>
            </a:r>
          </a:p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3400</a:t>
            </a:r>
          </a:p>
        </p:txBody>
      </p:sp>
      <p:sp>
        <p:nvSpPr>
          <p:cNvPr id="8" name="class-predict-1">
            <a:extLst xmlns:a="http://schemas.openxmlformats.org/drawingml/2006/main">
              <a:ext uri="{FF2B5EF4-FFF2-40B4-BE49-F238E27FC236}">
                <a16:creationId xmlns:a16="http://schemas.microsoft.com/office/drawing/2014/main" id="{19349316-A112-42C6-AFAE-0D3E6EAA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57450"/>
            <a:ext cx="1619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F1FA"/>
          </a:solidFill>
          <a:ln xmlns:a="http://schemas.openxmlformats.org/drawingml/2006/main" w="14288">
            <a:solidFill>
              <a:srgbClr val="2F6FB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3320</a:t>
            </a:r>
          </a:p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改判 90</a:t>
            </a:r>
          </a:p>
        </p:txBody>
      </p:sp>
      <p:sp>
        <p:nvSpPr>
          <p:cNvPr id="9" name="class-final-1">
            <a:extLst xmlns:a="http://schemas.openxmlformats.org/drawingml/2006/main">
              <a:ext uri="{FF2B5EF4-FFF2-40B4-BE49-F238E27FC236}">
                <a16:creationId xmlns:a16="http://schemas.microsoft.com/office/drawing/2014/main" id="{1E739518-050D-4C5A-9DCD-D5995190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57450"/>
            <a:ext cx="1619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薪资</a:t>
            </a:r>
          </a:p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3350</a:t>
            </a:r>
          </a:p>
        </p:txBody>
      </p:sp>
      <p:sp>
        <p:nvSpPr>
          <p:cNvPr id="12" name="class-input-2">
            <a:extLst xmlns:a="http://schemas.openxmlformats.org/drawingml/2006/main">
              <a:ext uri="{FF2B5EF4-FFF2-40B4-BE49-F238E27FC236}">
                <a16:creationId xmlns:a16="http://schemas.microsoft.com/office/drawing/2014/main" id="{FDB40D06-B0E5-48F3-8909-906D9CBA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1619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福利</a:t>
            </a:r>
          </a:p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2600</a:t>
            </a:r>
          </a:p>
        </p:txBody>
      </p:sp>
      <p:sp>
        <p:nvSpPr>
          <p:cNvPr id="13" name="class-predict-2">
            <a:extLst xmlns:a="http://schemas.openxmlformats.org/drawingml/2006/main">
              <a:ext uri="{FF2B5EF4-FFF2-40B4-BE49-F238E27FC236}">
                <a16:creationId xmlns:a16="http://schemas.microsoft.com/office/drawing/2014/main" id="{C6B7E6DE-C4BD-488C-8364-B0466457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71800"/>
            <a:ext cx="1619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F1FA"/>
          </a:solidFill>
          <a:ln xmlns:a="http://schemas.openxmlformats.org/drawingml/2006/main" w="14288">
            <a:solidFill>
              <a:srgbClr val="2F6FB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2545</a:t>
            </a:r>
          </a:p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改判 80</a:t>
            </a:r>
          </a:p>
        </p:txBody>
      </p:sp>
      <p:sp>
        <p:nvSpPr>
          <p:cNvPr id="14" name="class-final-2">
            <a:extLst xmlns:a="http://schemas.openxmlformats.org/drawingml/2006/main">
              <a:ext uri="{FF2B5EF4-FFF2-40B4-BE49-F238E27FC236}">
                <a16:creationId xmlns:a16="http://schemas.microsoft.com/office/drawing/2014/main" id="{5642BC3C-F2C0-4229-9FB8-9BF45565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71800"/>
            <a:ext cx="1619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福利</a:t>
            </a:r>
          </a:p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2580</a:t>
            </a:r>
          </a:p>
        </p:txBody>
      </p:sp>
      <p:sp>
        <p:nvSpPr>
          <p:cNvPr id="17" name="class-input-3">
            <a:extLst xmlns:a="http://schemas.openxmlformats.org/drawingml/2006/main">
              <a:ext uri="{FF2B5EF4-FFF2-40B4-BE49-F238E27FC236}">
                <a16:creationId xmlns:a16="http://schemas.microsoft.com/office/drawing/2014/main" id="{DE83505C-10B0-4722-91B9-3278D224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1619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休假</a:t>
            </a:r>
          </a:p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2400</a:t>
            </a:r>
          </a:p>
        </p:txBody>
      </p:sp>
      <p:sp>
        <p:nvSpPr>
          <p:cNvPr id="18" name="class-predict-3">
            <a:extLst xmlns:a="http://schemas.openxmlformats.org/drawingml/2006/main">
              <a:ext uri="{FF2B5EF4-FFF2-40B4-BE49-F238E27FC236}">
                <a16:creationId xmlns:a16="http://schemas.microsoft.com/office/drawing/2014/main" id="{E7E4C4E9-FE81-41F2-8AD3-D2E843F9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86150"/>
            <a:ext cx="1619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F1FA"/>
          </a:solidFill>
          <a:ln xmlns:a="http://schemas.openxmlformats.org/drawingml/2006/main" w="14288">
            <a:solidFill>
              <a:srgbClr val="2F6FB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2380</a:t>
            </a:r>
          </a:p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改判 70</a:t>
            </a:r>
          </a:p>
        </p:txBody>
      </p:sp>
      <p:sp>
        <p:nvSpPr>
          <p:cNvPr id="19" name="class-final-3">
            <a:extLst xmlns:a="http://schemas.openxmlformats.org/drawingml/2006/main">
              <a:ext uri="{FF2B5EF4-FFF2-40B4-BE49-F238E27FC236}">
                <a16:creationId xmlns:a16="http://schemas.microsoft.com/office/drawing/2014/main" id="{6EEFE37A-21F2-4B94-B156-617F3D7A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86150"/>
            <a:ext cx="1619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休假</a:t>
            </a:r>
          </a:p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2420</a:t>
            </a:r>
          </a:p>
        </p:txBody>
      </p:sp>
      <p:sp>
        <p:nvSpPr>
          <p:cNvPr id="22" name="class-input-4">
            <a:extLst xmlns:a="http://schemas.openxmlformats.org/drawingml/2006/main">
              <a:ext uri="{FF2B5EF4-FFF2-40B4-BE49-F238E27FC236}">
                <a16:creationId xmlns:a16="http://schemas.microsoft.com/office/drawing/2014/main" id="{2346F212-4FBD-4590-9210-9A7E4921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619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证明</a:t>
            </a:r>
          </a:p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1800</a:t>
            </a:r>
          </a:p>
        </p:txBody>
      </p:sp>
      <p:sp>
        <p:nvSpPr>
          <p:cNvPr id="23" name="class-predict-4">
            <a:extLst xmlns:a="http://schemas.openxmlformats.org/drawingml/2006/main">
              <a:ext uri="{FF2B5EF4-FFF2-40B4-BE49-F238E27FC236}">
                <a16:creationId xmlns:a16="http://schemas.microsoft.com/office/drawing/2014/main" id="{CC442F71-F5D2-4594-8456-6419AB36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00500"/>
            <a:ext cx="1619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F1FA"/>
          </a:solidFill>
          <a:ln xmlns:a="http://schemas.openxmlformats.org/drawingml/2006/main" w="14288">
            <a:solidFill>
              <a:srgbClr val="2F6FB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1950</a:t>
            </a:r>
          </a:p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改判 100</a:t>
            </a:r>
          </a:p>
        </p:txBody>
      </p:sp>
      <p:sp>
        <p:nvSpPr>
          <p:cNvPr id="24" name="class-final-4">
            <a:extLst xmlns:a="http://schemas.openxmlformats.org/drawingml/2006/main">
              <a:ext uri="{FF2B5EF4-FFF2-40B4-BE49-F238E27FC236}">
                <a16:creationId xmlns:a16="http://schemas.microsoft.com/office/drawing/2014/main" id="{0EA818B2-CD98-430B-A82C-BA58CD5F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00500"/>
            <a:ext cx="1619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证明</a:t>
            </a:r>
          </a:p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1870</a:t>
            </a:r>
          </a:p>
        </p:txBody>
      </p:sp>
      <p:sp>
        <p:nvSpPr>
          <p:cNvPr id="27" name="class-input-5">
            <a:extLst xmlns:a="http://schemas.openxmlformats.org/drawingml/2006/main">
              <a:ext uri="{FF2B5EF4-FFF2-40B4-BE49-F238E27FC236}">
                <a16:creationId xmlns:a16="http://schemas.microsoft.com/office/drawing/2014/main" id="{ADDE05D7-F843-4313-A89A-FC49F3BB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1619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其他</a:t>
            </a:r>
          </a:p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1200</a:t>
            </a:r>
          </a:p>
        </p:txBody>
      </p:sp>
      <p:sp>
        <p:nvSpPr>
          <p:cNvPr id="28" name="class-predict-5">
            <a:extLst xmlns:a="http://schemas.openxmlformats.org/drawingml/2006/main">
              <a:ext uri="{FF2B5EF4-FFF2-40B4-BE49-F238E27FC236}">
                <a16:creationId xmlns:a16="http://schemas.microsoft.com/office/drawing/2014/main" id="{07560256-CD37-4FAA-987B-9D38A7A8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14850"/>
            <a:ext cx="1619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0E2"/>
          </a:solidFill>
          <a:ln xmlns:a="http://schemas.openxmlformats.org/drawingml/2006/main" w="14288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1630</a:t>
            </a:r>
          </a:p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改判 450</a:t>
            </a:r>
          </a:p>
        </p:txBody>
      </p:sp>
      <p:sp>
        <p:nvSpPr>
          <p:cNvPr id="29" name="class-final-5">
            <a:extLst xmlns:a="http://schemas.openxmlformats.org/drawingml/2006/main">
              <a:ext uri="{FF2B5EF4-FFF2-40B4-BE49-F238E27FC236}">
                <a16:creationId xmlns:a16="http://schemas.microsoft.com/office/drawing/2014/main" id="{50E019C0-92F5-4514-B5DB-AB545B11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14850"/>
            <a:ext cx="1619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其他</a:t>
            </a:r>
          </a:p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1180</a:t>
            </a:r>
          </a:p>
        </p:txBody>
      </p:sp>
      <p:sp>
        <p:nvSpPr>
          <p:cNvPr id="32" name="other-label">
            <a:extLst xmlns:a="http://schemas.openxmlformats.org/drawingml/2006/main">
              <a:ext uri="{FF2B5EF4-FFF2-40B4-BE49-F238E27FC236}">
                <a16:creationId xmlns:a16="http://schemas.microsoft.com/office/drawing/2014/main" id="{AF35C699-6886-4F88-B946-B9907DF8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244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9525">
            <a:solidFill>
              <a:srgbClr val="E8872D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其他｜建议拆成 3 个末级标签</a:t>
            </a:r>
          </a:p>
        </p:txBody>
      </p:sp>
      <p:sp>
        <p:nvSpPr>
          <p:cNvPr id="33" name="发现／根因／动作-rail">
            <a:extLst xmlns:a="http://schemas.openxmlformats.org/drawingml/2006/main">
              <a:ext uri="{FF2B5EF4-FFF2-40B4-BE49-F238E27FC236}">
                <a16:creationId xmlns:a16="http://schemas.microsoft.com/office/drawing/2014/main" id="{BDDBECDC-30E6-4384-A234-B1B33D05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200150"/>
            <a:ext cx="2667000" cy="44577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34" name="发现／根因／动作-title">
            <a:extLst xmlns:a="http://schemas.openxmlformats.org/drawingml/2006/main">
              <a:ext uri="{FF2B5EF4-FFF2-40B4-BE49-F238E27FC236}">
                <a16:creationId xmlns:a16="http://schemas.microsoft.com/office/drawing/2014/main" id="{EABEB8A9-E90E-498D-9832-82FC4CD0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3335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发现／根因／动作</a:t>
            </a:r>
          </a:p>
        </p:txBody>
      </p:sp>
      <p:sp>
        <p:nvSpPr>
          <p:cNvPr id="35" name="发现／根因／动作-1">
            <a:extLst xmlns:a="http://schemas.openxmlformats.org/drawingml/2006/main">
              <a:ext uri="{FF2B5EF4-FFF2-40B4-BE49-F238E27FC236}">
                <a16:creationId xmlns:a16="http://schemas.microsoft.com/office/drawing/2014/main" id="{89E39F81-01FC-4E16-B31C-173933EF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52600"/>
            <a:ext cx="24003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1  其他标签接收了最多错误流入</a:t>
            </a:r>
          </a:p>
        </p:txBody>
      </p:sp>
      <p:sp>
        <p:nvSpPr>
          <p:cNvPr id="36" name="发现／根因／动作-2">
            <a:extLst xmlns:a="http://schemas.openxmlformats.org/drawingml/2006/main">
              <a:ext uri="{FF2B5EF4-FFF2-40B4-BE49-F238E27FC236}">
                <a16:creationId xmlns:a16="http://schemas.microsoft.com/office/drawing/2014/main" id="{53E7CD1A-219A-46C5-9C13-215416D9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33700"/>
            <a:ext cx="24003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2  薪资与证明之间存在稳定混淆</a:t>
            </a:r>
          </a:p>
        </p:txBody>
      </p:sp>
      <p:sp>
        <p:nvSpPr>
          <p:cNvPr id="37" name="发现／根因／动作-3">
            <a:extLst xmlns:a="http://schemas.openxmlformats.org/drawingml/2006/main">
              <a:ext uri="{FF2B5EF4-FFF2-40B4-BE49-F238E27FC236}">
                <a16:creationId xmlns:a16="http://schemas.microsoft.com/office/drawing/2014/main" id="{A1B972BB-CB2E-4164-8FFB-F882F36D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14800"/>
            <a:ext cx="24003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3  新增末级标签并补充训练样本</a:t>
            </a:r>
          </a:p>
        </p:txBody>
      </p:sp>
      <p:sp>
        <p:nvSpPr>
          <p:cNvPr id="38" name="bottom">
            <a:extLst xmlns:a="http://schemas.openxmlformats.org/drawingml/2006/main">
              <a:ext uri="{FF2B5EF4-FFF2-40B4-BE49-F238E27FC236}">
                <a16:creationId xmlns:a16="http://schemas.microsoft.com/office/drawing/2014/main" id="{0867D3CF-6EA0-42C8-B682-717D3C57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24550"/>
            <a:ext cx="11163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2"/>
          </a:solidFill>
          <a:ln xmlns:a="http://schemas.openxmlformats.org/drawingml/2006/main" w="11430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每万件工单减少 550 次改判，目标准确率提升至 92%</a:t>
            </a:r>
          </a:p>
        </p:txBody>
      </p:sp>
      <p:cxnSp>
        <p:nvCxnSpPr>
          <p:cNvPr id="6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362200" y="2686050"/>
            <a:ext cx="13906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EB8C6"/>
            </a:solidFill>
            <a:prstDash val="solid"/>
            <a:tailEnd type="triangle" w="med" len="med"/>
          </a:ln>
        </p:spPr>
      </p:cxnSp>
      <p:cxnSp>
        <p:nvCxnSpPr>
          <p:cNvPr id="6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372100" y="2686050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F6FB2"/>
            </a:solidFill>
            <a:prstDash val="solid"/>
            <a:tailEnd type="triangle" w="med" len="med"/>
          </a:ln>
        </p:spPr>
      </p:cxnSp>
      <p:cxnSp>
        <p:nvCxnSpPr>
          <p:cNvPr id="6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362200" y="3200400"/>
            <a:ext cx="13906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EB8C6"/>
            </a:solidFill>
            <a:prstDash val="solid"/>
            <a:tailEnd type="triangle" w="med" len="med"/>
          </a:ln>
        </p:spPr>
      </p:cxnSp>
      <p:cxnSp>
        <p:nvCxnSpPr>
          <p:cNvPr id="7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372100" y="3200400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F6FB2"/>
            </a:solidFill>
            <a:prstDash val="solid"/>
            <a:tailEnd type="triangle" w="med" len="med"/>
          </a:ln>
        </p:spPr>
      </p:cxnSp>
      <p:cxnSp>
        <p:nvCxnSpPr>
          <p:cNvPr id="71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2362200" y="3714750"/>
            <a:ext cx="13906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EB8C6"/>
            </a:solidFill>
            <a:prstDash val="solid"/>
            <a:tailEnd type="triangle" w="med" len="med"/>
          </a:ln>
        </p:spPr>
      </p:cxnSp>
      <p:cxnSp>
        <p:nvCxnSpPr>
          <p:cNvPr id="72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5372100" y="3714750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F6FB2"/>
            </a:solidFill>
            <a:prstDash val="solid"/>
            <a:tailEnd type="triangle" w="med" len="med"/>
          </a:ln>
        </p:spPr>
      </p:cxnSp>
      <p:cxnSp>
        <p:nvCxnSpPr>
          <p:cNvPr id="73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2362200" y="4229100"/>
            <a:ext cx="13906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EB8C6"/>
            </a:solidFill>
            <a:prstDash val="solid"/>
            <a:tailEnd type="triangle" w="med" len="med"/>
          </a:ln>
        </p:spPr>
      </p:cxnSp>
      <p:cxnSp>
        <p:nvCxnSpPr>
          <p:cNvPr id="74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5372100" y="4229100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F6FB2"/>
            </a:solidFill>
            <a:prstDash val="solid"/>
            <a:tailEnd type="triangle" w="med" len="med"/>
          </a:ln>
        </p:spPr>
      </p:cxnSp>
      <p:cxnSp>
        <p:nvCxnSpPr>
          <p:cNvPr id="75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2362200" y="4743450"/>
            <a:ext cx="13906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EB8C6"/>
            </a:solidFill>
            <a:prstDash val="solid"/>
            <a:tailEnd type="triangle" w="med" len="med"/>
          </a:ln>
        </p:spPr>
      </p:cxnSp>
      <p:cxnSp>
        <p:nvCxnSpPr>
          <p:cNvPr id="76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5372100" y="4743450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E8872D"/>
            </a:solidFill>
            <a:prstDash val="soli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1409814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2026-07-31T20:41:09.4130000Z</dcterms:created>
  <dcterms:modified xsi:type="dcterms:W3CDTF">2026-07-31T20:41:09.4130000Z</dcterms:modified>
</coreProperties>
</file>