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78efc2374246f6" /><Relationship Type="http://schemas.openxmlformats.org/officeDocument/2006/relationships/extended-properties" Target="/docProps/app.xml" Id="Ref15d47e140b4426" /><Relationship Type="http://schemas.openxmlformats.org/officeDocument/2006/relationships/officeDocument" Target="/ppt/presentation.xml" Id="R834cda44927244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9151bd08154248"/>
  </p:sldMasterIdLst>
  <p:notesMasterIdLst>
    <p:notesMasterId xmlns:r="http://schemas.openxmlformats.org/officeDocument/2006/relationships" r:id="R52fc86dcf506401b"/>
  </p:notesMasterIdLst>
  <p:sldIdLst>
    <p:sldId xmlns:r="http://schemas.openxmlformats.org/officeDocument/2006/relationships" id="256" r:id="R45291a313c7e49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4137b4b0ef4d50" /><Relationship Type="http://schemas.openxmlformats.org/officeDocument/2006/relationships/slideMaster" Target="/ppt/slideMasters/slideMaster1.xml" Id="R7e9151bd08154248" /><Relationship Type="http://schemas.openxmlformats.org/officeDocument/2006/relationships/notesMaster" Target="/ppt/notesMasters/notesMaster1.xml" Id="R52fc86dcf506401b" /><Relationship Type="http://schemas.openxmlformats.org/officeDocument/2006/relationships/presProps" Target="/ppt/presProps.xml" Id="R1258748bd3494f08" /><Relationship Type="http://schemas.openxmlformats.org/officeDocument/2006/relationships/tableStyles" Target="/ppt/tableStyles.xml" Id="Rd58e287de9864651" /><Relationship Type="http://schemas.openxmlformats.org/officeDocument/2006/relationships/slide" Target="/ppt/slides/slide1.xml" Id="R45291a313c7e49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1d5416fda04d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ab7b864a8044c8" /><Relationship Type="http://schemas.openxmlformats.org/officeDocument/2006/relationships/notesMaster" Target="/ppt/notesMasters/notesMaster1.xml" Id="Rc739fc49c81d49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Anonymous project ledger,2026first half of year</a:t>
            </a:r>
          </a:p>
          <a:p xmlns:a="http://schemas.openxmlformats.org/drawingml/2006/main">
            <a:r>
              <a:t>- slope, intercept andR²Recalculated from unrounded original observations, absolute error≤1e-6;Show slope/intercept preserved2bit,R²Reserve3Bit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d53651457242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deeaef9f4a4305" /><Relationship Type="http://schemas.openxmlformats.org/officeDocument/2006/relationships/slideLayout" Target="/ppt/slideLayouts/slideLayout1.xml" Id="R6cb918671ad847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b918671ad847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f2fca44b1487a" /><Relationship Type="http://schemas.openxmlformats.org/officeDocument/2006/relationships/notesSlide" Target="/ppt/notesSlides/notesSlide1.xml" Id="Ra2d019b0a6d84b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age-title">
            <a:extLst xmlns:a="http://schemas.openxmlformats.org/drawingml/2006/main">
              <a:ext uri="{FF2B5EF4-FFF2-40B4-BE49-F238E27FC236}">
                <a16:creationId xmlns:a16="http://schemas.microsoft.com/office/drawing/2014/main" id="{E7BAEA06-8CFA-4056-AE1B-5DF2A98A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The overall trend of man-hours invested and on-time delivery is in the same direction, but one project clearly deviated from the trend.</a:t>
            </a:r>
          </a:p>
        </p:txBody>
      </p:sp>
      <p:sp>
        <p:nvSpPr>
          <p:cNvPr id="2" name="scatter-frame">
            <a:extLst xmlns:a="http://schemas.openxmlformats.org/drawingml/2006/main">
              <a:ext uri="{FF2B5EF4-FFF2-40B4-BE49-F238E27FC236}">
                <a16:creationId xmlns:a16="http://schemas.microsoft.com/office/drawing/2014/main" id="{72A36BB5-645E-4129-945C-FF828AD4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17245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" name="grid-x-0">
            <a:extLst xmlns:a="http://schemas.openxmlformats.org/drawingml/2006/main">
              <a:ext uri="{FF2B5EF4-FFF2-40B4-BE49-F238E27FC236}">
                <a16:creationId xmlns:a16="http://schemas.microsoft.com/office/drawing/2014/main" id="{9CBF869E-60C9-4CEE-9976-CB64A022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71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4" name="grid-y-0">
            <a:extLst xmlns:a="http://schemas.openxmlformats.org/drawingml/2006/main">
              <a:ext uri="{FF2B5EF4-FFF2-40B4-BE49-F238E27FC236}">
                <a16:creationId xmlns:a16="http://schemas.microsoft.com/office/drawing/2014/main" id="{FB17AF49-6A8F-4CC8-B5FE-1157E41A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71650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5" name="x-tick-0">
            <a:extLst xmlns:a="http://schemas.openxmlformats.org/drawingml/2006/main">
              <a:ext uri="{FF2B5EF4-FFF2-40B4-BE49-F238E27FC236}">
                <a16:creationId xmlns:a16="http://schemas.microsoft.com/office/drawing/2014/main" id="{C8929F8F-485F-4B45-8B93-7135EF17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482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14</a:t>
            </a:r>
          </a:p>
        </p:txBody>
      </p:sp>
      <p:sp>
        <p:nvSpPr>
          <p:cNvPr id="6" name="y-tick-0">
            <a:extLst xmlns:a="http://schemas.openxmlformats.org/drawingml/2006/main">
              <a:ext uri="{FF2B5EF4-FFF2-40B4-BE49-F238E27FC236}">
                <a16:creationId xmlns:a16="http://schemas.microsoft.com/office/drawing/2014/main" id="{D1020EBF-11B3-4E79-9A5F-68DB2051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96</a:t>
            </a:r>
          </a:p>
        </p:txBody>
      </p:sp>
      <p:sp>
        <p:nvSpPr>
          <p:cNvPr id="7" name="grid-x-1">
            <a:extLst xmlns:a="http://schemas.openxmlformats.org/drawingml/2006/main">
              <a:ext uri="{FF2B5EF4-FFF2-40B4-BE49-F238E27FC236}">
                <a16:creationId xmlns:a16="http://schemas.microsoft.com/office/drawing/2014/main" id="{2FC5DEF6-69C7-4DCE-9D8D-7E9752DC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663" y="1771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8" name="grid-y-1">
            <a:extLst xmlns:a="http://schemas.openxmlformats.org/drawingml/2006/main">
              <a:ext uri="{FF2B5EF4-FFF2-40B4-BE49-F238E27FC236}">
                <a16:creationId xmlns:a16="http://schemas.microsoft.com/office/drawing/2014/main" id="{9DDD9483-F6FE-4F04-9E51-C33A1D5D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24125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9" name="x-tick-1">
            <a:extLst xmlns:a="http://schemas.openxmlformats.org/drawingml/2006/main">
              <a:ext uri="{FF2B5EF4-FFF2-40B4-BE49-F238E27FC236}">
                <a16:creationId xmlns:a16="http://schemas.microsoft.com/office/drawing/2014/main" id="{E83D673E-E592-4219-B869-87F97C71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13" y="48482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32</a:t>
            </a:r>
          </a:p>
        </p:txBody>
      </p:sp>
      <p:sp>
        <p:nvSpPr>
          <p:cNvPr id="10" name="y-tick-1">
            <a:extLst xmlns:a="http://schemas.openxmlformats.org/drawingml/2006/main">
              <a:ext uri="{FF2B5EF4-FFF2-40B4-BE49-F238E27FC236}">
                <a16:creationId xmlns:a16="http://schemas.microsoft.com/office/drawing/2014/main" id="{417755AE-718E-4358-8C35-6378A43F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83</a:t>
            </a:r>
          </a:p>
        </p:txBody>
      </p:sp>
      <p:sp>
        <p:nvSpPr>
          <p:cNvPr id="11" name="grid-x-2">
            <a:extLst xmlns:a="http://schemas.openxmlformats.org/drawingml/2006/main">
              <a:ext uri="{FF2B5EF4-FFF2-40B4-BE49-F238E27FC236}">
                <a16:creationId xmlns:a16="http://schemas.microsoft.com/office/drawing/2014/main" id="{63B0FEAC-2E46-49F5-8735-8B530A45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771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2" name="grid-y-2">
            <a:extLst xmlns:a="http://schemas.openxmlformats.org/drawingml/2006/main">
              <a:ext uri="{FF2B5EF4-FFF2-40B4-BE49-F238E27FC236}">
                <a16:creationId xmlns:a16="http://schemas.microsoft.com/office/drawing/2014/main" id="{E2D42C58-05D5-4E07-AFCE-3CBD627C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3" name="x-tick-2">
            <a:extLst xmlns:a="http://schemas.openxmlformats.org/drawingml/2006/main">
              <a:ext uri="{FF2B5EF4-FFF2-40B4-BE49-F238E27FC236}">
                <a16:creationId xmlns:a16="http://schemas.microsoft.com/office/drawing/2014/main" id="{382CDE94-BF26-4F06-B542-A6FF1B46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8482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50</a:t>
            </a:r>
          </a:p>
        </p:txBody>
      </p:sp>
      <p:sp>
        <p:nvSpPr>
          <p:cNvPr id="14" name="y-tick-2">
            <a:extLst xmlns:a="http://schemas.openxmlformats.org/drawingml/2006/main">
              <a:ext uri="{FF2B5EF4-FFF2-40B4-BE49-F238E27FC236}">
                <a16:creationId xmlns:a16="http://schemas.microsoft.com/office/drawing/2014/main" id="{C2F94E85-FA64-45BB-8947-A81FE88A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70</a:t>
            </a:r>
          </a:p>
        </p:txBody>
      </p:sp>
      <p:sp>
        <p:nvSpPr>
          <p:cNvPr id="15" name="grid-x-3">
            <a:extLst xmlns:a="http://schemas.openxmlformats.org/drawingml/2006/main">
              <a:ext uri="{FF2B5EF4-FFF2-40B4-BE49-F238E27FC236}">
                <a16:creationId xmlns:a16="http://schemas.microsoft.com/office/drawing/2014/main" id="{A81983BF-B562-42F2-B402-558B6D4D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7488" y="1771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6" name="grid-y-3">
            <a:extLst xmlns:a="http://schemas.openxmlformats.org/drawingml/2006/main">
              <a:ext uri="{FF2B5EF4-FFF2-40B4-BE49-F238E27FC236}">
                <a16:creationId xmlns:a16="http://schemas.microsoft.com/office/drawing/2014/main" id="{5A85940F-8639-459D-92F8-34B20D5C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7" name="x-tick-3">
            <a:extLst xmlns:a="http://schemas.openxmlformats.org/drawingml/2006/main">
              <a:ext uri="{FF2B5EF4-FFF2-40B4-BE49-F238E27FC236}">
                <a16:creationId xmlns:a16="http://schemas.microsoft.com/office/drawing/2014/main" id="{4BCF0230-FFCB-4E70-BB56-3AD2BD3E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8482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68</a:t>
            </a:r>
          </a:p>
        </p:txBody>
      </p:sp>
      <p:sp>
        <p:nvSpPr>
          <p:cNvPr id="18" name="y-tick-3">
            <a:extLst xmlns:a="http://schemas.openxmlformats.org/drawingml/2006/main">
              <a:ext uri="{FF2B5EF4-FFF2-40B4-BE49-F238E27FC236}">
                <a16:creationId xmlns:a16="http://schemas.microsoft.com/office/drawing/2014/main" id="{9B94242E-51F6-4211-B84D-D9E2CF5D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57</a:t>
            </a:r>
          </a:p>
        </p:txBody>
      </p:sp>
      <p:sp>
        <p:nvSpPr>
          <p:cNvPr id="19" name="grid-x-4">
            <a:extLst xmlns:a="http://schemas.openxmlformats.org/drawingml/2006/main">
              <a:ext uri="{FF2B5EF4-FFF2-40B4-BE49-F238E27FC236}">
                <a16:creationId xmlns:a16="http://schemas.microsoft.com/office/drawing/2014/main" id="{7E997596-85C9-44E8-AF9F-89D1C0AD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71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20" name="grid-y-4">
            <a:extLst xmlns:a="http://schemas.openxmlformats.org/drawingml/2006/main">
              <a:ext uri="{FF2B5EF4-FFF2-40B4-BE49-F238E27FC236}">
                <a16:creationId xmlns:a16="http://schemas.microsoft.com/office/drawing/2014/main" id="{B605B46F-06A0-4E28-9CBC-7A610065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81550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21" name="x-tick-4">
            <a:extLst xmlns:a="http://schemas.openxmlformats.org/drawingml/2006/main">
              <a:ext uri="{FF2B5EF4-FFF2-40B4-BE49-F238E27FC236}">
                <a16:creationId xmlns:a16="http://schemas.microsoft.com/office/drawing/2014/main" id="{0881DA41-48A4-4F13-8818-B8F66762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4822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86</a:t>
            </a:r>
          </a:p>
        </p:txBody>
      </p:sp>
      <p:sp>
        <p:nvSpPr>
          <p:cNvPr id="22" name="y-tick-4">
            <a:extLst xmlns:a="http://schemas.openxmlformats.org/drawingml/2006/main">
              <a:ext uri="{FF2B5EF4-FFF2-40B4-BE49-F238E27FC236}">
                <a16:creationId xmlns:a16="http://schemas.microsoft.com/office/drawing/2014/main" id="{4FA139AA-0058-4F2D-A00B-BD0FEB07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44</a:t>
            </a:r>
          </a:p>
        </p:txBody>
      </p:sp>
      <p:sp>
        <p:nvSpPr>
          <p:cNvPr id="23" name="x-axis">
            <a:extLst xmlns:a="http://schemas.openxmlformats.org/drawingml/2006/main">
              <a:ext uri="{FF2B5EF4-FFF2-40B4-BE49-F238E27FC236}">
                <a16:creationId xmlns:a16="http://schemas.microsoft.com/office/drawing/2014/main" id="{BD29AE64-FB17-4906-A1B9-D182146C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81550"/>
            <a:ext cx="710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24" name="y-axis">
            <a:extLst xmlns:a="http://schemas.openxmlformats.org/drawingml/2006/main">
              <a:ext uri="{FF2B5EF4-FFF2-40B4-BE49-F238E27FC236}">
                <a16:creationId xmlns:a16="http://schemas.microsoft.com/office/drawing/2014/main" id="{06EF0302-0ABF-49A4-AB5A-5BC95AEE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71650"/>
            <a:ext cx="0" cy="3009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25" name="regression-line">
            <a:extLst xmlns:a="http://schemas.openxmlformats.org/drawingml/2006/main">
              <a:ext uri="{FF2B5EF4-FFF2-40B4-BE49-F238E27FC236}">
                <a16:creationId xmlns:a16="http://schemas.microsoft.com/office/drawing/2014/main" id="{A3E4D860-92B0-4CD6-A491-761210B2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38250" y="2074493"/>
            <a:ext cx="7105650" cy="253960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2F6FB2"/>
            </a:solidFill>
            <a:prstDash val="solid"/>
          </a:ln>
        </p:spPr>
      </p:sp>
      <p:sp>
        <p:nvSpPr>
          <p:cNvPr id="26" name="observation-1">
            <a:extLst xmlns:a="http://schemas.openxmlformats.org/drawingml/2006/main">
              <a:ext uri="{FF2B5EF4-FFF2-40B4-BE49-F238E27FC236}">
                <a16:creationId xmlns:a16="http://schemas.microsoft.com/office/drawing/2014/main" id="{4B4EB40D-6E20-41BB-A271-BF091DAF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7525" y="44878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7" name="observation-2">
            <a:extLst xmlns:a="http://schemas.openxmlformats.org/drawingml/2006/main">
              <a:ext uri="{FF2B5EF4-FFF2-40B4-BE49-F238E27FC236}">
                <a16:creationId xmlns:a16="http://schemas.microsoft.com/office/drawing/2014/main" id="{C816B304-C6CE-4C2A-ADD0-29C9CDD8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2283" y="431684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8" name="observation-3">
            <a:extLst xmlns:a="http://schemas.openxmlformats.org/drawingml/2006/main">
              <a:ext uri="{FF2B5EF4-FFF2-40B4-BE49-F238E27FC236}">
                <a16:creationId xmlns:a16="http://schemas.microsoft.com/office/drawing/2014/main" id="{BE0A1DA7-C506-450B-9D4A-686E9A75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7042" y="414582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29" name="observation-4">
            <a:extLst xmlns:a="http://schemas.openxmlformats.org/drawingml/2006/main">
              <a:ext uri="{FF2B5EF4-FFF2-40B4-BE49-F238E27FC236}">
                <a16:creationId xmlns:a16="http://schemas.microsoft.com/office/drawing/2014/main" id="{617B6C9A-67A7-4F9B-9A28-017408CB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91780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0" name="observation-5">
            <a:extLst xmlns:a="http://schemas.openxmlformats.org/drawingml/2006/main">
              <a:ext uri="{FF2B5EF4-FFF2-40B4-BE49-F238E27FC236}">
                <a16:creationId xmlns:a16="http://schemas.microsoft.com/office/drawing/2014/main" id="{60BF3976-CFDC-4E51-B051-43FA4DE0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6558" y="3860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1" name="observation-6">
            <a:extLst xmlns:a="http://schemas.openxmlformats.org/drawingml/2006/main">
              <a:ext uri="{FF2B5EF4-FFF2-40B4-BE49-F238E27FC236}">
                <a16:creationId xmlns:a16="http://schemas.microsoft.com/office/drawing/2014/main" id="{7A0381DE-0149-4504-9677-79FFCF5B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317" y="35757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2" name="observation-7">
            <a:extLst xmlns:a="http://schemas.openxmlformats.org/drawingml/2006/main">
              <a:ext uri="{FF2B5EF4-FFF2-40B4-BE49-F238E27FC236}">
                <a16:creationId xmlns:a16="http://schemas.microsoft.com/office/drawing/2014/main" id="{AD8A60A7-4EDF-4BCD-8D1E-42189702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075" y="346176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3" name="observation-8">
            <a:extLst xmlns:a="http://schemas.openxmlformats.org/drawingml/2006/main">
              <a:ext uri="{FF2B5EF4-FFF2-40B4-BE49-F238E27FC236}">
                <a16:creationId xmlns:a16="http://schemas.microsoft.com/office/drawing/2014/main" id="{B48D37FD-1773-413A-AB38-700B8EBC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0833" y="334774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4" name="observation-9">
            <a:extLst xmlns:a="http://schemas.openxmlformats.org/drawingml/2006/main">
              <a:ext uri="{FF2B5EF4-FFF2-40B4-BE49-F238E27FC236}">
                <a16:creationId xmlns:a16="http://schemas.microsoft.com/office/drawing/2014/main" id="{F01CF511-CD58-46D3-AB94-EDF5A056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592" y="306272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5" name="observation-10">
            <a:extLst xmlns:a="http://schemas.openxmlformats.org/drawingml/2006/main">
              <a:ext uri="{FF2B5EF4-FFF2-40B4-BE49-F238E27FC236}">
                <a16:creationId xmlns:a16="http://schemas.microsoft.com/office/drawing/2014/main" id="{BD448509-25FF-4408-92C6-6C627A24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350" y="300571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6" name="observation-11">
            <a:extLst xmlns:a="http://schemas.openxmlformats.org/drawingml/2006/main">
              <a:ext uri="{FF2B5EF4-FFF2-40B4-BE49-F238E27FC236}">
                <a16:creationId xmlns:a16="http://schemas.microsoft.com/office/drawing/2014/main" id="{BBCC113F-269D-4028-9D87-925AB419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108" y="277769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7" name="observation-12">
            <a:extLst xmlns:a="http://schemas.openxmlformats.org/drawingml/2006/main">
              <a:ext uri="{FF2B5EF4-FFF2-40B4-BE49-F238E27FC236}">
                <a16:creationId xmlns:a16="http://schemas.microsoft.com/office/drawing/2014/main" id="{4C7961DE-E6AC-4D18-9CFE-49191502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867" y="2606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8" name="observation-13">
            <a:extLst xmlns:a="http://schemas.openxmlformats.org/drawingml/2006/main">
              <a:ext uri="{FF2B5EF4-FFF2-40B4-BE49-F238E27FC236}">
                <a16:creationId xmlns:a16="http://schemas.microsoft.com/office/drawing/2014/main" id="{12B2ED57-82B7-4A3A-A292-ABFD37BB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926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39" name="observation-14">
            <a:extLst xmlns:a="http://schemas.openxmlformats.org/drawingml/2006/main">
              <a:ext uri="{FF2B5EF4-FFF2-40B4-BE49-F238E27FC236}">
                <a16:creationId xmlns:a16="http://schemas.microsoft.com/office/drawing/2014/main" id="{7119809E-6AFB-451F-B101-53A4C634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383" y="226464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0" name="observation-15">
            <a:extLst xmlns:a="http://schemas.openxmlformats.org/drawingml/2006/main">
              <a:ext uri="{FF2B5EF4-FFF2-40B4-BE49-F238E27FC236}">
                <a16:creationId xmlns:a16="http://schemas.microsoft.com/office/drawing/2014/main" id="{13ADC602-008E-45CF-914D-B0A1919D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854" y="3504478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1" name="highlight-leader-p15">
            <a:extLst xmlns:a="http://schemas.openxmlformats.org/drawingml/2006/main">
              <a:ext uri="{FF2B5EF4-FFF2-40B4-BE49-F238E27FC236}">
                <a16:creationId xmlns:a16="http://schemas.microsoft.com/office/drawing/2014/main" id="{80126C80-D911-4330-BF1F-088DBDC7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128"/>
            <a:ext cx="708554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E8872D"/>
            </a:solidFill>
            <a:prstDash val="solid"/>
          </a:ln>
        </p:spPr>
      </p:sp>
      <p:sp>
        <p:nvSpPr>
          <p:cNvPr id="42" name="highlight-label-p15">
            <a:extLst xmlns:a="http://schemas.openxmlformats.org/drawingml/2006/main">
              <a:ext uri="{FF2B5EF4-FFF2-40B4-BE49-F238E27FC236}">
                <a16:creationId xmlns:a16="http://schemas.microsoft.com/office/drawing/2014/main" id="{3A789561-3815-4711-86E8-F11D50D1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99678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p15: Maximum deviation from trend</a:t>
            </a:r>
          </a:p>
        </p:txBody>
      </p:sp>
      <p:sp>
        <p:nvSpPr>
          <p:cNvPr id="43" name="observation-16">
            <a:extLst xmlns:a="http://schemas.openxmlformats.org/drawingml/2006/main">
              <a:ext uri="{FF2B5EF4-FFF2-40B4-BE49-F238E27FC236}">
                <a16:creationId xmlns:a16="http://schemas.microsoft.com/office/drawing/2014/main" id="{01AE2424-6421-43D0-88BB-6DA45D15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4612" y="1965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7620">
            <a:solidFill>
              <a:srgbClr val="FFFFFF"/>
            </a:solidFill>
            <a:prstDash val="solid"/>
          </a:ln>
        </p:spPr>
      </p:sp>
      <p:sp>
        <p:nvSpPr>
          <p:cNvPr id="44" name="highlight-leader-p16">
            <a:extLst xmlns:a="http://schemas.openxmlformats.org/drawingml/2006/main">
              <a:ext uri="{FF2B5EF4-FFF2-40B4-BE49-F238E27FC236}">
                <a16:creationId xmlns:a16="http://schemas.microsoft.com/office/drawing/2014/main" id="{2F101B86-7489-45A9-9F1B-FC24209C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81200"/>
            <a:ext cx="1103312" cy="3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E8872D"/>
            </a:solidFill>
            <a:prstDash val="solid"/>
          </a:ln>
        </p:spPr>
      </p:sp>
      <p:sp>
        <p:nvSpPr>
          <p:cNvPr id="45" name="highlight-label-p16">
            <a:extLst xmlns:a="http://schemas.openxmlformats.org/drawingml/2006/main">
              <a:ext uri="{FF2B5EF4-FFF2-40B4-BE49-F238E27FC236}">
                <a16:creationId xmlns:a16="http://schemas.microsoft.com/office/drawing/2014/main" id="{9979F150-1554-4493-B5EE-820CC317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09750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p16: higher than the fitting line</a:t>
            </a:r>
          </a:p>
        </p:txBody>
      </p:sp>
      <p:sp>
        <p:nvSpPr>
          <p:cNvPr id="46" name="x-axis-title">
            <a:extLst xmlns:a="http://schemas.openxmlformats.org/drawingml/2006/main">
              <a:ext uri="{FF2B5EF4-FFF2-40B4-BE49-F238E27FC236}">
                <a16:creationId xmlns:a16="http://schemas.microsoft.com/office/drawing/2014/main" id="{C9F8F4FD-4F15-4C65-98EB-66AFF909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76825"/>
            <a:ext cx="7105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Project work hours (hours)</a:t>
            </a:r>
          </a:p>
        </p:txBody>
      </p:sp>
      <p:sp>
        <p:nvSpPr>
          <p:cNvPr id="47" name="y-axis-title">
            <a:extLst xmlns:a="http://schemas.openxmlformats.org/drawingml/2006/main">
              <a:ext uri="{FF2B5EF4-FFF2-40B4-BE49-F238E27FC236}">
                <a16:creationId xmlns:a16="http://schemas.microsoft.com/office/drawing/2014/main" id="{88BFE294-42A1-45D6-B0E4-8F302516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On-time delivery completion (%)</a:t>
            </a:r>
          </a:p>
        </p:txBody>
      </p:sp>
      <p:sp>
        <p:nvSpPr>
          <p:cNvPr id="48" name="sample-meta">
            <a:extLst xmlns:a="http://schemas.openxmlformats.org/drawingml/2006/main">
              <a:ext uri="{FF2B5EF4-FFF2-40B4-BE49-F238E27FC236}">
                <a16:creationId xmlns:a16="http://schemas.microsoft.com/office/drawing/2014/main" id="{D7B5138B-2FCA-4515-A0A8-40A307DA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333500"/>
            <a:ext cx="491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Anonymous project population · 2026first half of year · n=16/18 · Missing2 · Repeat0</a:t>
            </a:r>
          </a:p>
        </p:txBody>
      </p:sp>
      <p:sp>
        <p:nvSpPr>
          <p:cNvPr id="49" name="outlier-rule">
            <a:extLst xmlns:a="http://schemas.openxmlformats.org/drawingml/2006/main">
              <a:ext uri="{FF2B5EF4-FFF2-40B4-BE49-F238E27FC236}">
                <a16:creationId xmlns:a16="http://schemas.microsoft.com/office/drawing/2014/main" id="{BC16B094-D2A1-4CA6-BF6C-1E506880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782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Sort by absolute residuals, before labeling2points, for diagnostic purposes only</a:t>
            </a:r>
          </a:p>
        </p:txBody>
      </p:sp>
      <p:sp>
        <p:nvSpPr>
          <p:cNvPr id="50" name="regression-rail">
            <a:extLst xmlns:a="http://schemas.openxmlformats.org/drawingml/2006/main">
              <a:ext uri="{FF2B5EF4-FFF2-40B4-BE49-F238E27FC236}">
                <a16:creationId xmlns:a16="http://schemas.microsoft.com/office/drawing/2014/main" id="{7A289229-7BDD-45ED-8D6F-297A77FF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200150"/>
            <a:ext cx="274320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51" name="model-title">
            <a:extLst xmlns:a="http://schemas.openxmlformats.org/drawingml/2006/main">
              <a:ext uri="{FF2B5EF4-FFF2-40B4-BE49-F238E27FC236}">
                <a16:creationId xmlns:a16="http://schemas.microsoft.com/office/drawing/2014/main" id="{FD59B073-603E-48E3-8398-CBA8F00B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333500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Linear fitting results</a:t>
            </a:r>
          </a:p>
        </p:txBody>
      </p:sp>
      <p:sp>
        <p:nvSpPr>
          <p:cNvPr id="52" name="model-equation">
            <a:extLst xmlns:a="http://schemas.openxmlformats.org/drawingml/2006/main">
              <a:ext uri="{FF2B5EF4-FFF2-40B4-BE49-F238E27FC236}">
                <a16:creationId xmlns:a16="http://schemas.microsoft.com/office/drawing/2014/main" id="{A733A197-C013-47F1-8230-593E5BB1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1450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F6FB2"/>
                </a:solidFill>
              </a:defRPr>
            </a:pPr>
            <a:r>
              <a:rPr sz="1800" b="1">
                <a:solidFill>
                  <a:srgbClr val="2F6FB2"/>
                </a:solidFill>
              </a:rPr>
              <a:t>y = 0.62x + 37.88</a:t>
            </a:r>
          </a:p>
        </p:txBody>
      </p:sp>
      <p:sp>
        <p:nvSpPr>
          <p:cNvPr id="53" name="model-r2">
            <a:extLst xmlns:a="http://schemas.openxmlformats.org/drawingml/2006/main">
              <a:ext uri="{FF2B5EF4-FFF2-40B4-BE49-F238E27FC236}">
                <a16:creationId xmlns:a16="http://schemas.microsoft.com/office/drawing/2014/main" id="{523732F0-A832-42E2-AAF3-5844A481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76450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R²=0.808 · n=16</a:t>
            </a:r>
          </a:p>
        </p:txBody>
      </p:sp>
      <p:sp>
        <p:nvSpPr>
          <p:cNvPr id="54" name="insight-index-1">
            <a:extLst xmlns:a="http://schemas.openxmlformats.org/drawingml/2006/main">
              <a:ext uri="{FF2B5EF4-FFF2-40B4-BE49-F238E27FC236}">
                <a16:creationId xmlns:a16="http://schemas.microsoft.com/office/drawing/2014/main" id="{6FC35CE7-2AE8-424C-B4D6-616E12FF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527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01</a:t>
            </a:r>
          </a:p>
        </p:txBody>
      </p:sp>
      <p:sp>
        <p:nvSpPr>
          <p:cNvPr id="55" name="insight-1">
            <a:extLst xmlns:a="http://schemas.openxmlformats.org/drawingml/2006/main">
              <a:ext uri="{FF2B5EF4-FFF2-40B4-BE49-F238E27FC236}">
                <a16:creationId xmlns:a16="http://schemas.microsoft.com/office/drawing/2014/main" id="{8B86408B-5D11-4662-A8CE-BE92B489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955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Input man-hours and on-time delivery completion generally change in the same direction</a:t>
            </a:r>
          </a:p>
        </p:txBody>
      </p:sp>
      <p:sp>
        <p:nvSpPr>
          <p:cNvPr id="56" name="insight-index-2">
            <a:extLst xmlns:a="http://schemas.openxmlformats.org/drawingml/2006/main">
              <a:ext uri="{FF2B5EF4-FFF2-40B4-BE49-F238E27FC236}">
                <a16:creationId xmlns:a16="http://schemas.microsoft.com/office/drawing/2014/main" id="{8C432A14-7A66-4CF4-8A9D-8493BD8C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766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2F6FB2"/>
                </a:solidFill>
              </a:defRPr>
            </a:pPr>
            <a:r>
              <a:rPr sz="1400" b="1">
                <a:solidFill>
                  <a:srgbClr val="2F6FB2"/>
                </a:solidFill>
              </a:rPr>
              <a:t>02</a:t>
            </a:r>
          </a:p>
        </p:txBody>
      </p:sp>
      <p:sp>
        <p:nvSpPr>
          <p:cNvPr id="57" name="insight-2">
            <a:extLst xmlns:a="http://schemas.openxmlformats.org/drawingml/2006/main">
              <a:ext uri="{FF2B5EF4-FFF2-40B4-BE49-F238E27FC236}">
                <a16:creationId xmlns:a16="http://schemas.microsoft.com/office/drawing/2014/main" id="{A27784A4-4CE9-47CE-A9CB-F1D1E00B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194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p15The deviation is the largest from the trend and needs to be checked and constrained.</a:t>
            </a:r>
          </a:p>
        </p:txBody>
      </p:sp>
      <p:sp>
        <p:nvSpPr>
          <p:cNvPr id="58" name="insight-index-3">
            <a:extLst xmlns:a="http://schemas.openxmlformats.org/drawingml/2006/main">
              <a:ext uri="{FF2B5EF4-FFF2-40B4-BE49-F238E27FC236}">
                <a16:creationId xmlns:a16="http://schemas.microsoft.com/office/drawing/2014/main" id="{CA761E07-29F6-4F41-8A4E-15B83096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005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2F6FB2"/>
                </a:solidFill>
              </a:defRPr>
            </a:pPr>
            <a:r>
              <a:rPr sz="1400" b="1">
                <a:solidFill>
                  <a:srgbClr val="2F6FB2"/>
                </a:solidFill>
              </a:rPr>
              <a:t>03</a:t>
            </a:r>
          </a:p>
        </p:txBody>
      </p:sp>
      <p:sp>
        <p:nvSpPr>
          <p:cNvPr id="59" name="insight-3">
            <a:extLst xmlns:a="http://schemas.openxmlformats.org/drawingml/2006/main">
              <a:ext uri="{FF2B5EF4-FFF2-40B4-BE49-F238E27FC236}">
                <a16:creationId xmlns:a16="http://schemas.microsoft.com/office/drawing/2014/main" id="{AEBC0D8F-24DB-49D7-BFFA-EFAF6A63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433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p16Above the fitted line, but not enough to change the overall direction</a:t>
            </a:r>
          </a:p>
        </p:txBody>
      </p:sp>
      <p:sp>
        <p:nvSpPr>
          <p:cNvPr id="60" name="interpretation-boundary">
            <a:extLst xmlns:a="http://schemas.openxmlformats.org/drawingml/2006/main">
              <a:ext uri="{FF2B5EF4-FFF2-40B4-BE49-F238E27FC236}">
                <a16:creationId xmlns:a16="http://schemas.microsoft.com/office/drawing/2014/main" id="{07B79BE3-5068-48CC-8633-800E65C5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876800"/>
            <a:ext cx="2438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Linear correlation within the sample does not represent causation, and extrapolation to other periods or populations requires additional verification.</a:t>
            </a:r>
          </a:p>
        </p:txBody>
      </p:sp>
      <p:sp>
        <p:nvSpPr>
          <p:cNvPr id="61" name="source-note">
            <a:extLst xmlns:a="http://schemas.openxmlformats.org/drawingml/2006/main">
              <a:ext uri="{FF2B5EF4-FFF2-40B4-BE49-F238E27FC236}">
                <a16:creationId xmlns:a16="http://schemas.microsoft.com/office/drawing/2014/main" id="{0742C89E-CE64-4019-B3C8-EBBC8DD1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8872D"/>
                </a:solidFill>
              </a:defRPr>
            </a:pPr>
            <a:r>
              <a:rPr sz="1200" b="0">
                <a:solidFill>
                  <a:srgbClr val="E8872D"/>
                </a:solidFill>
              </a:rPr>
              <a:t>Sample: Each record represents a closed project; anonymous project ledger,2026First half of the year; synthetic sample data, not real customer data</a:t>
            </a:r>
          </a:p>
        </p:txBody>
      </p:sp>
      <p:sp>
        <p:nvSpPr>
          <p:cNvPr id="62" name="reconciliation-note">
            <a:extLst xmlns:a="http://schemas.openxmlformats.org/drawingml/2006/main">
              <a:ext uri="{FF2B5EF4-FFF2-40B4-BE49-F238E27FC236}">
                <a16:creationId xmlns:a16="http://schemas.microsoft.com/office/drawing/2014/main" id="{B9E87E53-9D46-41D5-802F-1085A4E4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72175"/>
            <a:ext cx="11163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slope, intercept andR²Recalculated from unrounded original observations, absolute error≤1e-6;Show slope/intercept preserved2bit,R²Reserve3Bit</a:t>
            </a:r>
          </a:p>
        </p:txBody>
      </p:sp>
      <p:sp>
        <p:nvSpPr>
          <p:cNvPr id="63" name="conclusion">
            <a:extLst xmlns:a="http://schemas.openxmlformats.org/drawingml/2006/main">
              <a:ext uri="{FF2B5EF4-FFF2-40B4-BE49-F238E27FC236}">
                <a16:creationId xmlns:a16="http://schemas.microsoft.com/office/drawing/2014/main" id="{A1C19365-37C0-4224-A8FC-91ECAF1D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1163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Check the projects that deviate the most from the trend first, and then decide whether to use this relationship for resource allocation</a:t>
            </a:r>
          </a:p>
        </p:txBody>
      </p:sp>
    </p:spTree>
    <p:extLst>
      <p:ext uri="{BB962C8B-B14F-4D97-AF65-F5344CB8AC3E}">
        <p14:creationId xmlns:p14="http://schemas.microsoft.com/office/powerpoint/2010/main" val="12359223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2026-08-08T18:50:38.4970000Z</dcterms:created>
  <dcterms:modified xsi:type="dcterms:W3CDTF">2026-08-08T18:50:38.4970000Z</dcterms:modified>
</coreProperties>
</file>