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78efc2374246f6" /><Relationship Type="http://schemas.openxmlformats.org/officeDocument/2006/relationships/extended-properties" Target="/docProps/app.xml" Id="Ref15d47e140b4426" /><Relationship Type="http://schemas.openxmlformats.org/officeDocument/2006/relationships/officeDocument" Target="/ppt/presentation.xml" Id="R834cda449272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151bd08154248"/>
  </p:sldMasterIdLst>
  <p:notesMasterIdLst>
    <p:notesMasterId xmlns:r="http://schemas.openxmlformats.org/officeDocument/2006/relationships" r:id="R52fc86dcf506401b"/>
  </p:notesMasterIdLst>
  <p:sldIdLst>
    <p:sldId xmlns:r="http://schemas.openxmlformats.org/officeDocument/2006/relationships" id="256" r:id="R45291a313c7e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137b4b0ef4d50" /><Relationship Type="http://schemas.openxmlformats.org/officeDocument/2006/relationships/slideMaster" Target="/ppt/slideMasters/slideMaster1.xml" Id="R7e9151bd08154248" /><Relationship Type="http://schemas.openxmlformats.org/officeDocument/2006/relationships/notesMaster" Target="/ppt/notesMasters/notesMaster1.xml" Id="R52fc86dcf506401b" /><Relationship Type="http://schemas.openxmlformats.org/officeDocument/2006/relationships/presProps" Target="/ppt/presProps.xml" Id="R1258748bd3494f08" /><Relationship Type="http://schemas.openxmlformats.org/officeDocument/2006/relationships/tableStyles" Target="/ppt/tableStyles.xml" Id="Rd58e287de9864651" /><Relationship Type="http://schemas.openxmlformats.org/officeDocument/2006/relationships/slide" Target="/ppt/slides/slide1.xml" Id="R45291a313c7e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d5416fda04d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b7b864a8044c8" /><Relationship Type="http://schemas.openxmlformats.org/officeDocument/2006/relationships/notesMaster" Target="/ppt/notesMasters/notesMaster1.xml" Id="Rc739fc49c81d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匿名项目台账，2026年上半年</a:t>
            </a:r>
          </a:p>
          <a:p xmlns:a="http://schemas.openxmlformats.org/drawingml/2006/main">
            <a:r>
              <a:t>- 斜率、截距和R²由未舍入原始观测复算，绝对误差≤1e-6；显示斜率/截距保留2位，R²保留3位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53651457242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eeaef9f4a4305" /><Relationship Type="http://schemas.openxmlformats.org/officeDocument/2006/relationships/slideLayout" Target="/ppt/slideLayouts/slideLayout1.xml" Id="R6cb918671ad8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b918671ad8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2fca44b1487a" /><Relationship Type="http://schemas.openxmlformats.org/officeDocument/2006/relationships/notesSlide" Target="/ppt/notesSlides/notesSlide1.xml" Id="Ra2d019b0a6d8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BAEA06-8CFA-4056-AE1B-5DF2A98A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投入工时与按期交付整体同向，但一个项目明显偏离趋势</a:t>
            </a:r>
          </a:p>
        </p:txBody>
      </p:sp>
      <p:sp>
        <p:nvSpPr>
          <p:cNvPr id="2" name="scatter-frame">
            <a:extLst xmlns:a="http://schemas.openxmlformats.org/drawingml/2006/main">
              <a:ext uri="{FF2B5EF4-FFF2-40B4-BE49-F238E27FC236}">
                <a16:creationId xmlns:a16="http://schemas.microsoft.com/office/drawing/2014/main" id="{72A36BB5-645E-4129-945C-FF828AD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1724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" name="grid-x-0">
            <a:extLst xmlns:a="http://schemas.openxmlformats.org/drawingml/2006/main">
              <a:ext uri="{FF2B5EF4-FFF2-40B4-BE49-F238E27FC236}">
                <a16:creationId xmlns:a16="http://schemas.microsoft.com/office/drawing/2014/main" id="{9CBF869E-60C9-4CEE-9976-CB64A022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4" name="grid-y-0">
            <a:extLst xmlns:a="http://schemas.openxmlformats.org/drawingml/2006/main">
              <a:ext uri="{FF2B5EF4-FFF2-40B4-BE49-F238E27FC236}">
                <a16:creationId xmlns:a16="http://schemas.microsoft.com/office/drawing/2014/main" id="{FB17AF49-6A8F-4CC8-B5FE-1157E41A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5" name="x-tick-0">
            <a:extLst xmlns:a="http://schemas.openxmlformats.org/drawingml/2006/main">
              <a:ext uri="{FF2B5EF4-FFF2-40B4-BE49-F238E27FC236}">
                <a16:creationId xmlns:a16="http://schemas.microsoft.com/office/drawing/2014/main" id="{C8929F8F-485F-4B45-8B93-7135EF17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14</a:t>
            </a:r>
          </a:p>
        </p:txBody>
      </p:sp>
      <p:sp>
        <p:nvSpPr>
          <p:cNvPr id="6" name="y-tick-0">
            <a:extLst xmlns:a="http://schemas.openxmlformats.org/drawingml/2006/main">
              <a:ext uri="{FF2B5EF4-FFF2-40B4-BE49-F238E27FC236}">
                <a16:creationId xmlns:a16="http://schemas.microsoft.com/office/drawing/2014/main" id="{D1020EBF-11B3-4E79-9A5F-68DB2051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96</a:t>
            </a:r>
          </a:p>
        </p:txBody>
      </p:sp>
      <p:sp>
        <p:nvSpPr>
          <p:cNvPr id="7" name="grid-x-1">
            <a:extLst xmlns:a="http://schemas.openxmlformats.org/drawingml/2006/main">
              <a:ext uri="{FF2B5EF4-FFF2-40B4-BE49-F238E27FC236}">
                <a16:creationId xmlns:a16="http://schemas.microsoft.com/office/drawing/2014/main" id="{2FC5DEF6-69C7-4DCE-9D8D-7E9752D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8" name="grid-y-1">
            <a:extLst xmlns:a="http://schemas.openxmlformats.org/drawingml/2006/main">
              <a:ext uri="{FF2B5EF4-FFF2-40B4-BE49-F238E27FC236}">
                <a16:creationId xmlns:a16="http://schemas.microsoft.com/office/drawing/2014/main" id="{9DDD9483-F6FE-4F04-9E51-C33A1D5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9" name="x-tick-1">
            <a:extLst xmlns:a="http://schemas.openxmlformats.org/drawingml/2006/main">
              <a:ext uri="{FF2B5EF4-FFF2-40B4-BE49-F238E27FC236}">
                <a16:creationId xmlns:a16="http://schemas.microsoft.com/office/drawing/2014/main" id="{E83D673E-E592-4219-B869-87F97C71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13" y="48482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32</a:t>
            </a:r>
          </a:p>
        </p:txBody>
      </p:sp>
      <p:sp>
        <p:nvSpPr>
          <p:cNvPr id="10" name="y-tick-1">
            <a:extLst xmlns:a="http://schemas.openxmlformats.org/drawingml/2006/main">
              <a:ext uri="{FF2B5EF4-FFF2-40B4-BE49-F238E27FC236}">
                <a16:creationId xmlns:a16="http://schemas.microsoft.com/office/drawing/2014/main" id="{417755AE-718E-4358-8C35-6378A43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83</a:t>
            </a:r>
          </a:p>
        </p:txBody>
      </p:sp>
      <p:sp>
        <p:nvSpPr>
          <p:cNvPr id="11" name="grid-x-2">
            <a:extLst xmlns:a="http://schemas.openxmlformats.org/drawingml/2006/main">
              <a:ext uri="{FF2B5EF4-FFF2-40B4-BE49-F238E27FC236}">
                <a16:creationId xmlns:a16="http://schemas.microsoft.com/office/drawing/2014/main" id="{63B0FEAC-2E46-49F5-8735-8B530A4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2" name="grid-y-2">
            <a:extLst xmlns:a="http://schemas.openxmlformats.org/drawingml/2006/main">
              <a:ext uri="{FF2B5EF4-FFF2-40B4-BE49-F238E27FC236}">
                <a16:creationId xmlns:a16="http://schemas.microsoft.com/office/drawing/2014/main" id="{E2D42C58-05D5-4E07-AFCE-3CBD627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3" name="x-tick-2">
            <a:extLst xmlns:a="http://schemas.openxmlformats.org/drawingml/2006/main">
              <a:ext uri="{FF2B5EF4-FFF2-40B4-BE49-F238E27FC236}">
                <a16:creationId xmlns:a16="http://schemas.microsoft.com/office/drawing/2014/main" id="{382CDE94-BF26-4F06-B542-A6FF1B4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482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50</a:t>
            </a:r>
          </a:p>
        </p:txBody>
      </p:sp>
      <p:sp>
        <p:nvSpPr>
          <p:cNvPr id="14" name="y-tick-2">
            <a:extLst xmlns:a="http://schemas.openxmlformats.org/drawingml/2006/main">
              <a:ext uri="{FF2B5EF4-FFF2-40B4-BE49-F238E27FC236}">
                <a16:creationId xmlns:a16="http://schemas.microsoft.com/office/drawing/2014/main" id="{C2F94E85-FA64-45BB-8947-A81FE88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70</a:t>
            </a:r>
          </a:p>
        </p:txBody>
      </p:sp>
      <p:sp>
        <p:nvSpPr>
          <p:cNvPr id="15" name="grid-x-3">
            <a:extLst xmlns:a="http://schemas.openxmlformats.org/drawingml/2006/main">
              <a:ext uri="{FF2B5EF4-FFF2-40B4-BE49-F238E27FC236}">
                <a16:creationId xmlns:a16="http://schemas.microsoft.com/office/drawing/2014/main" id="{A81983BF-B562-42F2-B402-558B6D4D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6" name="grid-y-3">
            <a:extLst xmlns:a="http://schemas.openxmlformats.org/drawingml/2006/main">
              <a:ext uri="{FF2B5EF4-FFF2-40B4-BE49-F238E27FC236}">
                <a16:creationId xmlns:a16="http://schemas.microsoft.com/office/drawing/2014/main" id="{5A85940F-8639-459D-92F8-34B20D5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7" name="x-tick-3">
            <a:extLst xmlns:a="http://schemas.openxmlformats.org/drawingml/2006/main">
              <a:ext uri="{FF2B5EF4-FFF2-40B4-BE49-F238E27FC236}">
                <a16:creationId xmlns:a16="http://schemas.microsoft.com/office/drawing/2014/main" id="{4BCF0230-FFCB-4E70-BB56-3AD2BD3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48482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68</a:t>
            </a:r>
          </a:p>
        </p:txBody>
      </p:sp>
      <p:sp>
        <p:nvSpPr>
          <p:cNvPr id="18" name="y-tick-3">
            <a:extLst xmlns:a="http://schemas.openxmlformats.org/drawingml/2006/main">
              <a:ext uri="{FF2B5EF4-FFF2-40B4-BE49-F238E27FC236}">
                <a16:creationId xmlns:a16="http://schemas.microsoft.com/office/drawing/2014/main" id="{9B94242E-51F6-4211-B84D-D9E2CF5D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57</a:t>
            </a:r>
          </a:p>
        </p:txBody>
      </p:sp>
      <p:sp>
        <p:nvSpPr>
          <p:cNvPr id="19" name="grid-x-4">
            <a:extLst xmlns:a="http://schemas.openxmlformats.org/drawingml/2006/main">
              <a:ext uri="{FF2B5EF4-FFF2-40B4-BE49-F238E27FC236}">
                <a16:creationId xmlns:a16="http://schemas.microsoft.com/office/drawing/2014/main" id="{7E997596-85C9-44E8-AF9F-89D1C0AD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20" name="grid-y-4">
            <a:extLst xmlns:a="http://schemas.openxmlformats.org/drawingml/2006/main">
              <a:ext uri="{FF2B5EF4-FFF2-40B4-BE49-F238E27FC236}">
                <a16:creationId xmlns:a16="http://schemas.microsoft.com/office/drawing/2014/main" id="{B605B46F-06A0-4E28-9CBC-7A61006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21" name="x-tick-4">
            <a:extLst xmlns:a="http://schemas.openxmlformats.org/drawingml/2006/main">
              <a:ext uri="{FF2B5EF4-FFF2-40B4-BE49-F238E27FC236}">
                <a16:creationId xmlns:a16="http://schemas.microsoft.com/office/drawing/2014/main" id="{0881DA41-48A4-4F13-8818-B8F66762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482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86</a:t>
            </a:r>
          </a:p>
        </p:txBody>
      </p:sp>
      <p:sp>
        <p:nvSpPr>
          <p:cNvPr id="22" name="y-tick-4">
            <a:extLst xmlns:a="http://schemas.openxmlformats.org/drawingml/2006/main">
              <a:ext uri="{FF2B5EF4-FFF2-40B4-BE49-F238E27FC236}">
                <a16:creationId xmlns:a16="http://schemas.microsoft.com/office/drawing/2014/main" id="{4FA139AA-0058-4F2D-A00B-BD0FEB0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44</a:t>
            </a:r>
          </a:p>
        </p:txBody>
      </p:sp>
      <p:sp>
        <p:nvSpPr>
          <p:cNvPr id="23" name="x-axis">
            <a:extLst xmlns:a="http://schemas.openxmlformats.org/drawingml/2006/main">
              <a:ext uri="{FF2B5EF4-FFF2-40B4-BE49-F238E27FC236}">
                <a16:creationId xmlns:a16="http://schemas.microsoft.com/office/drawing/2014/main" id="{BD29AE64-FB17-4906-A1B9-D182146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24" name="y-axis">
            <a:extLst xmlns:a="http://schemas.openxmlformats.org/drawingml/2006/main">
              <a:ext uri="{FF2B5EF4-FFF2-40B4-BE49-F238E27FC236}">
                <a16:creationId xmlns:a16="http://schemas.microsoft.com/office/drawing/2014/main" id="{06EF0302-0ABF-49A4-AB5A-5BC95AEE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0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25" name="regression-line">
            <a:extLst xmlns:a="http://schemas.openxmlformats.org/drawingml/2006/main">
              <a:ext uri="{FF2B5EF4-FFF2-40B4-BE49-F238E27FC236}">
                <a16:creationId xmlns:a16="http://schemas.microsoft.com/office/drawing/2014/main" id="{A3E4D860-92B0-4CD6-A491-761210B2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38250" y="2074493"/>
            <a:ext cx="7105650" cy="25396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F6FB2"/>
            </a:solidFill>
            <a:prstDash val="solid"/>
          </a:ln>
        </p:spPr>
      </p:sp>
      <p:sp>
        <p:nvSpPr>
          <p:cNvPr id="26" name="observation-1">
            <a:extLst xmlns:a="http://schemas.openxmlformats.org/drawingml/2006/main">
              <a:ext uri="{FF2B5EF4-FFF2-40B4-BE49-F238E27FC236}">
                <a16:creationId xmlns:a16="http://schemas.microsoft.com/office/drawing/2014/main" id="{4B4EB40D-6E20-41BB-A271-BF091DAF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525" y="44878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7" name="observation-2">
            <a:extLst xmlns:a="http://schemas.openxmlformats.org/drawingml/2006/main">
              <a:ext uri="{FF2B5EF4-FFF2-40B4-BE49-F238E27FC236}">
                <a16:creationId xmlns:a16="http://schemas.microsoft.com/office/drawing/2014/main" id="{C816B304-C6CE-4C2A-ADD0-29C9CDD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283" y="431684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8" name="observation-3">
            <a:extLst xmlns:a="http://schemas.openxmlformats.org/drawingml/2006/main">
              <a:ext uri="{FF2B5EF4-FFF2-40B4-BE49-F238E27FC236}">
                <a16:creationId xmlns:a16="http://schemas.microsoft.com/office/drawing/2014/main" id="{BE0A1DA7-C506-450B-9D4A-686E9A7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042" y="414582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9" name="observation-4">
            <a:extLst xmlns:a="http://schemas.openxmlformats.org/drawingml/2006/main">
              <a:ext uri="{FF2B5EF4-FFF2-40B4-BE49-F238E27FC236}">
                <a16:creationId xmlns:a16="http://schemas.microsoft.com/office/drawing/2014/main" id="{617B6C9A-67A7-4F9B-9A28-017408C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7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0" name="observation-5">
            <a:extLst xmlns:a="http://schemas.openxmlformats.org/drawingml/2006/main">
              <a:ext uri="{FF2B5EF4-FFF2-40B4-BE49-F238E27FC236}">
                <a16:creationId xmlns:a16="http://schemas.microsoft.com/office/drawing/2014/main" id="{60BF3976-CFDC-4E51-B051-43FA4DE0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558" y="386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1" name="observation-6">
            <a:extLst xmlns:a="http://schemas.openxmlformats.org/drawingml/2006/main">
              <a:ext uri="{FF2B5EF4-FFF2-40B4-BE49-F238E27FC236}">
                <a16:creationId xmlns:a16="http://schemas.microsoft.com/office/drawing/2014/main" id="{7A0381DE-0149-4504-9677-79FFCF5B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317" y="357577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2" name="observation-7">
            <a:extLst xmlns:a="http://schemas.openxmlformats.org/drawingml/2006/main">
              <a:ext uri="{FF2B5EF4-FFF2-40B4-BE49-F238E27FC236}">
                <a16:creationId xmlns:a16="http://schemas.microsoft.com/office/drawing/2014/main" id="{AD8A60A7-4EDF-4BCD-8D1E-4218970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075" y="346176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3" name="observation-8">
            <a:extLst xmlns:a="http://schemas.openxmlformats.org/drawingml/2006/main">
              <a:ext uri="{FF2B5EF4-FFF2-40B4-BE49-F238E27FC236}">
                <a16:creationId xmlns:a16="http://schemas.microsoft.com/office/drawing/2014/main" id="{B48D37FD-1773-413A-AB38-700B8EBC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833" y="334774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4" name="observation-9">
            <a:extLst xmlns:a="http://schemas.openxmlformats.org/drawingml/2006/main">
              <a:ext uri="{FF2B5EF4-FFF2-40B4-BE49-F238E27FC236}">
                <a16:creationId xmlns:a16="http://schemas.microsoft.com/office/drawing/2014/main" id="{F01CF511-CD58-46D3-AB94-EDF5A05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592" y="306272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5" name="observation-10">
            <a:extLst xmlns:a="http://schemas.openxmlformats.org/drawingml/2006/main">
              <a:ext uri="{FF2B5EF4-FFF2-40B4-BE49-F238E27FC236}">
                <a16:creationId xmlns:a16="http://schemas.microsoft.com/office/drawing/2014/main" id="{BD448509-25FF-4408-92C6-6C627A2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300571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6" name="observation-11">
            <a:extLst xmlns:a="http://schemas.openxmlformats.org/drawingml/2006/main">
              <a:ext uri="{FF2B5EF4-FFF2-40B4-BE49-F238E27FC236}">
                <a16:creationId xmlns:a16="http://schemas.microsoft.com/office/drawing/2014/main" id="{BBCC113F-269D-4028-9D87-925AB41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108" y="277769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7" name="observation-12">
            <a:extLst xmlns:a="http://schemas.openxmlformats.org/drawingml/2006/main">
              <a:ext uri="{FF2B5EF4-FFF2-40B4-BE49-F238E27FC236}">
                <a16:creationId xmlns:a16="http://schemas.microsoft.com/office/drawing/2014/main" id="{4C7961DE-E6AC-4D18-9CFE-49191502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867" y="260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8" name="observation-13">
            <a:extLst xmlns:a="http://schemas.openxmlformats.org/drawingml/2006/main">
              <a:ext uri="{FF2B5EF4-FFF2-40B4-BE49-F238E27FC236}">
                <a16:creationId xmlns:a16="http://schemas.microsoft.com/office/drawing/2014/main" id="{12B2ED57-82B7-4A3A-A292-ABFD37B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266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9" name="observation-14">
            <a:extLst xmlns:a="http://schemas.openxmlformats.org/drawingml/2006/main">
              <a:ext uri="{FF2B5EF4-FFF2-40B4-BE49-F238E27FC236}">
                <a16:creationId xmlns:a16="http://schemas.microsoft.com/office/drawing/2014/main" id="{7119809E-6AFB-451F-B101-53A4C63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383" y="226464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0" name="observation-15">
            <a:extLst xmlns:a="http://schemas.openxmlformats.org/drawingml/2006/main">
              <a:ext uri="{FF2B5EF4-FFF2-40B4-BE49-F238E27FC236}">
                <a16:creationId xmlns:a16="http://schemas.microsoft.com/office/drawing/2014/main" id="{13ADC602-008E-45CF-914D-B0A1919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854" y="35044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1" name="highlight-leader-p15">
            <a:extLst xmlns:a="http://schemas.openxmlformats.org/drawingml/2006/main">
              <a:ext uri="{FF2B5EF4-FFF2-40B4-BE49-F238E27FC236}">
                <a16:creationId xmlns:a16="http://schemas.microsoft.com/office/drawing/2014/main" id="{80126C80-D911-4330-BF1F-088DBDC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128"/>
            <a:ext cx="708554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E8872D"/>
            </a:solidFill>
            <a:prstDash val="solid"/>
          </a:ln>
        </p:spPr>
      </p:sp>
      <p:sp>
        <p:nvSpPr>
          <p:cNvPr id="42" name="highlight-label-p15">
            <a:extLst xmlns:a="http://schemas.openxmlformats.org/drawingml/2006/main">
              <a:ext uri="{FF2B5EF4-FFF2-40B4-BE49-F238E27FC236}">
                <a16:creationId xmlns:a16="http://schemas.microsoft.com/office/drawing/2014/main" id="{3A789561-3815-4711-86E8-F11D50D1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9678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p15：偏离趋势最大</a:t>
            </a:r>
          </a:p>
        </p:txBody>
      </p:sp>
      <p:sp>
        <p:nvSpPr>
          <p:cNvPr id="43" name="observation-16">
            <a:extLst xmlns:a="http://schemas.openxmlformats.org/drawingml/2006/main">
              <a:ext uri="{FF2B5EF4-FFF2-40B4-BE49-F238E27FC236}">
                <a16:creationId xmlns:a16="http://schemas.microsoft.com/office/drawing/2014/main" id="{01AE2424-6421-43D0-88BB-6DA45D1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612" y="196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44" name="highlight-leader-p16">
            <a:extLst xmlns:a="http://schemas.openxmlformats.org/drawingml/2006/main">
              <a:ext uri="{FF2B5EF4-FFF2-40B4-BE49-F238E27FC236}">
                <a16:creationId xmlns:a16="http://schemas.microsoft.com/office/drawing/2014/main" id="{2F101B86-7489-45A9-9F1B-FC24209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1103312" cy="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E8872D"/>
            </a:solidFill>
            <a:prstDash val="solid"/>
          </a:ln>
        </p:spPr>
      </p:sp>
      <p:sp>
        <p:nvSpPr>
          <p:cNvPr id="45" name="highlight-label-p16">
            <a:extLst xmlns:a="http://schemas.openxmlformats.org/drawingml/2006/main">
              <a:ext uri="{FF2B5EF4-FFF2-40B4-BE49-F238E27FC236}">
                <a16:creationId xmlns:a16="http://schemas.microsoft.com/office/drawing/2014/main" id="{9979F150-1554-4493-B5EE-820CC31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p16：高于拟合线</a:t>
            </a:r>
          </a:p>
        </p:txBody>
      </p:sp>
      <p:sp>
        <p:nvSpPr>
          <p:cNvPr id="46" name="x-axis-title">
            <a:extLst xmlns:a="http://schemas.openxmlformats.org/drawingml/2006/main">
              <a:ext uri="{FF2B5EF4-FFF2-40B4-BE49-F238E27FC236}">
                <a16:creationId xmlns:a16="http://schemas.microsoft.com/office/drawing/2014/main" id="{C9F8F4FD-4F15-4C65-98EB-66AFF90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76825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项目投入工时（小时）</a:t>
            </a:r>
          </a:p>
        </p:txBody>
      </p:sp>
      <p:sp>
        <p:nvSpPr>
          <p:cNvPr id="47" name="y-axis-title">
            <a:extLst xmlns:a="http://schemas.openxmlformats.org/drawingml/2006/main">
              <a:ext uri="{FF2B5EF4-FFF2-40B4-BE49-F238E27FC236}">
                <a16:creationId xmlns:a16="http://schemas.microsoft.com/office/drawing/2014/main" id="{88BFE294-42A1-45D6-B0E4-8F302516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按期交付完成度（%）</a:t>
            </a:r>
          </a:p>
        </p:txBody>
      </p:sp>
      <p:sp>
        <p:nvSpPr>
          <p:cNvPr id="48" name="sample-meta">
            <a:extLst xmlns:a="http://schemas.openxmlformats.org/drawingml/2006/main">
              <a:ext uri="{FF2B5EF4-FFF2-40B4-BE49-F238E27FC236}">
                <a16:creationId xmlns:a16="http://schemas.microsoft.com/office/drawing/2014/main" id="{D7B5138B-2FCA-4515-A0A8-40A307D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匿名项目总体 · 2026年上半年 · n=16/18 · 缺失2 · 重复0</a:t>
            </a:r>
          </a:p>
        </p:txBody>
      </p:sp>
      <p:sp>
        <p:nvSpPr>
          <p:cNvPr id="49" name="outlier-rule">
            <a:extLst xmlns:a="http://schemas.openxmlformats.org/drawingml/2006/main">
              <a:ext uri="{FF2B5EF4-FFF2-40B4-BE49-F238E27FC236}">
                <a16:creationId xmlns:a16="http://schemas.microsoft.com/office/drawing/2014/main" id="{BC16B094-D2A1-4CA6-BF6C-1E506880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782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按绝对残差排序，标注前2个点，仅作诊断提示</a:t>
            </a:r>
          </a:p>
        </p:txBody>
      </p:sp>
      <p:sp>
        <p:nvSpPr>
          <p:cNvPr id="50" name="regression-rail">
            <a:extLst xmlns:a="http://schemas.openxmlformats.org/drawingml/2006/main">
              <a:ext uri="{FF2B5EF4-FFF2-40B4-BE49-F238E27FC236}">
                <a16:creationId xmlns:a16="http://schemas.microsoft.com/office/drawing/2014/main" id="{7A289229-7BDD-45ED-8D6F-297A77FF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00150"/>
            <a:ext cx="27432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FD59B073-603E-48E3-8398-CBA8F00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33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线性拟合结果</a:t>
            </a:r>
          </a:p>
        </p:txBody>
      </p:sp>
      <p:sp>
        <p:nvSpPr>
          <p:cNvPr id="52" name="model-equation">
            <a:extLst xmlns:a="http://schemas.openxmlformats.org/drawingml/2006/main">
              <a:ext uri="{FF2B5EF4-FFF2-40B4-BE49-F238E27FC236}">
                <a16:creationId xmlns:a16="http://schemas.microsoft.com/office/drawing/2014/main" id="{A733A197-C013-47F1-8230-593E5BB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B2"/>
                </a:solidFill>
              </a:defRPr>
            </a:pPr>
            <a:r>
              <a:rPr sz="1800" b="1">
                <a:solidFill>
                  <a:srgbClr val="2F6FB2"/>
                </a:solidFill>
              </a:rPr>
              <a:t>y = 0.62x + 37.88</a:t>
            </a:r>
          </a:p>
        </p:txBody>
      </p:sp>
      <p:sp>
        <p:nvSpPr>
          <p:cNvPr id="53" name="model-r2">
            <a:extLst xmlns:a="http://schemas.openxmlformats.org/drawingml/2006/main">
              <a:ext uri="{FF2B5EF4-FFF2-40B4-BE49-F238E27FC236}">
                <a16:creationId xmlns:a16="http://schemas.microsoft.com/office/drawing/2014/main" id="{523732F0-A832-42E2-AAF3-5844A481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R²=0.808 · n=16</a:t>
            </a:r>
          </a:p>
        </p:txBody>
      </p:sp>
      <p:sp>
        <p:nvSpPr>
          <p:cNvPr id="54" name="insight-index-1">
            <a:extLst xmlns:a="http://schemas.openxmlformats.org/drawingml/2006/main">
              <a:ext uri="{FF2B5EF4-FFF2-40B4-BE49-F238E27FC236}">
                <a16:creationId xmlns:a16="http://schemas.microsoft.com/office/drawing/2014/main" id="{6FC35CE7-2AE8-424C-B4D6-616E12FF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01</a:t>
            </a:r>
          </a:p>
        </p:txBody>
      </p:sp>
      <p:sp>
        <p:nvSpPr>
          <p:cNvPr id="55" name="insight-1">
            <a:extLst xmlns:a="http://schemas.openxmlformats.org/drawingml/2006/main">
              <a:ext uri="{FF2B5EF4-FFF2-40B4-BE49-F238E27FC236}">
                <a16:creationId xmlns:a16="http://schemas.microsoft.com/office/drawing/2014/main" id="{8B86408B-5D11-4662-A8CE-BE92B489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投入工时与按期交付完成度总体同向变化</a:t>
            </a:r>
          </a:p>
        </p:txBody>
      </p:sp>
      <p:sp>
        <p:nvSpPr>
          <p:cNvPr id="56" name="insight-index-2">
            <a:extLst xmlns:a="http://schemas.openxmlformats.org/drawingml/2006/main">
              <a:ext uri="{FF2B5EF4-FFF2-40B4-BE49-F238E27FC236}">
                <a16:creationId xmlns:a16="http://schemas.microsoft.com/office/drawing/2014/main" id="{8C432A14-7A66-4CF4-8A9D-8493BD8C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F6FB2"/>
                </a:solidFill>
              </a:defRPr>
            </a:pPr>
            <a:r>
              <a:rPr sz="1400" b="1">
                <a:solidFill>
                  <a:srgbClr val="2F6FB2"/>
                </a:solidFill>
              </a:rPr>
              <a:t>02</a:t>
            </a:r>
          </a:p>
        </p:txBody>
      </p:sp>
      <p:sp>
        <p:nvSpPr>
          <p:cNvPr id="57" name="insight-2">
            <a:extLst xmlns:a="http://schemas.openxmlformats.org/drawingml/2006/main">
              <a:ext uri="{FF2B5EF4-FFF2-40B4-BE49-F238E27FC236}">
                <a16:creationId xmlns:a16="http://schemas.microsoft.com/office/drawing/2014/main" id="{A27784A4-4CE9-47CE-A9CB-F1D1E00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p15偏离趋势最大，需核查约束</a:t>
            </a:r>
          </a:p>
        </p:txBody>
      </p:sp>
      <p:sp>
        <p:nvSpPr>
          <p:cNvPr id="58" name="insight-index-3">
            <a:extLst xmlns:a="http://schemas.openxmlformats.org/drawingml/2006/main">
              <a:ext uri="{FF2B5EF4-FFF2-40B4-BE49-F238E27FC236}">
                <a16:creationId xmlns:a16="http://schemas.microsoft.com/office/drawing/2014/main" id="{CA761E07-29F6-4F41-8A4E-15B8309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F6FB2"/>
                </a:solidFill>
              </a:defRPr>
            </a:pPr>
            <a:r>
              <a:rPr sz="1400" b="1">
                <a:solidFill>
                  <a:srgbClr val="2F6FB2"/>
                </a:solidFill>
              </a:rPr>
              <a:t>03</a:t>
            </a:r>
          </a:p>
        </p:txBody>
      </p:sp>
      <p:sp>
        <p:nvSpPr>
          <p:cNvPr id="59" name="insight-3">
            <a:extLst xmlns:a="http://schemas.openxmlformats.org/drawingml/2006/main">
              <a:ext uri="{FF2B5EF4-FFF2-40B4-BE49-F238E27FC236}">
                <a16:creationId xmlns:a16="http://schemas.microsoft.com/office/drawing/2014/main" id="{AEBC0D8F-24DB-49D7-BFFA-EFAF6A6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p16高于拟合线，但不足以改变总体方向</a:t>
            </a:r>
          </a:p>
        </p:txBody>
      </p:sp>
      <p:sp>
        <p:nvSpPr>
          <p:cNvPr id="60" name="interpretation-boundary">
            <a:extLst xmlns:a="http://schemas.openxmlformats.org/drawingml/2006/main">
              <a:ext uri="{FF2B5EF4-FFF2-40B4-BE49-F238E27FC236}">
                <a16:creationId xmlns:a16="http://schemas.microsoft.com/office/drawing/2014/main" id="{07B79BE3-5068-48CC-8633-800E65C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样本内线性关联不代表因果，外推到其他期间或总体需另行验证</a:t>
            </a:r>
          </a:p>
        </p:txBody>
      </p:sp>
      <p:sp>
        <p:nvSpPr>
          <p:cNvPr id="6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742C89E-CE64-4019-B3C8-EBBC8DD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872D"/>
                </a:solidFill>
              </a:defRPr>
            </a:pPr>
            <a:r>
              <a:rPr sz="1200" b="0">
                <a:solidFill>
                  <a:srgbClr val="E8872D"/>
                </a:solidFill>
              </a:rPr>
              <a:t>样本：每条记录代表一个已关闭项目；匿名项目台账，2026年上半年；合成示例数据，非真实客户数据</a:t>
            </a:r>
          </a:p>
        </p:txBody>
      </p:sp>
      <p:sp>
        <p:nvSpPr>
          <p:cNvPr id="62" name="reconciliation-note">
            <a:extLst xmlns:a="http://schemas.openxmlformats.org/drawingml/2006/main">
              <a:ext uri="{FF2B5EF4-FFF2-40B4-BE49-F238E27FC236}">
                <a16:creationId xmlns:a16="http://schemas.microsoft.com/office/drawing/2014/main" id="{B9E87E53-9D46-41D5-802F-1085A4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72175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斜率、截距和R²由未舍入原始观测复算，绝对误差≤1e-6；显示斜率/截距保留2位，R²保留3位</a:t>
            </a:r>
          </a:p>
        </p:txBody>
      </p:sp>
      <p:sp>
        <p:nvSpPr>
          <p:cNvPr id="63" name="conclusion">
            <a:extLst xmlns:a="http://schemas.openxmlformats.org/drawingml/2006/main">
              <a:ext uri="{FF2B5EF4-FFF2-40B4-BE49-F238E27FC236}">
                <a16:creationId xmlns:a16="http://schemas.microsoft.com/office/drawing/2014/main" id="{A1C19365-37C0-4224-A8FC-91ECAF1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先核查偏离趋势最大的项目，再决定是否把这一关系用于资源配置</a:t>
            </a:r>
          </a:p>
        </p:txBody>
      </p:sp>
    </p:spTree>
    <p:extLst>
      <p:ext uri="{BB962C8B-B14F-4D97-AF65-F5344CB8AC3E}">
        <p14:creationId xmlns:p14="http://schemas.microsoft.com/office/powerpoint/2010/main" val="1235922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2026-08-08T18:50:38.4970000Z</dcterms:created>
  <dcterms:modified xsi:type="dcterms:W3CDTF">2026-08-08T18:50:38.4970000Z</dcterms:modified>
</coreProperties>
</file>